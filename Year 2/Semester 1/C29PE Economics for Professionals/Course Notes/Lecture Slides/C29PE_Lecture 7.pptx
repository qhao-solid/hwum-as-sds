
<file path=[Content_Types].xml><?xml version="1.0" encoding="utf-8"?>
<Types xmlns="http://schemas.openxmlformats.org/package/2006/content-types">
  <Default Extension="bin" ContentType="application/vnd.openxmlformats-officedocument.oleObject"/>
  <Default Extension="docx" ContentType="application/vnd.openxmlformats-officedocument.wordprocessingml.document"/>
  <Default Extension="emf" ContentType="image/x-emf"/>
  <Default Extension="jpeg" ContentType="image/jpeg"/>
  <Default Extension="png" ContentType="image/png"/>
  <Default Extension="rels" ContentType="application/vnd.openxmlformats-package.relationships+xml"/>
  <Default Extension="wmf" ContentType="image/x-wmf"/>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3.xml" ContentType="application/vnd.openxmlformats-officedocument.theme+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4.xml" ContentType="application/vnd.openxmlformats-officedocument.theme+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5.xml" ContentType="application/vnd.openxmlformats-officedocument.theme+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charts/chart1.xml" ContentType="application/vnd.openxmlformats-officedocument.drawingml.chart+xml"/>
  <Override PartName="/ppt/drawings/drawing1.xml" ContentType="application/vnd.openxmlformats-officedocument.drawingml.chartshapes+xml"/>
  <Override PartName="/ppt/charts/chart2.xml" ContentType="application/vnd.openxmlformats-officedocument.drawingml.chart+xml"/>
  <Override PartName="/ppt/drawings/drawing2.xml" ContentType="application/vnd.openxmlformats-officedocument.drawingml.chartshapes+xml"/>
  <Override PartName="/ppt/notesSlides/notesSlide1.xml" ContentType="application/vnd.openxmlformats-officedocument.presentationml.notesSlide+xml"/>
  <Override PartName="/ppt/charts/chart3.xml" ContentType="application/vnd.openxmlformats-officedocument.drawingml.chart+xml"/>
  <Override PartName="/ppt/notesSlides/notesSlide2.xml" ContentType="application/vnd.openxmlformats-officedocument.presentationml.notesSlide+xml"/>
  <Override PartName="/ppt/charts/chart4.xml" ContentType="application/vnd.openxmlformats-officedocument.drawingml.chart+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5.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 id="2147483712" r:id="rId5"/>
    <p:sldMasterId id="2147483700" r:id="rId6"/>
    <p:sldMasterId id="2147483692" r:id="rId7"/>
    <p:sldMasterId id="2147483706" r:id="rId8"/>
    <p:sldMasterId id="2147483718" r:id="rId9"/>
  </p:sldMasterIdLst>
  <p:notesMasterIdLst>
    <p:notesMasterId r:id="rId69"/>
  </p:notesMasterIdLst>
  <p:sldIdLst>
    <p:sldId id="258" r:id="rId10"/>
    <p:sldId id="722" r:id="rId11"/>
    <p:sldId id="691" r:id="rId12"/>
    <p:sldId id="275" r:id="rId13"/>
    <p:sldId id="996" r:id="rId14"/>
    <p:sldId id="998" r:id="rId15"/>
    <p:sldId id="997" r:id="rId16"/>
    <p:sldId id="264" r:id="rId17"/>
    <p:sldId id="1015" r:id="rId18"/>
    <p:sldId id="269" r:id="rId19"/>
    <p:sldId id="401" r:id="rId20"/>
    <p:sldId id="1017" r:id="rId21"/>
    <p:sldId id="271" r:id="rId22"/>
    <p:sldId id="1018" r:id="rId23"/>
    <p:sldId id="1019" r:id="rId24"/>
    <p:sldId id="1020" r:id="rId25"/>
    <p:sldId id="584" r:id="rId26"/>
    <p:sldId id="1023" r:id="rId27"/>
    <p:sldId id="1024" r:id="rId28"/>
    <p:sldId id="1025" r:id="rId29"/>
    <p:sldId id="276" r:id="rId30"/>
    <p:sldId id="279" r:id="rId31"/>
    <p:sldId id="432" r:id="rId32"/>
    <p:sldId id="430" r:id="rId33"/>
    <p:sldId id="431" r:id="rId34"/>
    <p:sldId id="1001" r:id="rId35"/>
    <p:sldId id="1002" r:id="rId36"/>
    <p:sldId id="1003" r:id="rId37"/>
    <p:sldId id="986" r:id="rId38"/>
    <p:sldId id="959" r:id="rId39"/>
    <p:sldId id="436" r:id="rId40"/>
    <p:sldId id="409" r:id="rId41"/>
    <p:sldId id="1007" r:id="rId42"/>
    <p:sldId id="987" r:id="rId43"/>
    <p:sldId id="410" r:id="rId44"/>
    <p:sldId id="1011" r:id="rId45"/>
    <p:sldId id="641" r:id="rId46"/>
    <p:sldId id="521" r:id="rId47"/>
    <p:sldId id="314" r:id="rId48"/>
    <p:sldId id="524" r:id="rId49"/>
    <p:sldId id="993" r:id="rId50"/>
    <p:sldId id="407" r:id="rId51"/>
    <p:sldId id="597" r:id="rId52"/>
    <p:sldId id="553" r:id="rId53"/>
    <p:sldId id="556" r:id="rId54"/>
    <p:sldId id="561" r:id="rId55"/>
    <p:sldId id="1026" r:id="rId56"/>
    <p:sldId id="1005" r:id="rId57"/>
    <p:sldId id="261" r:id="rId58"/>
    <p:sldId id="995" r:id="rId59"/>
    <p:sldId id="1014" r:id="rId60"/>
    <p:sldId id="456" r:id="rId61"/>
    <p:sldId id="620" r:id="rId62"/>
    <p:sldId id="457" r:id="rId63"/>
    <p:sldId id="1013" r:id="rId64"/>
    <p:sldId id="627" r:id="rId65"/>
    <p:sldId id="955" r:id="rId66"/>
    <p:sldId id="632" r:id="rId67"/>
    <p:sldId id="994" r:id="rId6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1433"/>
    <a:srgbClr val="A8BF33"/>
    <a:srgbClr val="0096CE"/>
    <a:srgbClr val="003C22"/>
    <a:srgbClr val="51160F"/>
    <a:srgbClr val="38042E"/>
    <a:srgbClr val="E9822C"/>
    <a:srgbClr val="D497B8"/>
    <a:srgbClr val="E48539"/>
    <a:srgbClr val="ACDCE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26"/>
  </p:normalViewPr>
  <p:slideViewPr>
    <p:cSldViewPr snapToGrid="0">
      <p:cViewPr varScale="1">
        <p:scale>
          <a:sx n="75" d="100"/>
          <a:sy n="75" d="100"/>
        </p:scale>
        <p:origin x="874" y="43"/>
      </p:cViewPr>
      <p:guideLst/>
    </p:cSldViewPr>
  </p:slideViewPr>
  <p:notesTextViewPr>
    <p:cViewPr>
      <p:scale>
        <a:sx n="1" d="1"/>
        <a:sy n="1" d="1"/>
      </p:scale>
      <p:origin x="0" y="0"/>
    </p:cViewPr>
  </p:notesTextViewPr>
  <p:sorterViewPr>
    <p:cViewPr>
      <p:scale>
        <a:sx n="100" d="100"/>
        <a:sy n="100" d="100"/>
      </p:scale>
      <p:origin x="0" y="-29861"/>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17.xml"/><Relationship Id="rId21" Type="http://schemas.openxmlformats.org/officeDocument/2006/relationships/slide" Target="slides/slide12.xml"/><Relationship Id="rId42" Type="http://schemas.openxmlformats.org/officeDocument/2006/relationships/slide" Target="slides/slide33.xml"/><Relationship Id="rId47" Type="http://schemas.openxmlformats.org/officeDocument/2006/relationships/slide" Target="slides/slide38.xml"/><Relationship Id="rId63" Type="http://schemas.openxmlformats.org/officeDocument/2006/relationships/slide" Target="slides/slide54.xml"/><Relationship Id="rId68" Type="http://schemas.openxmlformats.org/officeDocument/2006/relationships/slide" Target="slides/slide59.xml"/><Relationship Id="rId2" Type="http://schemas.openxmlformats.org/officeDocument/2006/relationships/customXml" Target="../customXml/item2.xml"/><Relationship Id="rId16" Type="http://schemas.openxmlformats.org/officeDocument/2006/relationships/slide" Target="slides/slide7.xml"/><Relationship Id="rId29" Type="http://schemas.openxmlformats.org/officeDocument/2006/relationships/slide" Target="slides/slide20.xml"/><Relationship Id="rId11" Type="http://schemas.openxmlformats.org/officeDocument/2006/relationships/slide" Target="slides/slide2.xml"/><Relationship Id="rId24" Type="http://schemas.openxmlformats.org/officeDocument/2006/relationships/slide" Target="slides/slide15.xml"/><Relationship Id="rId32" Type="http://schemas.openxmlformats.org/officeDocument/2006/relationships/slide" Target="slides/slide23.xml"/><Relationship Id="rId37" Type="http://schemas.openxmlformats.org/officeDocument/2006/relationships/slide" Target="slides/slide28.xml"/><Relationship Id="rId40" Type="http://schemas.openxmlformats.org/officeDocument/2006/relationships/slide" Target="slides/slide31.xml"/><Relationship Id="rId45" Type="http://schemas.openxmlformats.org/officeDocument/2006/relationships/slide" Target="slides/slide36.xml"/><Relationship Id="rId53" Type="http://schemas.openxmlformats.org/officeDocument/2006/relationships/slide" Target="slides/slide44.xml"/><Relationship Id="rId58" Type="http://schemas.openxmlformats.org/officeDocument/2006/relationships/slide" Target="slides/slide49.xml"/><Relationship Id="rId66" Type="http://schemas.openxmlformats.org/officeDocument/2006/relationships/slide" Target="slides/slide57.xml"/><Relationship Id="rId5" Type="http://schemas.openxmlformats.org/officeDocument/2006/relationships/slideMaster" Target="slideMasters/slideMaster2.xml"/><Relationship Id="rId61" Type="http://schemas.openxmlformats.org/officeDocument/2006/relationships/slide" Target="slides/slide52.xml"/><Relationship Id="rId19" Type="http://schemas.openxmlformats.org/officeDocument/2006/relationships/slide" Target="slides/slide10.xml"/><Relationship Id="rId14" Type="http://schemas.openxmlformats.org/officeDocument/2006/relationships/slide" Target="slides/slide5.xml"/><Relationship Id="rId22" Type="http://schemas.openxmlformats.org/officeDocument/2006/relationships/slide" Target="slides/slide13.xml"/><Relationship Id="rId27" Type="http://schemas.openxmlformats.org/officeDocument/2006/relationships/slide" Target="slides/slide18.xml"/><Relationship Id="rId30" Type="http://schemas.openxmlformats.org/officeDocument/2006/relationships/slide" Target="slides/slide21.xml"/><Relationship Id="rId35" Type="http://schemas.openxmlformats.org/officeDocument/2006/relationships/slide" Target="slides/slide26.xml"/><Relationship Id="rId43" Type="http://schemas.openxmlformats.org/officeDocument/2006/relationships/slide" Target="slides/slide34.xml"/><Relationship Id="rId48" Type="http://schemas.openxmlformats.org/officeDocument/2006/relationships/slide" Target="slides/slide39.xml"/><Relationship Id="rId56" Type="http://schemas.openxmlformats.org/officeDocument/2006/relationships/slide" Target="slides/slide47.xml"/><Relationship Id="rId64" Type="http://schemas.openxmlformats.org/officeDocument/2006/relationships/slide" Target="slides/slide55.xml"/><Relationship Id="rId69" Type="http://schemas.openxmlformats.org/officeDocument/2006/relationships/notesMaster" Target="notesMasters/notesMaster1.xml"/><Relationship Id="rId8" Type="http://schemas.openxmlformats.org/officeDocument/2006/relationships/slideMaster" Target="slideMasters/slideMaster5.xml"/><Relationship Id="rId51" Type="http://schemas.openxmlformats.org/officeDocument/2006/relationships/slide" Target="slides/slide42.xml"/><Relationship Id="rId72" Type="http://schemas.openxmlformats.org/officeDocument/2006/relationships/theme" Target="theme/theme1.xml"/><Relationship Id="rId3" Type="http://schemas.openxmlformats.org/officeDocument/2006/relationships/customXml" Target="../customXml/item3.xml"/><Relationship Id="rId12" Type="http://schemas.openxmlformats.org/officeDocument/2006/relationships/slide" Target="slides/slide3.xml"/><Relationship Id="rId17" Type="http://schemas.openxmlformats.org/officeDocument/2006/relationships/slide" Target="slides/slide8.xml"/><Relationship Id="rId25" Type="http://schemas.openxmlformats.org/officeDocument/2006/relationships/slide" Target="slides/slide16.xml"/><Relationship Id="rId33" Type="http://schemas.openxmlformats.org/officeDocument/2006/relationships/slide" Target="slides/slide24.xml"/><Relationship Id="rId38" Type="http://schemas.openxmlformats.org/officeDocument/2006/relationships/slide" Target="slides/slide29.xml"/><Relationship Id="rId46" Type="http://schemas.openxmlformats.org/officeDocument/2006/relationships/slide" Target="slides/slide37.xml"/><Relationship Id="rId59" Type="http://schemas.openxmlformats.org/officeDocument/2006/relationships/slide" Target="slides/slide50.xml"/><Relationship Id="rId67" Type="http://schemas.openxmlformats.org/officeDocument/2006/relationships/slide" Target="slides/slide58.xml"/><Relationship Id="rId20" Type="http://schemas.openxmlformats.org/officeDocument/2006/relationships/slide" Target="slides/slide11.xml"/><Relationship Id="rId41" Type="http://schemas.openxmlformats.org/officeDocument/2006/relationships/slide" Target="slides/slide32.xml"/><Relationship Id="rId54" Type="http://schemas.openxmlformats.org/officeDocument/2006/relationships/slide" Target="slides/slide45.xml"/><Relationship Id="rId62" Type="http://schemas.openxmlformats.org/officeDocument/2006/relationships/slide" Target="slides/slide53.xml"/><Relationship Id="rId7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6.xml"/><Relationship Id="rId23" Type="http://schemas.openxmlformats.org/officeDocument/2006/relationships/slide" Target="slides/slide14.xml"/><Relationship Id="rId28" Type="http://schemas.openxmlformats.org/officeDocument/2006/relationships/slide" Target="slides/slide19.xml"/><Relationship Id="rId36" Type="http://schemas.openxmlformats.org/officeDocument/2006/relationships/slide" Target="slides/slide27.xml"/><Relationship Id="rId49" Type="http://schemas.openxmlformats.org/officeDocument/2006/relationships/slide" Target="slides/slide40.xml"/><Relationship Id="rId57" Type="http://schemas.openxmlformats.org/officeDocument/2006/relationships/slide" Target="slides/slide48.xml"/><Relationship Id="rId10" Type="http://schemas.openxmlformats.org/officeDocument/2006/relationships/slide" Target="slides/slide1.xml"/><Relationship Id="rId31" Type="http://schemas.openxmlformats.org/officeDocument/2006/relationships/slide" Target="slides/slide22.xml"/><Relationship Id="rId44" Type="http://schemas.openxmlformats.org/officeDocument/2006/relationships/slide" Target="slides/slide35.xml"/><Relationship Id="rId52" Type="http://schemas.openxmlformats.org/officeDocument/2006/relationships/slide" Target="slides/slide43.xml"/><Relationship Id="rId60" Type="http://schemas.openxmlformats.org/officeDocument/2006/relationships/slide" Target="slides/slide51.xml"/><Relationship Id="rId65" Type="http://schemas.openxmlformats.org/officeDocument/2006/relationships/slide" Target="slides/slide56.xml"/><Relationship Id="rId7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Master" Target="slideMasters/slideMaster6.xml"/><Relationship Id="rId13" Type="http://schemas.openxmlformats.org/officeDocument/2006/relationships/slide" Target="slides/slide4.xml"/><Relationship Id="rId18" Type="http://schemas.openxmlformats.org/officeDocument/2006/relationships/slide" Target="slides/slide9.xml"/><Relationship Id="rId39" Type="http://schemas.openxmlformats.org/officeDocument/2006/relationships/slide" Target="slides/slide30.xml"/><Relationship Id="rId34" Type="http://schemas.openxmlformats.org/officeDocument/2006/relationships/slide" Target="slides/slide25.xml"/><Relationship Id="rId50" Type="http://schemas.openxmlformats.org/officeDocument/2006/relationships/slide" Target="slides/slide41.xml"/><Relationship Id="rId55" Type="http://schemas.openxmlformats.org/officeDocument/2006/relationships/slide" Target="slides/slide46.xml"/><Relationship Id="rId7" Type="http://schemas.openxmlformats.org/officeDocument/2006/relationships/slideMaster" Target="slideMasters/slideMaster4.xml"/><Relationship Id="rId71" Type="http://schemas.openxmlformats.org/officeDocument/2006/relationships/viewProps" Target="viewProps.xml"/></Relationships>
</file>

<file path=ppt/charts/_rels/chart1.xml.rels><?xml version="1.0" encoding="UTF-8" standalone="yes"?>
<Relationships xmlns="http://schemas.openxmlformats.org/package/2006/relationships"><Relationship Id="rId2" Type="http://schemas.openxmlformats.org/officeDocument/2006/relationships/chartUserShapes" Target="../drawings/drawing1.xml"/><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2" Type="http://schemas.openxmlformats.org/officeDocument/2006/relationships/chartUserShapes" Target="../drawings/drawing2.xml"/><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5.6910569105691054E-2"/>
          <c:y val="4.5871559633027525E-2"/>
          <c:w val="0.90360046457607435"/>
          <c:h val="0.86084652151741203"/>
        </c:manualLayout>
      </c:layout>
      <c:lineChart>
        <c:grouping val="standard"/>
        <c:varyColors val="0"/>
        <c:ser>
          <c:idx val="1"/>
          <c:order val="0"/>
          <c:tx>
            <c:strRef>
              <c:f>Sheet1!$A$2</c:f>
              <c:strCache>
                <c:ptCount val="1"/>
                <c:pt idx="0">
                  <c:v>Eurozone</c:v>
                </c:pt>
              </c:strCache>
            </c:strRef>
          </c:tx>
          <c:spPr>
            <a:ln w="31750">
              <a:solidFill>
                <a:schemeClr val="tx1"/>
              </a:solidFill>
              <a:prstDash val="solid"/>
            </a:ln>
          </c:spPr>
          <c:marker>
            <c:symbol val="none"/>
          </c:marker>
          <c:cat>
            <c:numRef>
              <c:f>Sheet1!$B$1:$BE$1</c:f>
              <c:numCache>
                <c:formatCode>##############</c:formatCode>
                <c:ptCount val="56"/>
                <c:pt idx="0">
                  <c:v>1970</c:v>
                </c:pt>
                <c:pt idx="1">
                  <c:v>1971</c:v>
                </c:pt>
                <c:pt idx="2">
                  <c:v>1972</c:v>
                </c:pt>
                <c:pt idx="3">
                  <c:v>1973</c:v>
                </c:pt>
                <c:pt idx="4">
                  <c:v>1974</c:v>
                </c:pt>
                <c:pt idx="5">
                  <c:v>1975</c:v>
                </c:pt>
                <c:pt idx="6">
                  <c:v>1976</c:v>
                </c:pt>
                <c:pt idx="7">
                  <c:v>1977</c:v>
                </c:pt>
                <c:pt idx="8">
                  <c:v>1978</c:v>
                </c:pt>
                <c:pt idx="9">
                  <c:v>1979</c:v>
                </c:pt>
                <c:pt idx="10">
                  <c:v>1980</c:v>
                </c:pt>
                <c:pt idx="11">
                  <c:v>1981</c:v>
                </c:pt>
                <c:pt idx="12">
                  <c:v>1982</c:v>
                </c:pt>
                <c:pt idx="13">
                  <c:v>1983</c:v>
                </c:pt>
                <c:pt idx="14">
                  <c:v>1984</c:v>
                </c:pt>
                <c:pt idx="15">
                  <c:v>1985</c:v>
                </c:pt>
                <c:pt idx="16">
                  <c:v>1986</c:v>
                </c:pt>
                <c:pt idx="17">
                  <c:v>1987</c:v>
                </c:pt>
                <c:pt idx="18">
                  <c:v>1988</c:v>
                </c:pt>
                <c:pt idx="19">
                  <c:v>1989</c:v>
                </c:pt>
                <c:pt idx="20">
                  <c:v>1990</c:v>
                </c:pt>
                <c:pt idx="21">
                  <c:v>1991</c:v>
                </c:pt>
                <c:pt idx="22">
                  <c:v>1992</c:v>
                </c:pt>
                <c:pt idx="23">
                  <c:v>1993</c:v>
                </c:pt>
                <c:pt idx="24">
                  <c:v>1994</c:v>
                </c:pt>
                <c:pt idx="25">
                  <c:v>1995</c:v>
                </c:pt>
                <c:pt idx="26">
                  <c:v>1996</c:v>
                </c:pt>
                <c:pt idx="27">
                  <c:v>1997</c:v>
                </c:pt>
                <c:pt idx="28">
                  <c:v>1998</c:v>
                </c:pt>
                <c:pt idx="29">
                  <c:v>1999</c:v>
                </c:pt>
                <c:pt idx="30">
                  <c:v>2000</c:v>
                </c:pt>
                <c:pt idx="31">
                  <c:v>2001</c:v>
                </c:pt>
                <c:pt idx="32">
                  <c:v>2002</c:v>
                </c:pt>
                <c:pt idx="33">
                  <c:v>2003</c:v>
                </c:pt>
                <c:pt idx="34">
                  <c:v>2004</c:v>
                </c:pt>
                <c:pt idx="35">
                  <c:v>2005</c:v>
                </c:pt>
                <c:pt idx="36">
                  <c:v>2006</c:v>
                </c:pt>
                <c:pt idx="37">
                  <c:v>2007</c:v>
                </c:pt>
                <c:pt idx="38">
                  <c:v>2008</c:v>
                </c:pt>
                <c:pt idx="39">
                  <c:v>2009</c:v>
                </c:pt>
                <c:pt idx="40">
                  <c:v>2010</c:v>
                </c:pt>
                <c:pt idx="41">
                  <c:v>2011</c:v>
                </c:pt>
                <c:pt idx="42">
                  <c:v>2012</c:v>
                </c:pt>
                <c:pt idx="43">
                  <c:v>2013</c:v>
                </c:pt>
                <c:pt idx="44">
                  <c:v>2014</c:v>
                </c:pt>
                <c:pt idx="45">
                  <c:v>2015</c:v>
                </c:pt>
                <c:pt idx="46">
                  <c:v>2016</c:v>
                </c:pt>
                <c:pt idx="47">
                  <c:v>2017</c:v>
                </c:pt>
                <c:pt idx="48">
                  <c:v>2018</c:v>
                </c:pt>
                <c:pt idx="49">
                  <c:v>2019</c:v>
                </c:pt>
                <c:pt idx="50">
                  <c:v>2020</c:v>
                </c:pt>
                <c:pt idx="51">
                  <c:v>2021</c:v>
                </c:pt>
                <c:pt idx="52">
                  <c:v>2022</c:v>
                </c:pt>
                <c:pt idx="53">
                  <c:v>2023</c:v>
                </c:pt>
                <c:pt idx="54">
                  <c:v>2024</c:v>
                </c:pt>
                <c:pt idx="55">
                  <c:v>2025</c:v>
                </c:pt>
              </c:numCache>
            </c:numRef>
          </c:cat>
          <c:val>
            <c:numRef>
              <c:f>Sheet1!$B$2:$BE$2</c:f>
              <c:numCache>
                <c:formatCode>General</c:formatCode>
                <c:ptCount val="56"/>
                <c:pt idx="22" formatCode="0.0">
                  <c:v>1.3859999999999999</c:v>
                </c:pt>
                <c:pt idx="23" formatCode="0.0">
                  <c:v>-0.78600000000000003</c:v>
                </c:pt>
                <c:pt idx="24" formatCode="0.0">
                  <c:v>2.4980000000000002</c:v>
                </c:pt>
                <c:pt idx="25" formatCode="0.0">
                  <c:v>2.8959999999999999</c:v>
                </c:pt>
                <c:pt idx="26" formatCode="0.0">
                  <c:v>1.6160000000000001</c:v>
                </c:pt>
                <c:pt idx="27" formatCode="0.0">
                  <c:v>2.6259999999999999</c:v>
                </c:pt>
                <c:pt idx="28" formatCode="0.0">
                  <c:v>2.9860000000000002</c:v>
                </c:pt>
                <c:pt idx="29" formatCode="0.0">
                  <c:v>2.93</c:v>
                </c:pt>
                <c:pt idx="30" formatCode="0.0">
                  <c:v>3.819</c:v>
                </c:pt>
                <c:pt idx="31" formatCode="0.0">
                  <c:v>2.17</c:v>
                </c:pt>
                <c:pt idx="32" formatCode="0.0">
                  <c:v>0.90700000000000003</c:v>
                </c:pt>
                <c:pt idx="33" formatCode="0.0">
                  <c:v>0.64600000000000002</c:v>
                </c:pt>
                <c:pt idx="34" formatCode="0.0">
                  <c:v>2.2770000000000001</c:v>
                </c:pt>
                <c:pt idx="35" formatCode="0.0">
                  <c:v>1.6619999999999999</c:v>
                </c:pt>
                <c:pt idx="36" formatCode="0.0">
                  <c:v>3.22</c:v>
                </c:pt>
                <c:pt idx="37" formatCode="0.0">
                  <c:v>2.9870000000000001</c:v>
                </c:pt>
                <c:pt idx="38" formatCode="0.0">
                  <c:v>0.41299999999999998</c:v>
                </c:pt>
                <c:pt idx="39" formatCode="0.0">
                  <c:v>-4.4950000000000001</c:v>
                </c:pt>
                <c:pt idx="40" formatCode="0.0">
                  <c:v>2.1360000000000001</c:v>
                </c:pt>
                <c:pt idx="41" formatCode="0.0">
                  <c:v>1.6879999999999999</c:v>
                </c:pt>
                <c:pt idx="42" formatCode="0.0">
                  <c:v>-0.875</c:v>
                </c:pt>
                <c:pt idx="43" formatCode="0.0">
                  <c:v>-0.23300000000000001</c:v>
                </c:pt>
                <c:pt idx="44" formatCode="0.0">
                  <c:v>1.39</c:v>
                </c:pt>
                <c:pt idx="45" formatCode="0.0">
                  <c:v>2.036</c:v>
                </c:pt>
                <c:pt idx="46" formatCode="0.0">
                  <c:v>1.8640000000000001</c:v>
                </c:pt>
                <c:pt idx="47" formatCode="0.0">
                  <c:v>2.6160000000000001</c:v>
                </c:pt>
                <c:pt idx="48" formatCode="0.0">
                  <c:v>1.7889999999999999</c:v>
                </c:pt>
                <c:pt idx="49" formatCode="0.0">
                  <c:v>1.5920000000000001</c:v>
                </c:pt>
                <c:pt idx="50" formatCode="0.0">
                  <c:v>-6.0860000000000003</c:v>
                </c:pt>
                <c:pt idx="51" formatCode="0.0">
                  <c:v>5.2439999999999998</c:v>
                </c:pt>
                <c:pt idx="52" formatCode="0.0">
                  <c:v>3.0579999999999998</c:v>
                </c:pt>
                <c:pt idx="53" formatCode="0.0">
                  <c:v>0.501</c:v>
                </c:pt>
                <c:pt idx="54" formatCode="0.0">
                  <c:v>1.788</c:v>
                </c:pt>
                <c:pt idx="55" formatCode="0.0">
                  <c:v>1.9359999999999999</c:v>
                </c:pt>
              </c:numCache>
            </c:numRef>
          </c:val>
          <c:smooth val="0"/>
          <c:extLst>
            <c:ext xmlns:c16="http://schemas.microsoft.com/office/drawing/2014/chart" uri="{C3380CC4-5D6E-409C-BE32-E72D297353CC}">
              <c16:uniqueId val="{00000000-8666-8342-A716-54E40E01B97D}"/>
            </c:ext>
          </c:extLst>
        </c:ser>
        <c:ser>
          <c:idx val="4"/>
          <c:order val="1"/>
          <c:tx>
            <c:strRef>
              <c:f>Sheet1!$A$3</c:f>
              <c:strCache>
                <c:ptCount val="1"/>
                <c:pt idx="0">
                  <c:v>Germany</c:v>
                </c:pt>
              </c:strCache>
            </c:strRef>
          </c:tx>
          <c:spPr>
            <a:ln w="31750">
              <a:solidFill>
                <a:srgbClr val="B68600"/>
              </a:solidFill>
              <a:prstDash val="solid"/>
            </a:ln>
          </c:spPr>
          <c:marker>
            <c:symbol val="none"/>
          </c:marker>
          <c:cat>
            <c:numRef>
              <c:f>Sheet1!$B$1:$BE$1</c:f>
              <c:numCache>
                <c:formatCode>##############</c:formatCode>
                <c:ptCount val="56"/>
                <c:pt idx="0">
                  <c:v>1970</c:v>
                </c:pt>
                <c:pt idx="1">
                  <c:v>1971</c:v>
                </c:pt>
                <c:pt idx="2">
                  <c:v>1972</c:v>
                </c:pt>
                <c:pt idx="3">
                  <c:v>1973</c:v>
                </c:pt>
                <c:pt idx="4">
                  <c:v>1974</c:v>
                </c:pt>
                <c:pt idx="5">
                  <c:v>1975</c:v>
                </c:pt>
                <c:pt idx="6">
                  <c:v>1976</c:v>
                </c:pt>
                <c:pt idx="7">
                  <c:v>1977</c:v>
                </c:pt>
                <c:pt idx="8">
                  <c:v>1978</c:v>
                </c:pt>
                <c:pt idx="9">
                  <c:v>1979</c:v>
                </c:pt>
                <c:pt idx="10">
                  <c:v>1980</c:v>
                </c:pt>
                <c:pt idx="11">
                  <c:v>1981</c:v>
                </c:pt>
                <c:pt idx="12">
                  <c:v>1982</c:v>
                </c:pt>
                <c:pt idx="13">
                  <c:v>1983</c:v>
                </c:pt>
                <c:pt idx="14">
                  <c:v>1984</c:v>
                </c:pt>
                <c:pt idx="15">
                  <c:v>1985</c:v>
                </c:pt>
                <c:pt idx="16">
                  <c:v>1986</c:v>
                </c:pt>
                <c:pt idx="17">
                  <c:v>1987</c:v>
                </c:pt>
                <c:pt idx="18">
                  <c:v>1988</c:v>
                </c:pt>
                <c:pt idx="19">
                  <c:v>1989</c:v>
                </c:pt>
                <c:pt idx="20">
                  <c:v>1990</c:v>
                </c:pt>
                <c:pt idx="21">
                  <c:v>1991</c:v>
                </c:pt>
                <c:pt idx="22">
                  <c:v>1992</c:v>
                </c:pt>
                <c:pt idx="23">
                  <c:v>1993</c:v>
                </c:pt>
                <c:pt idx="24">
                  <c:v>1994</c:v>
                </c:pt>
                <c:pt idx="25">
                  <c:v>1995</c:v>
                </c:pt>
                <c:pt idx="26">
                  <c:v>1996</c:v>
                </c:pt>
                <c:pt idx="27">
                  <c:v>1997</c:v>
                </c:pt>
                <c:pt idx="28">
                  <c:v>1998</c:v>
                </c:pt>
                <c:pt idx="29">
                  <c:v>1999</c:v>
                </c:pt>
                <c:pt idx="30">
                  <c:v>2000</c:v>
                </c:pt>
                <c:pt idx="31">
                  <c:v>2001</c:v>
                </c:pt>
                <c:pt idx="32">
                  <c:v>2002</c:v>
                </c:pt>
                <c:pt idx="33">
                  <c:v>2003</c:v>
                </c:pt>
                <c:pt idx="34">
                  <c:v>2004</c:v>
                </c:pt>
                <c:pt idx="35">
                  <c:v>2005</c:v>
                </c:pt>
                <c:pt idx="36">
                  <c:v>2006</c:v>
                </c:pt>
                <c:pt idx="37">
                  <c:v>2007</c:v>
                </c:pt>
                <c:pt idx="38">
                  <c:v>2008</c:v>
                </c:pt>
                <c:pt idx="39">
                  <c:v>2009</c:v>
                </c:pt>
                <c:pt idx="40">
                  <c:v>2010</c:v>
                </c:pt>
                <c:pt idx="41">
                  <c:v>2011</c:v>
                </c:pt>
                <c:pt idx="42">
                  <c:v>2012</c:v>
                </c:pt>
                <c:pt idx="43">
                  <c:v>2013</c:v>
                </c:pt>
                <c:pt idx="44">
                  <c:v>2014</c:v>
                </c:pt>
                <c:pt idx="45">
                  <c:v>2015</c:v>
                </c:pt>
                <c:pt idx="46">
                  <c:v>2016</c:v>
                </c:pt>
                <c:pt idx="47">
                  <c:v>2017</c:v>
                </c:pt>
                <c:pt idx="48">
                  <c:v>2018</c:v>
                </c:pt>
                <c:pt idx="49">
                  <c:v>2019</c:v>
                </c:pt>
                <c:pt idx="50">
                  <c:v>2020</c:v>
                </c:pt>
                <c:pt idx="51">
                  <c:v>2021</c:v>
                </c:pt>
                <c:pt idx="52">
                  <c:v>2022</c:v>
                </c:pt>
                <c:pt idx="53">
                  <c:v>2023</c:v>
                </c:pt>
                <c:pt idx="54">
                  <c:v>2024</c:v>
                </c:pt>
                <c:pt idx="55">
                  <c:v>2025</c:v>
                </c:pt>
              </c:numCache>
            </c:numRef>
          </c:cat>
          <c:val>
            <c:numRef>
              <c:f>Sheet1!$B$3:$BE$3</c:f>
              <c:numCache>
                <c:formatCode>0.0</c:formatCode>
                <c:ptCount val="56"/>
                <c:pt idx="0">
                  <c:v>5</c:v>
                </c:pt>
                <c:pt idx="1">
                  <c:v>3.1</c:v>
                </c:pt>
                <c:pt idx="2">
                  <c:v>4.3</c:v>
                </c:pt>
                <c:pt idx="3">
                  <c:v>4.8</c:v>
                </c:pt>
                <c:pt idx="4">
                  <c:v>0.9</c:v>
                </c:pt>
                <c:pt idx="5">
                  <c:v>-0.9</c:v>
                </c:pt>
                <c:pt idx="6">
                  <c:v>4.9000000000000004</c:v>
                </c:pt>
                <c:pt idx="7">
                  <c:v>3.3</c:v>
                </c:pt>
                <c:pt idx="8">
                  <c:v>3</c:v>
                </c:pt>
                <c:pt idx="9">
                  <c:v>4.0999999999999996</c:v>
                </c:pt>
                <c:pt idx="10">
                  <c:v>1.272</c:v>
                </c:pt>
                <c:pt idx="11">
                  <c:v>0.11</c:v>
                </c:pt>
                <c:pt idx="12">
                  <c:v>-0.78800000000000003</c:v>
                </c:pt>
                <c:pt idx="13">
                  <c:v>1.5549999999999999</c:v>
                </c:pt>
                <c:pt idx="14">
                  <c:v>2.8260000000000001</c:v>
                </c:pt>
                <c:pt idx="15">
                  <c:v>2.1920000000000002</c:v>
                </c:pt>
                <c:pt idx="16">
                  <c:v>2.4169999999999998</c:v>
                </c:pt>
                <c:pt idx="17">
                  <c:v>1.4690000000000001</c:v>
                </c:pt>
                <c:pt idx="18">
                  <c:v>3.7360000000000002</c:v>
                </c:pt>
                <c:pt idx="19">
                  <c:v>3.9129999999999998</c:v>
                </c:pt>
                <c:pt idx="20">
                  <c:v>5.7229999999999999</c:v>
                </c:pt>
                <c:pt idx="21">
                  <c:v>5.0110000000000001</c:v>
                </c:pt>
                <c:pt idx="22">
                  <c:v>1.92</c:v>
                </c:pt>
                <c:pt idx="23">
                  <c:v>-0.97699999999999998</c:v>
                </c:pt>
                <c:pt idx="24">
                  <c:v>2.399</c:v>
                </c:pt>
                <c:pt idx="25">
                  <c:v>1.5409999999999999</c:v>
                </c:pt>
                <c:pt idx="26">
                  <c:v>0.81599999999999995</c:v>
                </c:pt>
                <c:pt idx="27">
                  <c:v>1.7849999999999999</c:v>
                </c:pt>
                <c:pt idx="28">
                  <c:v>2.02</c:v>
                </c:pt>
                <c:pt idx="29">
                  <c:v>1.887</c:v>
                </c:pt>
                <c:pt idx="30">
                  <c:v>2.9039999999999999</c:v>
                </c:pt>
                <c:pt idx="31">
                  <c:v>1.6870000000000001</c:v>
                </c:pt>
                <c:pt idx="32">
                  <c:v>-0.20100000000000001</c:v>
                </c:pt>
                <c:pt idx="33">
                  <c:v>-0.70299999999999996</c:v>
                </c:pt>
                <c:pt idx="34">
                  <c:v>1.1839999999999999</c:v>
                </c:pt>
                <c:pt idx="35">
                  <c:v>0.72599999999999998</c:v>
                </c:pt>
                <c:pt idx="36">
                  <c:v>3.8140000000000001</c:v>
                </c:pt>
                <c:pt idx="37">
                  <c:v>2.9820000000000002</c:v>
                </c:pt>
                <c:pt idx="38">
                  <c:v>0.95899999999999996</c:v>
                </c:pt>
                <c:pt idx="39">
                  <c:v>-5.6959999999999997</c:v>
                </c:pt>
                <c:pt idx="40">
                  <c:v>4.1849999999999996</c:v>
                </c:pt>
                <c:pt idx="41">
                  <c:v>3.9140000000000001</c:v>
                </c:pt>
                <c:pt idx="42">
                  <c:v>0.42699999999999999</c:v>
                </c:pt>
                <c:pt idx="43">
                  <c:v>0.432</c:v>
                </c:pt>
                <c:pt idx="44">
                  <c:v>2.2170000000000001</c:v>
                </c:pt>
                <c:pt idx="45">
                  <c:v>1.4870000000000001</c:v>
                </c:pt>
                <c:pt idx="46">
                  <c:v>2.23</c:v>
                </c:pt>
                <c:pt idx="47">
                  <c:v>2.68</c:v>
                </c:pt>
                <c:pt idx="48">
                  <c:v>0.98399999999999999</c:v>
                </c:pt>
                <c:pt idx="49">
                  <c:v>1.054</c:v>
                </c:pt>
                <c:pt idx="50">
                  <c:v>-3.6920000000000002</c:v>
                </c:pt>
                <c:pt idx="51">
                  <c:v>2.625</c:v>
                </c:pt>
                <c:pt idx="52">
                  <c:v>1.5469999999999999</c:v>
                </c:pt>
                <c:pt idx="53">
                  <c:v>-0.29399999999999998</c:v>
                </c:pt>
                <c:pt idx="54">
                  <c:v>1.5029999999999999</c:v>
                </c:pt>
                <c:pt idx="55">
                  <c:v>2.16</c:v>
                </c:pt>
              </c:numCache>
            </c:numRef>
          </c:val>
          <c:smooth val="0"/>
          <c:extLst>
            <c:ext xmlns:c16="http://schemas.microsoft.com/office/drawing/2014/chart" uri="{C3380CC4-5D6E-409C-BE32-E72D297353CC}">
              <c16:uniqueId val="{00000001-8666-8342-A716-54E40E01B97D}"/>
            </c:ext>
          </c:extLst>
        </c:ser>
        <c:ser>
          <c:idx val="2"/>
          <c:order val="2"/>
          <c:tx>
            <c:strRef>
              <c:f>Sheet1!$A$4</c:f>
              <c:strCache>
                <c:ptCount val="1"/>
                <c:pt idx="0">
                  <c:v>UK</c:v>
                </c:pt>
              </c:strCache>
            </c:strRef>
          </c:tx>
          <c:spPr>
            <a:ln w="31750">
              <a:solidFill>
                <a:srgbClr val="FF0000"/>
              </a:solidFill>
              <a:prstDash val="solid"/>
            </a:ln>
          </c:spPr>
          <c:marker>
            <c:symbol val="none"/>
          </c:marker>
          <c:cat>
            <c:numRef>
              <c:f>Sheet1!$B$1:$BE$1</c:f>
              <c:numCache>
                <c:formatCode>##############</c:formatCode>
                <c:ptCount val="56"/>
                <c:pt idx="0">
                  <c:v>1970</c:v>
                </c:pt>
                <c:pt idx="1">
                  <c:v>1971</c:v>
                </c:pt>
                <c:pt idx="2">
                  <c:v>1972</c:v>
                </c:pt>
                <c:pt idx="3">
                  <c:v>1973</c:v>
                </c:pt>
                <c:pt idx="4">
                  <c:v>1974</c:v>
                </c:pt>
                <c:pt idx="5">
                  <c:v>1975</c:v>
                </c:pt>
                <c:pt idx="6">
                  <c:v>1976</c:v>
                </c:pt>
                <c:pt idx="7">
                  <c:v>1977</c:v>
                </c:pt>
                <c:pt idx="8">
                  <c:v>1978</c:v>
                </c:pt>
                <c:pt idx="9">
                  <c:v>1979</c:v>
                </c:pt>
                <c:pt idx="10">
                  <c:v>1980</c:v>
                </c:pt>
                <c:pt idx="11">
                  <c:v>1981</c:v>
                </c:pt>
                <c:pt idx="12">
                  <c:v>1982</c:v>
                </c:pt>
                <c:pt idx="13">
                  <c:v>1983</c:v>
                </c:pt>
                <c:pt idx="14">
                  <c:v>1984</c:v>
                </c:pt>
                <c:pt idx="15">
                  <c:v>1985</c:v>
                </c:pt>
                <c:pt idx="16">
                  <c:v>1986</c:v>
                </c:pt>
                <c:pt idx="17">
                  <c:v>1987</c:v>
                </c:pt>
                <c:pt idx="18">
                  <c:v>1988</c:v>
                </c:pt>
                <c:pt idx="19">
                  <c:v>1989</c:v>
                </c:pt>
                <c:pt idx="20">
                  <c:v>1990</c:v>
                </c:pt>
                <c:pt idx="21">
                  <c:v>1991</c:v>
                </c:pt>
                <c:pt idx="22">
                  <c:v>1992</c:v>
                </c:pt>
                <c:pt idx="23">
                  <c:v>1993</c:v>
                </c:pt>
                <c:pt idx="24">
                  <c:v>1994</c:v>
                </c:pt>
                <c:pt idx="25">
                  <c:v>1995</c:v>
                </c:pt>
                <c:pt idx="26">
                  <c:v>1996</c:v>
                </c:pt>
                <c:pt idx="27">
                  <c:v>1997</c:v>
                </c:pt>
                <c:pt idx="28">
                  <c:v>1998</c:v>
                </c:pt>
                <c:pt idx="29">
                  <c:v>1999</c:v>
                </c:pt>
                <c:pt idx="30">
                  <c:v>2000</c:v>
                </c:pt>
                <c:pt idx="31">
                  <c:v>2001</c:v>
                </c:pt>
                <c:pt idx="32">
                  <c:v>2002</c:v>
                </c:pt>
                <c:pt idx="33">
                  <c:v>2003</c:v>
                </c:pt>
                <c:pt idx="34">
                  <c:v>2004</c:v>
                </c:pt>
                <c:pt idx="35">
                  <c:v>2005</c:v>
                </c:pt>
                <c:pt idx="36">
                  <c:v>2006</c:v>
                </c:pt>
                <c:pt idx="37">
                  <c:v>2007</c:v>
                </c:pt>
                <c:pt idx="38">
                  <c:v>2008</c:v>
                </c:pt>
                <c:pt idx="39">
                  <c:v>2009</c:v>
                </c:pt>
                <c:pt idx="40">
                  <c:v>2010</c:v>
                </c:pt>
                <c:pt idx="41">
                  <c:v>2011</c:v>
                </c:pt>
                <c:pt idx="42">
                  <c:v>2012</c:v>
                </c:pt>
                <c:pt idx="43">
                  <c:v>2013</c:v>
                </c:pt>
                <c:pt idx="44">
                  <c:v>2014</c:v>
                </c:pt>
                <c:pt idx="45">
                  <c:v>2015</c:v>
                </c:pt>
                <c:pt idx="46">
                  <c:v>2016</c:v>
                </c:pt>
                <c:pt idx="47">
                  <c:v>2017</c:v>
                </c:pt>
                <c:pt idx="48">
                  <c:v>2018</c:v>
                </c:pt>
                <c:pt idx="49">
                  <c:v>2019</c:v>
                </c:pt>
                <c:pt idx="50">
                  <c:v>2020</c:v>
                </c:pt>
                <c:pt idx="51">
                  <c:v>2021</c:v>
                </c:pt>
                <c:pt idx="52">
                  <c:v>2022</c:v>
                </c:pt>
                <c:pt idx="53">
                  <c:v>2023</c:v>
                </c:pt>
                <c:pt idx="54">
                  <c:v>2024</c:v>
                </c:pt>
                <c:pt idx="55">
                  <c:v>2025</c:v>
                </c:pt>
              </c:numCache>
            </c:numRef>
          </c:cat>
          <c:val>
            <c:numRef>
              <c:f>Sheet1!$B$4:$BE$4</c:f>
              <c:numCache>
                <c:formatCode>0.0</c:formatCode>
                <c:ptCount val="56"/>
                <c:pt idx="0">
                  <c:v>2.7</c:v>
                </c:pt>
                <c:pt idx="1">
                  <c:v>3.5</c:v>
                </c:pt>
                <c:pt idx="2">
                  <c:v>4.3</c:v>
                </c:pt>
                <c:pt idx="3">
                  <c:v>6.5</c:v>
                </c:pt>
                <c:pt idx="4">
                  <c:v>-2.5</c:v>
                </c:pt>
                <c:pt idx="5">
                  <c:v>-1.5</c:v>
                </c:pt>
                <c:pt idx="6">
                  <c:v>2.9</c:v>
                </c:pt>
                <c:pt idx="7">
                  <c:v>2.5</c:v>
                </c:pt>
                <c:pt idx="8">
                  <c:v>4.2</c:v>
                </c:pt>
                <c:pt idx="9">
                  <c:v>3.7</c:v>
                </c:pt>
                <c:pt idx="10">
                  <c:v>-2.0590000000000002</c:v>
                </c:pt>
                <c:pt idx="11">
                  <c:v>-0.69299999999999995</c:v>
                </c:pt>
                <c:pt idx="12">
                  <c:v>1.9710000000000001</c:v>
                </c:pt>
                <c:pt idx="13">
                  <c:v>4.1980000000000004</c:v>
                </c:pt>
                <c:pt idx="14">
                  <c:v>2.2410000000000001</c:v>
                </c:pt>
                <c:pt idx="15">
                  <c:v>4.125</c:v>
                </c:pt>
                <c:pt idx="16">
                  <c:v>3.1549999999999998</c:v>
                </c:pt>
                <c:pt idx="17">
                  <c:v>5.3959999999999999</c:v>
                </c:pt>
                <c:pt idx="18">
                  <c:v>5.6020000000000003</c:v>
                </c:pt>
                <c:pt idx="19">
                  <c:v>2.444</c:v>
                </c:pt>
                <c:pt idx="20">
                  <c:v>0.63400000000000001</c:v>
                </c:pt>
                <c:pt idx="21">
                  <c:v>-1.1859999999999999</c:v>
                </c:pt>
                <c:pt idx="22">
                  <c:v>0.313</c:v>
                </c:pt>
                <c:pt idx="23">
                  <c:v>2.4009999999999998</c:v>
                </c:pt>
                <c:pt idx="24">
                  <c:v>3.7679999999999998</c:v>
                </c:pt>
                <c:pt idx="25">
                  <c:v>2.444</c:v>
                </c:pt>
                <c:pt idx="26">
                  <c:v>2.4279999999999999</c:v>
                </c:pt>
                <c:pt idx="27">
                  <c:v>4.9089999999999998</c:v>
                </c:pt>
                <c:pt idx="28">
                  <c:v>3.1539999999999999</c:v>
                </c:pt>
                <c:pt idx="29">
                  <c:v>2.99</c:v>
                </c:pt>
                <c:pt idx="30">
                  <c:v>3.6720000000000002</c:v>
                </c:pt>
                <c:pt idx="31">
                  <c:v>2.073</c:v>
                </c:pt>
                <c:pt idx="32">
                  <c:v>2.1230000000000002</c:v>
                </c:pt>
                <c:pt idx="33">
                  <c:v>3.03</c:v>
                </c:pt>
                <c:pt idx="34">
                  <c:v>2.3559999999999999</c:v>
                </c:pt>
                <c:pt idx="35">
                  <c:v>2.593</c:v>
                </c:pt>
                <c:pt idx="36">
                  <c:v>2.5840000000000001</c:v>
                </c:pt>
                <c:pt idx="37">
                  <c:v>2.2690000000000001</c:v>
                </c:pt>
                <c:pt idx="38">
                  <c:v>-0.24</c:v>
                </c:pt>
                <c:pt idx="39">
                  <c:v>-4.2469999999999999</c:v>
                </c:pt>
                <c:pt idx="40">
                  <c:v>2.1309999999999998</c:v>
                </c:pt>
                <c:pt idx="41">
                  <c:v>1.458</c:v>
                </c:pt>
                <c:pt idx="42">
                  <c:v>1.47</c:v>
                </c:pt>
                <c:pt idx="43">
                  <c:v>1.89</c:v>
                </c:pt>
                <c:pt idx="44">
                  <c:v>2.9910000000000001</c:v>
                </c:pt>
                <c:pt idx="45">
                  <c:v>2.6230000000000002</c:v>
                </c:pt>
                <c:pt idx="46">
                  <c:v>2.2629999999999999</c:v>
                </c:pt>
                <c:pt idx="47">
                  <c:v>2.1339999999999999</c:v>
                </c:pt>
                <c:pt idx="48">
                  <c:v>1.651</c:v>
                </c:pt>
                <c:pt idx="49">
                  <c:v>1.6719999999999999</c:v>
                </c:pt>
                <c:pt idx="50">
                  <c:v>-9.27</c:v>
                </c:pt>
                <c:pt idx="51">
                  <c:v>7.4409999999999998</c:v>
                </c:pt>
                <c:pt idx="52">
                  <c:v>3.605</c:v>
                </c:pt>
                <c:pt idx="53">
                  <c:v>0.315</c:v>
                </c:pt>
                <c:pt idx="54">
                  <c:v>0.56200000000000006</c:v>
                </c:pt>
                <c:pt idx="55">
                  <c:v>2.3460000000000001</c:v>
                </c:pt>
              </c:numCache>
            </c:numRef>
          </c:val>
          <c:smooth val="0"/>
          <c:extLst>
            <c:ext xmlns:c16="http://schemas.microsoft.com/office/drawing/2014/chart" uri="{C3380CC4-5D6E-409C-BE32-E72D297353CC}">
              <c16:uniqueId val="{00000002-8666-8342-A716-54E40E01B97D}"/>
            </c:ext>
          </c:extLst>
        </c:ser>
        <c:ser>
          <c:idx val="6"/>
          <c:order val="3"/>
          <c:tx>
            <c:strRef>
              <c:f>Sheet1!$A$5</c:f>
              <c:strCache>
                <c:ptCount val="1"/>
                <c:pt idx="0">
                  <c:v>USA</c:v>
                </c:pt>
              </c:strCache>
            </c:strRef>
          </c:tx>
          <c:spPr>
            <a:ln w="31750">
              <a:solidFill>
                <a:schemeClr val="tx2"/>
              </a:solidFill>
              <a:prstDash val="solid"/>
            </a:ln>
          </c:spPr>
          <c:marker>
            <c:symbol val="none"/>
          </c:marker>
          <c:cat>
            <c:numRef>
              <c:f>Sheet1!$B$1:$BE$1</c:f>
              <c:numCache>
                <c:formatCode>##############</c:formatCode>
                <c:ptCount val="56"/>
                <c:pt idx="0">
                  <c:v>1970</c:v>
                </c:pt>
                <c:pt idx="1">
                  <c:v>1971</c:v>
                </c:pt>
                <c:pt idx="2">
                  <c:v>1972</c:v>
                </c:pt>
                <c:pt idx="3">
                  <c:v>1973</c:v>
                </c:pt>
                <c:pt idx="4">
                  <c:v>1974</c:v>
                </c:pt>
                <c:pt idx="5">
                  <c:v>1975</c:v>
                </c:pt>
                <c:pt idx="6">
                  <c:v>1976</c:v>
                </c:pt>
                <c:pt idx="7">
                  <c:v>1977</c:v>
                </c:pt>
                <c:pt idx="8">
                  <c:v>1978</c:v>
                </c:pt>
                <c:pt idx="9">
                  <c:v>1979</c:v>
                </c:pt>
                <c:pt idx="10">
                  <c:v>1980</c:v>
                </c:pt>
                <c:pt idx="11">
                  <c:v>1981</c:v>
                </c:pt>
                <c:pt idx="12">
                  <c:v>1982</c:v>
                </c:pt>
                <c:pt idx="13">
                  <c:v>1983</c:v>
                </c:pt>
                <c:pt idx="14">
                  <c:v>1984</c:v>
                </c:pt>
                <c:pt idx="15">
                  <c:v>1985</c:v>
                </c:pt>
                <c:pt idx="16">
                  <c:v>1986</c:v>
                </c:pt>
                <c:pt idx="17">
                  <c:v>1987</c:v>
                </c:pt>
                <c:pt idx="18">
                  <c:v>1988</c:v>
                </c:pt>
                <c:pt idx="19">
                  <c:v>1989</c:v>
                </c:pt>
                <c:pt idx="20">
                  <c:v>1990</c:v>
                </c:pt>
                <c:pt idx="21">
                  <c:v>1991</c:v>
                </c:pt>
                <c:pt idx="22">
                  <c:v>1992</c:v>
                </c:pt>
                <c:pt idx="23">
                  <c:v>1993</c:v>
                </c:pt>
                <c:pt idx="24">
                  <c:v>1994</c:v>
                </c:pt>
                <c:pt idx="25">
                  <c:v>1995</c:v>
                </c:pt>
                <c:pt idx="26">
                  <c:v>1996</c:v>
                </c:pt>
                <c:pt idx="27">
                  <c:v>1997</c:v>
                </c:pt>
                <c:pt idx="28">
                  <c:v>1998</c:v>
                </c:pt>
                <c:pt idx="29">
                  <c:v>1999</c:v>
                </c:pt>
                <c:pt idx="30">
                  <c:v>2000</c:v>
                </c:pt>
                <c:pt idx="31">
                  <c:v>2001</c:v>
                </c:pt>
                <c:pt idx="32">
                  <c:v>2002</c:v>
                </c:pt>
                <c:pt idx="33">
                  <c:v>2003</c:v>
                </c:pt>
                <c:pt idx="34">
                  <c:v>2004</c:v>
                </c:pt>
                <c:pt idx="35">
                  <c:v>2005</c:v>
                </c:pt>
                <c:pt idx="36">
                  <c:v>2006</c:v>
                </c:pt>
                <c:pt idx="37">
                  <c:v>2007</c:v>
                </c:pt>
                <c:pt idx="38">
                  <c:v>2008</c:v>
                </c:pt>
                <c:pt idx="39">
                  <c:v>2009</c:v>
                </c:pt>
                <c:pt idx="40">
                  <c:v>2010</c:v>
                </c:pt>
                <c:pt idx="41">
                  <c:v>2011</c:v>
                </c:pt>
                <c:pt idx="42">
                  <c:v>2012</c:v>
                </c:pt>
                <c:pt idx="43">
                  <c:v>2013</c:v>
                </c:pt>
                <c:pt idx="44">
                  <c:v>2014</c:v>
                </c:pt>
                <c:pt idx="45">
                  <c:v>2015</c:v>
                </c:pt>
                <c:pt idx="46">
                  <c:v>2016</c:v>
                </c:pt>
                <c:pt idx="47">
                  <c:v>2017</c:v>
                </c:pt>
                <c:pt idx="48">
                  <c:v>2018</c:v>
                </c:pt>
                <c:pt idx="49">
                  <c:v>2019</c:v>
                </c:pt>
                <c:pt idx="50">
                  <c:v>2020</c:v>
                </c:pt>
                <c:pt idx="51">
                  <c:v>2021</c:v>
                </c:pt>
                <c:pt idx="52">
                  <c:v>2022</c:v>
                </c:pt>
                <c:pt idx="53">
                  <c:v>2023</c:v>
                </c:pt>
                <c:pt idx="54">
                  <c:v>2024</c:v>
                </c:pt>
                <c:pt idx="55">
                  <c:v>2025</c:v>
                </c:pt>
              </c:numCache>
            </c:numRef>
          </c:cat>
          <c:val>
            <c:numRef>
              <c:f>Sheet1!$B$5:$BE$5</c:f>
              <c:numCache>
                <c:formatCode>0.0</c:formatCode>
                <c:ptCount val="56"/>
                <c:pt idx="0">
                  <c:v>0.2</c:v>
                </c:pt>
                <c:pt idx="1">
                  <c:v>3.3</c:v>
                </c:pt>
                <c:pt idx="2">
                  <c:v>5.3</c:v>
                </c:pt>
                <c:pt idx="3">
                  <c:v>5.6</c:v>
                </c:pt>
                <c:pt idx="4">
                  <c:v>-0.5</c:v>
                </c:pt>
                <c:pt idx="5">
                  <c:v>-0.2</c:v>
                </c:pt>
                <c:pt idx="6">
                  <c:v>5.4</c:v>
                </c:pt>
                <c:pt idx="7">
                  <c:v>4.5999999999999996</c:v>
                </c:pt>
                <c:pt idx="8">
                  <c:v>5.5</c:v>
                </c:pt>
                <c:pt idx="9">
                  <c:v>3.2</c:v>
                </c:pt>
                <c:pt idx="10">
                  <c:v>-0.25700000000000001</c:v>
                </c:pt>
                <c:pt idx="11">
                  <c:v>2.5379999999999998</c:v>
                </c:pt>
                <c:pt idx="12">
                  <c:v>-1.8029999999999999</c:v>
                </c:pt>
                <c:pt idx="13">
                  <c:v>4.5839999999999996</c:v>
                </c:pt>
                <c:pt idx="14">
                  <c:v>7.2359999999999998</c:v>
                </c:pt>
                <c:pt idx="15">
                  <c:v>4.17</c:v>
                </c:pt>
                <c:pt idx="16">
                  <c:v>3.4620000000000002</c:v>
                </c:pt>
                <c:pt idx="17">
                  <c:v>3.46</c:v>
                </c:pt>
                <c:pt idx="18">
                  <c:v>4.1769999999999996</c:v>
                </c:pt>
                <c:pt idx="19">
                  <c:v>3.6720000000000002</c:v>
                </c:pt>
                <c:pt idx="20">
                  <c:v>1.8859999999999999</c:v>
                </c:pt>
                <c:pt idx="21">
                  <c:v>-0.108</c:v>
                </c:pt>
                <c:pt idx="22">
                  <c:v>3.5219999999999998</c:v>
                </c:pt>
                <c:pt idx="23">
                  <c:v>2.7519999999999998</c:v>
                </c:pt>
                <c:pt idx="24">
                  <c:v>4.0289999999999999</c:v>
                </c:pt>
                <c:pt idx="25">
                  <c:v>2.6840000000000002</c:v>
                </c:pt>
                <c:pt idx="26">
                  <c:v>3.7719999999999998</c:v>
                </c:pt>
                <c:pt idx="27">
                  <c:v>4.4470000000000001</c:v>
                </c:pt>
                <c:pt idx="28">
                  <c:v>4.4809999999999999</c:v>
                </c:pt>
                <c:pt idx="29">
                  <c:v>4.7949999999999999</c:v>
                </c:pt>
                <c:pt idx="30">
                  <c:v>4.077</c:v>
                </c:pt>
                <c:pt idx="31">
                  <c:v>0.95399999999999996</c:v>
                </c:pt>
                <c:pt idx="32">
                  <c:v>1.696</c:v>
                </c:pt>
                <c:pt idx="33">
                  <c:v>2.7959999999999998</c:v>
                </c:pt>
                <c:pt idx="34">
                  <c:v>3.8519999999999999</c:v>
                </c:pt>
                <c:pt idx="35">
                  <c:v>3.4830000000000001</c:v>
                </c:pt>
                <c:pt idx="36">
                  <c:v>2.7829999999999999</c:v>
                </c:pt>
                <c:pt idx="37">
                  <c:v>2.0110000000000001</c:v>
                </c:pt>
                <c:pt idx="38">
                  <c:v>0.122</c:v>
                </c:pt>
                <c:pt idx="39">
                  <c:v>-2.6</c:v>
                </c:pt>
                <c:pt idx="40">
                  <c:v>2.7090000000000001</c:v>
                </c:pt>
                <c:pt idx="41">
                  <c:v>1.55</c:v>
                </c:pt>
                <c:pt idx="42">
                  <c:v>2.2810000000000001</c:v>
                </c:pt>
                <c:pt idx="43">
                  <c:v>1.8420000000000001</c:v>
                </c:pt>
                <c:pt idx="44">
                  <c:v>2.2879999999999998</c:v>
                </c:pt>
                <c:pt idx="45">
                  <c:v>2.7069999999999999</c:v>
                </c:pt>
                <c:pt idx="46">
                  <c:v>1.6679999999999999</c:v>
                </c:pt>
                <c:pt idx="47">
                  <c:v>2.2549999999999999</c:v>
                </c:pt>
                <c:pt idx="48">
                  <c:v>2.919</c:v>
                </c:pt>
                <c:pt idx="49">
                  <c:v>2.2890000000000001</c:v>
                </c:pt>
                <c:pt idx="50">
                  <c:v>-3.4049999999999998</c:v>
                </c:pt>
                <c:pt idx="51">
                  <c:v>5.6710000000000003</c:v>
                </c:pt>
                <c:pt idx="52">
                  <c:v>1.641</c:v>
                </c:pt>
                <c:pt idx="53">
                  <c:v>0.995</c:v>
                </c:pt>
                <c:pt idx="54">
                  <c:v>1.2070000000000001</c:v>
                </c:pt>
                <c:pt idx="55">
                  <c:v>1.7609999999999999</c:v>
                </c:pt>
              </c:numCache>
            </c:numRef>
          </c:val>
          <c:smooth val="0"/>
          <c:extLst>
            <c:ext xmlns:c16="http://schemas.microsoft.com/office/drawing/2014/chart" uri="{C3380CC4-5D6E-409C-BE32-E72D297353CC}">
              <c16:uniqueId val="{00000003-8666-8342-A716-54E40E01B97D}"/>
            </c:ext>
          </c:extLst>
        </c:ser>
        <c:ser>
          <c:idx val="5"/>
          <c:order val="4"/>
          <c:tx>
            <c:strRef>
              <c:f>Sheet1!$A$6</c:f>
              <c:strCache>
                <c:ptCount val="1"/>
                <c:pt idx="0">
                  <c:v>Japan</c:v>
                </c:pt>
              </c:strCache>
            </c:strRef>
          </c:tx>
          <c:spPr>
            <a:ln w="31750">
              <a:solidFill>
                <a:srgbClr val="FF9900"/>
              </a:solidFill>
              <a:prstDash val="solid"/>
            </a:ln>
          </c:spPr>
          <c:marker>
            <c:symbol val="none"/>
          </c:marker>
          <c:cat>
            <c:numRef>
              <c:f>Sheet1!$B$1:$BE$1</c:f>
              <c:numCache>
                <c:formatCode>##############</c:formatCode>
                <c:ptCount val="56"/>
                <c:pt idx="0">
                  <c:v>1970</c:v>
                </c:pt>
                <c:pt idx="1">
                  <c:v>1971</c:v>
                </c:pt>
                <c:pt idx="2">
                  <c:v>1972</c:v>
                </c:pt>
                <c:pt idx="3">
                  <c:v>1973</c:v>
                </c:pt>
                <c:pt idx="4">
                  <c:v>1974</c:v>
                </c:pt>
                <c:pt idx="5">
                  <c:v>1975</c:v>
                </c:pt>
                <c:pt idx="6">
                  <c:v>1976</c:v>
                </c:pt>
                <c:pt idx="7">
                  <c:v>1977</c:v>
                </c:pt>
                <c:pt idx="8">
                  <c:v>1978</c:v>
                </c:pt>
                <c:pt idx="9">
                  <c:v>1979</c:v>
                </c:pt>
                <c:pt idx="10">
                  <c:v>1980</c:v>
                </c:pt>
                <c:pt idx="11">
                  <c:v>1981</c:v>
                </c:pt>
                <c:pt idx="12">
                  <c:v>1982</c:v>
                </c:pt>
                <c:pt idx="13">
                  <c:v>1983</c:v>
                </c:pt>
                <c:pt idx="14">
                  <c:v>1984</c:v>
                </c:pt>
                <c:pt idx="15">
                  <c:v>1985</c:v>
                </c:pt>
                <c:pt idx="16">
                  <c:v>1986</c:v>
                </c:pt>
                <c:pt idx="17">
                  <c:v>1987</c:v>
                </c:pt>
                <c:pt idx="18">
                  <c:v>1988</c:v>
                </c:pt>
                <c:pt idx="19">
                  <c:v>1989</c:v>
                </c:pt>
                <c:pt idx="20">
                  <c:v>1990</c:v>
                </c:pt>
                <c:pt idx="21">
                  <c:v>1991</c:v>
                </c:pt>
                <c:pt idx="22">
                  <c:v>1992</c:v>
                </c:pt>
                <c:pt idx="23">
                  <c:v>1993</c:v>
                </c:pt>
                <c:pt idx="24">
                  <c:v>1994</c:v>
                </c:pt>
                <c:pt idx="25">
                  <c:v>1995</c:v>
                </c:pt>
                <c:pt idx="26">
                  <c:v>1996</c:v>
                </c:pt>
                <c:pt idx="27">
                  <c:v>1997</c:v>
                </c:pt>
                <c:pt idx="28">
                  <c:v>1998</c:v>
                </c:pt>
                <c:pt idx="29">
                  <c:v>1999</c:v>
                </c:pt>
                <c:pt idx="30">
                  <c:v>2000</c:v>
                </c:pt>
                <c:pt idx="31">
                  <c:v>2001</c:v>
                </c:pt>
                <c:pt idx="32">
                  <c:v>2002</c:v>
                </c:pt>
                <c:pt idx="33">
                  <c:v>2003</c:v>
                </c:pt>
                <c:pt idx="34">
                  <c:v>2004</c:v>
                </c:pt>
                <c:pt idx="35">
                  <c:v>2005</c:v>
                </c:pt>
                <c:pt idx="36">
                  <c:v>2006</c:v>
                </c:pt>
                <c:pt idx="37">
                  <c:v>2007</c:v>
                </c:pt>
                <c:pt idx="38">
                  <c:v>2008</c:v>
                </c:pt>
                <c:pt idx="39">
                  <c:v>2009</c:v>
                </c:pt>
                <c:pt idx="40">
                  <c:v>2010</c:v>
                </c:pt>
                <c:pt idx="41">
                  <c:v>2011</c:v>
                </c:pt>
                <c:pt idx="42">
                  <c:v>2012</c:v>
                </c:pt>
                <c:pt idx="43">
                  <c:v>2013</c:v>
                </c:pt>
                <c:pt idx="44">
                  <c:v>2014</c:v>
                </c:pt>
                <c:pt idx="45">
                  <c:v>2015</c:v>
                </c:pt>
                <c:pt idx="46">
                  <c:v>2016</c:v>
                </c:pt>
                <c:pt idx="47">
                  <c:v>2017</c:v>
                </c:pt>
                <c:pt idx="48">
                  <c:v>2018</c:v>
                </c:pt>
                <c:pt idx="49">
                  <c:v>2019</c:v>
                </c:pt>
                <c:pt idx="50">
                  <c:v>2020</c:v>
                </c:pt>
                <c:pt idx="51">
                  <c:v>2021</c:v>
                </c:pt>
                <c:pt idx="52">
                  <c:v>2022</c:v>
                </c:pt>
                <c:pt idx="53">
                  <c:v>2023</c:v>
                </c:pt>
                <c:pt idx="54">
                  <c:v>2024</c:v>
                </c:pt>
                <c:pt idx="55">
                  <c:v>2025</c:v>
                </c:pt>
              </c:numCache>
            </c:numRef>
          </c:cat>
          <c:val>
            <c:numRef>
              <c:f>Sheet1!$B$6:$BE$6</c:f>
              <c:numCache>
                <c:formatCode>0.0</c:formatCode>
                <c:ptCount val="56"/>
                <c:pt idx="0">
                  <c:v>10</c:v>
                </c:pt>
                <c:pt idx="1">
                  <c:v>4.4000000000000004</c:v>
                </c:pt>
                <c:pt idx="2">
                  <c:v>8.4</c:v>
                </c:pt>
                <c:pt idx="3">
                  <c:v>8</c:v>
                </c:pt>
                <c:pt idx="4">
                  <c:v>-1.2</c:v>
                </c:pt>
                <c:pt idx="5">
                  <c:v>3.1</c:v>
                </c:pt>
                <c:pt idx="6">
                  <c:v>4</c:v>
                </c:pt>
                <c:pt idx="7">
                  <c:v>4.4000000000000004</c:v>
                </c:pt>
                <c:pt idx="8">
                  <c:v>5.3</c:v>
                </c:pt>
                <c:pt idx="9">
                  <c:v>5.5</c:v>
                </c:pt>
                <c:pt idx="10">
                  <c:v>3.181</c:v>
                </c:pt>
                <c:pt idx="11">
                  <c:v>4.2089999999999996</c:v>
                </c:pt>
                <c:pt idx="12">
                  <c:v>3.3119999999999998</c:v>
                </c:pt>
                <c:pt idx="13">
                  <c:v>3.5230000000000001</c:v>
                </c:pt>
                <c:pt idx="14">
                  <c:v>4.5019999999999998</c:v>
                </c:pt>
                <c:pt idx="15">
                  <c:v>5.2329999999999997</c:v>
                </c:pt>
                <c:pt idx="16">
                  <c:v>3.327</c:v>
                </c:pt>
                <c:pt idx="17">
                  <c:v>4.7309999999999999</c:v>
                </c:pt>
                <c:pt idx="18">
                  <c:v>6.7850000000000001</c:v>
                </c:pt>
                <c:pt idx="19">
                  <c:v>4.8579999999999997</c:v>
                </c:pt>
                <c:pt idx="20">
                  <c:v>4.8929999999999998</c:v>
                </c:pt>
                <c:pt idx="21">
                  <c:v>3.4169999999999998</c:v>
                </c:pt>
                <c:pt idx="22">
                  <c:v>0.84799999999999998</c:v>
                </c:pt>
                <c:pt idx="23">
                  <c:v>-0.51800000000000002</c:v>
                </c:pt>
                <c:pt idx="24">
                  <c:v>0.876</c:v>
                </c:pt>
                <c:pt idx="25">
                  <c:v>2.6309999999999998</c:v>
                </c:pt>
                <c:pt idx="26">
                  <c:v>3.1339999999999999</c:v>
                </c:pt>
                <c:pt idx="27">
                  <c:v>0.98099999999999998</c:v>
                </c:pt>
                <c:pt idx="28">
                  <c:v>-1.27</c:v>
                </c:pt>
                <c:pt idx="29">
                  <c:v>-0.33400000000000002</c:v>
                </c:pt>
                <c:pt idx="30">
                  <c:v>2.7650000000000001</c:v>
                </c:pt>
                <c:pt idx="31">
                  <c:v>0.38600000000000001</c:v>
                </c:pt>
                <c:pt idx="32">
                  <c:v>4.2000000000000003E-2</c:v>
                </c:pt>
                <c:pt idx="33">
                  <c:v>1.5349999999999999</c:v>
                </c:pt>
                <c:pt idx="34">
                  <c:v>2.1859999999999999</c:v>
                </c:pt>
                <c:pt idx="35">
                  <c:v>1.804</c:v>
                </c:pt>
                <c:pt idx="36">
                  <c:v>1.3720000000000001</c:v>
                </c:pt>
                <c:pt idx="37">
                  <c:v>1.484</c:v>
                </c:pt>
                <c:pt idx="38">
                  <c:v>-1.224</c:v>
                </c:pt>
                <c:pt idx="39">
                  <c:v>-5.6929999999999996</c:v>
                </c:pt>
                <c:pt idx="40">
                  <c:v>4.0979999999999999</c:v>
                </c:pt>
                <c:pt idx="41">
                  <c:v>2.4E-2</c:v>
                </c:pt>
                <c:pt idx="42">
                  <c:v>1.375</c:v>
                </c:pt>
                <c:pt idx="43">
                  <c:v>2.0049999999999999</c:v>
                </c:pt>
                <c:pt idx="44">
                  <c:v>0.29599999999999999</c:v>
                </c:pt>
                <c:pt idx="45">
                  <c:v>1.5609999999999999</c:v>
                </c:pt>
                <c:pt idx="46">
                  <c:v>0.754</c:v>
                </c:pt>
                <c:pt idx="47">
                  <c:v>1.675</c:v>
                </c:pt>
                <c:pt idx="48">
                  <c:v>0.64300000000000002</c:v>
                </c:pt>
                <c:pt idx="49">
                  <c:v>-0.35699999999999998</c:v>
                </c:pt>
                <c:pt idx="50">
                  <c:v>-4.6189999999999998</c:v>
                </c:pt>
                <c:pt idx="51">
                  <c:v>1.657</c:v>
                </c:pt>
                <c:pt idx="52">
                  <c:v>1.7450000000000001</c:v>
                </c:pt>
                <c:pt idx="53">
                  <c:v>1.613</c:v>
                </c:pt>
                <c:pt idx="54">
                  <c:v>1.341</c:v>
                </c:pt>
                <c:pt idx="55">
                  <c:v>0.93200000000000005</c:v>
                </c:pt>
              </c:numCache>
            </c:numRef>
          </c:val>
          <c:smooth val="0"/>
          <c:extLst>
            <c:ext xmlns:c16="http://schemas.microsoft.com/office/drawing/2014/chart" uri="{C3380CC4-5D6E-409C-BE32-E72D297353CC}">
              <c16:uniqueId val="{00000004-8666-8342-A716-54E40E01B97D}"/>
            </c:ext>
          </c:extLst>
        </c:ser>
        <c:ser>
          <c:idx val="0"/>
          <c:order val="5"/>
          <c:tx>
            <c:strRef>
              <c:f>Sheet1!$A$7</c:f>
              <c:strCache>
                <c:ptCount val="1"/>
                <c:pt idx="0">
                  <c:v>Australia</c:v>
                </c:pt>
              </c:strCache>
            </c:strRef>
          </c:tx>
          <c:spPr>
            <a:ln w="31750">
              <a:solidFill>
                <a:srgbClr val="008000"/>
              </a:solidFill>
            </a:ln>
          </c:spPr>
          <c:marker>
            <c:symbol val="none"/>
          </c:marker>
          <c:cat>
            <c:numRef>
              <c:f>Sheet1!$B$1:$BE$1</c:f>
              <c:numCache>
                <c:formatCode>##############</c:formatCode>
                <c:ptCount val="56"/>
                <c:pt idx="0">
                  <c:v>1970</c:v>
                </c:pt>
                <c:pt idx="1">
                  <c:v>1971</c:v>
                </c:pt>
                <c:pt idx="2">
                  <c:v>1972</c:v>
                </c:pt>
                <c:pt idx="3">
                  <c:v>1973</c:v>
                </c:pt>
                <c:pt idx="4">
                  <c:v>1974</c:v>
                </c:pt>
                <c:pt idx="5">
                  <c:v>1975</c:v>
                </c:pt>
                <c:pt idx="6">
                  <c:v>1976</c:v>
                </c:pt>
                <c:pt idx="7">
                  <c:v>1977</c:v>
                </c:pt>
                <c:pt idx="8">
                  <c:v>1978</c:v>
                </c:pt>
                <c:pt idx="9">
                  <c:v>1979</c:v>
                </c:pt>
                <c:pt idx="10">
                  <c:v>1980</c:v>
                </c:pt>
                <c:pt idx="11">
                  <c:v>1981</c:v>
                </c:pt>
                <c:pt idx="12">
                  <c:v>1982</c:v>
                </c:pt>
                <c:pt idx="13">
                  <c:v>1983</c:v>
                </c:pt>
                <c:pt idx="14">
                  <c:v>1984</c:v>
                </c:pt>
                <c:pt idx="15">
                  <c:v>1985</c:v>
                </c:pt>
                <c:pt idx="16">
                  <c:v>1986</c:v>
                </c:pt>
                <c:pt idx="17">
                  <c:v>1987</c:v>
                </c:pt>
                <c:pt idx="18">
                  <c:v>1988</c:v>
                </c:pt>
                <c:pt idx="19">
                  <c:v>1989</c:v>
                </c:pt>
                <c:pt idx="20">
                  <c:v>1990</c:v>
                </c:pt>
                <c:pt idx="21">
                  <c:v>1991</c:v>
                </c:pt>
                <c:pt idx="22">
                  <c:v>1992</c:v>
                </c:pt>
                <c:pt idx="23">
                  <c:v>1993</c:v>
                </c:pt>
                <c:pt idx="24">
                  <c:v>1994</c:v>
                </c:pt>
                <c:pt idx="25">
                  <c:v>1995</c:v>
                </c:pt>
                <c:pt idx="26">
                  <c:v>1996</c:v>
                </c:pt>
                <c:pt idx="27">
                  <c:v>1997</c:v>
                </c:pt>
                <c:pt idx="28">
                  <c:v>1998</c:v>
                </c:pt>
                <c:pt idx="29">
                  <c:v>1999</c:v>
                </c:pt>
                <c:pt idx="30">
                  <c:v>2000</c:v>
                </c:pt>
                <c:pt idx="31">
                  <c:v>2001</c:v>
                </c:pt>
                <c:pt idx="32">
                  <c:v>2002</c:v>
                </c:pt>
                <c:pt idx="33">
                  <c:v>2003</c:v>
                </c:pt>
                <c:pt idx="34">
                  <c:v>2004</c:v>
                </c:pt>
                <c:pt idx="35">
                  <c:v>2005</c:v>
                </c:pt>
                <c:pt idx="36">
                  <c:v>2006</c:v>
                </c:pt>
                <c:pt idx="37">
                  <c:v>2007</c:v>
                </c:pt>
                <c:pt idx="38">
                  <c:v>2008</c:v>
                </c:pt>
                <c:pt idx="39">
                  <c:v>2009</c:v>
                </c:pt>
                <c:pt idx="40">
                  <c:v>2010</c:v>
                </c:pt>
                <c:pt idx="41">
                  <c:v>2011</c:v>
                </c:pt>
                <c:pt idx="42">
                  <c:v>2012</c:v>
                </c:pt>
                <c:pt idx="43">
                  <c:v>2013</c:v>
                </c:pt>
                <c:pt idx="44">
                  <c:v>2014</c:v>
                </c:pt>
                <c:pt idx="45">
                  <c:v>2015</c:v>
                </c:pt>
                <c:pt idx="46">
                  <c:v>2016</c:v>
                </c:pt>
                <c:pt idx="47">
                  <c:v>2017</c:v>
                </c:pt>
                <c:pt idx="48">
                  <c:v>2018</c:v>
                </c:pt>
                <c:pt idx="49">
                  <c:v>2019</c:v>
                </c:pt>
                <c:pt idx="50">
                  <c:v>2020</c:v>
                </c:pt>
                <c:pt idx="51">
                  <c:v>2021</c:v>
                </c:pt>
                <c:pt idx="52">
                  <c:v>2022</c:v>
                </c:pt>
                <c:pt idx="53">
                  <c:v>2023</c:v>
                </c:pt>
                <c:pt idx="54">
                  <c:v>2024</c:v>
                </c:pt>
                <c:pt idx="55">
                  <c:v>2025</c:v>
                </c:pt>
              </c:numCache>
            </c:numRef>
          </c:cat>
          <c:val>
            <c:numRef>
              <c:f>Sheet1!$B$7:$BE$7</c:f>
              <c:numCache>
                <c:formatCode>0.0</c:formatCode>
                <c:ptCount val="56"/>
                <c:pt idx="0">
                  <c:v>4</c:v>
                </c:pt>
                <c:pt idx="1">
                  <c:v>3.9</c:v>
                </c:pt>
                <c:pt idx="2">
                  <c:v>2.6</c:v>
                </c:pt>
                <c:pt idx="3">
                  <c:v>4.0999999999999996</c:v>
                </c:pt>
                <c:pt idx="4">
                  <c:v>1.4</c:v>
                </c:pt>
                <c:pt idx="5">
                  <c:v>2.6</c:v>
                </c:pt>
                <c:pt idx="6">
                  <c:v>3.6</c:v>
                </c:pt>
                <c:pt idx="7">
                  <c:v>0.9</c:v>
                </c:pt>
                <c:pt idx="8">
                  <c:v>4</c:v>
                </c:pt>
                <c:pt idx="9">
                  <c:v>3</c:v>
                </c:pt>
                <c:pt idx="10">
                  <c:v>2.8940000000000001</c:v>
                </c:pt>
                <c:pt idx="11">
                  <c:v>4.1269999999999998</c:v>
                </c:pt>
                <c:pt idx="12">
                  <c:v>6.3E-2</c:v>
                </c:pt>
                <c:pt idx="13">
                  <c:v>-0.47399999999999998</c:v>
                </c:pt>
                <c:pt idx="14">
                  <c:v>6.3460000000000001</c:v>
                </c:pt>
                <c:pt idx="15">
                  <c:v>5.4560000000000004</c:v>
                </c:pt>
                <c:pt idx="16">
                  <c:v>2.448</c:v>
                </c:pt>
                <c:pt idx="17">
                  <c:v>4.8929999999999998</c:v>
                </c:pt>
                <c:pt idx="18">
                  <c:v>4.2530000000000001</c:v>
                </c:pt>
                <c:pt idx="19">
                  <c:v>4.6340000000000003</c:v>
                </c:pt>
                <c:pt idx="20">
                  <c:v>1.49</c:v>
                </c:pt>
                <c:pt idx="21">
                  <c:v>-0.997</c:v>
                </c:pt>
                <c:pt idx="22">
                  <c:v>2.5640000000000001</c:v>
                </c:pt>
                <c:pt idx="23">
                  <c:v>3.9359999999999999</c:v>
                </c:pt>
                <c:pt idx="24">
                  <c:v>4.8449999999999998</c:v>
                </c:pt>
                <c:pt idx="25">
                  <c:v>2.956</c:v>
                </c:pt>
                <c:pt idx="26">
                  <c:v>4.0309999999999997</c:v>
                </c:pt>
                <c:pt idx="27">
                  <c:v>4.6050000000000004</c:v>
                </c:pt>
                <c:pt idx="28">
                  <c:v>4.6500000000000004</c:v>
                </c:pt>
                <c:pt idx="29">
                  <c:v>4.3479999999999999</c:v>
                </c:pt>
                <c:pt idx="30">
                  <c:v>3.101</c:v>
                </c:pt>
                <c:pt idx="31">
                  <c:v>2.6640000000000001</c:v>
                </c:pt>
                <c:pt idx="32">
                  <c:v>4.17</c:v>
                </c:pt>
                <c:pt idx="33">
                  <c:v>3.0169999999999999</c:v>
                </c:pt>
                <c:pt idx="34">
                  <c:v>4.109</c:v>
                </c:pt>
                <c:pt idx="35">
                  <c:v>2.9950000000000001</c:v>
                </c:pt>
                <c:pt idx="36">
                  <c:v>2.6059999999999999</c:v>
                </c:pt>
                <c:pt idx="37">
                  <c:v>4.3639999999999999</c:v>
                </c:pt>
                <c:pt idx="38">
                  <c:v>2.5619999999999998</c:v>
                </c:pt>
                <c:pt idx="39">
                  <c:v>1.9119999999999999</c:v>
                </c:pt>
                <c:pt idx="40">
                  <c:v>2.4380000000000002</c:v>
                </c:pt>
                <c:pt idx="41">
                  <c:v>2.8279999999999998</c:v>
                </c:pt>
                <c:pt idx="42">
                  <c:v>3.7770000000000001</c:v>
                </c:pt>
                <c:pt idx="43">
                  <c:v>2.206</c:v>
                </c:pt>
                <c:pt idx="44">
                  <c:v>2.556</c:v>
                </c:pt>
                <c:pt idx="45">
                  <c:v>2.31</c:v>
                </c:pt>
                <c:pt idx="46">
                  <c:v>2.7010000000000001</c:v>
                </c:pt>
                <c:pt idx="47">
                  <c:v>2.3780000000000001</c:v>
                </c:pt>
                <c:pt idx="48">
                  <c:v>2.7770000000000001</c:v>
                </c:pt>
                <c:pt idx="49">
                  <c:v>1.9830000000000001</c:v>
                </c:pt>
                <c:pt idx="50">
                  <c:v>-2.1379999999999999</c:v>
                </c:pt>
                <c:pt idx="51">
                  <c:v>4.9059999999999997</c:v>
                </c:pt>
                <c:pt idx="52">
                  <c:v>3.7509999999999999</c:v>
                </c:pt>
                <c:pt idx="53">
                  <c:v>1.891</c:v>
                </c:pt>
                <c:pt idx="54">
                  <c:v>1.8009999999999999</c:v>
                </c:pt>
                <c:pt idx="55">
                  <c:v>2.0110000000000001</c:v>
                </c:pt>
              </c:numCache>
            </c:numRef>
          </c:val>
          <c:smooth val="0"/>
          <c:extLst>
            <c:ext xmlns:c16="http://schemas.microsoft.com/office/drawing/2014/chart" uri="{C3380CC4-5D6E-409C-BE32-E72D297353CC}">
              <c16:uniqueId val="{00000005-8666-8342-A716-54E40E01B97D}"/>
            </c:ext>
          </c:extLst>
        </c:ser>
        <c:ser>
          <c:idx val="3"/>
          <c:order val="6"/>
          <c:tx>
            <c:strRef>
              <c:f>Sheet1!$A$8</c:f>
              <c:strCache>
                <c:ptCount val="1"/>
                <c:pt idx="0">
                  <c:v>Zero</c:v>
                </c:pt>
              </c:strCache>
            </c:strRef>
          </c:tx>
          <c:spPr>
            <a:ln w="12700"/>
          </c:spPr>
          <c:marker>
            <c:symbol val="none"/>
          </c:marker>
          <c:cat>
            <c:numRef>
              <c:f>Sheet1!$B$1:$BE$1</c:f>
              <c:numCache>
                <c:formatCode>##############</c:formatCode>
                <c:ptCount val="56"/>
                <c:pt idx="0">
                  <c:v>1970</c:v>
                </c:pt>
                <c:pt idx="1">
                  <c:v>1971</c:v>
                </c:pt>
                <c:pt idx="2">
                  <c:v>1972</c:v>
                </c:pt>
                <c:pt idx="3">
                  <c:v>1973</c:v>
                </c:pt>
                <c:pt idx="4">
                  <c:v>1974</c:v>
                </c:pt>
                <c:pt idx="5">
                  <c:v>1975</c:v>
                </c:pt>
                <c:pt idx="6">
                  <c:v>1976</c:v>
                </c:pt>
                <c:pt idx="7">
                  <c:v>1977</c:v>
                </c:pt>
                <c:pt idx="8">
                  <c:v>1978</c:v>
                </c:pt>
                <c:pt idx="9">
                  <c:v>1979</c:v>
                </c:pt>
                <c:pt idx="10">
                  <c:v>1980</c:v>
                </c:pt>
                <c:pt idx="11">
                  <c:v>1981</c:v>
                </c:pt>
                <c:pt idx="12">
                  <c:v>1982</c:v>
                </c:pt>
                <c:pt idx="13">
                  <c:v>1983</c:v>
                </c:pt>
                <c:pt idx="14">
                  <c:v>1984</c:v>
                </c:pt>
                <c:pt idx="15">
                  <c:v>1985</c:v>
                </c:pt>
                <c:pt idx="16">
                  <c:v>1986</c:v>
                </c:pt>
                <c:pt idx="17">
                  <c:v>1987</c:v>
                </c:pt>
                <c:pt idx="18">
                  <c:v>1988</c:v>
                </c:pt>
                <c:pt idx="19">
                  <c:v>1989</c:v>
                </c:pt>
                <c:pt idx="20">
                  <c:v>1990</c:v>
                </c:pt>
                <c:pt idx="21">
                  <c:v>1991</c:v>
                </c:pt>
                <c:pt idx="22">
                  <c:v>1992</c:v>
                </c:pt>
                <c:pt idx="23">
                  <c:v>1993</c:v>
                </c:pt>
                <c:pt idx="24">
                  <c:v>1994</c:v>
                </c:pt>
                <c:pt idx="25">
                  <c:v>1995</c:v>
                </c:pt>
                <c:pt idx="26">
                  <c:v>1996</c:v>
                </c:pt>
                <c:pt idx="27">
                  <c:v>1997</c:v>
                </c:pt>
                <c:pt idx="28">
                  <c:v>1998</c:v>
                </c:pt>
                <c:pt idx="29">
                  <c:v>1999</c:v>
                </c:pt>
                <c:pt idx="30">
                  <c:v>2000</c:v>
                </c:pt>
                <c:pt idx="31">
                  <c:v>2001</c:v>
                </c:pt>
                <c:pt idx="32">
                  <c:v>2002</c:v>
                </c:pt>
                <c:pt idx="33">
                  <c:v>2003</c:v>
                </c:pt>
                <c:pt idx="34">
                  <c:v>2004</c:v>
                </c:pt>
                <c:pt idx="35">
                  <c:v>2005</c:v>
                </c:pt>
                <c:pt idx="36">
                  <c:v>2006</c:v>
                </c:pt>
                <c:pt idx="37">
                  <c:v>2007</c:v>
                </c:pt>
                <c:pt idx="38">
                  <c:v>2008</c:v>
                </c:pt>
                <c:pt idx="39">
                  <c:v>2009</c:v>
                </c:pt>
                <c:pt idx="40">
                  <c:v>2010</c:v>
                </c:pt>
                <c:pt idx="41">
                  <c:v>2011</c:v>
                </c:pt>
                <c:pt idx="42">
                  <c:v>2012</c:v>
                </c:pt>
                <c:pt idx="43">
                  <c:v>2013</c:v>
                </c:pt>
                <c:pt idx="44">
                  <c:v>2014</c:v>
                </c:pt>
                <c:pt idx="45">
                  <c:v>2015</c:v>
                </c:pt>
                <c:pt idx="46">
                  <c:v>2016</c:v>
                </c:pt>
                <c:pt idx="47">
                  <c:v>2017</c:v>
                </c:pt>
                <c:pt idx="48">
                  <c:v>2018</c:v>
                </c:pt>
                <c:pt idx="49">
                  <c:v>2019</c:v>
                </c:pt>
                <c:pt idx="50">
                  <c:v>2020</c:v>
                </c:pt>
                <c:pt idx="51">
                  <c:v>2021</c:v>
                </c:pt>
                <c:pt idx="52">
                  <c:v>2022</c:v>
                </c:pt>
                <c:pt idx="53">
                  <c:v>2023</c:v>
                </c:pt>
                <c:pt idx="54">
                  <c:v>2024</c:v>
                </c:pt>
                <c:pt idx="55">
                  <c:v>2025</c:v>
                </c:pt>
              </c:numCache>
            </c:numRef>
          </c:cat>
          <c:val>
            <c:numRef>
              <c:f>Sheet1!$B$8:$BE$8</c:f>
              <c:numCache>
                <c:formatCode>General</c:formatCode>
                <c:ptCount val="56"/>
                <c:pt idx="0">
                  <c:v>0</c:v>
                </c:pt>
                <c:pt idx="55">
                  <c:v>0</c:v>
                </c:pt>
              </c:numCache>
            </c:numRef>
          </c:val>
          <c:smooth val="0"/>
          <c:extLst>
            <c:ext xmlns:c16="http://schemas.microsoft.com/office/drawing/2014/chart" uri="{C3380CC4-5D6E-409C-BE32-E72D297353CC}">
              <c16:uniqueId val="{00000006-8666-8342-A716-54E40E01B97D}"/>
            </c:ext>
          </c:extLst>
        </c:ser>
        <c:dLbls>
          <c:showLegendKey val="0"/>
          <c:showVal val="0"/>
          <c:showCatName val="0"/>
          <c:showSerName val="0"/>
          <c:showPercent val="0"/>
          <c:showBubbleSize val="0"/>
        </c:dLbls>
        <c:smooth val="0"/>
        <c:axId val="203712856"/>
        <c:axId val="1"/>
      </c:lineChart>
      <c:catAx>
        <c:axId val="203712856"/>
        <c:scaling>
          <c:orientation val="minMax"/>
        </c:scaling>
        <c:delete val="0"/>
        <c:axPos val="b"/>
        <c:numFmt formatCode="##############" sourceLinked="1"/>
        <c:majorTickMark val="out"/>
        <c:minorTickMark val="none"/>
        <c:tickLblPos val="nextTo"/>
        <c:spPr>
          <a:ln w="15875">
            <a:solidFill>
              <a:srgbClr val="000000"/>
            </a:solidFill>
            <a:prstDash val="solid"/>
          </a:ln>
        </c:spPr>
        <c:txPr>
          <a:bodyPr rot="0" vert="horz"/>
          <a:lstStyle/>
          <a:p>
            <a:pPr>
              <a:defRPr sz="1800" b="0" i="0" u="none" strike="noStrike" baseline="0">
                <a:solidFill>
                  <a:srgbClr val="000000"/>
                </a:solidFill>
                <a:latin typeface="Arial"/>
                <a:ea typeface="Arial"/>
                <a:cs typeface="Arial"/>
              </a:defRPr>
            </a:pPr>
            <a:endParaRPr lang="en-US"/>
          </a:p>
        </c:txPr>
        <c:crossAx val="1"/>
        <c:crossesAt val="-10"/>
        <c:auto val="0"/>
        <c:lblAlgn val="ctr"/>
        <c:lblOffset val="100"/>
        <c:tickLblSkip val="5"/>
        <c:tickMarkSkip val="1"/>
        <c:noMultiLvlLbl val="0"/>
      </c:catAx>
      <c:valAx>
        <c:axId val="1"/>
        <c:scaling>
          <c:orientation val="minMax"/>
          <c:max val="10"/>
          <c:min val="-10"/>
        </c:scaling>
        <c:delete val="0"/>
        <c:axPos val="l"/>
        <c:majorGridlines>
          <c:spPr>
            <a:ln>
              <a:solidFill>
                <a:schemeClr val="bg1">
                  <a:lumMod val="75000"/>
                </a:schemeClr>
              </a:solidFill>
            </a:ln>
          </c:spPr>
        </c:majorGridlines>
        <c:numFmt formatCode="0_ ;\–0\ " sourceLinked="0"/>
        <c:majorTickMark val="out"/>
        <c:minorTickMark val="none"/>
        <c:tickLblPos val="nextTo"/>
        <c:spPr>
          <a:ln w="15875">
            <a:solidFill>
              <a:srgbClr val="000000"/>
            </a:solidFill>
            <a:prstDash val="solid"/>
          </a:ln>
        </c:spPr>
        <c:txPr>
          <a:bodyPr rot="0" vert="horz"/>
          <a:lstStyle/>
          <a:p>
            <a:pPr>
              <a:defRPr sz="1800" b="0" i="0" u="none" strike="noStrike" baseline="0">
                <a:solidFill>
                  <a:srgbClr val="000000"/>
                </a:solidFill>
                <a:latin typeface="Arial"/>
                <a:ea typeface="Arial"/>
                <a:cs typeface="Arial"/>
              </a:defRPr>
            </a:pPr>
            <a:endParaRPr lang="en-US"/>
          </a:p>
        </c:txPr>
        <c:crossAx val="203712856"/>
        <c:crosses val="autoZero"/>
        <c:crossBetween val="midCat"/>
        <c:majorUnit val="2"/>
      </c:valAx>
      <c:spPr>
        <a:solidFill>
          <a:schemeClr val="bg1"/>
        </a:solidFill>
        <a:ln w="6350">
          <a:solidFill>
            <a:schemeClr val="bg1">
              <a:lumMod val="75000"/>
            </a:schemeClr>
          </a:solidFill>
        </a:ln>
      </c:spPr>
    </c:plotArea>
    <c:legend>
      <c:legendPos val="r"/>
      <c:legendEntry>
        <c:idx val="0"/>
        <c:txPr>
          <a:bodyPr/>
          <a:lstStyle/>
          <a:p>
            <a:pPr>
              <a:defRPr sz="1800" b="0">
                <a:solidFill>
                  <a:schemeClr val="tx1"/>
                </a:solidFill>
              </a:defRPr>
            </a:pPr>
            <a:endParaRPr lang="en-US"/>
          </a:p>
        </c:txPr>
      </c:legendEntry>
      <c:legendEntry>
        <c:idx val="1"/>
        <c:txPr>
          <a:bodyPr/>
          <a:lstStyle/>
          <a:p>
            <a:pPr>
              <a:defRPr sz="1800" b="0">
                <a:solidFill>
                  <a:srgbClr val="B68600"/>
                </a:solidFill>
              </a:defRPr>
            </a:pPr>
            <a:endParaRPr lang="en-US"/>
          </a:p>
        </c:txPr>
      </c:legendEntry>
      <c:legendEntry>
        <c:idx val="2"/>
        <c:txPr>
          <a:bodyPr/>
          <a:lstStyle/>
          <a:p>
            <a:pPr>
              <a:defRPr sz="1800" b="0">
                <a:solidFill>
                  <a:srgbClr val="FF0000"/>
                </a:solidFill>
              </a:defRPr>
            </a:pPr>
            <a:endParaRPr lang="en-US"/>
          </a:p>
        </c:txPr>
      </c:legendEntry>
      <c:legendEntry>
        <c:idx val="3"/>
        <c:txPr>
          <a:bodyPr/>
          <a:lstStyle/>
          <a:p>
            <a:pPr>
              <a:defRPr sz="1800" b="0">
                <a:solidFill>
                  <a:schemeClr val="tx2">
                    <a:lumMod val="60000"/>
                    <a:lumOff val="40000"/>
                  </a:schemeClr>
                </a:solidFill>
              </a:defRPr>
            </a:pPr>
            <a:endParaRPr lang="en-US"/>
          </a:p>
        </c:txPr>
      </c:legendEntry>
      <c:legendEntry>
        <c:idx val="4"/>
        <c:txPr>
          <a:bodyPr/>
          <a:lstStyle/>
          <a:p>
            <a:pPr>
              <a:defRPr sz="1800" b="0">
                <a:solidFill>
                  <a:srgbClr val="FF9900"/>
                </a:solidFill>
              </a:defRPr>
            </a:pPr>
            <a:endParaRPr lang="en-US"/>
          </a:p>
        </c:txPr>
      </c:legendEntry>
      <c:legendEntry>
        <c:idx val="5"/>
        <c:txPr>
          <a:bodyPr/>
          <a:lstStyle/>
          <a:p>
            <a:pPr>
              <a:defRPr sz="1800" b="0">
                <a:solidFill>
                  <a:srgbClr val="008000"/>
                </a:solidFill>
              </a:defRPr>
            </a:pPr>
            <a:endParaRPr lang="en-US"/>
          </a:p>
        </c:txPr>
      </c:legendEntry>
      <c:legendEntry>
        <c:idx val="6"/>
        <c:delete val="1"/>
      </c:legendEntry>
      <c:layout>
        <c:manualLayout>
          <c:xMode val="edge"/>
          <c:yMode val="edge"/>
          <c:x val="7.3760465075622089E-2"/>
          <c:y val="0.69493313335833029"/>
          <c:w val="0.28539769087033023"/>
          <c:h val="0.18062317951200119"/>
        </c:manualLayout>
      </c:layout>
      <c:overlay val="0"/>
      <c:spPr>
        <a:solidFill>
          <a:srgbClr val="FFFFDC"/>
        </a:solidFill>
        <a:ln w="19050">
          <a:solidFill>
            <a:srgbClr val="7030A0"/>
          </a:solidFill>
        </a:ln>
      </c:spPr>
      <c:txPr>
        <a:bodyPr/>
        <a:lstStyle/>
        <a:p>
          <a:pPr>
            <a:defRPr sz="1800" b="0"/>
          </a:pPr>
          <a:endParaRPr lang="en-US"/>
        </a:p>
      </c:txPr>
    </c:legend>
    <c:plotVisOnly val="1"/>
    <c:dispBlanksAs val="span"/>
    <c:showDLblsOverMax val="0"/>
  </c:chart>
  <c:spPr>
    <a:noFill/>
    <a:ln>
      <a:noFill/>
    </a:ln>
  </c:spPr>
  <c:txPr>
    <a:bodyPr/>
    <a:lstStyle/>
    <a:p>
      <a:pPr>
        <a:defRPr sz="1888" b="1" i="0" u="none" strike="noStrike" baseline="0">
          <a:solidFill>
            <a:schemeClr val="tx1"/>
          </a:solidFill>
          <a:latin typeface="Arial"/>
          <a:ea typeface="Arial"/>
          <a:cs typeface="Arial"/>
        </a:defRPr>
      </a:pPr>
      <a:endParaRPr lang="en-US"/>
    </a:p>
  </c:txPr>
  <c:externalData r:id="rId1">
    <c:autoUpdate val="0"/>
  </c:externalData>
  <c:userShapes r:id="rId2"/>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3895697266108831E-2"/>
          <c:y val="4.5871543773823006E-2"/>
          <c:w val="0.8926814778131571"/>
          <c:h val="0.87182346992575432"/>
        </c:manualLayout>
      </c:layout>
      <c:lineChart>
        <c:grouping val="standard"/>
        <c:varyColors val="0"/>
        <c:ser>
          <c:idx val="1"/>
          <c:order val="0"/>
          <c:tx>
            <c:strRef>
              <c:f>Sheet1!$A$2</c:f>
              <c:strCache>
                <c:ptCount val="1"/>
                <c:pt idx="0">
                  <c:v>Eurozone</c:v>
                </c:pt>
              </c:strCache>
            </c:strRef>
          </c:tx>
          <c:spPr>
            <a:ln w="31750">
              <a:solidFill>
                <a:schemeClr val="tx1"/>
              </a:solidFill>
              <a:prstDash val="solid"/>
            </a:ln>
          </c:spPr>
          <c:marker>
            <c:symbol val="none"/>
          </c:marker>
          <c:cat>
            <c:numRef>
              <c:f>Sheet1!$B$1:$BK$1</c:f>
              <c:numCache>
                <c:formatCode>##############</c:formatCode>
                <c:ptCount val="62"/>
                <c:pt idx="0">
                  <c:v>1965</c:v>
                </c:pt>
                <c:pt idx="1">
                  <c:v>1966</c:v>
                </c:pt>
                <c:pt idx="2">
                  <c:v>1967</c:v>
                </c:pt>
                <c:pt idx="3">
                  <c:v>1968</c:v>
                </c:pt>
                <c:pt idx="4">
                  <c:v>1969</c:v>
                </c:pt>
                <c:pt idx="5">
                  <c:v>1970</c:v>
                </c:pt>
                <c:pt idx="6">
                  <c:v>1971</c:v>
                </c:pt>
                <c:pt idx="7">
                  <c:v>1972</c:v>
                </c:pt>
                <c:pt idx="8">
                  <c:v>1973</c:v>
                </c:pt>
                <c:pt idx="9">
                  <c:v>1974</c:v>
                </c:pt>
                <c:pt idx="10">
                  <c:v>1975</c:v>
                </c:pt>
                <c:pt idx="11">
                  <c:v>1976</c:v>
                </c:pt>
                <c:pt idx="12">
                  <c:v>1977</c:v>
                </c:pt>
                <c:pt idx="13">
                  <c:v>1978</c:v>
                </c:pt>
                <c:pt idx="14">
                  <c:v>1979</c:v>
                </c:pt>
                <c:pt idx="15">
                  <c:v>1980</c:v>
                </c:pt>
                <c:pt idx="16">
                  <c:v>1981</c:v>
                </c:pt>
                <c:pt idx="17">
                  <c:v>1982</c:v>
                </c:pt>
                <c:pt idx="18">
                  <c:v>1983</c:v>
                </c:pt>
                <c:pt idx="19">
                  <c:v>1984</c:v>
                </c:pt>
                <c:pt idx="20">
                  <c:v>1985</c:v>
                </c:pt>
                <c:pt idx="21">
                  <c:v>1986</c:v>
                </c:pt>
                <c:pt idx="22">
                  <c:v>1987</c:v>
                </c:pt>
                <c:pt idx="23">
                  <c:v>1988</c:v>
                </c:pt>
                <c:pt idx="24">
                  <c:v>1989</c:v>
                </c:pt>
                <c:pt idx="25">
                  <c:v>1990</c:v>
                </c:pt>
                <c:pt idx="26">
                  <c:v>1991</c:v>
                </c:pt>
                <c:pt idx="27">
                  <c:v>1992</c:v>
                </c:pt>
                <c:pt idx="28">
                  <c:v>1993</c:v>
                </c:pt>
                <c:pt idx="29">
                  <c:v>1994</c:v>
                </c:pt>
                <c:pt idx="30">
                  <c:v>1995</c:v>
                </c:pt>
                <c:pt idx="31">
                  <c:v>1996</c:v>
                </c:pt>
                <c:pt idx="32">
                  <c:v>1997</c:v>
                </c:pt>
                <c:pt idx="33">
                  <c:v>1998</c:v>
                </c:pt>
                <c:pt idx="34">
                  <c:v>1999</c:v>
                </c:pt>
                <c:pt idx="35">
                  <c:v>2000</c:v>
                </c:pt>
                <c:pt idx="36">
                  <c:v>2001</c:v>
                </c:pt>
                <c:pt idx="37">
                  <c:v>2002</c:v>
                </c:pt>
                <c:pt idx="38">
                  <c:v>2003</c:v>
                </c:pt>
                <c:pt idx="39">
                  <c:v>2004</c:v>
                </c:pt>
                <c:pt idx="40">
                  <c:v>2005</c:v>
                </c:pt>
                <c:pt idx="41">
                  <c:v>2006</c:v>
                </c:pt>
                <c:pt idx="42">
                  <c:v>2007</c:v>
                </c:pt>
                <c:pt idx="43">
                  <c:v>2008</c:v>
                </c:pt>
                <c:pt idx="44">
                  <c:v>2009</c:v>
                </c:pt>
                <c:pt idx="45">
                  <c:v>2010</c:v>
                </c:pt>
                <c:pt idx="46">
                  <c:v>2011</c:v>
                </c:pt>
                <c:pt idx="47">
                  <c:v>2012</c:v>
                </c:pt>
                <c:pt idx="48">
                  <c:v>2013</c:v>
                </c:pt>
                <c:pt idx="49">
                  <c:v>2014</c:v>
                </c:pt>
                <c:pt idx="50">
                  <c:v>2015</c:v>
                </c:pt>
                <c:pt idx="51">
                  <c:v>2016</c:v>
                </c:pt>
                <c:pt idx="52">
                  <c:v>2017</c:v>
                </c:pt>
                <c:pt idx="53">
                  <c:v>2018</c:v>
                </c:pt>
                <c:pt idx="54">
                  <c:v>2019</c:v>
                </c:pt>
                <c:pt idx="55">
                  <c:v>2020</c:v>
                </c:pt>
                <c:pt idx="56" formatCode="General">
                  <c:v>2021</c:v>
                </c:pt>
                <c:pt idx="57" formatCode="General">
                  <c:v>2022</c:v>
                </c:pt>
                <c:pt idx="58" formatCode="General">
                  <c:v>2023</c:v>
                </c:pt>
                <c:pt idx="59" formatCode="General">
                  <c:v>2024</c:v>
                </c:pt>
                <c:pt idx="60" formatCode="General">
                  <c:v>2025</c:v>
                </c:pt>
                <c:pt idx="61" formatCode="General">
                  <c:v>2026</c:v>
                </c:pt>
              </c:numCache>
            </c:numRef>
          </c:cat>
          <c:val>
            <c:numRef>
              <c:f>Sheet1!$B$2:$BK$2</c:f>
              <c:numCache>
                <c:formatCode>General</c:formatCode>
                <c:ptCount val="62"/>
                <c:pt idx="26" formatCode="0.0">
                  <c:v>82.1</c:v>
                </c:pt>
                <c:pt idx="27" formatCode="0.0">
                  <c:v>83.3</c:v>
                </c:pt>
                <c:pt idx="28" formatCode="0.0">
                  <c:v>82.6</c:v>
                </c:pt>
                <c:pt idx="29" formatCode="0.0">
                  <c:v>84.7</c:v>
                </c:pt>
                <c:pt idx="30" formatCode="0.0">
                  <c:v>87.1</c:v>
                </c:pt>
                <c:pt idx="31" formatCode="0.0">
                  <c:v>88.5</c:v>
                </c:pt>
                <c:pt idx="32" formatCode="0.0">
                  <c:v>90.9</c:v>
                </c:pt>
                <c:pt idx="33" formatCode="0.0">
                  <c:v>93.6</c:v>
                </c:pt>
                <c:pt idx="34" formatCode="0.0">
                  <c:v>96.3</c:v>
                </c:pt>
                <c:pt idx="35" formatCode="0.0">
                  <c:v>100</c:v>
                </c:pt>
                <c:pt idx="36" formatCode="0.0">
                  <c:v>102.2</c:v>
                </c:pt>
                <c:pt idx="37" formatCode="0.0">
                  <c:v>103.1</c:v>
                </c:pt>
                <c:pt idx="38" formatCode="0.0">
                  <c:v>103.8</c:v>
                </c:pt>
                <c:pt idx="39" formatCode="0.0">
                  <c:v>106.1</c:v>
                </c:pt>
                <c:pt idx="40" formatCode="0.0">
                  <c:v>107.9</c:v>
                </c:pt>
                <c:pt idx="41" formatCode="0.0">
                  <c:v>111.4</c:v>
                </c:pt>
                <c:pt idx="42" formatCode="0.0">
                  <c:v>114.7</c:v>
                </c:pt>
                <c:pt idx="43" formatCode="0.0">
                  <c:v>115.2</c:v>
                </c:pt>
                <c:pt idx="44" formatCode="0.0">
                  <c:v>110</c:v>
                </c:pt>
                <c:pt idx="45" formatCode="0.0">
                  <c:v>112.3</c:v>
                </c:pt>
                <c:pt idx="46" formatCode="0.0">
                  <c:v>114.2</c:v>
                </c:pt>
                <c:pt idx="47" formatCode="0.0">
                  <c:v>113.2</c:v>
                </c:pt>
                <c:pt idx="48" formatCode="0.0">
                  <c:v>113</c:v>
                </c:pt>
                <c:pt idx="49" formatCode="0.0">
                  <c:v>114.5</c:v>
                </c:pt>
                <c:pt idx="50" formatCode="0.0">
                  <c:v>116.9</c:v>
                </c:pt>
                <c:pt idx="51" formatCode="0.0">
                  <c:v>119.1</c:v>
                </c:pt>
                <c:pt idx="52" formatCode="0.0">
                  <c:v>122.2</c:v>
                </c:pt>
                <c:pt idx="53" formatCode="0.0">
                  <c:v>124.4</c:v>
                </c:pt>
                <c:pt idx="54" formatCode="0.0">
                  <c:v>126.4</c:v>
                </c:pt>
                <c:pt idx="55" formatCode="0.0">
                  <c:v>118.3</c:v>
                </c:pt>
                <c:pt idx="56" formatCode="0.0">
                  <c:v>124.6</c:v>
                </c:pt>
                <c:pt idx="57" formatCode="0.0">
                  <c:v>127.8</c:v>
                </c:pt>
                <c:pt idx="58" formatCode="0.0">
                  <c:v>132.69999999999999</c:v>
                </c:pt>
                <c:pt idx="59" formatCode="0.0">
                  <c:v>134.6</c:v>
                </c:pt>
                <c:pt idx="60" formatCode="0.0">
                  <c:v>136.4</c:v>
                </c:pt>
                <c:pt idx="61" formatCode="0.0">
                  <c:v>138.19999999999999</c:v>
                </c:pt>
              </c:numCache>
            </c:numRef>
          </c:val>
          <c:smooth val="0"/>
          <c:extLst>
            <c:ext xmlns:c16="http://schemas.microsoft.com/office/drawing/2014/chart" uri="{C3380CC4-5D6E-409C-BE32-E72D297353CC}">
              <c16:uniqueId val="{00000000-82E6-C74C-BA30-4F753F062892}"/>
            </c:ext>
          </c:extLst>
        </c:ser>
        <c:ser>
          <c:idx val="4"/>
          <c:order val="1"/>
          <c:tx>
            <c:strRef>
              <c:f>Sheet1!$A$3</c:f>
              <c:strCache>
                <c:ptCount val="1"/>
                <c:pt idx="0">
                  <c:v>Germany</c:v>
                </c:pt>
              </c:strCache>
            </c:strRef>
          </c:tx>
          <c:spPr>
            <a:ln w="31750">
              <a:solidFill>
                <a:srgbClr val="B68600"/>
              </a:solidFill>
              <a:prstDash val="solid"/>
            </a:ln>
          </c:spPr>
          <c:marker>
            <c:symbol val="none"/>
          </c:marker>
          <c:cat>
            <c:numRef>
              <c:f>Sheet1!$B$1:$BK$1</c:f>
              <c:numCache>
                <c:formatCode>##############</c:formatCode>
                <c:ptCount val="62"/>
                <c:pt idx="0">
                  <c:v>1965</c:v>
                </c:pt>
                <c:pt idx="1">
                  <c:v>1966</c:v>
                </c:pt>
                <c:pt idx="2">
                  <c:v>1967</c:v>
                </c:pt>
                <c:pt idx="3">
                  <c:v>1968</c:v>
                </c:pt>
                <c:pt idx="4">
                  <c:v>1969</c:v>
                </c:pt>
                <c:pt idx="5">
                  <c:v>1970</c:v>
                </c:pt>
                <c:pt idx="6">
                  <c:v>1971</c:v>
                </c:pt>
                <c:pt idx="7">
                  <c:v>1972</c:v>
                </c:pt>
                <c:pt idx="8">
                  <c:v>1973</c:v>
                </c:pt>
                <c:pt idx="9">
                  <c:v>1974</c:v>
                </c:pt>
                <c:pt idx="10">
                  <c:v>1975</c:v>
                </c:pt>
                <c:pt idx="11">
                  <c:v>1976</c:v>
                </c:pt>
                <c:pt idx="12">
                  <c:v>1977</c:v>
                </c:pt>
                <c:pt idx="13">
                  <c:v>1978</c:v>
                </c:pt>
                <c:pt idx="14">
                  <c:v>1979</c:v>
                </c:pt>
                <c:pt idx="15">
                  <c:v>1980</c:v>
                </c:pt>
                <c:pt idx="16">
                  <c:v>1981</c:v>
                </c:pt>
                <c:pt idx="17">
                  <c:v>1982</c:v>
                </c:pt>
                <c:pt idx="18">
                  <c:v>1983</c:v>
                </c:pt>
                <c:pt idx="19">
                  <c:v>1984</c:v>
                </c:pt>
                <c:pt idx="20">
                  <c:v>1985</c:v>
                </c:pt>
                <c:pt idx="21">
                  <c:v>1986</c:v>
                </c:pt>
                <c:pt idx="22">
                  <c:v>1987</c:v>
                </c:pt>
                <c:pt idx="23">
                  <c:v>1988</c:v>
                </c:pt>
                <c:pt idx="24">
                  <c:v>1989</c:v>
                </c:pt>
                <c:pt idx="25">
                  <c:v>1990</c:v>
                </c:pt>
                <c:pt idx="26">
                  <c:v>1991</c:v>
                </c:pt>
                <c:pt idx="27">
                  <c:v>1992</c:v>
                </c:pt>
                <c:pt idx="28">
                  <c:v>1993</c:v>
                </c:pt>
                <c:pt idx="29">
                  <c:v>1994</c:v>
                </c:pt>
                <c:pt idx="30">
                  <c:v>1995</c:v>
                </c:pt>
                <c:pt idx="31">
                  <c:v>1996</c:v>
                </c:pt>
                <c:pt idx="32">
                  <c:v>1997</c:v>
                </c:pt>
                <c:pt idx="33">
                  <c:v>1998</c:v>
                </c:pt>
                <c:pt idx="34">
                  <c:v>1999</c:v>
                </c:pt>
                <c:pt idx="35">
                  <c:v>2000</c:v>
                </c:pt>
                <c:pt idx="36">
                  <c:v>2001</c:v>
                </c:pt>
                <c:pt idx="37">
                  <c:v>2002</c:v>
                </c:pt>
                <c:pt idx="38">
                  <c:v>2003</c:v>
                </c:pt>
                <c:pt idx="39">
                  <c:v>2004</c:v>
                </c:pt>
                <c:pt idx="40">
                  <c:v>2005</c:v>
                </c:pt>
                <c:pt idx="41">
                  <c:v>2006</c:v>
                </c:pt>
                <c:pt idx="42">
                  <c:v>2007</c:v>
                </c:pt>
                <c:pt idx="43">
                  <c:v>2008</c:v>
                </c:pt>
                <c:pt idx="44">
                  <c:v>2009</c:v>
                </c:pt>
                <c:pt idx="45">
                  <c:v>2010</c:v>
                </c:pt>
                <c:pt idx="46">
                  <c:v>2011</c:v>
                </c:pt>
                <c:pt idx="47">
                  <c:v>2012</c:v>
                </c:pt>
                <c:pt idx="48">
                  <c:v>2013</c:v>
                </c:pt>
                <c:pt idx="49">
                  <c:v>2014</c:v>
                </c:pt>
                <c:pt idx="50">
                  <c:v>2015</c:v>
                </c:pt>
                <c:pt idx="51">
                  <c:v>2016</c:v>
                </c:pt>
                <c:pt idx="52">
                  <c:v>2017</c:v>
                </c:pt>
                <c:pt idx="53">
                  <c:v>2018</c:v>
                </c:pt>
                <c:pt idx="54">
                  <c:v>2019</c:v>
                </c:pt>
                <c:pt idx="55">
                  <c:v>2020</c:v>
                </c:pt>
                <c:pt idx="56" formatCode="General">
                  <c:v>2021</c:v>
                </c:pt>
                <c:pt idx="57" formatCode="General">
                  <c:v>2022</c:v>
                </c:pt>
                <c:pt idx="58" formatCode="General">
                  <c:v>2023</c:v>
                </c:pt>
                <c:pt idx="59" formatCode="General">
                  <c:v>2024</c:v>
                </c:pt>
                <c:pt idx="60" formatCode="General">
                  <c:v>2025</c:v>
                </c:pt>
                <c:pt idx="61" formatCode="General">
                  <c:v>2026</c:v>
                </c:pt>
              </c:numCache>
            </c:numRef>
          </c:cat>
          <c:val>
            <c:numRef>
              <c:f>Sheet1!$B$3:$BK$3</c:f>
              <c:numCache>
                <c:formatCode>0.0</c:formatCode>
                <c:ptCount val="62"/>
                <c:pt idx="0">
                  <c:v>40.6</c:v>
                </c:pt>
                <c:pt idx="1">
                  <c:v>41.8</c:v>
                </c:pt>
                <c:pt idx="2">
                  <c:v>41.7</c:v>
                </c:pt>
                <c:pt idx="3">
                  <c:v>43.9</c:v>
                </c:pt>
                <c:pt idx="4">
                  <c:v>47.2</c:v>
                </c:pt>
                <c:pt idx="5">
                  <c:v>49.6</c:v>
                </c:pt>
                <c:pt idx="6">
                  <c:v>51.1</c:v>
                </c:pt>
                <c:pt idx="7">
                  <c:v>53.3</c:v>
                </c:pt>
                <c:pt idx="8">
                  <c:v>55.9</c:v>
                </c:pt>
                <c:pt idx="9">
                  <c:v>56.4</c:v>
                </c:pt>
                <c:pt idx="10">
                  <c:v>55.9</c:v>
                </c:pt>
                <c:pt idx="11">
                  <c:v>58.7</c:v>
                </c:pt>
                <c:pt idx="12">
                  <c:v>60.6</c:v>
                </c:pt>
                <c:pt idx="13">
                  <c:v>62.4</c:v>
                </c:pt>
                <c:pt idx="14">
                  <c:v>65</c:v>
                </c:pt>
                <c:pt idx="15">
                  <c:v>65.900000000000006</c:v>
                </c:pt>
                <c:pt idx="16">
                  <c:v>65.900000000000006</c:v>
                </c:pt>
                <c:pt idx="17">
                  <c:v>65.400000000000006</c:v>
                </c:pt>
                <c:pt idx="18">
                  <c:v>66.400000000000006</c:v>
                </c:pt>
                <c:pt idx="19">
                  <c:v>68.3</c:v>
                </c:pt>
                <c:pt idx="20">
                  <c:v>69.8</c:v>
                </c:pt>
                <c:pt idx="21">
                  <c:v>71.5</c:v>
                </c:pt>
                <c:pt idx="22">
                  <c:v>72.5</c:v>
                </c:pt>
                <c:pt idx="23">
                  <c:v>75.3</c:v>
                </c:pt>
                <c:pt idx="24">
                  <c:v>78.2</c:v>
                </c:pt>
                <c:pt idx="25">
                  <c:v>82.7</c:v>
                </c:pt>
                <c:pt idx="26">
                  <c:v>86.8</c:v>
                </c:pt>
                <c:pt idx="27">
                  <c:v>88.5</c:v>
                </c:pt>
                <c:pt idx="28">
                  <c:v>87.6</c:v>
                </c:pt>
                <c:pt idx="29">
                  <c:v>89.7</c:v>
                </c:pt>
                <c:pt idx="30">
                  <c:v>91.1</c:v>
                </c:pt>
                <c:pt idx="31">
                  <c:v>91.9</c:v>
                </c:pt>
                <c:pt idx="32">
                  <c:v>93.5</c:v>
                </c:pt>
                <c:pt idx="33">
                  <c:v>95.4</c:v>
                </c:pt>
                <c:pt idx="34">
                  <c:v>97.2</c:v>
                </c:pt>
                <c:pt idx="35">
                  <c:v>100</c:v>
                </c:pt>
                <c:pt idx="36">
                  <c:v>101.7</c:v>
                </c:pt>
                <c:pt idx="37">
                  <c:v>101.5</c:v>
                </c:pt>
                <c:pt idx="38">
                  <c:v>100.8</c:v>
                </c:pt>
                <c:pt idx="39">
                  <c:v>102</c:v>
                </c:pt>
                <c:pt idx="40">
                  <c:v>102.7</c:v>
                </c:pt>
                <c:pt idx="41">
                  <c:v>106.6</c:v>
                </c:pt>
                <c:pt idx="42">
                  <c:v>109.8</c:v>
                </c:pt>
                <c:pt idx="43">
                  <c:v>110.9</c:v>
                </c:pt>
                <c:pt idx="44">
                  <c:v>104.5</c:v>
                </c:pt>
                <c:pt idx="45">
                  <c:v>108.9</c:v>
                </c:pt>
                <c:pt idx="46">
                  <c:v>113.2</c:v>
                </c:pt>
                <c:pt idx="47">
                  <c:v>113.7</c:v>
                </c:pt>
                <c:pt idx="48">
                  <c:v>114.1</c:v>
                </c:pt>
                <c:pt idx="49">
                  <c:v>116.7</c:v>
                </c:pt>
                <c:pt idx="50">
                  <c:v>118.4</c:v>
                </c:pt>
                <c:pt idx="51">
                  <c:v>121</c:v>
                </c:pt>
                <c:pt idx="52">
                  <c:v>124.3</c:v>
                </c:pt>
                <c:pt idx="53">
                  <c:v>125.6</c:v>
                </c:pt>
                <c:pt idx="54">
                  <c:v>127</c:v>
                </c:pt>
                <c:pt idx="55">
                  <c:v>121.2</c:v>
                </c:pt>
                <c:pt idx="56">
                  <c:v>124.6</c:v>
                </c:pt>
                <c:pt idx="57">
                  <c:v>127.5</c:v>
                </c:pt>
                <c:pt idx="58">
                  <c:v>134.19999999999999</c:v>
                </c:pt>
                <c:pt idx="59">
                  <c:v>134.6</c:v>
                </c:pt>
                <c:pt idx="60">
                  <c:v>136.4</c:v>
                </c:pt>
                <c:pt idx="61">
                  <c:v>137.6</c:v>
                </c:pt>
              </c:numCache>
            </c:numRef>
          </c:val>
          <c:smooth val="0"/>
          <c:extLst>
            <c:ext xmlns:c16="http://schemas.microsoft.com/office/drawing/2014/chart" uri="{C3380CC4-5D6E-409C-BE32-E72D297353CC}">
              <c16:uniqueId val="{00000001-82E6-C74C-BA30-4F753F062892}"/>
            </c:ext>
          </c:extLst>
        </c:ser>
        <c:ser>
          <c:idx val="2"/>
          <c:order val="2"/>
          <c:tx>
            <c:strRef>
              <c:f>Sheet1!$A$4</c:f>
              <c:strCache>
                <c:ptCount val="1"/>
                <c:pt idx="0">
                  <c:v>UK</c:v>
                </c:pt>
              </c:strCache>
            </c:strRef>
          </c:tx>
          <c:spPr>
            <a:ln w="31750">
              <a:solidFill>
                <a:srgbClr val="FF0000"/>
              </a:solidFill>
              <a:prstDash val="solid"/>
            </a:ln>
          </c:spPr>
          <c:marker>
            <c:symbol val="none"/>
          </c:marker>
          <c:cat>
            <c:numRef>
              <c:f>Sheet1!$B$1:$BK$1</c:f>
              <c:numCache>
                <c:formatCode>##############</c:formatCode>
                <c:ptCount val="62"/>
                <c:pt idx="0">
                  <c:v>1965</c:v>
                </c:pt>
                <c:pt idx="1">
                  <c:v>1966</c:v>
                </c:pt>
                <c:pt idx="2">
                  <c:v>1967</c:v>
                </c:pt>
                <c:pt idx="3">
                  <c:v>1968</c:v>
                </c:pt>
                <c:pt idx="4">
                  <c:v>1969</c:v>
                </c:pt>
                <c:pt idx="5">
                  <c:v>1970</c:v>
                </c:pt>
                <c:pt idx="6">
                  <c:v>1971</c:v>
                </c:pt>
                <c:pt idx="7">
                  <c:v>1972</c:v>
                </c:pt>
                <c:pt idx="8">
                  <c:v>1973</c:v>
                </c:pt>
                <c:pt idx="9">
                  <c:v>1974</c:v>
                </c:pt>
                <c:pt idx="10">
                  <c:v>1975</c:v>
                </c:pt>
                <c:pt idx="11">
                  <c:v>1976</c:v>
                </c:pt>
                <c:pt idx="12">
                  <c:v>1977</c:v>
                </c:pt>
                <c:pt idx="13">
                  <c:v>1978</c:v>
                </c:pt>
                <c:pt idx="14">
                  <c:v>1979</c:v>
                </c:pt>
                <c:pt idx="15">
                  <c:v>1980</c:v>
                </c:pt>
                <c:pt idx="16">
                  <c:v>1981</c:v>
                </c:pt>
                <c:pt idx="17">
                  <c:v>1982</c:v>
                </c:pt>
                <c:pt idx="18">
                  <c:v>1983</c:v>
                </c:pt>
                <c:pt idx="19">
                  <c:v>1984</c:v>
                </c:pt>
                <c:pt idx="20">
                  <c:v>1985</c:v>
                </c:pt>
                <c:pt idx="21">
                  <c:v>1986</c:v>
                </c:pt>
                <c:pt idx="22">
                  <c:v>1987</c:v>
                </c:pt>
                <c:pt idx="23">
                  <c:v>1988</c:v>
                </c:pt>
                <c:pt idx="24">
                  <c:v>1989</c:v>
                </c:pt>
                <c:pt idx="25">
                  <c:v>1990</c:v>
                </c:pt>
                <c:pt idx="26">
                  <c:v>1991</c:v>
                </c:pt>
                <c:pt idx="27">
                  <c:v>1992</c:v>
                </c:pt>
                <c:pt idx="28">
                  <c:v>1993</c:v>
                </c:pt>
                <c:pt idx="29">
                  <c:v>1994</c:v>
                </c:pt>
                <c:pt idx="30">
                  <c:v>1995</c:v>
                </c:pt>
                <c:pt idx="31">
                  <c:v>1996</c:v>
                </c:pt>
                <c:pt idx="32">
                  <c:v>1997</c:v>
                </c:pt>
                <c:pt idx="33">
                  <c:v>1998</c:v>
                </c:pt>
                <c:pt idx="34">
                  <c:v>1999</c:v>
                </c:pt>
                <c:pt idx="35">
                  <c:v>2000</c:v>
                </c:pt>
                <c:pt idx="36">
                  <c:v>2001</c:v>
                </c:pt>
                <c:pt idx="37">
                  <c:v>2002</c:v>
                </c:pt>
                <c:pt idx="38">
                  <c:v>2003</c:v>
                </c:pt>
                <c:pt idx="39">
                  <c:v>2004</c:v>
                </c:pt>
                <c:pt idx="40">
                  <c:v>2005</c:v>
                </c:pt>
                <c:pt idx="41">
                  <c:v>2006</c:v>
                </c:pt>
                <c:pt idx="42">
                  <c:v>2007</c:v>
                </c:pt>
                <c:pt idx="43">
                  <c:v>2008</c:v>
                </c:pt>
                <c:pt idx="44">
                  <c:v>2009</c:v>
                </c:pt>
                <c:pt idx="45">
                  <c:v>2010</c:v>
                </c:pt>
                <c:pt idx="46">
                  <c:v>2011</c:v>
                </c:pt>
                <c:pt idx="47">
                  <c:v>2012</c:v>
                </c:pt>
                <c:pt idx="48">
                  <c:v>2013</c:v>
                </c:pt>
                <c:pt idx="49">
                  <c:v>2014</c:v>
                </c:pt>
                <c:pt idx="50">
                  <c:v>2015</c:v>
                </c:pt>
                <c:pt idx="51">
                  <c:v>2016</c:v>
                </c:pt>
                <c:pt idx="52">
                  <c:v>2017</c:v>
                </c:pt>
                <c:pt idx="53">
                  <c:v>2018</c:v>
                </c:pt>
                <c:pt idx="54">
                  <c:v>2019</c:v>
                </c:pt>
                <c:pt idx="55">
                  <c:v>2020</c:v>
                </c:pt>
                <c:pt idx="56" formatCode="General">
                  <c:v>2021</c:v>
                </c:pt>
                <c:pt idx="57" formatCode="General">
                  <c:v>2022</c:v>
                </c:pt>
                <c:pt idx="58" formatCode="General">
                  <c:v>2023</c:v>
                </c:pt>
                <c:pt idx="59" formatCode="General">
                  <c:v>2024</c:v>
                </c:pt>
                <c:pt idx="60" formatCode="General">
                  <c:v>2025</c:v>
                </c:pt>
                <c:pt idx="61" formatCode="General">
                  <c:v>2026</c:v>
                </c:pt>
              </c:numCache>
            </c:numRef>
          </c:cat>
          <c:val>
            <c:numRef>
              <c:f>Sheet1!$B$4:$BK$4</c:f>
              <c:numCache>
                <c:formatCode>0.0</c:formatCode>
                <c:ptCount val="62"/>
                <c:pt idx="0">
                  <c:v>40.799999999999997</c:v>
                </c:pt>
                <c:pt idx="1">
                  <c:v>41.4</c:v>
                </c:pt>
                <c:pt idx="2">
                  <c:v>42.6</c:v>
                </c:pt>
                <c:pt idx="3">
                  <c:v>44.9</c:v>
                </c:pt>
                <c:pt idx="4">
                  <c:v>45.8</c:v>
                </c:pt>
                <c:pt idx="5">
                  <c:v>47</c:v>
                </c:pt>
                <c:pt idx="6">
                  <c:v>48.6</c:v>
                </c:pt>
                <c:pt idx="7">
                  <c:v>50.7</c:v>
                </c:pt>
                <c:pt idx="8">
                  <c:v>54.1</c:v>
                </c:pt>
                <c:pt idx="9">
                  <c:v>52.7</c:v>
                </c:pt>
                <c:pt idx="10">
                  <c:v>51.9</c:v>
                </c:pt>
                <c:pt idx="11">
                  <c:v>53.4</c:v>
                </c:pt>
                <c:pt idx="12">
                  <c:v>54.8</c:v>
                </c:pt>
                <c:pt idx="13">
                  <c:v>57.1</c:v>
                </c:pt>
                <c:pt idx="14">
                  <c:v>59.2</c:v>
                </c:pt>
                <c:pt idx="15">
                  <c:v>58</c:v>
                </c:pt>
                <c:pt idx="16">
                  <c:v>57.6</c:v>
                </c:pt>
                <c:pt idx="17">
                  <c:v>58.7</c:v>
                </c:pt>
                <c:pt idx="18">
                  <c:v>61.2</c:v>
                </c:pt>
                <c:pt idx="19">
                  <c:v>62.6</c:v>
                </c:pt>
                <c:pt idx="20">
                  <c:v>65.099999999999994</c:v>
                </c:pt>
                <c:pt idx="21">
                  <c:v>67.2</c:v>
                </c:pt>
                <c:pt idx="22">
                  <c:v>70.8</c:v>
                </c:pt>
                <c:pt idx="23">
                  <c:v>74.900000000000006</c:v>
                </c:pt>
                <c:pt idx="24">
                  <c:v>76.8</c:v>
                </c:pt>
                <c:pt idx="25">
                  <c:v>77.400000000000006</c:v>
                </c:pt>
                <c:pt idx="26">
                  <c:v>76.5</c:v>
                </c:pt>
                <c:pt idx="27">
                  <c:v>76.8</c:v>
                </c:pt>
                <c:pt idx="28">
                  <c:v>78.7</c:v>
                </c:pt>
                <c:pt idx="29">
                  <c:v>81.8</c:v>
                </c:pt>
                <c:pt idx="30">
                  <c:v>83.8</c:v>
                </c:pt>
                <c:pt idx="31">
                  <c:v>85.9</c:v>
                </c:pt>
                <c:pt idx="32">
                  <c:v>90.2</c:v>
                </c:pt>
                <c:pt idx="33">
                  <c:v>93.5</c:v>
                </c:pt>
                <c:pt idx="34">
                  <c:v>96.6</c:v>
                </c:pt>
                <c:pt idx="35">
                  <c:v>100</c:v>
                </c:pt>
                <c:pt idx="36">
                  <c:v>102.7</c:v>
                </c:pt>
                <c:pt idx="37">
                  <c:v>105</c:v>
                </c:pt>
                <c:pt idx="38">
                  <c:v>108.5</c:v>
                </c:pt>
                <c:pt idx="39">
                  <c:v>110.9</c:v>
                </c:pt>
                <c:pt idx="40">
                  <c:v>114.2</c:v>
                </c:pt>
                <c:pt idx="41">
                  <c:v>117.3</c:v>
                </c:pt>
                <c:pt idx="42">
                  <c:v>120.1</c:v>
                </c:pt>
                <c:pt idx="43">
                  <c:v>119.7</c:v>
                </c:pt>
                <c:pt idx="44">
                  <c:v>114.8</c:v>
                </c:pt>
                <c:pt idx="45">
                  <c:v>117.2</c:v>
                </c:pt>
                <c:pt idx="46">
                  <c:v>118.7</c:v>
                </c:pt>
                <c:pt idx="47">
                  <c:v>120.4</c:v>
                </c:pt>
                <c:pt idx="48">
                  <c:v>123</c:v>
                </c:pt>
                <c:pt idx="49">
                  <c:v>126.5</c:v>
                </c:pt>
                <c:pt idx="50">
                  <c:v>129.5</c:v>
                </c:pt>
                <c:pt idx="51">
                  <c:v>132.4</c:v>
                </c:pt>
                <c:pt idx="52">
                  <c:v>134.5</c:v>
                </c:pt>
                <c:pt idx="53">
                  <c:v>136.19999999999999</c:v>
                </c:pt>
                <c:pt idx="54">
                  <c:v>138</c:v>
                </c:pt>
                <c:pt idx="55">
                  <c:v>124.9</c:v>
                </c:pt>
                <c:pt idx="56">
                  <c:v>133.30000000000001</c:v>
                </c:pt>
                <c:pt idx="57">
                  <c:v>137.5</c:v>
                </c:pt>
                <c:pt idx="58">
                  <c:v>140.80000000000001</c:v>
                </c:pt>
                <c:pt idx="59">
                  <c:v>143.9</c:v>
                </c:pt>
                <c:pt idx="60">
                  <c:v>147.30000000000001</c:v>
                </c:pt>
                <c:pt idx="61">
                  <c:v>149</c:v>
                </c:pt>
              </c:numCache>
            </c:numRef>
          </c:val>
          <c:smooth val="0"/>
          <c:extLst>
            <c:ext xmlns:c16="http://schemas.microsoft.com/office/drawing/2014/chart" uri="{C3380CC4-5D6E-409C-BE32-E72D297353CC}">
              <c16:uniqueId val="{00000002-82E6-C74C-BA30-4F753F062892}"/>
            </c:ext>
          </c:extLst>
        </c:ser>
        <c:ser>
          <c:idx val="6"/>
          <c:order val="3"/>
          <c:tx>
            <c:strRef>
              <c:f>Sheet1!$A$5</c:f>
              <c:strCache>
                <c:ptCount val="1"/>
                <c:pt idx="0">
                  <c:v>USA</c:v>
                </c:pt>
              </c:strCache>
            </c:strRef>
          </c:tx>
          <c:spPr>
            <a:ln w="31750">
              <a:solidFill>
                <a:schemeClr val="tx2"/>
              </a:solidFill>
              <a:prstDash val="solid"/>
            </a:ln>
          </c:spPr>
          <c:marker>
            <c:symbol val="none"/>
          </c:marker>
          <c:cat>
            <c:numRef>
              <c:f>Sheet1!$B$1:$BK$1</c:f>
              <c:numCache>
                <c:formatCode>##############</c:formatCode>
                <c:ptCount val="62"/>
                <c:pt idx="0">
                  <c:v>1965</c:v>
                </c:pt>
                <c:pt idx="1">
                  <c:v>1966</c:v>
                </c:pt>
                <c:pt idx="2">
                  <c:v>1967</c:v>
                </c:pt>
                <c:pt idx="3">
                  <c:v>1968</c:v>
                </c:pt>
                <c:pt idx="4">
                  <c:v>1969</c:v>
                </c:pt>
                <c:pt idx="5">
                  <c:v>1970</c:v>
                </c:pt>
                <c:pt idx="6">
                  <c:v>1971</c:v>
                </c:pt>
                <c:pt idx="7">
                  <c:v>1972</c:v>
                </c:pt>
                <c:pt idx="8">
                  <c:v>1973</c:v>
                </c:pt>
                <c:pt idx="9">
                  <c:v>1974</c:v>
                </c:pt>
                <c:pt idx="10">
                  <c:v>1975</c:v>
                </c:pt>
                <c:pt idx="11">
                  <c:v>1976</c:v>
                </c:pt>
                <c:pt idx="12">
                  <c:v>1977</c:v>
                </c:pt>
                <c:pt idx="13">
                  <c:v>1978</c:v>
                </c:pt>
                <c:pt idx="14">
                  <c:v>1979</c:v>
                </c:pt>
                <c:pt idx="15">
                  <c:v>1980</c:v>
                </c:pt>
                <c:pt idx="16">
                  <c:v>1981</c:v>
                </c:pt>
                <c:pt idx="17">
                  <c:v>1982</c:v>
                </c:pt>
                <c:pt idx="18">
                  <c:v>1983</c:v>
                </c:pt>
                <c:pt idx="19">
                  <c:v>1984</c:v>
                </c:pt>
                <c:pt idx="20">
                  <c:v>1985</c:v>
                </c:pt>
                <c:pt idx="21">
                  <c:v>1986</c:v>
                </c:pt>
                <c:pt idx="22">
                  <c:v>1987</c:v>
                </c:pt>
                <c:pt idx="23">
                  <c:v>1988</c:v>
                </c:pt>
                <c:pt idx="24">
                  <c:v>1989</c:v>
                </c:pt>
                <c:pt idx="25">
                  <c:v>1990</c:v>
                </c:pt>
                <c:pt idx="26">
                  <c:v>1991</c:v>
                </c:pt>
                <c:pt idx="27">
                  <c:v>1992</c:v>
                </c:pt>
                <c:pt idx="28">
                  <c:v>1993</c:v>
                </c:pt>
                <c:pt idx="29">
                  <c:v>1994</c:v>
                </c:pt>
                <c:pt idx="30">
                  <c:v>1995</c:v>
                </c:pt>
                <c:pt idx="31">
                  <c:v>1996</c:v>
                </c:pt>
                <c:pt idx="32">
                  <c:v>1997</c:v>
                </c:pt>
                <c:pt idx="33">
                  <c:v>1998</c:v>
                </c:pt>
                <c:pt idx="34">
                  <c:v>1999</c:v>
                </c:pt>
                <c:pt idx="35">
                  <c:v>2000</c:v>
                </c:pt>
                <c:pt idx="36">
                  <c:v>2001</c:v>
                </c:pt>
                <c:pt idx="37">
                  <c:v>2002</c:v>
                </c:pt>
                <c:pt idx="38">
                  <c:v>2003</c:v>
                </c:pt>
                <c:pt idx="39">
                  <c:v>2004</c:v>
                </c:pt>
                <c:pt idx="40">
                  <c:v>2005</c:v>
                </c:pt>
                <c:pt idx="41">
                  <c:v>2006</c:v>
                </c:pt>
                <c:pt idx="42">
                  <c:v>2007</c:v>
                </c:pt>
                <c:pt idx="43">
                  <c:v>2008</c:v>
                </c:pt>
                <c:pt idx="44">
                  <c:v>2009</c:v>
                </c:pt>
                <c:pt idx="45">
                  <c:v>2010</c:v>
                </c:pt>
                <c:pt idx="46">
                  <c:v>2011</c:v>
                </c:pt>
                <c:pt idx="47">
                  <c:v>2012</c:v>
                </c:pt>
                <c:pt idx="48">
                  <c:v>2013</c:v>
                </c:pt>
                <c:pt idx="49">
                  <c:v>2014</c:v>
                </c:pt>
                <c:pt idx="50">
                  <c:v>2015</c:v>
                </c:pt>
                <c:pt idx="51">
                  <c:v>2016</c:v>
                </c:pt>
                <c:pt idx="52">
                  <c:v>2017</c:v>
                </c:pt>
                <c:pt idx="53">
                  <c:v>2018</c:v>
                </c:pt>
                <c:pt idx="54">
                  <c:v>2019</c:v>
                </c:pt>
                <c:pt idx="55">
                  <c:v>2020</c:v>
                </c:pt>
                <c:pt idx="56" formatCode="General">
                  <c:v>2021</c:v>
                </c:pt>
                <c:pt idx="57" formatCode="General">
                  <c:v>2022</c:v>
                </c:pt>
                <c:pt idx="58" formatCode="General">
                  <c:v>2023</c:v>
                </c:pt>
                <c:pt idx="59" formatCode="General">
                  <c:v>2024</c:v>
                </c:pt>
                <c:pt idx="60" formatCode="General">
                  <c:v>2025</c:v>
                </c:pt>
                <c:pt idx="61" formatCode="General">
                  <c:v>2026</c:v>
                </c:pt>
              </c:numCache>
            </c:numRef>
          </c:cat>
          <c:val>
            <c:numRef>
              <c:f>Sheet1!$B$5:$BK$5</c:f>
              <c:numCache>
                <c:formatCode>0.0</c:formatCode>
                <c:ptCount val="62"/>
                <c:pt idx="0">
                  <c:v>31.8</c:v>
                </c:pt>
                <c:pt idx="1">
                  <c:v>33.9</c:v>
                </c:pt>
                <c:pt idx="2">
                  <c:v>34.799999999999997</c:v>
                </c:pt>
                <c:pt idx="3">
                  <c:v>36.5</c:v>
                </c:pt>
                <c:pt idx="4">
                  <c:v>37.6</c:v>
                </c:pt>
                <c:pt idx="5">
                  <c:v>37.700000000000003</c:v>
                </c:pt>
                <c:pt idx="6">
                  <c:v>39</c:v>
                </c:pt>
                <c:pt idx="7">
                  <c:v>41</c:v>
                </c:pt>
                <c:pt idx="8">
                  <c:v>43.3</c:v>
                </c:pt>
                <c:pt idx="9">
                  <c:v>43.1</c:v>
                </c:pt>
                <c:pt idx="10">
                  <c:v>43</c:v>
                </c:pt>
                <c:pt idx="11">
                  <c:v>45.3</c:v>
                </c:pt>
                <c:pt idx="12">
                  <c:v>47.4</c:v>
                </c:pt>
                <c:pt idx="13">
                  <c:v>50</c:v>
                </c:pt>
                <c:pt idx="14">
                  <c:v>51.6</c:v>
                </c:pt>
                <c:pt idx="15">
                  <c:v>51.5</c:v>
                </c:pt>
                <c:pt idx="16">
                  <c:v>52.8</c:v>
                </c:pt>
                <c:pt idx="17">
                  <c:v>51.8</c:v>
                </c:pt>
                <c:pt idx="18">
                  <c:v>54.2</c:v>
                </c:pt>
                <c:pt idx="19">
                  <c:v>58.1</c:v>
                </c:pt>
                <c:pt idx="20">
                  <c:v>60.6</c:v>
                </c:pt>
                <c:pt idx="21">
                  <c:v>62.7</c:v>
                </c:pt>
                <c:pt idx="22">
                  <c:v>64.8</c:v>
                </c:pt>
                <c:pt idx="23">
                  <c:v>67.5</c:v>
                </c:pt>
                <c:pt idx="24">
                  <c:v>70</c:v>
                </c:pt>
                <c:pt idx="25">
                  <c:v>71.3</c:v>
                </c:pt>
                <c:pt idx="26">
                  <c:v>71.3</c:v>
                </c:pt>
                <c:pt idx="27">
                  <c:v>73.8</c:v>
                </c:pt>
                <c:pt idx="28">
                  <c:v>75.8</c:v>
                </c:pt>
                <c:pt idx="29">
                  <c:v>78.8</c:v>
                </c:pt>
                <c:pt idx="30">
                  <c:v>81</c:v>
                </c:pt>
                <c:pt idx="31">
                  <c:v>84</c:v>
                </c:pt>
                <c:pt idx="32">
                  <c:v>87.8</c:v>
                </c:pt>
                <c:pt idx="33">
                  <c:v>91.7</c:v>
                </c:pt>
                <c:pt idx="34">
                  <c:v>96.1</c:v>
                </c:pt>
                <c:pt idx="35">
                  <c:v>100</c:v>
                </c:pt>
                <c:pt idx="36">
                  <c:v>101</c:v>
                </c:pt>
                <c:pt idx="37">
                  <c:v>102.7</c:v>
                </c:pt>
                <c:pt idx="38">
                  <c:v>105.5</c:v>
                </c:pt>
                <c:pt idx="39">
                  <c:v>109.6</c:v>
                </c:pt>
                <c:pt idx="40">
                  <c:v>113.4</c:v>
                </c:pt>
                <c:pt idx="41">
                  <c:v>116.6</c:v>
                </c:pt>
                <c:pt idx="42">
                  <c:v>118.9</c:v>
                </c:pt>
                <c:pt idx="43">
                  <c:v>119.1</c:v>
                </c:pt>
                <c:pt idx="44">
                  <c:v>116</c:v>
                </c:pt>
                <c:pt idx="45">
                  <c:v>119.1</c:v>
                </c:pt>
                <c:pt idx="46">
                  <c:v>121</c:v>
                </c:pt>
                <c:pt idx="47">
                  <c:v>123.7</c:v>
                </c:pt>
                <c:pt idx="48">
                  <c:v>126</c:v>
                </c:pt>
                <c:pt idx="49">
                  <c:v>128.9</c:v>
                </c:pt>
                <c:pt idx="50">
                  <c:v>132.4</c:v>
                </c:pt>
                <c:pt idx="51">
                  <c:v>134.6</c:v>
                </c:pt>
                <c:pt idx="52">
                  <c:v>137.6</c:v>
                </c:pt>
                <c:pt idx="53">
                  <c:v>141.6</c:v>
                </c:pt>
                <c:pt idx="54">
                  <c:v>144.80000000000001</c:v>
                </c:pt>
                <c:pt idx="55">
                  <c:v>140</c:v>
                </c:pt>
                <c:pt idx="56">
                  <c:v>147.80000000000001</c:v>
                </c:pt>
                <c:pt idx="57">
                  <c:v>153.80000000000001</c:v>
                </c:pt>
                <c:pt idx="58">
                  <c:v>159.5</c:v>
                </c:pt>
                <c:pt idx="59">
                  <c:v>161.69999999999999</c:v>
                </c:pt>
                <c:pt idx="60">
                  <c:v>164.8</c:v>
                </c:pt>
                <c:pt idx="61">
                  <c:v>167.7</c:v>
                </c:pt>
              </c:numCache>
            </c:numRef>
          </c:val>
          <c:smooth val="0"/>
          <c:extLst>
            <c:ext xmlns:c16="http://schemas.microsoft.com/office/drawing/2014/chart" uri="{C3380CC4-5D6E-409C-BE32-E72D297353CC}">
              <c16:uniqueId val="{00000003-82E6-C74C-BA30-4F753F062892}"/>
            </c:ext>
          </c:extLst>
        </c:ser>
        <c:ser>
          <c:idx val="5"/>
          <c:order val="4"/>
          <c:tx>
            <c:strRef>
              <c:f>Sheet1!$A$6</c:f>
              <c:strCache>
                <c:ptCount val="1"/>
                <c:pt idx="0">
                  <c:v>Japan</c:v>
                </c:pt>
              </c:strCache>
            </c:strRef>
          </c:tx>
          <c:spPr>
            <a:ln w="31750">
              <a:solidFill>
                <a:srgbClr val="FF9900"/>
              </a:solidFill>
              <a:prstDash val="solid"/>
            </a:ln>
          </c:spPr>
          <c:marker>
            <c:symbol val="none"/>
          </c:marker>
          <c:cat>
            <c:numRef>
              <c:f>Sheet1!$B$1:$BK$1</c:f>
              <c:numCache>
                <c:formatCode>##############</c:formatCode>
                <c:ptCount val="62"/>
                <c:pt idx="0">
                  <c:v>1965</c:v>
                </c:pt>
                <c:pt idx="1">
                  <c:v>1966</c:v>
                </c:pt>
                <c:pt idx="2">
                  <c:v>1967</c:v>
                </c:pt>
                <c:pt idx="3">
                  <c:v>1968</c:v>
                </c:pt>
                <c:pt idx="4">
                  <c:v>1969</c:v>
                </c:pt>
                <c:pt idx="5">
                  <c:v>1970</c:v>
                </c:pt>
                <c:pt idx="6">
                  <c:v>1971</c:v>
                </c:pt>
                <c:pt idx="7">
                  <c:v>1972</c:v>
                </c:pt>
                <c:pt idx="8">
                  <c:v>1973</c:v>
                </c:pt>
                <c:pt idx="9">
                  <c:v>1974</c:v>
                </c:pt>
                <c:pt idx="10">
                  <c:v>1975</c:v>
                </c:pt>
                <c:pt idx="11">
                  <c:v>1976</c:v>
                </c:pt>
                <c:pt idx="12">
                  <c:v>1977</c:v>
                </c:pt>
                <c:pt idx="13">
                  <c:v>1978</c:v>
                </c:pt>
                <c:pt idx="14">
                  <c:v>1979</c:v>
                </c:pt>
                <c:pt idx="15">
                  <c:v>1980</c:v>
                </c:pt>
                <c:pt idx="16">
                  <c:v>1981</c:v>
                </c:pt>
                <c:pt idx="17">
                  <c:v>1982</c:v>
                </c:pt>
                <c:pt idx="18">
                  <c:v>1983</c:v>
                </c:pt>
                <c:pt idx="19">
                  <c:v>1984</c:v>
                </c:pt>
                <c:pt idx="20">
                  <c:v>1985</c:v>
                </c:pt>
                <c:pt idx="21">
                  <c:v>1986</c:v>
                </c:pt>
                <c:pt idx="22">
                  <c:v>1987</c:v>
                </c:pt>
                <c:pt idx="23">
                  <c:v>1988</c:v>
                </c:pt>
                <c:pt idx="24">
                  <c:v>1989</c:v>
                </c:pt>
                <c:pt idx="25">
                  <c:v>1990</c:v>
                </c:pt>
                <c:pt idx="26">
                  <c:v>1991</c:v>
                </c:pt>
                <c:pt idx="27">
                  <c:v>1992</c:v>
                </c:pt>
                <c:pt idx="28">
                  <c:v>1993</c:v>
                </c:pt>
                <c:pt idx="29">
                  <c:v>1994</c:v>
                </c:pt>
                <c:pt idx="30">
                  <c:v>1995</c:v>
                </c:pt>
                <c:pt idx="31">
                  <c:v>1996</c:v>
                </c:pt>
                <c:pt idx="32">
                  <c:v>1997</c:v>
                </c:pt>
                <c:pt idx="33">
                  <c:v>1998</c:v>
                </c:pt>
                <c:pt idx="34">
                  <c:v>1999</c:v>
                </c:pt>
                <c:pt idx="35">
                  <c:v>2000</c:v>
                </c:pt>
                <c:pt idx="36">
                  <c:v>2001</c:v>
                </c:pt>
                <c:pt idx="37">
                  <c:v>2002</c:v>
                </c:pt>
                <c:pt idx="38">
                  <c:v>2003</c:v>
                </c:pt>
                <c:pt idx="39">
                  <c:v>2004</c:v>
                </c:pt>
                <c:pt idx="40">
                  <c:v>2005</c:v>
                </c:pt>
                <c:pt idx="41">
                  <c:v>2006</c:v>
                </c:pt>
                <c:pt idx="42">
                  <c:v>2007</c:v>
                </c:pt>
                <c:pt idx="43">
                  <c:v>2008</c:v>
                </c:pt>
                <c:pt idx="44">
                  <c:v>2009</c:v>
                </c:pt>
                <c:pt idx="45">
                  <c:v>2010</c:v>
                </c:pt>
                <c:pt idx="46">
                  <c:v>2011</c:v>
                </c:pt>
                <c:pt idx="47">
                  <c:v>2012</c:v>
                </c:pt>
                <c:pt idx="48">
                  <c:v>2013</c:v>
                </c:pt>
                <c:pt idx="49">
                  <c:v>2014</c:v>
                </c:pt>
                <c:pt idx="50">
                  <c:v>2015</c:v>
                </c:pt>
                <c:pt idx="51">
                  <c:v>2016</c:v>
                </c:pt>
                <c:pt idx="52">
                  <c:v>2017</c:v>
                </c:pt>
                <c:pt idx="53">
                  <c:v>2018</c:v>
                </c:pt>
                <c:pt idx="54">
                  <c:v>2019</c:v>
                </c:pt>
                <c:pt idx="55">
                  <c:v>2020</c:v>
                </c:pt>
                <c:pt idx="56" formatCode="General">
                  <c:v>2021</c:v>
                </c:pt>
                <c:pt idx="57" formatCode="General">
                  <c:v>2022</c:v>
                </c:pt>
                <c:pt idx="58" formatCode="General">
                  <c:v>2023</c:v>
                </c:pt>
                <c:pt idx="59" formatCode="General">
                  <c:v>2024</c:v>
                </c:pt>
                <c:pt idx="60" formatCode="General">
                  <c:v>2025</c:v>
                </c:pt>
                <c:pt idx="61" formatCode="General">
                  <c:v>2026</c:v>
                </c:pt>
              </c:numCache>
            </c:numRef>
          </c:cat>
          <c:val>
            <c:numRef>
              <c:f>Sheet1!$B$6:$BK$6</c:f>
              <c:numCache>
                <c:formatCode>0.0</c:formatCode>
                <c:ptCount val="62"/>
                <c:pt idx="0">
                  <c:v>21.7</c:v>
                </c:pt>
                <c:pt idx="1">
                  <c:v>23.9</c:v>
                </c:pt>
                <c:pt idx="2">
                  <c:v>26.5</c:v>
                </c:pt>
                <c:pt idx="3">
                  <c:v>29.7</c:v>
                </c:pt>
                <c:pt idx="4">
                  <c:v>33.200000000000003</c:v>
                </c:pt>
                <c:pt idx="5">
                  <c:v>36.700000000000003</c:v>
                </c:pt>
                <c:pt idx="6">
                  <c:v>38.299999999999997</c:v>
                </c:pt>
                <c:pt idx="7">
                  <c:v>41.5</c:v>
                </c:pt>
                <c:pt idx="8">
                  <c:v>44.8</c:v>
                </c:pt>
                <c:pt idx="9">
                  <c:v>44.3</c:v>
                </c:pt>
                <c:pt idx="10">
                  <c:v>45.6</c:v>
                </c:pt>
                <c:pt idx="11">
                  <c:v>47.4</c:v>
                </c:pt>
                <c:pt idx="12">
                  <c:v>49.5</c:v>
                </c:pt>
                <c:pt idx="13">
                  <c:v>52.1</c:v>
                </c:pt>
                <c:pt idx="14">
                  <c:v>55</c:v>
                </c:pt>
                <c:pt idx="15">
                  <c:v>56.7</c:v>
                </c:pt>
                <c:pt idx="16">
                  <c:v>59.1</c:v>
                </c:pt>
                <c:pt idx="17">
                  <c:v>61.1</c:v>
                </c:pt>
                <c:pt idx="18">
                  <c:v>63.2</c:v>
                </c:pt>
                <c:pt idx="19">
                  <c:v>66.099999999999994</c:v>
                </c:pt>
                <c:pt idx="20">
                  <c:v>69.599999999999994</c:v>
                </c:pt>
                <c:pt idx="21">
                  <c:v>71.900000000000006</c:v>
                </c:pt>
                <c:pt idx="22">
                  <c:v>75.3</c:v>
                </c:pt>
                <c:pt idx="23">
                  <c:v>80.400000000000006</c:v>
                </c:pt>
                <c:pt idx="24">
                  <c:v>84.3</c:v>
                </c:pt>
                <c:pt idx="25">
                  <c:v>88.4</c:v>
                </c:pt>
                <c:pt idx="26">
                  <c:v>91.4</c:v>
                </c:pt>
                <c:pt idx="27">
                  <c:v>92.2</c:v>
                </c:pt>
                <c:pt idx="28">
                  <c:v>91.7</c:v>
                </c:pt>
                <c:pt idx="29">
                  <c:v>92.5</c:v>
                </c:pt>
                <c:pt idx="30">
                  <c:v>95</c:v>
                </c:pt>
                <c:pt idx="31">
                  <c:v>97.9</c:v>
                </c:pt>
                <c:pt idx="32">
                  <c:v>98.9</c:v>
                </c:pt>
                <c:pt idx="33">
                  <c:v>97.6</c:v>
                </c:pt>
                <c:pt idx="34">
                  <c:v>97.3</c:v>
                </c:pt>
                <c:pt idx="35">
                  <c:v>100</c:v>
                </c:pt>
                <c:pt idx="36">
                  <c:v>100.4</c:v>
                </c:pt>
                <c:pt idx="37">
                  <c:v>100.4</c:v>
                </c:pt>
                <c:pt idx="38">
                  <c:v>102</c:v>
                </c:pt>
                <c:pt idx="39">
                  <c:v>104.2</c:v>
                </c:pt>
                <c:pt idx="40">
                  <c:v>106.1</c:v>
                </c:pt>
                <c:pt idx="41">
                  <c:v>107.5</c:v>
                </c:pt>
                <c:pt idx="42">
                  <c:v>109.1</c:v>
                </c:pt>
                <c:pt idx="43">
                  <c:v>107.8</c:v>
                </c:pt>
                <c:pt idx="44">
                  <c:v>101.7</c:v>
                </c:pt>
                <c:pt idx="45">
                  <c:v>105.8</c:v>
                </c:pt>
                <c:pt idx="46">
                  <c:v>105.8</c:v>
                </c:pt>
                <c:pt idx="47">
                  <c:v>107.3</c:v>
                </c:pt>
                <c:pt idx="48">
                  <c:v>109.5</c:v>
                </c:pt>
                <c:pt idx="49">
                  <c:v>109.8</c:v>
                </c:pt>
                <c:pt idx="50">
                  <c:v>111.5</c:v>
                </c:pt>
                <c:pt idx="51">
                  <c:v>112.3</c:v>
                </c:pt>
                <c:pt idx="52">
                  <c:v>114.2</c:v>
                </c:pt>
                <c:pt idx="53">
                  <c:v>114.9</c:v>
                </c:pt>
                <c:pt idx="54">
                  <c:v>114.6</c:v>
                </c:pt>
                <c:pt idx="55">
                  <c:v>109.7</c:v>
                </c:pt>
                <c:pt idx="56">
                  <c:v>111.4</c:v>
                </c:pt>
                <c:pt idx="57">
                  <c:v>114.9</c:v>
                </c:pt>
                <c:pt idx="58">
                  <c:v>118.5</c:v>
                </c:pt>
                <c:pt idx="59">
                  <c:v>118.3</c:v>
                </c:pt>
                <c:pt idx="60">
                  <c:v>119.1</c:v>
                </c:pt>
                <c:pt idx="61">
                  <c:v>119.5</c:v>
                </c:pt>
              </c:numCache>
            </c:numRef>
          </c:val>
          <c:smooth val="0"/>
          <c:extLst>
            <c:ext xmlns:c16="http://schemas.microsoft.com/office/drawing/2014/chart" uri="{C3380CC4-5D6E-409C-BE32-E72D297353CC}">
              <c16:uniqueId val="{00000004-82E6-C74C-BA30-4F753F062892}"/>
            </c:ext>
          </c:extLst>
        </c:ser>
        <c:ser>
          <c:idx val="0"/>
          <c:order val="5"/>
          <c:tx>
            <c:strRef>
              <c:f>Sheet1!$A$7</c:f>
              <c:strCache>
                <c:ptCount val="1"/>
                <c:pt idx="0">
                  <c:v>Australia</c:v>
                </c:pt>
              </c:strCache>
            </c:strRef>
          </c:tx>
          <c:spPr>
            <a:ln w="31750">
              <a:solidFill>
                <a:srgbClr val="008000"/>
              </a:solidFill>
            </a:ln>
          </c:spPr>
          <c:marker>
            <c:symbol val="none"/>
          </c:marker>
          <c:cat>
            <c:numRef>
              <c:f>Sheet1!$B$1:$BK$1</c:f>
              <c:numCache>
                <c:formatCode>##############</c:formatCode>
                <c:ptCount val="62"/>
                <c:pt idx="0">
                  <c:v>1965</c:v>
                </c:pt>
                <c:pt idx="1">
                  <c:v>1966</c:v>
                </c:pt>
                <c:pt idx="2">
                  <c:v>1967</c:v>
                </c:pt>
                <c:pt idx="3">
                  <c:v>1968</c:v>
                </c:pt>
                <c:pt idx="4">
                  <c:v>1969</c:v>
                </c:pt>
                <c:pt idx="5">
                  <c:v>1970</c:v>
                </c:pt>
                <c:pt idx="6">
                  <c:v>1971</c:v>
                </c:pt>
                <c:pt idx="7">
                  <c:v>1972</c:v>
                </c:pt>
                <c:pt idx="8">
                  <c:v>1973</c:v>
                </c:pt>
                <c:pt idx="9">
                  <c:v>1974</c:v>
                </c:pt>
                <c:pt idx="10">
                  <c:v>1975</c:v>
                </c:pt>
                <c:pt idx="11">
                  <c:v>1976</c:v>
                </c:pt>
                <c:pt idx="12">
                  <c:v>1977</c:v>
                </c:pt>
                <c:pt idx="13">
                  <c:v>1978</c:v>
                </c:pt>
                <c:pt idx="14">
                  <c:v>1979</c:v>
                </c:pt>
                <c:pt idx="15">
                  <c:v>1980</c:v>
                </c:pt>
                <c:pt idx="16">
                  <c:v>1981</c:v>
                </c:pt>
                <c:pt idx="17">
                  <c:v>1982</c:v>
                </c:pt>
                <c:pt idx="18">
                  <c:v>1983</c:v>
                </c:pt>
                <c:pt idx="19">
                  <c:v>1984</c:v>
                </c:pt>
                <c:pt idx="20">
                  <c:v>1985</c:v>
                </c:pt>
                <c:pt idx="21">
                  <c:v>1986</c:v>
                </c:pt>
                <c:pt idx="22">
                  <c:v>1987</c:v>
                </c:pt>
                <c:pt idx="23">
                  <c:v>1988</c:v>
                </c:pt>
                <c:pt idx="24">
                  <c:v>1989</c:v>
                </c:pt>
                <c:pt idx="25">
                  <c:v>1990</c:v>
                </c:pt>
                <c:pt idx="26">
                  <c:v>1991</c:v>
                </c:pt>
                <c:pt idx="27">
                  <c:v>1992</c:v>
                </c:pt>
                <c:pt idx="28">
                  <c:v>1993</c:v>
                </c:pt>
                <c:pt idx="29">
                  <c:v>1994</c:v>
                </c:pt>
                <c:pt idx="30">
                  <c:v>1995</c:v>
                </c:pt>
                <c:pt idx="31">
                  <c:v>1996</c:v>
                </c:pt>
                <c:pt idx="32">
                  <c:v>1997</c:v>
                </c:pt>
                <c:pt idx="33">
                  <c:v>1998</c:v>
                </c:pt>
                <c:pt idx="34">
                  <c:v>1999</c:v>
                </c:pt>
                <c:pt idx="35">
                  <c:v>2000</c:v>
                </c:pt>
                <c:pt idx="36">
                  <c:v>2001</c:v>
                </c:pt>
                <c:pt idx="37">
                  <c:v>2002</c:v>
                </c:pt>
                <c:pt idx="38">
                  <c:v>2003</c:v>
                </c:pt>
                <c:pt idx="39">
                  <c:v>2004</c:v>
                </c:pt>
                <c:pt idx="40">
                  <c:v>2005</c:v>
                </c:pt>
                <c:pt idx="41">
                  <c:v>2006</c:v>
                </c:pt>
                <c:pt idx="42">
                  <c:v>2007</c:v>
                </c:pt>
                <c:pt idx="43">
                  <c:v>2008</c:v>
                </c:pt>
                <c:pt idx="44">
                  <c:v>2009</c:v>
                </c:pt>
                <c:pt idx="45">
                  <c:v>2010</c:v>
                </c:pt>
                <c:pt idx="46">
                  <c:v>2011</c:v>
                </c:pt>
                <c:pt idx="47">
                  <c:v>2012</c:v>
                </c:pt>
                <c:pt idx="48">
                  <c:v>2013</c:v>
                </c:pt>
                <c:pt idx="49">
                  <c:v>2014</c:v>
                </c:pt>
                <c:pt idx="50">
                  <c:v>2015</c:v>
                </c:pt>
                <c:pt idx="51">
                  <c:v>2016</c:v>
                </c:pt>
                <c:pt idx="52">
                  <c:v>2017</c:v>
                </c:pt>
                <c:pt idx="53">
                  <c:v>2018</c:v>
                </c:pt>
                <c:pt idx="54">
                  <c:v>2019</c:v>
                </c:pt>
                <c:pt idx="55">
                  <c:v>2020</c:v>
                </c:pt>
                <c:pt idx="56" formatCode="General">
                  <c:v>2021</c:v>
                </c:pt>
                <c:pt idx="57" formatCode="General">
                  <c:v>2022</c:v>
                </c:pt>
                <c:pt idx="58" formatCode="General">
                  <c:v>2023</c:v>
                </c:pt>
                <c:pt idx="59" formatCode="General">
                  <c:v>2024</c:v>
                </c:pt>
                <c:pt idx="60" formatCode="General">
                  <c:v>2025</c:v>
                </c:pt>
                <c:pt idx="61" formatCode="General">
                  <c:v>2026</c:v>
                </c:pt>
              </c:numCache>
            </c:numRef>
          </c:cat>
          <c:val>
            <c:numRef>
              <c:f>Sheet1!$B$7:$BK$7</c:f>
              <c:numCache>
                <c:formatCode>0.0</c:formatCode>
                <c:ptCount val="62"/>
                <c:pt idx="0">
                  <c:v>29.2</c:v>
                </c:pt>
                <c:pt idx="1">
                  <c:v>31</c:v>
                </c:pt>
                <c:pt idx="2">
                  <c:v>32.6</c:v>
                </c:pt>
                <c:pt idx="3">
                  <c:v>34.9</c:v>
                </c:pt>
                <c:pt idx="4">
                  <c:v>37.4</c:v>
                </c:pt>
                <c:pt idx="5">
                  <c:v>38.9</c:v>
                </c:pt>
                <c:pt idx="6">
                  <c:v>40.4</c:v>
                </c:pt>
                <c:pt idx="7">
                  <c:v>41.5</c:v>
                </c:pt>
                <c:pt idx="8">
                  <c:v>43.2</c:v>
                </c:pt>
                <c:pt idx="9">
                  <c:v>43.7</c:v>
                </c:pt>
                <c:pt idx="10">
                  <c:v>44.9</c:v>
                </c:pt>
                <c:pt idx="11">
                  <c:v>46.5</c:v>
                </c:pt>
                <c:pt idx="12">
                  <c:v>46.9</c:v>
                </c:pt>
                <c:pt idx="13">
                  <c:v>48.8</c:v>
                </c:pt>
                <c:pt idx="14">
                  <c:v>50.3</c:v>
                </c:pt>
                <c:pt idx="15">
                  <c:v>51.7</c:v>
                </c:pt>
                <c:pt idx="16">
                  <c:v>53.9</c:v>
                </c:pt>
                <c:pt idx="17">
                  <c:v>53.9</c:v>
                </c:pt>
                <c:pt idx="18">
                  <c:v>53.7</c:v>
                </c:pt>
                <c:pt idx="19">
                  <c:v>57.1</c:v>
                </c:pt>
                <c:pt idx="20">
                  <c:v>60.2</c:v>
                </c:pt>
                <c:pt idx="21">
                  <c:v>61.7</c:v>
                </c:pt>
                <c:pt idx="22">
                  <c:v>64.7</c:v>
                </c:pt>
                <c:pt idx="23">
                  <c:v>67.400000000000006</c:v>
                </c:pt>
                <c:pt idx="24">
                  <c:v>70.5</c:v>
                </c:pt>
                <c:pt idx="25">
                  <c:v>71.599999999999994</c:v>
                </c:pt>
                <c:pt idx="26">
                  <c:v>70.900000000000006</c:v>
                </c:pt>
                <c:pt idx="27">
                  <c:v>72.7</c:v>
                </c:pt>
                <c:pt idx="28">
                  <c:v>75.5</c:v>
                </c:pt>
                <c:pt idx="29">
                  <c:v>79.2</c:v>
                </c:pt>
                <c:pt idx="30">
                  <c:v>81.5</c:v>
                </c:pt>
                <c:pt idx="31">
                  <c:v>84.9</c:v>
                </c:pt>
                <c:pt idx="32">
                  <c:v>88.7</c:v>
                </c:pt>
                <c:pt idx="33">
                  <c:v>92.9</c:v>
                </c:pt>
                <c:pt idx="34">
                  <c:v>97.1</c:v>
                </c:pt>
                <c:pt idx="35">
                  <c:v>100</c:v>
                </c:pt>
                <c:pt idx="36">
                  <c:v>102.6</c:v>
                </c:pt>
                <c:pt idx="37">
                  <c:v>106.9</c:v>
                </c:pt>
                <c:pt idx="38">
                  <c:v>109.8</c:v>
                </c:pt>
                <c:pt idx="39">
                  <c:v>114.4</c:v>
                </c:pt>
                <c:pt idx="40">
                  <c:v>117.8</c:v>
                </c:pt>
                <c:pt idx="41">
                  <c:v>121</c:v>
                </c:pt>
                <c:pt idx="42">
                  <c:v>126.4</c:v>
                </c:pt>
                <c:pt idx="43">
                  <c:v>129.69999999999999</c:v>
                </c:pt>
                <c:pt idx="44">
                  <c:v>132.19999999999999</c:v>
                </c:pt>
                <c:pt idx="45">
                  <c:v>135.30000000000001</c:v>
                </c:pt>
                <c:pt idx="46">
                  <c:v>139.1</c:v>
                </c:pt>
                <c:pt idx="47">
                  <c:v>144.4</c:v>
                </c:pt>
                <c:pt idx="48">
                  <c:v>147.5</c:v>
                </c:pt>
                <c:pt idx="49">
                  <c:v>151.30000000000001</c:v>
                </c:pt>
                <c:pt idx="50">
                  <c:v>154.80000000000001</c:v>
                </c:pt>
                <c:pt idx="51">
                  <c:v>159</c:v>
                </c:pt>
                <c:pt idx="52">
                  <c:v>162.80000000000001</c:v>
                </c:pt>
                <c:pt idx="53">
                  <c:v>167.4</c:v>
                </c:pt>
                <c:pt idx="54">
                  <c:v>170.8</c:v>
                </c:pt>
                <c:pt idx="55">
                  <c:v>167</c:v>
                </c:pt>
                <c:pt idx="56">
                  <c:v>174.5</c:v>
                </c:pt>
                <c:pt idx="57">
                  <c:v>179.8</c:v>
                </c:pt>
                <c:pt idx="58">
                  <c:v>184.2</c:v>
                </c:pt>
                <c:pt idx="59">
                  <c:v>188.6</c:v>
                </c:pt>
                <c:pt idx="60">
                  <c:v>193.6</c:v>
                </c:pt>
                <c:pt idx="61">
                  <c:v>199</c:v>
                </c:pt>
              </c:numCache>
            </c:numRef>
          </c:val>
          <c:smooth val="0"/>
          <c:extLst>
            <c:ext xmlns:c16="http://schemas.microsoft.com/office/drawing/2014/chart" uri="{C3380CC4-5D6E-409C-BE32-E72D297353CC}">
              <c16:uniqueId val="{00000005-82E6-C74C-BA30-4F753F062892}"/>
            </c:ext>
          </c:extLst>
        </c:ser>
        <c:ser>
          <c:idx val="3"/>
          <c:order val="6"/>
          <c:tx>
            <c:strRef>
              <c:f>Sheet1!$A$8</c:f>
              <c:strCache>
                <c:ptCount val="1"/>
                <c:pt idx="0">
                  <c:v>Zero</c:v>
                </c:pt>
              </c:strCache>
            </c:strRef>
          </c:tx>
          <c:marker>
            <c:symbol val="none"/>
          </c:marker>
          <c:cat>
            <c:numRef>
              <c:f>Sheet1!$B$1:$BK$1</c:f>
              <c:numCache>
                <c:formatCode>##############</c:formatCode>
                <c:ptCount val="62"/>
                <c:pt idx="0">
                  <c:v>1965</c:v>
                </c:pt>
                <c:pt idx="1">
                  <c:v>1966</c:v>
                </c:pt>
                <c:pt idx="2">
                  <c:v>1967</c:v>
                </c:pt>
                <c:pt idx="3">
                  <c:v>1968</c:v>
                </c:pt>
                <c:pt idx="4">
                  <c:v>1969</c:v>
                </c:pt>
                <c:pt idx="5">
                  <c:v>1970</c:v>
                </c:pt>
                <c:pt idx="6">
                  <c:v>1971</c:v>
                </c:pt>
                <c:pt idx="7">
                  <c:v>1972</c:v>
                </c:pt>
                <c:pt idx="8">
                  <c:v>1973</c:v>
                </c:pt>
                <c:pt idx="9">
                  <c:v>1974</c:v>
                </c:pt>
                <c:pt idx="10">
                  <c:v>1975</c:v>
                </c:pt>
                <c:pt idx="11">
                  <c:v>1976</c:v>
                </c:pt>
                <c:pt idx="12">
                  <c:v>1977</c:v>
                </c:pt>
                <c:pt idx="13">
                  <c:v>1978</c:v>
                </c:pt>
                <c:pt idx="14">
                  <c:v>1979</c:v>
                </c:pt>
                <c:pt idx="15">
                  <c:v>1980</c:v>
                </c:pt>
                <c:pt idx="16">
                  <c:v>1981</c:v>
                </c:pt>
                <c:pt idx="17">
                  <c:v>1982</c:v>
                </c:pt>
                <c:pt idx="18">
                  <c:v>1983</c:v>
                </c:pt>
                <c:pt idx="19">
                  <c:v>1984</c:v>
                </c:pt>
                <c:pt idx="20">
                  <c:v>1985</c:v>
                </c:pt>
                <c:pt idx="21">
                  <c:v>1986</c:v>
                </c:pt>
                <c:pt idx="22">
                  <c:v>1987</c:v>
                </c:pt>
                <c:pt idx="23">
                  <c:v>1988</c:v>
                </c:pt>
                <c:pt idx="24">
                  <c:v>1989</c:v>
                </c:pt>
                <c:pt idx="25">
                  <c:v>1990</c:v>
                </c:pt>
                <c:pt idx="26">
                  <c:v>1991</c:v>
                </c:pt>
                <c:pt idx="27">
                  <c:v>1992</c:v>
                </c:pt>
                <c:pt idx="28">
                  <c:v>1993</c:v>
                </c:pt>
                <c:pt idx="29">
                  <c:v>1994</c:v>
                </c:pt>
                <c:pt idx="30">
                  <c:v>1995</c:v>
                </c:pt>
                <c:pt idx="31">
                  <c:v>1996</c:v>
                </c:pt>
                <c:pt idx="32">
                  <c:v>1997</c:v>
                </c:pt>
                <c:pt idx="33">
                  <c:v>1998</c:v>
                </c:pt>
                <c:pt idx="34">
                  <c:v>1999</c:v>
                </c:pt>
                <c:pt idx="35">
                  <c:v>2000</c:v>
                </c:pt>
                <c:pt idx="36">
                  <c:v>2001</c:v>
                </c:pt>
                <c:pt idx="37">
                  <c:v>2002</c:v>
                </c:pt>
                <c:pt idx="38">
                  <c:v>2003</c:v>
                </c:pt>
                <c:pt idx="39">
                  <c:v>2004</c:v>
                </c:pt>
                <c:pt idx="40">
                  <c:v>2005</c:v>
                </c:pt>
                <c:pt idx="41">
                  <c:v>2006</c:v>
                </c:pt>
                <c:pt idx="42">
                  <c:v>2007</c:v>
                </c:pt>
                <c:pt idx="43">
                  <c:v>2008</c:v>
                </c:pt>
                <c:pt idx="44">
                  <c:v>2009</c:v>
                </c:pt>
                <c:pt idx="45">
                  <c:v>2010</c:v>
                </c:pt>
                <c:pt idx="46">
                  <c:v>2011</c:v>
                </c:pt>
                <c:pt idx="47">
                  <c:v>2012</c:v>
                </c:pt>
                <c:pt idx="48">
                  <c:v>2013</c:v>
                </c:pt>
                <c:pt idx="49">
                  <c:v>2014</c:v>
                </c:pt>
                <c:pt idx="50">
                  <c:v>2015</c:v>
                </c:pt>
                <c:pt idx="51">
                  <c:v>2016</c:v>
                </c:pt>
                <c:pt idx="52">
                  <c:v>2017</c:v>
                </c:pt>
                <c:pt idx="53">
                  <c:v>2018</c:v>
                </c:pt>
                <c:pt idx="54">
                  <c:v>2019</c:v>
                </c:pt>
                <c:pt idx="55">
                  <c:v>2020</c:v>
                </c:pt>
                <c:pt idx="56" formatCode="General">
                  <c:v>2021</c:v>
                </c:pt>
                <c:pt idx="57" formatCode="General">
                  <c:v>2022</c:v>
                </c:pt>
                <c:pt idx="58" formatCode="General">
                  <c:v>2023</c:v>
                </c:pt>
                <c:pt idx="59" formatCode="General">
                  <c:v>2024</c:v>
                </c:pt>
                <c:pt idx="60" formatCode="General">
                  <c:v>2025</c:v>
                </c:pt>
                <c:pt idx="61" formatCode="General">
                  <c:v>2026</c:v>
                </c:pt>
              </c:numCache>
            </c:numRef>
          </c:cat>
          <c:val>
            <c:numRef>
              <c:f>Sheet1!$B$8:$BK$8</c:f>
              <c:numCache>
                <c:formatCode>General</c:formatCode>
                <c:ptCount val="62"/>
                <c:pt idx="0">
                  <c:v>0</c:v>
                </c:pt>
                <c:pt idx="40">
                  <c:v>0</c:v>
                </c:pt>
                <c:pt idx="61">
                  <c:v>0</c:v>
                </c:pt>
              </c:numCache>
            </c:numRef>
          </c:val>
          <c:smooth val="0"/>
          <c:extLst>
            <c:ext xmlns:c16="http://schemas.microsoft.com/office/drawing/2014/chart" uri="{C3380CC4-5D6E-409C-BE32-E72D297353CC}">
              <c16:uniqueId val="{00000006-82E6-C74C-BA30-4F753F062892}"/>
            </c:ext>
          </c:extLst>
        </c:ser>
        <c:dLbls>
          <c:showLegendKey val="0"/>
          <c:showVal val="0"/>
          <c:showCatName val="0"/>
          <c:showSerName val="0"/>
          <c:showPercent val="0"/>
          <c:showBubbleSize val="0"/>
        </c:dLbls>
        <c:smooth val="0"/>
        <c:axId val="203712856"/>
        <c:axId val="1"/>
      </c:lineChart>
      <c:catAx>
        <c:axId val="203712856"/>
        <c:scaling>
          <c:orientation val="minMax"/>
        </c:scaling>
        <c:delete val="0"/>
        <c:axPos val="b"/>
        <c:numFmt formatCode="##############" sourceLinked="1"/>
        <c:majorTickMark val="out"/>
        <c:minorTickMark val="none"/>
        <c:tickLblPos val="nextTo"/>
        <c:spPr>
          <a:ln w="15875">
            <a:solidFill>
              <a:srgbClr val="000000"/>
            </a:solidFill>
            <a:prstDash val="solid"/>
          </a:ln>
        </c:spPr>
        <c:txPr>
          <a:bodyPr rot="0" vert="horz"/>
          <a:lstStyle/>
          <a:p>
            <a:pPr>
              <a:defRPr sz="1800" b="0" i="0" u="none" strike="noStrike" baseline="0">
                <a:solidFill>
                  <a:srgbClr val="000000"/>
                </a:solidFill>
                <a:latin typeface="Arial"/>
                <a:ea typeface="Arial"/>
                <a:cs typeface="Arial"/>
              </a:defRPr>
            </a:pPr>
            <a:endParaRPr lang="en-US"/>
          </a:p>
        </c:txPr>
        <c:crossAx val="1"/>
        <c:crosses val="autoZero"/>
        <c:auto val="0"/>
        <c:lblAlgn val="ctr"/>
        <c:lblOffset val="100"/>
        <c:tickLblSkip val="5"/>
        <c:tickMarkSkip val="1"/>
        <c:noMultiLvlLbl val="0"/>
      </c:catAx>
      <c:valAx>
        <c:axId val="1"/>
        <c:scaling>
          <c:logBase val="2"/>
          <c:orientation val="minMax"/>
          <c:max val="220"/>
          <c:min val="25"/>
        </c:scaling>
        <c:delete val="0"/>
        <c:axPos val="l"/>
        <c:majorGridlines>
          <c:spPr>
            <a:ln>
              <a:solidFill>
                <a:schemeClr val="bg1">
                  <a:lumMod val="75000"/>
                </a:schemeClr>
              </a:solidFill>
            </a:ln>
          </c:spPr>
        </c:majorGridlines>
        <c:numFmt formatCode="0" sourceLinked="0"/>
        <c:majorTickMark val="out"/>
        <c:minorTickMark val="none"/>
        <c:tickLblPos val="nextTo"/>
        <c:spPr>
          <a:ln w="15875">
            <a:solidFill>
              <a:srgbClr val="000000"/>
            </a:solidFill>
            <a:prstDash val="solid"/>
          </a:ln>
        </c:spPr>
        <c:txPr>
          <a:bodyPr rot="0" vert="horz"/>
          <a:lstStyle/>
          <a:p>
            <a:pPr>
              <a:defRPr sz="1800" b="0" i="0" u="none" strike="noStrike" baseline="0">
                <a:solidFill>
                  <a:srgbClr val="000000"/>
                </a:solidFill>
                <a:latin typeface="Arial"/>
                <a:ea typeface="Arial"/>
                <a:cs typeface="Arial"/>
              </a:defRPr>
            </a:pPr>
            <a:endParaRPr lang="en-US"/>
          </a:p>
        </c:txPr>
        <c:crossAx val="203712856"/>
        <c:crosses val="autoZero"/>
        <c:crossBetween val="midCat"/>
        <c:majorUnit val="2"/>
      </c:valAx>
      <c:spPr>
        <a:solidFill>
          <a:schemeClr val="bg1"/>
        </a:solidFill>
        <a:ln w="6350">
          <a:solidFill>
            <a:schemeClr val="bg1">
              <a:lumMod val="75000"/>
            </a:schemeClr>
          </a:solidFill>
        </a:ln>
      </c:spPr>
    </c:plotArea>
    <c:legend>
      <c:legendPos val="r"/>
      <c:legendEntry>
        <c:idx val="0"/>
        <c:txPr>
          <a:bodyPr/>
          <a:lstStyle/>
          <a:p>
            <a:pPr>
              <a:defRPr sz="1800" b="0">
                <a:solidFill>
                  <a:schemeClr val="tx1"/>
                </a:solidFill>
              </a:defRPr>
            </a:pPr>
            <a:endParaRPr lang="en-US"/>
          </a:p>
        </c:txPr>
      </c:legendEntry>
      <c:legendEntry>
        <c:idx val="1"/>
        <c:txPr>
          <a:bodyPr/>
          <a:lstStyle/>
          <a:p>
            <a:pPr>
              <a:defRPr sz="1800" b="0">
                <a:solidFill>
                  <a:srgbClr val="B68600"/>
                </a:solidFill>
              </a:defRPr>
            </a:pPr>
            <a:endParaRPr lang="en-US"/>
          </a:p>
        </c:txPr>
      </c:legendEntry>
      <c:legendEntry>
        <c:idx val="2"/>
        <c:txPr>
          <a:bodyPr/>
          <a:lstStyle/>
          <a:p>
            <a:pPr>
              <a:defRPr sz="1800" b="0">
                <a:solidFill>
                  <a:srgbClr val="FF0000"/>
                </a:solidFill>
              </a:defRPr>
            </a:pPr>
            <a:endParaRPr lang="en-US"/>
          </a:p>
        </c:txPr>
      </c:legendEntry>
      <c:legendEntry>
        <c:idx val="3"/>
        <c:txPr>
          <a:bodyPr/>
          <a:lstStyle/>
          <a:p>
            <a:pPr>
              <a:defRPr sz="1800" b="0">
                <a:solidFill>
                  <a:schemeClr val="tx2">
                    <a:lumMod val="60000"/>
                    <a:lumOff val="40000"/>
                  </a:schemeClr>
                </a:solidFill>
              </a:defRPr>
            </a:pPr>
            <a:endParaRPr lang="en-US"/>
          </a:p>
        </c:txPr>
      </c:legendEntry>
      <c:legendEntry>
        <c:idx val="4"/>
        <c:txPr>
          <a:bodyPr/>
          <a:lstStyle/>
          <a:p>
            <a:pPr>
              <a:defRPr sz="1800" b="0">
                <a:solidFill>
                  <a:srgbClr val="FF9900"/>
                </a:solidFill>
              </a:defRPr>
            </a:pPr>
            <a:endParaRPr lang="en-US"/>
          </a:p>
        </c:txPr>
      </c:legendEntry>
      <c:legendEntry>
        <c:idx val="5"/>
        <c:txPr>
          <a:bodyPr/>
          <a:lstStyle/>
          <a:p>
            <a:pPr>
              <a:defRPr sz="1800" b="0">
                <a:solidFill>
                  <a:srgbClr val="008000"/>
                </a:solidFill>
              </a:defRPr>
            </a:pPr>
            <a:endParaRPr lang="en-US"/>
          </a:p>
        </c:txPr>
      </c:legendEntry>
      <c:legendEntry>
        <c:idx val="6"/>
        <c:delete val="1"/>
      </c:legendEntry>
      <c:layout>
        <c:manualLayout>
          <c:xMode val="edge"/>
          <c:yMode val="edge"/>
          <c:x val="8.008756749301145E-2"/>
          <c:y val="7.8317328884932189E-2"/>
          <c:w val="0.38277886343832113"/>
          <c:h val="0.20799603810995612"/>
        </c:manualLayout>
      </c:layout>
      <c:overlay val="0"/>
      <c:spPr>
        <a:solidFill>
          <a:srgbClr val="FFFFDE"/>
        </a:solidFill>
        <a:ln w="19050">
          <a:solidFill>
            <a:srgbClr val="7030A0"/>
          </a:solidFill>
        </a:ln>
      </c:spPr>
      <c:txPr>
        <a:bodyPr/>
        <a:lstStyle/>
        <a:p>
          <a:pPr>
            <a:defRPr sz="1800" b="0"/>
          </a:pPr>
          <a:endParaRPr lang="en-US"/>
        </a:p>
      </c:txPr>
    </c:legend>
    <c:plotVisOnly val="1"/>
    <c:dispBlanksAs val="span"/>
    <c:showDLblsOverMax val="0"/>
  </c:chart>
  <c:spPr>
    <a:noFill/>
    <a:ln>
      <a:noFill/>
    </a:ln>
  </c:spPr>
  <c:txPr>
    <a:bodyPr/>
    <a:lstStyle/>
    <a:p>
      <a:pPr>
        <a:defRPr sz="1888" b="1" i="0" u="none" strike="noStrike" baseline="0">
          <a:solidFill>
            <a:schemeClr val="tx1"/>
          </a:solidFill>
          <a:latin typeface="Arial"/>
          <a:ea typeface="Arial"/>
          <a:cs typeface="Arial"/>
        </a:defRPr>
      </a:pPr>
      <a:endParaRPr lang="en-US"/>
    </a:p>
  </c:txPr>
  <c:externalData r:id="rId1">
    <c:autoUpdate val="0"/>
  </c:externalData>
  <c:userShapes r:id="rId2"/>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9.3697178477690282E-2"/>
          <c:y val="3.0843900947469763E-2"/>
          <c:w val="0.8729438156167979"/>
          <c:h val="0.87210983156552191"/>
        </c:manualLayout>
      </c:layout>
      <c:lineChart>
        <c:grouping val="standard"/>
        <c:varyColors val="0"/>
        <c:ser>
          <c:idx val="0"/>
          <c:order val="0"/>
          <c:tx>
            <c:strRef>
              <c:f>Sheet1!$A$2</c:f>
              <c:strCache>
                <c:ptCount val="1"/>
                <c:pt idx="0">
                  <c:v>Eurozone</c:v>
                </c:pt>
              </c:strCache>
            </c:strRef>
          </c:tx>
          <c:spPr>
            <a:ln w="31750">
              <a:solidFill>
                <a:schemeClr val="accent4"/>
              </a:solidFill>
              <a:prstDash val="solid"/>
            </a:ln>
          </c:spPr>
          <c:marker>
            <c:symbol val="none"/>
          </c:marker>
          <c:cat>
            <c:numRef>
              <c:f>Sheet1!$B$1:$BJ$1</c:f>
              <c:numCache>
                <c:formatCode>General</c:formatCode>
                <c:ptCount val="61"/>
                <c:pt idx="0">
                  <c:v>1965</c:v>
                </c:pt>
                <c:pt idx="1">
                  <c:v>1966</c:v>
                </c:pt>
                <c:pt idx="2">
                  <c:v>1967</c:v>
                </c:pt>
                <c:pt idx="3">
                  <c:v>1968</c:v>
                </c:pt>
                <c:pt idx="4">
                  <c:v>1969</c:v>
                </c:pt>
                <c:pt idx="5">
                  <c:v>1970</c:v>
                </c:pt>
                <c:pt idx="6">
                  <c:v>1971</c:v>
                </c:pt>
                <c:pt idx="7">
                  <c:v>1972</c:v>
                </c:pt>
                <c:pt idx="8">
                  <c:v>1973</c:v>
                </c:pt>
                <c:pt idx="9">
                  <c:v>1974</c:v>
                </c:pt>
                <c:pt idx="10">
                  <c:v>1975</c:v>
                </c:pt>
                <c:pt idx="11">
                  <c:v>1976</c:v>
                </c:pt>
                <c:pt idx="12">
                  <c:v>1977</c:v>
                </c:pt>
                <c:pt idx="13">
                  <c:v>1978</c:v>
                </c:pt>
                <c:pt idx="14">
                  <c:v>1979</c:v>
                </c:pt>
                <c:pt idx="15">
                  <c:v>1980</c:v>
                </c:pt>
                <c:pt idx="16">
                  <c:v>1981</c:v>
                </c:pt>
                <c:pt idx="17">
                  <c:v>1982</c:v>
                </c:pt>
                <c:pt idx="18">
                  <c:v>1983</c:v>
                </c:pt>
                <c:pt idx="19">
                  <c:v>1984</c:v>
                </c:pt>
                <c:pt idx="20">
                  <c:v>1985</c:v>
                </c:pt>
                <c:pt idx="21">
                  <c:v>1986</c:v>
                </c:pt>
                <c:pt idx="22">
                  <c:v>1987</c:v>
                </c:pt>
                <c:pt idx="23">
                  <c:v>1988</c:v>
                </c:pt>
                <c:pt idx="24">
                  <c:v>1989</c:v>
                </c:pt>
                <c:pt idx="25">
                  <c:v>1990</c:v>
                </c:pt>
                <c:pt idx="26">
                  <c:v>1991</c:v>
                </c:pt>
                <c:pt idx="27">
                  <c:v>1992</c:v>
                </c:pt>
                <c:pt idx="28">
                  <c:v>1993</c:v>
                </c:pt>
                <c:pt idx="29">
                  <c:v>1994</c:v>
                </c:pt>
                <c:pt idx="30">
                  <c:v>1995</c:v>
                </c:pt>
                <c:pt idx="31">
                  <c:v>1996</c:v>
                </c:pt>
                <c:pt idx="32">
                  <c:v>1997</c:v>
                </c:pt>
                <c:pt idx="33">
                  <c:v>1998</c:v>
                </c:pt>
                <c:pt idx="34">
                  <c:v>1999</c:v>
                </c:pt>
                <c:pt idx="35">
                  <c:v>2000</c:v>
                </c:pt>
                <c:pt idx="36">
                  <c:v>2001</c:v>
                </c:pt>
                <c:pt idx="37">
                  <c:v>2002</c:v>
                </c:pt>
                <c:pt idx="38">
                  <c:v>2003</c:v>
                </c:pt>
                <c:pt idx="39">
                  <c:v>2004</c:v>
                </c:pt>
                <c:pt idx="40">
                  <c:v>2005</c:v>
                </c:pt>
                <c:pt idx="41">
                  <c:v>2006</c:v>
                </c:pt>
                <c:pt idx="42">
                  <c:v>2007</c:v>
                </c:pt>
                <c:pt idx="43">
                  <c:v>2008</c:v>
                </c:pt>
                <c:pt idx="44">
                  <c:v>2009</c:v>
                </c:pt>
                <c:pt idx="45">
                  <c:v>2010</c:v>
                </c:pt>
                <c:pt idx="46">
                  <c:v>2011</c:v>
                </c:pt>
                <c:pt idx="47">
                  <c:v>2012</c:v>
                </c:pt>
                <c:pt idx="48">
                  <c:v>2013</c:v>
                </c:pt>
                <c:pt idx="49">
                  <c:v>2014</c:v>
                </c:pt>
                <c:pt idx="50">
                  <c:v>2015</c:v>
                </c:pt>
                <c:pt idx="51">
                  <c:v>2016</c:v>
                </c:pt>
                <c:pt idx="52">
                  <c:v>2017</c:v>
                </c:pt>
                <c:pt idx="53">
                  <c:v>2018</c:v>
                </c:pt>
                <c:pt idx="54">
                  <c:v>2019</c:v>
                </c:pt>
                <c:pt idx="55">
                  <c:v>2020</c:v>
                </c:pt>
                <c:pt idx="56">
                  <c:v>2021</c:v>
                </c:pt>
                <c:pt idx="57">
                  <c:v>2022</c:v>
                </c:pt>
                <c:pt idx="58">
                  <c:v>2023</c:v>
                </c:pt>
                <c:pt idx="59">
                  <c:v>2024</c:v>
                </c:pt>
                <c:pt idx="60">
                  <c:v>2025</c:v>
                </c:pt>
              </c:numCache>
            </c:numRef>
          </c:cat>
          <c:val>
            <c:numRef>
              <c:f>Sheet1!$B$2:$BJ$2</c:f>
              <c:numCache>
                <c:formatCode>General</c:formatCode>
                <c:ptCount val="61"/>
                <c:pt idx="26" formatCode="0.00">
                  <c:v>8.2100000000000009</c:v>
                </c:pt>
                <c:pt idx="27" formatCode="0.00">
                  <c:v>9.11</c:v>
                </c:pt>
                <c:pt idx="28" formatCode="0.00">
                  <c:v>9.9580000000000002</c:v>
                </c:pt>
                <c:pt idx="29" formatCode="0.00">
                  <c:v>10.617000000000001</c:v>
                </c:pt>
                <c:pt idx="30" formatCode="0.00">
                  <c:v>10.65</c:v>
                </c:pt>
                <c:pt idx="31" formatCode="0.00">
                  <c:v>10.8</c:v>
                </c:pt>
                <c:pt idx="32" formatCode="0.00">
                  <c:v>10.8</c:v>
                </c:pt>
                <c:pt idx="33" formatCode="0.00">
                  <c:v>10.483000000000001</c:v>
                </c:pt>
                <c:pt idx="34" formatCode="0.00">
                  <c:v>9.7919999999999998</c:v>
                </c:pt>
                <c:pt idx="35" formatCode="0.00">
                  <c:v>8.9749999999999996</c:v>
                </c:pt>
                <c:pt idx="36" formatCode="0.00">
                  <c:v>8.4250000000000007</c:v>
                </c:pt>
                <c:pt idx="37" formatCode="0.00">
                  <c:v>8.6750000000000007</c:v>
                </c:pt>
                <c:pt idx="38" formatCode="0.00">
                  <c:v>9.0920000000000005</c:v>
                </c:pt>
                <c:pt idx="39" formatCode="0.00">
                  <c:v>9.2919999999999998</c:v>
                </c:pt>
                <c:pt idx="40" formatCode="0.00">
                  <c:v>9.1329999999999991</c:v>
                </c:pt>
                <c:pt idx="41" formatCode="0.00">
                  <c:v>8.4079999999999995</c:v>
                </c:pt>
                <c:pt idx="42" formatCode="0.00">
                  <c:v>7.5579999999999998</c:v>
                </c:pt>
                <c:pt idx="43" formatCode="0.00">
                  <c:v>7.617</c:v>
                </c:pt>
                <c:pt idx="44" formatCode="0.00">
                  <c:v>9.6999999999999993</c:v>
                </c:pt>
                <c:pt idx="45" formatCode="0.00">
                  <c:v>10.275</c:v>
                </c:pt>
                <c:pt idx="46" formatCode="0.00">
                  <c:v>10.292</c:v>
                </c:pt>
                <c:pt idx="47" formatCode="0.00">
                  <c:v>11.458</c:v>
                </c:pt>
                <c:pt idx="48" formatCode="0.00">
                  <c:v>12.058</c:v>
                </c:pt>
                <c:pt idx="49" formatCode="0.00">
                  <c:v>11.657999999999999</c:v>
                </c:pt>
                <c:pt idx="50" formatCode="0.00">
                  <c:v>10.891999999999999</c:v>
                </c:pt>
                <c:pt idx="51" formatCode="0.00">
                  <c:v>10.067</c:v>
                </c:pt>
                <c:pt idx="52" formatCode="0.00">
                  <c:v>9.0920000000000005</c:v>
                </c:pt>
                <c:pt idx="53" formatCode="0.00">
                  <c:v>8.23</c:v>
                </c:pt>
                <c:pt idx="54" formatCode="0.00">
                  <c:v>7.61</c:v>
                </c:pt>
                <c:pt idx="55" formatCode="0.00">
                  <c:v>7.97</c:v>
                </c:pt>
                <c:pt idx="56" formatCode="0.00">
                  <c:v>7.73</c:v>
                </c:pt>
                <c:pt idx="57" formatCode="0.00">
                  <c:v>6.82</c:v>
                </c:pt>
                <c:pt idx="58" formatCode="0.00">
                  <c:v>7.03</c:v>
                </c:pt>
                <c:pt idx="59" formatCode="0.00">
                  <c:v>6.93</c:v>
                </c:pt>
                <c:pt idx="60" formatCode="0.00">
                  <c:v>6.84</c:v>
                </c:pt>
              </c:numCache>
            </c:numRef>
          </c:val>
          <c:smooth val="0"/>
          <c:extLst>
            <c:ext xmlns:c16="http://schemas.microsoft.com/office/drawing/2014/chart" uri="{C3380CC4-5D6E-409C-BE32-E72D297353CC}">
              <c16:uniqueId val="{00000000-5C45-F048-A240-B3D6A3518BDC}"/>
            </c:ext>
          </c:extLst>
        </c:ser>
        <c:ser>
          <c:idx val="1"/>
          <c:order val="1"/>
          <c:tx>
            <c:strRef>
              <c:f>Sheet1!$A$3</c:f>
              <c:strCache>
                <c:ptCount val="1"/>
                <c:pt idx="0">
                  <c:v>Germany</c:v>
                </c:pt>
              </c:strCache>
            </c:strRef>
          </c:tx>
          <c:spPr>
            <a:ln w="32741">
              <a:solidFill>
                <a:srgbClr val="926C00"/>
              </a:solidFill>
              <a:prstDash val="solid"/>
            </a:ln>
          </c:spPr>
          <c:marker>
            <c:symbol val="none"/>
          </c:marker>
          <c:cat>
            <c:numRef>
              <c:f>Sheet1!$B$1:$BJ$1</c:f>
              <c:numCache>
                <c:formatCode>General</c:formatCode>
                <c:ptCount val="61"/>
                <c:pt idx="0">
                  <c:v>1965</c:v>
                </c:pt>
                <c:pt idx="1">
                  <c:v>1966</c:v>
                </c:pt>
                <c:pt idx="2">
                  <c:v>1967</c:v>
                </c:pt>
                <c:pt idx="3">
                  <c:v>1968</c:v>
                </c:pt>
                <c:pt idx="4">
                  <c:v>1969</c:v>
                </c:pt>
                <c:pt idx="5">
                  <c:v>1970</c:v>
                </c:pt>
                <c:pt idx="6">
                  <c:v>1971</c:v>
                </c:pt>
                <c:pt idx="7">
                  <c:v>1972</c:v>
                </c:pt>
                <c:pt idx="8">
                  <c:v>1973</c:v>
                </c:pt>
                <c:pt idx="9">
                  <c:v>1974</c:v>
                </c:pt>
                <c:pt idx="10">
                  <c:v>1975</c:v>
                </c:pt>
                <c:pt idx="11">
                  <c:v>1976</c:v>
                </c:pt>
                <c:pt idx="12">
                  <c:v>1977</c:v>
                </c:pt>
                <c:pt idx="13">
                  <c:v>1978</c:v>
                </c:pt>
                <c:pt idx="14">
                  <c:v>1979</c:v>
                </c:pt>
                <c:pt idx="15">
                  <c:v>1980</c:v>
                </c:pt>
                <c:pt idx="16">
                  <c:v>1981</c:v>
                </c:pt>
                <c:pt idx="17">
                  <c:v>1982</c:v>
                </c:pt>
                <c:pt idx="18">
                  <c:v>1983</c:v>
                </c:pt>
                <c:pt idx="19">
                  <c:v>1984</c:v>
                </c:pt>
                <c:pt idx="20">
                  <c:v>1985</c:v>
                </c:pt>
                <c:pt idx="21">
                  <c:v>1986</c:v>
                </c:pt>
                <c:pt idx="22">
                  <c:v>1987</c:v>
                </c:pt>
                <c:pt idx="23">
                  <c:v>1988</c:v>
                </c:pt>
                <c:pt idx="24">
                  <c:v>1989</c:v>
                </c:pt>
                <c:pt idx="25">
                  <c:v>1990</c:v>
                </c:pt>
                <c:pt idx="26">
                  <c:v>1991</c:v>
                </c:pt>
                <c:pt idx="27">
                  <c:v>1992</c:v>
                </c:pt>
                <c:pt idx="28">
                  <c:v>1993</c:v>
                </c:pt>
                <c:pt idx="29">
                  <c:v>1994</c:v>
                </c:pt>
                <c:pt idx="30">
                  <c:v>1995</c:v>
                </c:pt>
                <c:pt idx="31">
                  <c:v>1996</c:v>
                </c:pt>
                <c:pt idx="32">
                  <c:v>1997</c:v>
                </c:pt>
                <c:pt idx="33">
                  <c:v>1998</c:v>
                </c:pt>
                <c:pt idx="34">
                  <c:v>1999</c:v>
                </c:pt>
                <c:pt idx="35">
                  <c:v>2000</c:v>
                </c:pt>
                <c:pt idx="36">
                  <c:v>2001</c:v>
                </c:pt>
                <c:pt idx="37">
                  <c:v>2002</c:v>
                </c:pt>
                <c:pt idx="38">
                  <c:v>2003</c:v>
                </c:pt>
                <c:pt idx="39">
                  <c:v>2004</c:v>
                </c:pt>
                <c:pt idx="40">
                  <c:v>2005</c:v>
                </c:pt>
                <c:pt idx="41">
                  <c:v>2006</c:v>
                </c:pt>
                <c:pt idx="42">
                  <c:v>2007</c:v>
                </c:pt>
                <c:pt idx="43">
                  <c:v>2008</c:v>
                </c:pt>
                <c:pt idx="44">
                  <c:v>2009</c:v>
                </c:pt>
                <c:pt idx="45">
                  <c:v>2010</c:v>
                </c:pt>
                <c:pt idx="46">
                  <c:v>2011</c:v>
                </c:pt>
                <c:pt idx="47">
                  <c:v>2012</c:v>
                </c:pt>
                <c:pt idx="48">
                  <c:v>2013</c:v>
                </c:pt>
                <c:pt idx="49">
                  <c:v>2014</c:v>
                </c:pt>
                <c:pt idx="50">
                  <c:v>2015</c:v>
                </c:pt>
                <c:pt idx="51">
                  <c:v>2016</c:v>
                </c:pt>
                <c:pt idx="52">
                  <c:v>2017</c:v>
                </c:pt>
                <c:pt idx="53">
                  <c:v>2018</c:v>
                </c:pt>
                <c:pt idx="54">
                  <c:v>2019</c:v>
                </c:pt>
                <c:pt idx="55">
                  <c:v>2020</c:v>
                </c:pt>
                <c:pt idx="56">
                  <c:v>2021</c:v>
                </c:pt>
                <c:pt idx="57">
                  <c:v>2022</c:v>
                </c:pt>
                <c:pt idx="58">
                  <c:v>2023</c:v>
                </c:pt>
                <c:pt idx="59">
                  <c:v>2024</c:v>
                </c:pt>
                <c:pt idx="60">
                  <c:v>2025</c:v>
                </c:pt>
              </c:numCache>
            </c:numRef>
          </c:cat>
          <c:val>
            <c:numRef>
              <c:f>Sheet1!$B$3:$BJ$3</c:f>
              <c:numCache>
                <c:formatCode>0.00</c:formatCode>
                <c:ptCount val="61"/>
                <c:pt idx="0">
                  <c:v>3.1372549019607869</c:v>
                </c:pt>
                <c:pt idx="1">
                  <c:v>3.4220532319391581</c:v>
                </c:pt>
                <c:pt idx="2">
                  <c:v>1.8382352941176472</c:v>
                </c:pt>
                <c:pt idx="3">
                  <c:v>1.4440433212996466</c:v>
                </c:pt>
                <c:pt idx="4">
                  <c:v>2.1352313167259709</c:v>
                </c:pt>
                <c:pt idx="5">
                  <c:v>3.484320557491289</c:v>
                </c:pt>
                <c:pt idx="6">
                  <c:v>5.0505050505050502</c:v>
                </c:pt>
                <c:pt idx="7">
                  <c:v>5.4487179487179471</c:v>
                </c:pt>
                <c:pt idx="8">
                  <c:v>7.294832826747716</c:v>
                </c:pt>
                <c:pt idx="9">
                  <c:v>6.7988668555240963</c:v>
                </c:pt>
                <c:pt idx="10">
                  <c:v>5.835543766578275</c:v>
                </c:pt>
                <c:pt idx="11">
                  <c:v>4.2606516290726519</c:v>
                </c:pt>
                <c:pt idx="12">
                  <c:v>3.8461538461538494</c:v>
                </c:pt>
                <c:pt idx="13">
                  <c:v>2.7777777777778003</c:v>
                </c:pt>
                <c:pt idx="14">
                  <c:v>4.0540540540540304</c:v>
                </c:pt>
                <c:pt idx="15">
                  <c:v>3.359</c:v>
                </c:pt>
                <c:pt idx="16">
                  <c:v>4.8310000000000004</c:v>
                </c:pt>
                <c:pt idx="17">
                  <c:v>6.734</c:v>
                </c:pt>
                <c:pt idx="18">
                  <c:v>8.0990000000000002</c:v>
                </c:pt>
                <c:pt idx="19">
                  <c:v>8.0579999999999998</c:v>
                </c:pt>
                <c:pt idx="20">
                  <c:v>8.1240000000000006</c:v>
                </c:pt>
                <c:pt idx="21">
                  <c:v>7.8339999999999996</c:v>
                </c:pt>
                <c:pt idx="22">
                  <c:v>7.843</c:v>
                </c:pt>
                <c:pt idx="23">
                  <c:v>7.7350000000000003</c:v>
                </c:pt>
                <c:pt idx="24">
                  <c:v>6.79</c:v>
                </c:pt>
                <c:pt idx="25">
                  <c:v>6.1550000000000002</c:v>
                </c:pt>
                <c:pt idx="26">
                  <c:v>5.47</c:v>
                </c:pt>
                <c:pt idx="27">
                  <c:v>6.5919999999999996</c:v>
                </c:pt>
                <c:pt idx="28">
                  <c:v>7.7750000000000004</c:v>
                </c:pt>
                <c:pt idx="29">
                  <c:v>8.4250000000000007</c:v>
                </c:pt>
                <c:pt idx="30">
                  <c:v>8.2330000000000005</c:v>
                </c:pt>
                <c:pt idx="31">
                  <c:v>8.9079999999999995</c:v>
                </c:pt>
                <c:pt idx="32">
                  <c:v>9.6579999999999995</c:v>
                </c:pt>
                <c:pt idx="33">
                  <c:v>9.3829999999999991</c:v>
                </c:pt>
                <c:pt idx="34">
                  <c:v>8.5579999999999998</c:v>
                </c:pt>
                <c:pt idx="35">
                  <c:v>7.95</c:v>
                </c:pt>
                <c:pt idx="36">
                  <c:v>7.8</c:v>
                </c:pt>
                <c:pt idx="37">
                  <c:v>8.6</c:v>
                </c:pt>
                <c:pt idx="38">
                  <c:v>9.7080000000000002</c:v>
                </c:pt>
                <c:pt idx="39">
                  <c:v>10.333</c:v>
                </c:pt>
                <c:pt idx="40">
                  <c:v>11.007999999999999</c:v>
                </c:pt>
                <c:pt idx="41">
                  <c:v>10.042</c:v>
                </c:pt>
                <c:pt idx="42">
                  <c:v>8.5419999999999998</c:v>
                </c:pt>
                <c:pt idx="43">
                  <c:v>7.4249999999999998</c:v>
                </c:pt>
                <c:pt idx="44">
                  <c:v>7.6420000000000003</c:v>
                </c:pt>
                <c:pt idx="45">
                  <c:v>6.9669999999999996</c:v>
                </c:pt>
                <c:pt idx="46">
                  <c:v>5.8330000000000002</c:v>
                </c:pt>
                <c:pt idx="47">
                  <c:v>5.383</c:v>
                </c:pt>
                <c:pt idx="48">
                  <c:v>5.242</c:v>
                </c:pt>
                <c:pt idx="49">
                  <c:v>4.992</c:v>
                </c:pt>
                <c:pt idx="50">
                  <c:v>4.633</c:v>
                </c:pt>
                <c:pt idx="51">
                  <c:v>4.133</c:v>
                </c:pt>
                <c:pt idx="52">
                  <c:v>3.758</c:v>
                </c:pt>
                <c:pt idx="53">
                  <c:v>3.21</c:v>
                </c:pt>
                <c:pt idx="54">
                  <c:v>2.98</c:v>
                </c:pt>
                <c:pt idx="55">
                  <c:v>3.63</c:v>
                </c:pt>
                <c:pt idx="56">
                  <c:v>3.58</c:v>
                </c:pt>
                <c:pt idx="57">
                  <c:v>2.94</c:v>
                </c:pt>
                <c:pt idx="58">
                  <c:v>3.39</c:v>
                </c:pt>
                <c:pt idx="59">
                  <c:v>3.29</c:v>
                </c:pt>
                <c:pt idx="60">
                  <c:v>3.22</c:v>
                </c:pt>
              </c:numCache>
            </c:numRef>
          </c:val>
          <c:smooth val="0"/>
          <c:extLst>
            <c:ext xmlns:c16="http://schemas.microsoft.com/office/drawing/2014/chart" uri="{C3380CC4-5D6E-409C-BE32-E72D297353CC}">
              <c16:uniqueId val="{00000001-5C45-F048-A240-B3D6A3518BDC}"/>
            </c:ext>
          </c:extLst>
        </c:ser>
        <c:ser>
          <c:idx val="4"/>
          <c:order val="2"/>
          <c:tx>
            <c:strRef>
              <c:f>Sheet1!$A$4</c:f>
              <c:strCache>
                <c:ptCount val="1"/>
                <c:pt idx="0">
                  <c:v>UK</c:v>
                </c:pt>
              </c:strCache>
            </c:strRef>
          </c:tx>
          <c:spPr>
            <a:ln w="31750">
              <a:solidFill>
                <a:srgbClr val="FF0000"/>
              </a:solidFill>
              <a:prstDash val="solid"/>
            </a:ln>
          </c:spPr>
          <c:marker>
            <c:symbol val="none"/>
          </c:marker>
          <c:cat>
            <c:numRef>
              <c:f>Sheet1!$B$1:$BJ$1</c:f>
              <c:numCache>
                <c:formatCode>General</c:formatCode>
                <c:ptCount val="61"/>
                <c:pt idx="0">
                  <c:v>1965</c:v>
                </c:pt>
                <c:pt idx="1">
                  <c:v>1966</c:v>
                </c:pt>
                <c:pt idx="2">
                  <c:v>1967</c:v>
                </c:pt>
                <c:pt idx="3">
                  <c:v>1968</c:v>
                </c:pt>
                <c:pt idx="4">
                  <c:v>1969</c:v>
                </c:pt>
                <c:pt idx="5">
                  <c:v>1970</c:v>
                </c:pt>
                <c:pt idx="6">
                  <c:v>1971</c:v>
                </c:pt>
                <c:pt idx="7">
                  <c:v>1972</c:v>
                </c:pt>
                <c:pt idx="8">
                  <c:v>1973</c:v>
                </c:pt>
                <c:pt idx="9">
                  <c:v>1974</c:v>
                </c:pt>
                <c:pt idx="10">
                  <c:v>1975</c:v>
                </c:pt>
                <c:pt idx="11">
                  <c:v>1976</c:v>
                </c:pt>
                <c:pt idx="12">
                  <c:v>1977</c:v>
                </c:pt>
                <c:pt idx="13">
                  <c:v>1978</c:v>
                </c:pt>
                <c:pt idx="14">
                  <c:v>1979</c:v>
                </c:pt>
                <c:pt idx="15">
                  <c:v>1980</c:v>
                </c:pt>
                <c:pt idx="16">
                  <c:v>1981</c:v>
                </c:pt>
                <c:pt idx="17">
                  <c:v>1982</c:v>
                </c:pt>
                <c:pt idx="18">
                  <c:v>1983</c:v>
                </c:pt>
                <c:pt idx="19">
                  <c:v>1984</c:v>
                </c:pt>
                <c:pt idx="20">
                  <c:v>1985</c:v>
                </c:pt>
                <c:pt idx="21">
                  <c:v>1986</c:v>
                </c:pt>
                <c:pt idx="22">
                  <c:v>1987</c:v>
                </c:pt>
                <c:pt idx="23">
                  <c:v>1988</c:v>
                </c:pt>
                <c:pt idx="24">
                  <c:v>1989</c:v>
                </c:pt>
                <c:pt idx="25">
                  <c:v>1990</c:v>
                </c:pt>
                <c:pt idx="26">
                  <c:v>1991</c:v>
                </c:pt>
                <c:pt idx="27">
                  <c:v>1992</c:v>
                </c:pt>
                <c:pt idx="28">
                  <c:v>1993</c:v>
                </c:pt>
                <c:pt idx="29">
                  <c:v>1994</c:v>
                </c:pt>
                <c:pt idx="30">
                  <c:v>1995</c:v>
                </c:pt>
                <c:pt idx="31">
                  <c:v>1996</c:v>
                </c:pt>
                <c:pt idx="32">
                  <c:v>1997</c:v>
                </c:pt>
                <c:pt idx="33">
                  <c:v>1998</c:v>
                </c:pt>
                <c:pt idx="34">
                  <c:v>1999</c:v>
                </c:pt>
                <c:pt idx="35">
                  <c:v>2000</c:v>
                </c:pt>
                <c:pt idx="36">
                  <c:v>2001</c:v>
                </c:pt>
                <c:pt idx="37">
                  <c:v>2002</c:v>
                </c:pt>
                <c:pt idx="38">
                  <c:v>2003</c:v>
                </c:pt>
                <c:pt idx="39">
                  <c:v>2004</c:v>
                </c:pt>
                <c:pt idx="40">
                  <c:v>2005</c:v>
                </c:pt>
                <c:pt idx="41">
                  <c:v>2006</c:v>
                </c:pt>
                <c:pt idx="42">
                  <c:v>2007</c:v>
                </c:pt>
                <c:pt idx="43">
                  <c:v>2008</c:v>
                </c:pt>
                <c:pt idx="44">
                  <c:v>2009</c:v>
                </c:pt>
                <c:pt idx="45">
                  <c:v>2010</c:v>
                </c:pt>
                <c:pt idx="46">
                  <c:v>2011</c:v>
                </c:pt>
                <c:pt idx="47">
                  <c:v>2012</c:v>
                </c:pt>
                <c:pt idx="48">
                  <c:v>2013</c:v>
                </c:pt>
                <c:pt idx="49">
                  <c:v>2014</c:v>
                </c:pt>
                <c:pt idx="50">
                  <c:v>2015</c:v>
                </c:pt>
                <c:pt idx="51">
                  <c:v>2016</c:v>
                </c:pt>
                <c:pt idx="52">
                  <c:v>2017</c:v>
                </c:pt>
                <c:pt idx="53">
                  <c:v>2018</c:v>
                </c:pt>
                <c:pt idx="54">
                  <c:v>2019</c:v>
                </c:pt>
                <c:pt idx="55">
                  <c:v>2020</c:v>
                </c:pt>
                <c:pt idx="56">
                  <c:v>2021</c:v>
                </c:pt>
                <c:pt idx="57">
                  <c:v>2022</c:v>
                </c:pt>
                <c:pt idx="58">
                  <c:v>2023</c:v>
                </c:pt>
                <c:pt idx="59">
                  <c:v>2024</c:v>
                </c:pt>
                <c:pt idx="60">
                  <c:v>2025</c:v>
                </c:pt>
              </c:numCache>
            </c:numRef>
          </c:cat>
          <c:val>
            <c:numRef>
              <c:f>Sheet1!$B$4:$BJ$4</c:f>
              <c:numCache>
                <c:formatCode>0.00</c:formatCode>
                <c:ptCount val="61"/>
                <c:pt idx="0">
                  <c:v>1.2</c:v>
                </c:pt>
                <c:pt idx="1">
                  <c:v>1.1000000000000001</c:v>
                </c:pt>
                <c:pt idx="2">
                  <c:v>2</c:v>
                </c:pt>
                <c:pt idx="3">
                  <c:v>2.1</c:v>
                </c:pt>
                <c:pt idx="4">
                  <c:v>2</c:v>
                </c:pt>
                <c:pt idx="5">
                  <c:v>2.2000000000000002</c:v>
                </c:pt>
                <c:pt idx="6">
                  <c:v>4.1000000000000014</c:v>
                </c:pt>
                <c:pt idx="7">
                  <c:v>4.3</c:v>
                </c:pt>
                <c:pt idx="8">
                  <c:v>3.7</c:v>
                </c:pt>
                <c:pt idx="9">
                  <c:v>3.7</c:v>
                </c:pt>
                <c:pt idx="10">
                  <c:v>4.5</c:v>
                </c:pt>
                <c:pt idx="11">
                  <c:v>5.4</c:v>
                </c:pt>
                <c:pt idx="12">
                  <c:v>5.6000000000000014</c:v>
                </c:pt>
                <c:pt idx="13">
                  <c:v>5.5</c:v>
                </c:pt>
                <c:pt idx="14">
                  <c:v>5.4</c:v>
                </c:pt>
                <c:pt idx="15">
                  <c:v>7.133</c:v>
                </c:pt>
                <c:pt idx="16">
                  <c:v>9.65</c:v>
                </c:pt>
                <c:pt idx="17">
                  <c:v>10.725</c:v>
                </c:pt>
                <c:pt idx="18">
                  <c:v>11.475</c:v>
                </c:pt>
                <c:pt idx="19">
                  <c:v>11.75</c:v>
                </c:pt>
                <c:pt idx="20">
                  <c:v>11.375</c:v>
                </c:pt>
                <c:pt idx="21">
                  <c:v>11.324999999999999</c:v>
                </c:pt>
                <c:pt idx="22">
                  <c:v>10.425000000000001</c:v>
                </c:pt>
                <c:pt idx="23">
                  <c:v>8.5749999999999993</c:v>
                </c:pt>
                <c:pt idx="24">
                  <c:v>7.2249999999999996</c:v>
                </c:pt>
                <c:pt idx="25">
                  <c:v>7.1</c:v>
                </c:pt>
                <c:pt idx="26">
                  <c:v>8.85</c:v>
                </c:pt>
                <c:pt idx="27">
                  <c:v>9.9499999999999993</c:v>
                </c:pt>
                <c:pt idx="28">
                  <c:v>10.375</c:v>
                </c:pt>
                <c:pt idx="29">
                  <c:v>9.5</c:v>
                </c:pt>
                <c:pt idx="30">
                  <c:v>8.625</c:v>
                </c:pt>
                <c:pt idx="31">
                  <c:v>8.1</c:v>
                </c:pt>
                <c:pt idx="32">
                  <c:v>6.95</c:v>
                </c:pt>
                <c:pt idx="33">
                  <c:v>6.25</c:v>
                </c:pt>
                <c:pt idx="34">
                  <c:v>5.9749999999999996</c:v>
                </c:pt>
                <c:pt idx="35">
                  <c:v>5.45</c:v>
                </c:pt>
                <c:pt idx="36">
                  <c:v>5.0999999999999996</c:v>
                </c:pt>
                <c:pt idx="37">
                  <c:v>5.2</c:v>
                </c:pt>
                <c:pt idx="38">
                  <c:v>5</c:v>
                </c:pt>
                <c:pt idx="39">
                  <c:v>4.75</c:v>
                </c:pt>
                <c:pt idx="40">
                  <c:v>4.8250000000000002</c:v>
                </c:pt>
                <c:pt idx="41">
                  <c:v>5.4249999999999998</c:v>
                </c:pt>
                <c:pt idx="42">
                  <c:v>5.35</c:v>
                </c:pt>
                <c:pt idx="43">
                  <c:v>5.7249999999999996</c:v>
                </c:pt>
                <c:pt idx="44">
                  <c:v>7.625</c:v>
                </c:pt>
                <c:pt idx="45">
                  <c:v>7.9</c:v>
                </c:pt>
                <c:pt idx="46">
                  <c:v>8.1</c:v>
                </c:pt>
                <c:pt idx="47">
                  <c:v>7.9749999999999996</c:v>
                </c:pt>
                <c:pt idx="48">
                  <c:v>7.5750000000000002</c:v>
                </c:pt>
                <c:pt idx="49">
                  <c:v>6.2</c:v>
                </c:pt>
                <c:pt idx="50">
                  <c:v>5.375</c:v>
                </c:pt>
                <c:pt idx="51">
                  <c:v>4.875</c:v>
                </c:pt>
                <c:pt idx="52">
                  <c:v>4.4249999999999998</c:v>
                </c:pt>
                <c:pt idx="53">
                  <c:v>4.08</c:v>
                </c:pt>
                <c:pt idx="54">
                  <c:v>3.83</c:v>
                </c:pt>
                <c:pt idx="55">
                  <c:v>4.55</c:v>
                </c:pt>
                <c:pt idx="56">
                  <c:v>4.4800000000000004</c:v>
                </c:pt>
                <c:pt idx="57">
                  <c:v>3.83</c:v>
                </c:pt>
                <c:pt idx="58">
                  <c:v>4.76</c:v>
                </c:pt>
                <c:pt idx="59">
                  <c:v>4.9800000000000004</c:v>
                </c:pt>
                <c:pt idx="60">
                  <c:v>4.28</c:v>
                </c:pt>
              </c:numCache>
            </c:numRef>
          </c:val>
          <c:smooth val="0"/>
          <c:extLst>
            <c:ext xmlns:c16="http://schemas.microsoft.com/office/drawing/2014/chart" uri="{C3380CC4-5D6E-409C-BE32-E72D297353CC}">
              <c16:uniqueId val="{00000002-5C45-F048-A240-B3D6A3518BDC}"/>
            </c:ext>
          </c:extLst>
        </c:ser>
        <c:ser>
          <c:idx val="2"/>
          <c:order val="3"/>
          <c:tx>
            <c:strRef>
              <c:f>Sheet1!$A$5</c:f>
              <c:strCache>
                <c:ptCount val="1"/>
                <c:pt idx="0">
                  <c:v>USA</c:v>
                </c:pt>
              </c:strCache>
            </c:strRef>
          </c:tx>
          <c:spPr>
            <a:ln w="31750">
              <a:solidFill>
                <a:schemeClr val="tx2"/>
              </a:solidFill>
              <a:prstDash val="solid"/>
            </a:ln>
          </c:spPr>
          <c:marker>
            <c:symbol val="none"/>
          </c:marker>
          <c:cat>
            <c:numRef>
              <c:f>Sheet1!$B$1:$BJ$1</c:f>
              <c:numCache>
                <c:formatCode>General</c:formatCode>
                <c:ptCount val="61"/>
                <c:pt idx="0">
                  <c:v>1965</c:v>
                </c:pt>
                <c:pt idx="1">
                  <c:v>1966</c:v>
                </c:pt>
                <c:pt idx="2">
                  <c:v>1967</c:v>
                </c:pt>
                <c:pt idx="3">
                  <c:v>1968</c:v>
                </c:pt>
                <c:pt idx="4">
                  <c:v>1969</c:v>
                </c:pt>
                <c:pt idx="5">
                  <c:v>1970</c:v>
                </c:pt>
                <c:pt idx="6">
                  <c:v>1971</c:v>
                </c:pt>
                <c:pt idx="7">
                  <c:v>1972</c:v>
                </c:pt>
                <c:pt idx="8">
                  <c:v>1973</c:v>
                </c:pt>
                <c:pt idx="9">
                  <c:v>1974</c:v>
                </c:pt>
                <c:pt idx="10">
                  <c:v>1975</c:v>
                </c:pt>
                <c:pt idx="11">
                  <c:v>1976</c:v>
                </c:pt>
                <c:pt idx="12">
                  <c:v>1977</c:v>
                </c:pt>
                <c:pt idx="13">
                  <c:v>1978</c:v>
                </c:pt>
                <c:pt idx="14">
                  <c:v>1979</c:v>
                </c:pt>
                <c:pt idx="15">
                  <c:v>1980</c:v>
                </c:pt>
                <c:pt idx="16">
                  <c:v>1981</c:v>
                </c:pt>
                <c:pt idx="17">
                  <c:v>1982</c:v>
                </c:pt>
                <c:pt idx="18">
                  <c:v>1983</c:v>
                </c:pt>
                <c:pt idx="19">
                  <c:v>1984</c:v>
                </c:pt>
                <c:pt idx="20">
                  <c:v>1985</c:v>
                </c:pt>
                <c:pt idx="21">
                  <c:v>1986</c:v>
                </c:pt>
                <c:pt idx="22">
                  <c:v>1987</c:v>
                </c:pt>
                <c:pt idx="23">
                  <c:v>1988</c:v>
                </c:pt>
                <c:pt idx="24">
                  <c:v>1989</c:v>
                </c:pt>
                <c:pt idx="25">
                  <c:v>1990</c:v>
                </c:pt>
                <c:pt idx="26">
                  <c:v>1991</c:v>
                </c:pt>
                <c:pt idx="27">
                  <c:v>1992</c:v>
                </c:pt>
                <c:pt idx="28">
                  <c:v>1993</c:v>
                </c:pt>
                <c:pt idx="29">
                  <c:v>1994</c:v>
                </c:pt>
                <c:pt idx="30">
                  <c:v>1995</c:v>
                </c:pt>
                <c:pt idx="31">
                  <c:v>1996</c:v>
                </c:pt>
                <c:pt idx="32">
                  <c:v>1997</c:v>
                </c:pt>
                <c:pt idx="33">
                  <c:v>1998</c:v>
                </c:pt>
                <c:pt idx="34">
                  <c:v>1999</c:v>
                </c:pt>
                <c:pt idx="35">
                  <c:v>2000</c:v>
                </c:pt>
                <c:pt idx="36">
                  <c:v>2001</c:v>
                </c:pt>
                <c:pt idx="37">
                  <c:v>2002</c:v>
                </c:pt>
                <c:pt idx="38">
                  <c:v>2003</c:v>
                </c:pt>
                <c:pt idx="39">
                  <c:v>2004</c:v>
                </c:pt>
                <c:pt idx="40">
                  <c:v>2005</c:v>
                </c:pt>
                <c:pt idx="41">
                  <c:v>2006</c:v>
                </c:pt>
                <c:pt idx="42">
                  <c:v>2007</c:v>
                </c:pt>
                <c:pt idx="43">
                  <c:v>2008</c:v>
                </c:pt>
                <c:pt idx="44">
                  <c:v>2009</c:v>
                </c:pt>
                <c:pt idx="45">
                  <c:v>2010</c:v>
                </c:pt>
                <c:pt idx="46">
                  <c:v>2011</c:v>
                </c:pt>
                <c:pt idx="47">
                  <c:v>2012</c:v>
                </c:pt>
                <c:pt idx="48">
                  <c:v>2013</c:v>
                </c:pt>
                <c:pt idx="49">
                  <c:v>2014</c:v>
                </c:pt>
                <c:pt idx="50">
                  <c:v>2015</c:v>
                </c:pt>
                <c:pt idx="51">
                  <c:v>2016</c:v>
                </c:pt>
                <c:pt idx="52">
                  <c:v>2017</c:v>
                </c:pt>
                <c:pt idx="53">
                  <c:v>2018</c:v>
                </c:pt>
                <c:pt idx="54">
                  <c:v>2019</c:v>
                </c:pt>
                <c:pt idx="55">
                  <c:v>2020</c:v>
                </c:pt>
                <c:pt idx="56">
                  <c:v>2021</c:v>
                </c:pt>
                <c:pt idx="57">
                  <c:v>2022</c:v>
                </c:pt>
                <c:pt idx="58">
                  <c:v>2023</c:v>
                </c:pt>
                <c:pt idx="59">
                  <c:v>2024</c:v>
                </c:pt>
                <c:pt idx="60">
                  <c:v>2025</c:v>
                </c:pt>
              </c:numCache>
            </c:numRef>
          </c:cat>
          <c:val>
            <c:numRef>
              <c:f>Sheet1!$B$5:$BJ$5</c:f>
              <c:numCache>
                <c:formatCode>0.00</c:formatCode>
                <c:ptCount val="61"/>
                <c:pt idx="0">
                  <c:v>4.5</c:v>
                </c:pt>
                <c:pt idx="1">
                  <c:v>3.8</c:v>
                </c:pt>
                <c:pt idx="2">
                  <c:v>3.8</c:v>
                </c:pt>
                <c:pt idx="3">
                  <c:v>3.6</c:v>
                </c:pt>
                <c:pt idx="4">
                  <c:v>3.5</c:v>
                </c:pt>
                <c:pt idx="5">
                  <c:v>4.9000000000000004</c:v>
                </c:pt>
                <c:pt idx="6">
                  <c:v>5.9</c:v>
                </c:pt>
                <c:pt idx="7">
                  <c:v>5.6000000000000014</c:v>
                </c:pt>
                <c:pt idx="8">
                  <c:v>4.9000000000000004</c:v>
                </c:pt>
                <c:pt idx="9">
                  <c:v>5.6000000000000014</c:v>
                </c:pt>
                <c:pt idx="10">
                  <c:v>8.5</c:v>
                </c:pt>
                <c:pt idx="11">
                  <c:v>7.7</c:v>
                </c:pt>
                <c:pt idx="12">
                  <c:v>7.1</c:v>
                </c:pt>
                <c:pt idx="13">
                  <c:v>6.1</c:v>
                </c:pt>
                <c:pt idx="14">
                  <c:v>5.8000000000000016</c:v>
                </c:pt>
                <c:pt idx="15">
                  <c:v>7.1749999999999998</c:v>
                </c:pt>
                <c:pt idx="16">
                  <c:v>7.617</c:v>
                </c:pt>
                <c:pt idx="17">
                  <c:v>9.7080000000000002</c:v>
                </c:pt>
                <c:pt idx="18">
                  <c:v>9.6</c:v>
                </c:pt>
                <c:pt idx="19">
                  <c:v>7.508</c:v>
                </c:pt>
                <c:pt idx="20">
                  <c:v>7.1920000000000002</c:v>
                </c:pt>
                <c:pt idx="21">
                  <c:v>7</c:v>
                </c:pt>
                <c:pt idx="22">
                  <c:v>6.1749999999999998</c:v>
                </c:pt>
                <c:pt idx="23">
                  <c:v>5.492</c:v>
                </c:pt>
                <c:pt idx="24">
                  <c:v>5.258</c:v>
                </c:pt>
                <c:pt idx="25">
                  <c:v>5.617</c:v>
                </c:pt>
                <c:pt idx="26">
                  <c:v>6.85</c:v>
                </c:pt>
                <c:pt idx="27">
                  <c:v>7.492</c:v>
                </c:pt>
                <c:pt idx="28">
                  <c:v>6.9080000000000004</c:v>
                </c:pt>
                <c:pt idx="29">
                  <c:v>6.1</c:v>
                </c:pt>
                <c:pt idx="30">
                  <c:v>5.5919999999999996</c:v>
                </c:pt>
                <c:pt idx="31">
                  <c:v>5.4080000000000004</c:v>
                </c:pt>
                <c:pt idx="32">
                  <c:v>4.9420000000000002</c:v>
                </c:pt>
                <c:pt idx="33">
                  <c:v>4.5</c:v>
                </c:pt>
                <c:pt idx="34">
                  <c:v>4.2169999999999996</c:v>
                </c:pt>
                <c:pt idx="35">
                  <c:v>3.9670000000000001</c:v>
                </c:pt>
                <c:pt idx="36">
                  <c:v>4.742</c:v>
                </c:pt>
                <c:pt idx="37">
                  <c:v>5.7830000000000004</c:v>
                </c:pt>
                <c:pt idx="38">
                  <c:v>5.992</c:v>
                </c:pt>
                <c:pt idx="39">
                  <c:v>5.5419999999999998</c:v>
                </c:pt>
                <c:pt idx="40">
                  <c:v>5.0830000000000002</c:v>
                </c:pt>
                <c:pt idx="41">
                  <c:v>4.6079999999999997</c:v>
                </c:pt>
                <c:pt idx="42">
                  <c:v>4.617</c:v>
                </c:pt>
                <c:pt idx="43">
                  <c:v>5.8</c:v>
                </c:pt>
                <c:pt idx="44">
                  <c:v>9.2829999999999995</c:v>
                </c:pt>
                <c:pt idx="45">
                  <c:v>9.6080000000000005</c:v>
                </c:pt>
                <c:pt idx="46">
                  <c:v>8.9329999999999998</c:v>
                </c:pt>
                <c:pt idx="47">
                  <c:v>8.0749999999999993</c:v>
                </c:pt>
                <c:pt idx="48">
                  <c:v>7.3579999999999997</c:v>
                </c:pt>
                <c:pt idx="49">
                  <c:v>6.1580000000000004</c:v>
                </c:pt>
                <c:pt idx="50">
                  <c:v>5.2750000000000004</c:v>
                </c:pt>
                <c:pt idx="51">
                  <c:v>4.875</c:v>
                </c:pt>
                <c:pt idx="52">
                  <c:v>4.3499999999999996</c:v>
                </c:pt>
                <c:pt idx="53">
                  <c:v>3.89</c:v>
                </c:pt>
                <c:pt idx="54">
                  <c:v>3.68</c:v>
                </c:pt>
                <c:pt idx="55">
                  <c:v>8.09</c:v>
                </c:pt>
                <c:pt idx="56">
                  <c:v>5.36</c:v>
                </c:pt>
                <c:pt idx="57">
                  <c:v>3.67</c:v>
                </c:pt>
                <c:pt idx="58">
                  <c:v>4.5599999999999996</c:v>
                </c:pt>
                <c:pt idx="59">
                  <c:v>5.42</c:v>
                </c:pt>
                <c:pt idx="60">
                  <c:v>5.37</c:v>
                </c:pt>
              </c:numCache>
            </c:numRef>
          </c:val>
          <c:smooth val="0"/>
          <c:extLst>
            <c:ext xmlns:c16="http://schemas.microsoft.com/office/drawing/2014/chart" uri="{C3380CC4-5D6E-409C-BE32-E72D297353CC}">
              <c16:uniqueId val="{00000003-5C45-F048-A240-B3D6A3518BDC}"/>
            </c:ext>
          </c:extLst>
        </c:ser>
        <c:ser>
          <c:idx val="5"/>
          <c:order val="4"/>
          <c:tx>
            <c:strRef>
              <c:f>Sheet1!$A$6</c:f>
              <c:strCache>
                <c:ptCount val="1"/>
                <c:pt idx="0">
                  <c:v>Japan</c:v>
                </c:pt>
              </c:strCache>
            </c:strRef>
          </c:tx>
          <c:spPr>
            <a:ln w="31750">
              <a:solidFill>
                <a:srgbClr val="FF9900"/>
              </a:solidFill>
              <a:prstDash val="solid"/>
            </a:ln>
          </c:spPr>
          <c:marker>
            <c:symbol val="none"/>
          </c:marker>
          <c:cat>
            <c:numRef>
              <c:f>Sheet1!$B$1:$BJ$1</c:f>
              <c:numCache>
                <c:formatCode>General</c:formatCode>
                <c:ptCount val="61"/>
                <c:pt idx="0">
                  <c:v>1965</c:v>
                </c:pt>
                <c:pt idx="1">
                  <c:v>1966</c:v>
                </c:pt>
                <c:pt idx="2">
                  <c:v>1967</c:v>
                </c:pt>
                <c:pt idx="3">
                  <c:v>1968</c:v>
                </c:pt>
                <c:pt idx="4">
                  <c:v>1969</c:v>
                </c:pt>
                <c:pt idx="5">
                  <c:v>1970</c:v>
                </c:pt>
                <c:pt idx="6">
                  <c:v>1971</c:v>
                </c:pt>
                <c:pt idx="7">
                  <c:v>1972</c:v>
                </c:pt>
                <c:pt idx="8">
                  <c:v>1973</c:v>
                </c:pt>
                <c:pt idx="9">
                  <c:v>1974</c:v>
                </c:pt>
                <c:pt idx="10">
                  <c:v>1975</c:v>
                </c:pt>
                <c:pt idx="11">
                  <c:v>1976</c:v>
                </c:pt>
                <c:pt idx="12">
                  <c:v>1977</c:v>
                </c:pt>
                <c:pt idx="13">
                  <c:v>1978</c:v>
                </c:pt>
                <c:pt idx="14">
                  <c:v>1979</c:v>
                </c:pt>
                <c:pt idx="15">
                  <c:v>1980</c:v>
                </c:pt>
                <c:pt idx="16">
                  <c:v>1981</c:v>
                </c:pt>
                <c:pt idx="17">
                  <c:v>1982</c:v>
                </c:pt>
                <c:pt idx="18">
                  <c:v>1983</c:v>
                </c:pt>
                <c:pt idx="19">
                  <c:v>1984</c:v>
                </c:pt>
                <c:pt idx="20">
                  <c:v>1985</c:v>
                </c:pt>
                <c:pt idx="21">
                  <c:v>1986</c:v>
                </c:pt>
                <c:pt idx="22">
                  <c:v>1987</c:v>
                </c:pt>
                <c:pt idx="23">
                  <c:v>1988</c:v>
                </c:pt>
                <c:pt idx="24">
                  <c:v>1989</c:v>
                </c:pt>
                <c:pt idx="25">
                  <c:v>1990</c:v>
                </c:pt>
                <c:pt idx="26">
                  <c:v>1991</c:v>
                </c:pt>
                <c:pt idx="27">
                  <c:v>1992</c:v>
                </c:pt>
                <c:pt idx="28">
                  <c:v>1993</c:v>
                </c:pt>
                <c:pt idx="29">
                  <c:v>1994</c:v>
                </c:pt>
                <c:pt idx="30">
                  <c:v>1995</c:v>
                </c:pt>
                <c:pt idx="31">
                  <c:v>1996</c:v>
                </c:pt>
                <c:pt idx="32">
                  <c:v>1997</c:v>
                </c:pt>
                <c:pt idx="33">
                  <c:v>1998</c:v>
                </c:pt>
                <c:pt idx="34">
                  <c:v>1999</c:v>
                </c:pt>
                <c:pt idx="35">
                  <c:v>2000</c:v>
                </c:pt>
                <c:pt idx="36">
                  <c:v>2001</c:v>
                </c:pt>
                <c:pt idx="37">
                  <c:v>2002</c:v>
                </c:pt>
                <c:pt idx="38">
                  <c:v>2003</c:v>
                </c:pt>
                <c:pt idx="39">
                  <c:v>2004</c:v>
                </c:pt>
                <c:pt idx="40">
                  <c:v>2005</c:v>
                </c:pt>
                <c:pt idx="41">
                  <c:v>2006</c:v>
                </c:pt>
                <c:pt idx="42">
                  <c:v>2007</c:v>
                </c:pt>
                <c:pt idx="43">
                  <c:v>2008</c:v>
                </c:pt>
                <c:pt idx="44">
                  <c:v>2009</c:v>
                </c:pt>
                <c:pt idx="45">
                  <c:v>2010</c:v>
                </c:pt>
                <c:pt idx="46">
                  <c:v>2011</c:v>
                </c:pt>
                <c:pt idx="47">
                  <c:v>2012</c:v>
                </c:pt>
                <c:pt idx="48">
                  <c:v>2013</c:v>
                </c:pt>
                <c:pt idx="49">
                  <c:v>2014</c:v>
                </c:pt>
                <c:pt idx="50">
                  <c:v>2015</c:v>
                </c:pt>
                <c:pt idx="51">
                  <c:v>2016</c:v>
                </c:pt>
                <c:pt idx="52">
                  <c:v>2017</c:v>
                </c:pt>
                <c:pt idx="53">
                  <c:v>2018</c:v>
                </c:pt>
                <c:pt idx="54">
                  <c:v>2019</c:v>
                </c:pt>
                <c:pt idx="55">
                  <c:v>2020</c:v>
                </c:pt>
                <c:pt idx="56">
                  <c:v>2021</c:v>
                </c:pt>
                <c:pt idx="57">
                  <c:v>2022</c:v>
                </c:pt>
                <c:pt idx="58">
                  <c:v>2023</c:v>
                </c:pt>
                <c:pt idx="59">
                  <c:v>2024</c:v>
                </c:pt>
                <c:pt idx="60">
                  <c:v>2025</c:v>
                </c:pt>
              </c:numCache>
            </c:numRef>
          </c:cat>
          <c:val>
            <c:numRef>
              <c:f>Sheet1!$B$6:$BJ$6</c:f>
              <c:numCache>
                <c:formatCode>0.00</c:formatCode>
                <c:ptCount val="61"/>
                <c:pt idx="0">
                  <c:v>1.2</c:v>
                </c:pt>
                <c:pt idx="1">
                  <c:v>1.3</c:v>
                </c:pt>
                <c:pt idx="2">
                  <c:v>1.3</c:v>
                </c:pt>
                <c:pt idx="3">
                  <c:v>1.2</c:v>
                </c:pt>
                <c:pt idx="4">
                  <c:v>1.1000000000000001</c:v>
                </c:pt>
                <c:pt idx="5">
                  <c:v>1.2</c:v>
                </c:pt>
                <c:pt idx="6">
                  <c:v>1.2</c:v>
                </c:pt>
                <c:pt idx="7">
                  <c:v>1.4</c:v>
                </c:pt>
                <c:pt idx="8">
                  <c:v>1.3</c:v>
                </c:pt>
                <c:pt idx="9">
                  <c:v>1.4</c:v>
                </c:pt>
                <c:pt idx="10">
                  <c:v>1.9</c:v>
                </c:pt>
                <c:pt idx="11">
                  <c:v>2</c:v>
                </c:pt>
                <c:pt idx="12">
                  <c:v>2</c:v>
                </c:pt>
                <c:pt idx="13">
                  <c:v>2.2000000000000002</c:v>
                </c:pt>
                <c:pt idx="14">
                  <c:v>2.1</c:v>
                </c:pt>
                <c:pt idx="15">
                  <c:v>2.0169999999999999</c:v>
                </c:pt>
                <c:pt idx="16">
                  <c:v>2.2080000000000002</c:v>
                </c:pt>
                <c:pt idx="17">
                  <c:v>2.35</c:v>
                </c:pt>
                <c:pt idx="18">
                  <c:v>2.6579999999999999</c:v>
                </c:pt>
                <c:pt idx="19">
                  <c:v>2.7080000000000002</c:v>
                </c:pt>
                <c:pt idx="20">
                  <c:v>2.625</c:v>
                </c:pt>
                <c:pt idx="21">
                  <c:v>2.7669999999999999</c:v>
                </c:pt>
                <c:pt idx="22">
                  <c:v>2.85</c:v>
                </c:pt>
                <c:pt idx="23">
                  <c:v>2.5169999999999999</c:v>
                </c:pt>
                <c:pt idx="24">
                  <c:v>2.25</c:v>
                </c:pt>
                <c:pt idx="25">
                  <c:v>2.1</c:v>
                </c:pt>
                <c:pt idx="26">
                  <c:v>2.0920000000000001</c:v>
                </c:pt>
                <c:pt idx="27">
                  <c:v>2.15</c:v>
                </c:pt>
                <c:pt idx="28">
                  <c:v>2.5</c:v>
                </c:pt>
                <c:pt idx="29">
                  <c:v>2.8919999999999999</c:v>
                </c:pt>
                <c:pt idx="30">
                  <c:v>3.15</c:v>
                </c:pt>
                <c:pt idx="31">
                  <c:v>3.367</c:v>
                </c:pt>
                <c:pt idx="32">
                  <c:v>3.4</c:v>
                </c:pt>
                <c:pt idx="33">
                  <c:v>4.0999999999999996</c:v>
                </c:pt>
                <c:pt idx="34">
                  <c:v>4.6669999999999998</c:v>
                </c:pt>
                <c:pt idx="35">
                  <c:v>4.7329999999999997</c:v>
                </c:pt>
                <c:pt idx="36">
                  <c:v>5.0419999999999998</c:v>
                </c:pt>
                <c:pt idx="37">
                  <c:v>5.3579999999999997</c:v>
                </c:pt>
                <c:pt idx="38">
                  <c:v>5.242</c:v>
                </c:pt>
                <c:pt idx="39">
                  <c:v>4.7329999999999997</c:v>
                </c:pt>
                <c:pt idx="40">
                  <c:v>4.4249999999999998</c:v>
                </c:pt>
                <c:pt idx="41">
                  <c:v>4.117</c:v>
                </c:pt>
                <c:pt idx="42">
                  <c:v>3.8330000000000002</c:v>
                </c:pt>
                <c:pt idx="43">
                  <c:v>3.9830000000000001</c:v>
                </c:pt>
                <c:pt idx="44">
                  <c:v>5.0750000000000002</c:v>
                </c:pt>
                <c:pt idx="45">
                  <c:v>5.0579999999999998</c:v>
                </c:pt>
                <c:pt idx="46">
                  <c:v>4.5830000000000002</c:v>
                </c:pt>
                <c:pt idx="47">
                  <c:v>4.3250000000000002</c:v>
                </c:pt>
                <c:pt idx="48">
                  <c:v>4.008</c:v>
                </c:pt>
                <c:pt idx="49">
                  <c:v>3.5830000000000002</c:v>
                </c:pt>
                <c:pt idx="50">
                  <c:v>3.375</c:v>
                </c:pt>
                <c:pt idx="51">
                  <c:v>3.1080000000000001</c:v>
                </c:pt>
                <c:pt idx="52">
                  <c:v>2.8250000000000002</c:v>
                </c:pt>
                <c:pt idx="53">
                  <c:v>2.44</c:v>
                </c:pt>
                <c:pt idx="54">
                  <c:v>2.36</c:v>
                </c:pt>
                <c:pt idx="55">
                  <c:v>2.78</c:v>
                </c:pt>
                <c:pt idx="56">
                  <c:v>2.82</c:v>
                </c:pt>
                <c:pt idx="57">
                  <c:v>2.5499999999999998</c:v>
                </c:pt>
                <c:pt idx="58">
                  <c:v>2.4</c:v>
                </c:pt>
                <c:pt idx="59">
                  <c:v>2.4</c:v>
                </c:pt>
                <c:pt idx="60">
                  <c:v>2.4</c:v>
                </c:pt>
              </c:numCache>
            </c:numRef>
          </c:val>
          <c:smooth val="0"/>
          <c:extLst>
            <c:ext xmlns:c16="http://schemas.microsoft.com/office/drawing/2014/chart" uri="{C3380CC4-5D6E-409C-BE32-E72D297353CC}">
              <c16:uniqueId val="{00000004-5C45-F048-A240-B3D6A3518BDC}"/>
            </c:ext>
          </c:extLst>
        </c:ser>
        <c:ser>
          <c:idx val="3"/>
          <c:order val="5"/>
          <c:tx>
            <c:strRef>
              <c:f>Sheet1!$A$7</c:f>
              <c:strCache>
                <c:ptCount val="1"/>
                <c:pt idx="0">
                  <c:v>Australia</c:v>
                </c:pt>
              </c:strCache>
            </c:strRef>
          </c:tx>
          <c:spPr>
            <a:ln w="31750">
              <a:solidFill>
                <a:srgbClr val="008000"/>
              </a:solidFill>
            </a:ln>
          </c:spPr>
          <c:marker>
            <c:symbol val="none"/>
          </c:marker>
          <c:cat>
            <c:numRef>
              <c:f>Sheet1!$B$1:$BJ$1</c:f>
              <c:numCache>
                <c:formatCode>General</c:formatCode>
                <c:ptCount val="61"/>
                <c:pt idx="0">
                  <c:v>1965</c:v>
                </c:pt>
                <c:pt idx="1">
                  <c:v>1966</c:v>
                </c:pt>
                <c:pt idx="2">
                  <c:v>1967</c:v>
                </c:pt>
                <c:pt idx="3">
                  <c:v>1968</c:v>
                </c:pt>
                <c:pt idx="4">
                  <c:v>1969</c:v>
                </c:pt>
                <c:pt idx="5">
                  <c:v>1970</c:v>
                </c:pt>
                <c:pt idx="6">
                  <c:v>1971</c:v>
                </c:pt>
                <c:pt idx="7">
                  <c:v>1972</c:v>
                </c:pt>
                <c:pt idx="8">
                  <c:v>1973</c:v>
                </c:pt>
                <c:pt idx="9">
                  <c:v>1974</c:v>
                </c:pt>
                <c:pt idx="10">
                  <c:v>1975</c:v>
                </c:pt>
                <c:pt idx="11">
                  <c:v>1976</c:v>
                </c:pt>
                <c:pt idx="12">
                  <c:v>1977</c:v>
                </c:pt>
                <c:pt idx="13">
                  <c:v>1978</c:v>
                </c:pt>
                <c:pt idx="14">
                  <c:v>1979</c:v>
                </c:pt>
                <c:pt idx="15">
                  <c:v>1980</c:v>
                </c:pt>
                <c:pt idx="16">
                  <c:v>1981</c:v>
                </c:pt>
                <c:pt idx="17">
                  <c:v>1982</c:v>
                </c:pt>
                <c:pt idx="18">
                  <c:v>1983</c:v>
                </c:pt>
                <c:pt idx="19">
                  <c:v>1984</c:v>
                </c:pt>
                <c:pt idx="20">
                  <c:v>1985</c:v>
                </c:pt>
                <c:pt idx="21">
                  <c:v>1986</c:v>
                </c:pt>
                <c:pt idx="22">
                  <c:v>1987</c:v>
                </c:pt>
                <c:pt idx="23">
                  <c:v>1988</c:v>
                </c:pt>
                <c:pt idx="24">
                  <c:v>1989</c:v>
                </c:pt>
                <c:pt idx="25">
                  <c:v>1990</c:v>
                </c:pt>
                <c:pt idx="26">
                  <c:v>1991</c:v>
                </c:pt>
                <c:pt idx="27">
                  <c:v>1992</c:v>
                </c:pt>
                <c:pt idx="28">
                  <c:v>1993</c:v>
                </c:pt>
                <c:pt idx="29">
                  <c:v>1994</c:v>
                </c:pt>
                <c:pt idx="30">
                  <c:v>1995</c:v>
                </c:pt>
                <c:pt idx="31">
                  <c:v>1996</c:v>
                </c:pt>
                <c:pt idx="32">
                  <c:v>1997</c:v>
                </c:pt>
                <c:pt idx="33">
                  <c:v>1998</c:v>
                </c:pt>
                <c:pt idx="34">
                  <c:v>1999</c:v>
                </c:pt>
                <c:pt idx="35">
                  <c:v>2000</c:v>
                </c:pt>
                <c:pt idx="36">
                  <c:v>2001</c:v>
                </c:pt>
                <c:pt idx="37">
                  <c:v>2002</c:v>
                </c:pt>
                <c:pt idx="38">
                  <c:v>2003</c:v>
                </c:pt>
                <c:pt idx="39">
                  <c:v>2004</c:v>
                </c:pt>
                <c:pt idx="40">
                  <c:v>2005</c:v>
                </c:pt>
                <c:pt idx="41">
                  <c:v>2006</c:v>
                </c:pt>
                <c:pt idx="42">
                  <c:v>2007</c:v>
                </c:pt>
                <c:pt idx="43">
                  <c:v>2008</c:v>
                </c:pt>
                <c:pt idx="44">
                  <c:v>2009</c:v>
                </c:pt>
                <c:pt idx="45">
                  <c:v>2010</c:v>
                </c:pt>
                <c:pt idx="46">
                  <c:v>2011</c:v>
                </c:pt>
                <c:pt idx="47">
                  <c:v>2012</c:v>
                </c:pt>
                <c:pt idx="48">
                  <c:v>2013</c:v>
                </c:pt>
                <c:pt idx="49">
                  <c:v>2014</c:v>
                </c:pt>
                <c:pt idx="50">
                  <c:v>2015</c:v>
                </c:pt>
                <c:pt idx="51">
                  <c:v>2016</c:v>
                </c:pt>
                <c:pt idx="52">
                  <c:v>2017</c:v>
                </c:pt>
                <c:pt idx="53">
                  <c:v>2018</c:v>
                </c:pt>
                <c:pt idx="54">
                  <c:v>2019</c:v>
                </c:pt>
                <c:pt idx="55">
                  <c:v>2020</c:v>
                </c:pt>
                <c:pt idx="56">
                  <c:v>2021</c:v>
                </c:pt>
                <c:pt idx="57">
                  <c:v>2022</c:v>
                </c:pt>
                <c:pt idx="58">
                  <c:v>2023</c:v>
                </c:pt>
                <c:pt idx="59">
                  <c:v>2024</c:v>
                </c:pt>
                <c:pt idx="60">
                  <c:v>2025</c:v>
                </c:pt>
              </c:numCache>
            </c:numRef>
          </c:cat>
          <c:val>
            <c:numRef>
              <c:f>Sheet1!$B$7:$BJ$7</c:f>
              <c:numCache>
                <c:formatCode>0.00</c:formatCode>
                <c:ptCount val="61"/>
                <c:pt idx="0">
                  <c:v>1.4</c:v>
                </c:pt>
                <c:pt idx="1">
                  <c:v>1.7</c:v>
                </c:pt>
                <c:pt idx="2">
                  <c:v>1.8</c:v>
                </c:pt>
                <c:pt idx="3">
                  <c:v>1.7</c:v>
                </c:pt>
                <c:pt idx="4">
                  <c:v>1.6</c:v>
                </c:pt>
                <c:pt idx="5">
                  <c:v>1.5</c:v>
                </c:pt>
                <c:pt idx="6">
                  <c:v>1.7</c:v>
                </c:pt>
                <c:pt idx="7">
                  <c:v>2.6</c:v>
                </c:pt>
                <c:pt idx="8">
                  <c:v>1.9</c:v>
                </c:pt>
                <c:pt idx="9">
                  <c:v>2.5</c:v>
                </c:pt>
                <c:pt idx="10">
                  <c:v>4.8000000000000007</c:v>
                </c:pt>
                <c:pt idx="11">
                  <c:v>5</c:v>
                </c:pt>
                <c:pt idx="12">
                  <c:v>5.9</c:v>
                </c:pt>
                <c:pt idx="13">
                  <c:v>6.5</c:v>
                </c:pt>
                <c:pt idx="14">
                  <c:v>6.1</c:v>
                </c:pt>
                <c:pt idx="15">
                  <c:v>6.133</c:v>
                </c:pt>
                <c:pt idx="16">
                  <c:v>5.7830000000000004</c:v>
                </c:pt>
                <c:pt idx="17">
                  <c:v>7.1829999999999998</c:v>
                </c:pt>
                <c:pt idx="18">
                  <c:v>9.9670000000000005</c:v>
                </c:pt>
                <c:pt idx="19">
                  <c:v>8.9670000000000005</c:v>
                </c:pt>
                <c:pt idx="20">
                  <c:v>8.2579999999999991</c:v>
                </c:pt>
                <c:pt idx="21">
                  <c:v>8.1170000000000009</c:v>
                </c:pt>
                <c:pt idx="22">
                  <c:v>8.1080000000000005</c:v>
                </c:pt>
                <c:pt idx="23">
                  <c:v>7.2080000000000002</c:v>
                </c:pt>
                <c:pt idx="24">
                  <c:v>6.133</c:v>
                </c:pt>
                <c:pt idx="25">
                  <c:v>6.9420000000000002</c:v>
                </c:pt>
                <c:pt idx="26">
                  <c:v>9.6170000000000009</c:v>
                </c:pt>
                <c:pt idx="27">
                  <c:v>10.742000000000001</c:v>
                </c:pt>
                <c:pt idx="28">
                  <c:v>10.882999999999999</c:v>
                </c:pt>
                <c:pt idx="29">
                  <c:v>9.7170000000000005</c:v>
                </c:pt>
                <c:pt idx="30">
                  <c:v>8.4830000000000005</c:v>
                </c:pt>
                <c:pt idx="31">
                  <c:v>8.5250000000000004</c:v>
                </c:pt>
                <c:pt idx="32">
                  <c:v>8.3670000000000009</c:v>
                </c:pt>
                <c:pt idx="33">
                  <c:v>7.6920000000000002</c:v>
                </c:pt>
                <c:pt idx="34">
                  <c:v>6.867</c:v>
                </c:pt>
                <c:pt idx="35">
                  <c:v>6.2919999999999998</c:v>
                </c:pt>
                <c:pt idx="36">
                  <c:v>6.7750000000000004</c:v>
                </c:pt>
                <c:pt idx="37">
                  <c:v>6.367</c:v>
                </c:pt>
                <c:pt idx="38">
                  <c:v>5.9420000000000002</c:v>
                </c:pt>
                <c:pt idx="39">
                  <c:v>5.3920000000000003</c:v>
                </c:pt>
                <c:pt idx="40">
                  <c:v>5.0419999999999998</c:v>
                </c:pt>
                <c:pt idx="41">
                  <c:v>4.7919999999999998</c:v>
                </c:pt>
                <c:pt idx="42">
                  <c:v>4.375</c:v>
                </c:pt>
                <c:pt idx="43">
                  <c:v>4.258</c:v>
                </c:pt>
                <c:pt idx="44">
                  <c:v>5.5750000000000002</c:v>
                </c:pt>
                <c:pt idx="45">
                  <c:v>5.2080000000000002</c:v>
                </c:pt>
                <c:pt idx="46">
                  <c:v>5.0830000000000002</c:v>
                </c:pt>
                <c:pt idx="47">
                  <c:v>5.2329999999999997</c:v>
                </c:pt>
                <c:pt idx="48">
                  <c:v>5.6580000000000004</c:v>
                </c:pt>
                <c:pt idx="49">
                  <c:v>6.0579999999999998</c:v>
                </c:pt>
                <c:pt idx="50">
                  <c:v>6.0579999999999998</c:v>
                </c:pt>
                <c:pt idx="51">
                  <c:v>5.7169999999999996</c:v>
                </c:pt>
                <c:pt idx="52">
                  <c:v>5.5919999999999996</c:v>
                </c:pt>
                <c:pt idx="53">
                  <c:v>5.29</c:v>
                </c:pt>
                <c:pt idx="54">
                  <c:v>5.17</c:v>
                </c:pt>
                <c:pt idx="55">
                  <c:v>6.48</c:v>
                </c:pt>
                <c:pt idx="56">
                  <c:v>5.09</c:v>
                </c:pt>
                <c:pt idx="57">
                  <c:v>3.64</c:v>
                </c:pt>
                <c:pt idx="58">
                  <c:v>3.73</c:v>
                </c:pt>
                <c:pt idx="59">
                  <c:v>4.25</c:v>
                </c:pt>
                <c:pt idx="60">
                  <c:v>4.51</c:v>
                </c:pt>
              </c:numCache>
            </c:numRef>
          </c:val>
          <c:smooth val="0"/>
          <c:extLst>
            <c:ext xmlns:c16="http://schemas.microsoft.com/office/drawing/2014/chart" uri="{C3380CC4-5D6E-409C-BE32-E72D297353CC}">
              <c16:uniqueId val="{00000005-5C45-F048-A240-B3D6A3518BDC}"/>
            </c:ext>
          </c:extLst>
        </c:ser>
        <c:dLbls>
          <c:showLegendKey val="0"/>
          <c:showVal val="0"/>
          <c:showCatName val="0"/>
          <c:showSerName val="0"/>
          <c:showPercent val="0"/>
          <c:showBubbleSize val="0"/>
        </c:dLbls>
        <c:smooth val="0"/>
        <c:axId val="213604472"/>
        <c:axId val="1"/>
      </c:lineChart>
      <c:catAx>
        <c:axId val="213604472"/>
        <c:scaling>
          <c:orientation val="minMax"/>
        </c:scaling>
        <c:delete val="0"/>
        <c:axPos val="b"/>
        <c:numFmt formatCode="General" sourceLinked="1"/>
        <c:majorTickMark val="out"/>
        <c:minorTickMark val="none"/>
        <c:tickLblPos val="nextTo"/>
        <c:spPr>
          <a:ln w="15875">
            <a:solidFill>
              <a:srgbClr val="000000"/>
            </a:solidFill>
            <a:prstDash val="solid"/>
          </a:ln>
        </c:spPr>
        <c:txPr>
          <a:bodyPr rot="0" vert="horz"/>
          <a:lstStyle/>
          <a:p>
            <a:pPr>
              <a:defRPr sz="1800" b="0" i="0" u="none" strike="noStrike" baseline="0">
                <a:solidFill>
                  <a:srgbClr val="000000"/>
                </a:solidFill>
                <a:latin typeface="Arial"/>
                <a:ea typeface="Arial"/>
                <a:cs typeface="Arial"/>
              </a:defRPr>
            </a:pPr>
            <a:endParaRPr lang="en-US"/>
          </a:p>
        </c:txPr>
        <c:crossAx val="1"/>
        <c:crossesAt val="-6"/>
        <c:auto val="0"/>
        <c:lblAlgn val="ctr"/>
        <c:lblOffset val="100"/>
        <c:tickLblSkip val="5"/>
        <c:tickMarkSkip val="1"/>
        <c:noMultiLvlLbl val="0"/>
      </c:catAx>
      <c:valAx>
        <c:axId val="1"/>
        <c:scaling>
          <c:orientation val="minMax"/>
          <c:max val="14"/>
          <c:min val="0"/>
        </c:scaling>
        <c:delete val="0"/>
        <c:axPos val="l"/>
        <c:title>
          <c:tx>
            <c:rich>
              <a:bodyPr/>
              <a:lstStyle/>
              <a:p>
                <a:pPr>
                  <a:defRPr sz="1800" b="0" i="0" u="none" strike="noStrike" baseline="0">
                    <a:solidFill>
                      <a:schemeClr val="tx1"/>
                    </a:solidFill>
                    <a:latin typeface="Arial"/>
                    <a:ea typeface="Arial"/>
                    <a:cs typeface="Arial"/>
                  </a:defRPr>
                </a:pPr>
                <a:r>
                  <a:rPr lang="en-GB" sz="1800"/>
                  <a:t>Uenmployment (percentage of workforce)</a:t>
                </a:r>
              </a:p>
            </c:rich>
          </c:tx>
          <c:layout>
            <c:manualLayout>
              <c:xMode val="edge"/>
              <c:yMode val="edge"/>
              <c:x val="2.0341813042600448E-2"/>
              <c:y val="0.12771141699693642"/>
            </c:manualLayout>
          </c:layout>
          <c:overlay val="0"/>
          <c:spPr>
            <a:noFill/>
            <a:ln w="21828">
              <a:noFill/>
            </a:ln>
          </c:spPr>
        </c:title>
        <c:numFmt formatCode="General" sourceLinked="1"/>
        <c:majorTickMark val="out"/>
        <c:minorTickMark val="none"/>
        <c:tickLblPos val="nextTo"/>
        <c:spPr>
          <a:ln w="15875">
            <a:solidFill>
              <a:srgbClr val="000000"/>
            </a:solidFill>
            <a:prstDash val="solid"/>
          </a:ln>
        </c:spPr>
        <c:txPr>
          <a:bodyPr rot="0" vert="horz"/>
          <a:lstStyle/>
          <a:p>
            <a:pPr>
              <a:defRPr sz="1800" b="0" i="0" u="none" strike="noStrike" baseline="0">
                <a:solidFill>
                  <a:srgbClr val="000000"/>
                </a:solidFill>
                <a:latin typeface="Arial"/>
                <a:ea typeface="Arial"/>
                <a:cs typeface="Arial"/>
              </a:defRPr>
            </a:pPr>
            <a:endParaRPr lang="en-US"/>
          </a:p>
        </c:txPr>
        <c:crossAx val="213604472"/>
        <c:crosses val="autoZero"/>
        <c:crossBetween val="midCat"/>
        <c:majorUnit val="2"/>
      </c:valAx>
      <c:spPr>
        <a:solidFill>
          <a:schemeClr val="bg1"/>
        </a:solidFill>
        <a:ln w="12700">
          <a:solidFill>
            <a:schemeClr val="bg1">
              <a:lumMod val="50000"/>
            </a:schemeClr>
          </a:solidFill>
        </a:ln>
      </c:spPr>
    </c:plotArea>
    <c:legend>
      <c:legendPos val="r"/>
      <c:legendEntry>
        <c:idx val="1"/>
        <c:txPr>
          <a:bodyPr/>
          <a:lstStyle/>
          <a:p>
            <a:pPr>
              <a:defRPr sz="1800" b="0">
                <a:solidFill>
                  <a:srgbClr val="926C00"/>
                </a:solidFill>
              </a:defRPr>
            </a:pPr>
            <a:endParaRPr lang="en-US"/>
          </a:p>
        </c:txPr>
      </c:legendEntry>
      <c:legendEntry>
        <c:idx val="2"/>
        <c:txPr>
          <a:bodyPr/>
          <a:lstStyle/>
          <a:p>
            <a:pPr>
              <a:defRPr sz="1800" b="0">
                <a:solidFill>
                  <a:srgbClr val="FF0000"/>
                </a:solidFill>
              </a:defRPr>
            </a:pPr>
            <a:endParaRPr lang="en-US"/>
          </a:p>
        </c:txPr>
      </c:legendEntry>
      <c:legendEntry>
        <c:idx val="3"/>
        <c:txPr>
          <a:bodyPr/>
          <a:lstStyle/>
          <a:p>
            <a:pPr>
              <a:defRPr sz="1800" b="0">
                <a:solidFill>
                  <a:schemeClr val="tx2"/>
                </a:solidFill>
              </a:defRPr>
            </a:pPr>
            <a:endParaRPr lang="en-US"/>
          </a:p>
        </c:txPr>
      </c:legendEntry>
      <c:legendEntry>
        <c:idx val="4"/>
        <c:txPr>
          <a:bodyPr/>
          <a:lstStyle/>
          <a:p>
            <a:pPr>
              <a:defRPr sz="1800" b="0">
                <a:solidFill>
                  <a:srgbClr val="FF9900"/>
                </a:solidFill>
              </a:defRPr>
            </a:pPr>
            <a:endParaRPr lang="en-US"/>
          </a:p>
        </c:txPr>
      </c:legendEntry>
      <c:legendEntry>
        <c:idx val="5"/>
        <c:txPr>
          <a:bodyPr/>
          <a:lstStyle/>
          <a:p>
            <a:pPr>
              <a:defRPr sz="1800" b="0">
                <a:solidFill>
                  <a:srgbClr val="008000"/>
                </a:solidFill>
              </a:defRPr>
            </a:pPr>
            <a:endParaRPr lang="en-US"/>
          </a:p>
        </c:txPr>
      </c:legendEntry>
      <c:layout>
        <c:manualLayout>
          <c:xMode val="edge"/>
          <c:yMode val="edge"/>
          <c:x val="0.10402895341207349"/>
          <c:y val="6.5493887458976899E-2"/>
          <c:w val="0.64709194553805782"/>
          <c:h val="7.3253341069940872E-2"/>
        </c:manualLayout>
      </c:layout>
      <c:overlay val="0"/>
      <c:spPr>
        <a:solidFill>
          <a:srgbClr val="FFFFE1"/>
        </a:solidFill>
        <a:ln w="15875">
          <a:solidFill>
            <a:srgbClr val="7030A0"/>
          </a:solidFill>
        </a:ln>
      </c:spPr>
      <c:txPr>
        <a:bodyPr/>
        <a:lstStyle/>
        <a:p>
          <a:pPr>
            <a:defRPr sz="1800" b="0"/>
          </a:pPr>
          <a:endParaRPr lang="en-US"/>
        </a:p>
      </c:txPr>
    </c:legend>
    <c:plotVisOnly val="1"/>
    <c:dispBlanksAs val="span"/>
    <c:showDLblsOverMax val="0"/>
  </c:chart>
  <c:spPr>
    <a:noFill/>
    <a:ln>
      <a:noFill/>
    </a:ln>
  </c:spPr>
  <c:txPr>
    <a:bodyPr/>
    <a:lstStyle/>
    <a:p>
      <a:pPr>
        <a:defRPr sz="1547" b="1" i="0" u="none" strike="noStrike" baseline="0">
          <a:solidFill>
            <a:schemeClr val="tx1"/>
          </a:solidFill>
          <a:latin typeface="Arial"/>
          <a:ea typeface="Arial"/>
          <a:cs typeface="Arial"/>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1294941277401715"/>
          <c:y val="5.2487603239793124E-2"/>
          <c:w val="0.85095395588824396"/>
          <c:h val="0.84587155963302751"/>
        </c:manualLayout>
      </c:layout>
      <c:lineChart>
        <c:grouping val="standard"/>
        <c:varyColors val="0"/>
        <c:ser>
          <c:idx val="0"/>
          <c:order val="0"/>
          <c:tx>
            <c:strRef>
              <c:f>Sheet1!$A$2</c:f>
              <c:strCache>
                <c:ptCount val="1"/>
                <c:pt idx="0">
                  <c:v>Eurozone</c:v>
                </c:pt>
              </c:strCache>
            </c:strRef>
          </c:tx>
          <c:spPr>
            <a:ln w="31750">
              <a:solidFill>
                <a:schemeClr val="accent4"/>
              </a:solidFill>
              <a:prstDash val="solid"/>
            </a:ln>
          </c:spPr>
          <c:marker>
            <c:symbol val="none"/>
          </c:marker>
          <c:cat>
            <c:numRef>
              <c:f>Sheet1!$B$1:$BJ$1</c:f>
              <c:numCache>
                <c:formatCode>General</c:formatCode>
                <c:ptCount val="61"/>
                <c:pt idx="0">
                  <c:v>1965</c:v>
                </c:pt>
                <c:pt idx="1">
                  <c:v>1966</c:v>
                </c:pt>
                <c:pt idx="2">
                  <c:v>1967</c:v>
                </c:pt>
                <c:pt idx="3">
                  <c:v>1968</c:v>
                </c:pt>
                <c:pt idx="4">
                  <c:v>1969</c:v>
                </c:pt>
                <c:pt idx="5">
                  <c:v>1970</c:v>
                </c:pt>
                <c:pt idx="6">
                  <c:v>1971</c:v>
                </c:pt>
                <c:pt idx="7">
                  <c:v>1972</c:v>
                </c:pt>
                <c:pt idx="8">
                  <c:v>1973</c:v>
                </c:pt>
                <c:pt idx="9">
                  <c:v>1974</c:v>
                </c:pt>
                <c:pt idx="10">
                  <c:v>1975</c:v>
                </c:pt>
                <c:pt idx="11">
                  <c:v>1976</c:v>
                </c:pt>
                <c:pt idx="12">
                  <c:v>1977</c:v>
                </c:pt>
                <c:pt idx="13">
                  <c:v>1978</c:v>
                </c:pt>
                <c:pt idx="14">
                  <c:v>1979</c:v>
                </c:pt>
                <c:pt idx="15">
                  <c:v>1980</c:v>
                </c:pt>
                <c:pt idx="16">
                  <c:v>1981</c:v>
                </c:pt>
                <c:pt idx="17">
                  <c:v>1982</c:v>
                </c:pt>
                <c:pt idx="18">
                  <c:v>1983</c:v>
                </c:pt>
                <c:pt idx="19">
                  <c:v>1984</c:v>
                </c:pt>
                <c:pt idx="20">
                  <c:v>1985</c:v>
                </c:pt>
                <c:pt idx="21">
                  <c:v>1986</c:v>
                </c:pt>
                <c:pt idx="22">
                  <c:v>1987</c:v>
                </c:pt>
                <c:pt idx="23">
                  <c:v>1988</c:v>
                </c:pt>
                <c:pt idx="24">
                  <c:v>1989</c:v>
                </c:pt>
                <c:pt idx="25">
                  <c:v>1990</c:v>
                </c:pt>
                <c:pt idx="26">
                  <c:v>1991</c:v>
                </c:pt>
                <c:pt idx="27">
                  <c:v>1992</c:v>
                </c:pt>
                <c:pt idx="28">
                  <c:v>1993</c:v>
                </c:pt>
                <c:pt idx="29">
                  <c:v>1994</c:v>
                </c:pt>
                <c:pt idx="30">
                  <c:v>1995</c:v>
                </c:pt>
                <c:pt idx="31">
                  <c:v>1996</c:v>
                </c:pt>
                <c:pt idx="32">
                  <c:v>1997</c:v>
                </c:pt>
                <c:pt idx="33">
                  <c:v>1998</c:v>
                </c:pt>
                <c:pt idx="34">
                  <c:v>1999</c:v>
                </c:pt>
                <c:pt idx="35">
                  <c:v>2000</c:v>
                </c:pt>
                <c:pt idx="36">
                  <c:v>2001</c:v>
                </c:pt>
                <c:pt idx="37">
                  <c:v>2002</c:v>
                </c:pt>
                <c:pt idx="38">
                  <c:v>2003</c:v>
                </c:pt>
                <c:pt idx="39">
                  <c:v>2004</c:v>
                </c:pt>
                <c:pt idx="40">
                  <c:v>2005</c:v>
                </c:pt>
                <c:pt idx="41">
                  <c:v>2006</c:v>
                </c:pt>
                <c:pt idx="42">
                  <c:v>2007</c:v>
                </c:pt>
                <c:pt idx="43">
                  <c:v>2008</c:v>
                </c:pt>
                <c:pt idx="44">
                  <c:v>2009</c:v>
                </c:pt>
                <c:pt idx="45">
                  <c:v>2010</c:v>
                </c:pt>
                <c:pt idx="46">
                  <c:v>2011</c:v>
                </c:pt>
                <c:pt idx="47">
                  <c:v>2012</c:v>
                </c:pt>
                <c:pt idx="48">
                  <c:v>2013</c:v>
                </c:pt>
                <c:pt idx="49">
                  <c:v>2014</c:v>
                </c:pt>
                <c:pt idx="50">
                  <c:v>2015</c:v>
                </c:pt>
                <c:pt idx="51">
                  <c:v>2016</c:v>
                </c:pt>
                <c:pt idx="52">
                  <c:v>2017</c:v>
                </c:pt>
                <c:pt idx="53">
                  <c:v>2018</c:v>
                </c:pt>
                <c:pt idx="54">
                  <c:v>2019</c:v>
                </c:pt>
                <c:pt idx="55">
                  <c:v>2020</c:v>
                </c:pt>
                <c:pt idx="56">
                  <c:v>2021</c:v>
                </c:pt>
                <c:pt idx="57">
                  <c:v>2022</c:v>
                </c:pt>
                <c:pt idx="58">
                  <c:v>2023</c:v>
                </c:pt>
                <c:pt idx="59">
                  <c:v>2024</c:v>
                </c:pt>
                <c:pt idx="60">
                  <c:v>2025</c:v>
                </c:pt>
              </c:numCache>
            </c:numRef>
          </c:cat>
          <c:val>
            <c:numRef>
              <c:f>Sheet1!$B$2:$BJ$2</c:f>
              <c:numCache>
                <c:formatCode>General</c:formatCode>
                <c:ptCount val="61"/>
                <c:pt idx="27" formatCode="0.0">
                  <c:v>3.6320000000000001</c:v>
                </c:pt>
                <c:pt idx="28" formatCode="0.0">
                  <c:v>3.2389999999999999</c:v>
                </c:pt>
                <c:pt idx="29" formatCode="0.0">
                  <c:v>2.72</c:v>
                </c:pt>
                <c:pt idx="30" formatCode="0.0">
                  <c:v>2.4460000000000002</c:v>
                </c:pt>
                <c:pt idx="31" formatCode="0.0">
                  <c:v>1.978</c:v>
                </c:pt>
                <c:pt idx="32" formatCode="0.0">
                  <c:v>1.569</c:v>
                </c:pt>
                <c:pt idx="33" formatCode="0.0">
                  <c:v>1.1020000000000001</c:v>
                </c:pt>
                <c:pt idx="34" formatCode="0.0">
                  <c:v>1.101</c:v>
                </c:pt>
                <c:pt idx="35" formatCode="0.0">
                  <c:v>2.1019999999999999</c:v>
                </c:pt>
                <c:pt idx="36" formatCode="0.0">
                  <c:v>2.343</c:v>
                </c:pt>
                <c:pt idx="37" formatCode="0.0">
                  <c:v>2.2509999999999999</c:v>
                </c:pt>
                <c:pt idx="38" formatCode="0.0">
                  <c:v>2.081</c:v>
                </c:pt>
                <c:pt idx="39" formatCode="0.0">
                  <c:v>2.145</c:v>
                </c:pt>
                <c:pt idx="40" formatCode="0.0">
                  <c:v>2.1789999999999998</c:v>
                </c:pt>
                <c:pt idx="41" formatCode="0.0">
                  <c:v>2.1819999999999999</c:v>
                </c:pt>
                <c:pt idx="42" formatCode="0.0">
                  <c:v>2.1349999999999998</c:v>
                </c:pt>
                <c:pt idx="43" formatCode="0.0">
                  <c:v>3.2730000000000001</c:v>
                </c:pt>
                <c:pt idx="44" formatCode="0.0">
                  <c:v>0.29099999999999998</c:v>
                </c:pt>
                <c:pt idx="45" formatCode="0.0">
                  <c:v>1.621</c:v>
                </c:pt>
                <c:pt idx="46" formatCode="0.0">
                  <c:v>2.714</c:v>
                </c:pt>
                <c:pt idx="47" formatCode="0.0">
                  <c:v>2.4980000000000002</c:v>
                </c:pt>
                <c:pt idx="48" formatCode="0.0">
                  <c:v>1.351</c:v>
                </c:pt>
                <c:pt idx="49" formatCode="0.0">
                  <c:v>0.432</c:v>
                </c:pt>
                <c:pt idx="50" formatCode="0.0">
                  <c:v>0.193</c:v>
                </c:pt>
                <c:pt idx="51" formatCode="0.0">
                  <c:v>0.23499999999999999</c:v>
                </c:pt>
                <c:pt idx="52" formatCode="0.0">
                  <c:v>1.538</c:v>
                </c:pt>
                <c:pt idx="53" formatCode="0.0">
                  <c:v>1.8</c:v>
                </c:pt>
                <c:pt idx="54" formatCode="0.0">
                  <c:v>1.2</c:v>
                </c:pt>
                <c:pt idx="55" formatCode="0.0">
                  <c:v>0.3</c:v>
                </c:pt>
                <c:pt idx="56" formatCode="0.0">
                  <c:v>2.6</c:v>
                </c:pt>
                <c:pt idx="57" formatCode="0.0">
                  <c:v>8.3000000000000007</c:v>
                </c:pt>
                <c:pt idx="58" formatCode="0.0">
                  <c:v>5.7</c:v>
                </c:pt>
                <c:pt idx="59" formatCode="0.0">
                  <c:v>2.7</c:v>
                </c:pt>
                <c:pt idx="60" formatCode="0.0">
                  <c:v>2.2000000000000002</c:v>
                </c:pt>
              </c:numCache>
            </c:numRef>
          </c:val>
          <c:smooth val="0"/>
          <c:extLst>
            <c:ext xmlns:c16="http://schemas.microsoft.com/office/drawing/2014/chart" uri="{C3380CC4-5D6E-409C-BE32-E72D297353CC}">
              <c16:uniqueId val="{00000000-A58E-814E-AF58-C9A75A583FDC}"/>
            </c:ext>
          </c:extLst>
        </c:ser>
        <c:ser>
          <c:idx val="1"/>
          <c:order val="1"/>
          <c:tx>
            <c:strRef>
              <c:f>Sheet1!$A$3</c:f>
              <c:strCache>
                <c:ptCount val="1"/>
                <c:pt idx="0">
                  <c:v>Germany</c:v>
                </c:pt>
              </c:strCache>
            </c:strRef>
          </c:tx>
          <c:spPr>
            <a:ln w="32741">
              <a:solidFill>
                <a:srgbClr val="A87C00"/>
              </a:solidFill>
              <a:prstDash val="solid"/>
            </a:ln>
          </c:spPr>
          <c:marker>
            <c:symbol val="none"/>
          </c:marker>
          <c:cat>
            <c:numRef>
              <c:f>Sheet1!$B$1:$BJ$1</c:f>
              <c:numCache>
                <c:formatCode>General</c:formatCode>
                <c:ptCount val="61"/>
                <c:pt idx="0">
                  <c:v>1965</c:v>
                </c:pt>
                <c:pt idx="1">
                  <c:v>1966</c:v>
                </c:pt>
                <c:pt idx="2">
                  <c:v>1967</c:v>
                </c:pt>
                <c:pt idx="3">
                  <c:v>1968</c:v>
                </c:pt>
                <c:pt idx="4">
                  <c:v>1969</c:v>
                </c:pt>
                <c:pt idx="5">
                  <c:v>1970</c:v>
                </c:pt>
                <c:pt idx="6">
                  <c:v>1971</c:v>
                </c:pt>
                <c:pt idx="7">
                  <c:v>1972</c:v>
                </c:pt>
                <c:pt idx="8">
                  <c:v>1973</c:v>
                </c:pt>
                <c:pt idx="9">
                  <c:v>1974</c:v>
                </c:pt>
                <c:pt idx="10">
                  <c:v>1975</c:v>
                </c:pt>
                <c:pt idx="11">
                  <c:v>1976</c:v>
                </c:pt>
                <c:pt idx="12">
                  <c:v>1977</c:v>
                </c:pt>
                <c:pt idx="13">
                  <c:v>1978</c:v>
                </c:pt>
                <c:pt idx="14">
                  <c:v>1979</c:v>
                </c:pt>
                <c:pt idx="15">
                  <c:v>1980</c:v>
                </c:pt>
                <c:pt idx="16">
                  <c:v>1981</c:v>
                </c:pt>
                <c:pt idx="17">
                  <c:v>1982</c:v>
                </c:pt>
                <c:pt idx="18">
                  <c:v>1983</c:v>
                </c:pt>
                <c:pt idx="19">
                  <c:v>1984</c:v>
                </c:pt>
                <c:pt idx="20">
                  <c:v>1985</c:v>
                </c:pt>
                <c:pt idx="21">
                  <c:v>1986</c:v>
                </c:pt>
                <c:pt idx="22">
                  <c:v>1987</c:v>
                </c:pt>
                <c:pt idx="23">
                  <c:v>1988</c:v>
                </c:pt>
                <c:pt idx="24">
                  <c:v>1989</c:v>
                </c:pt>
                <c:pt idx="25">
                  <c:v>1990</c:v>
                </c:pt>
                <c:pt idx="26">
                  <c:v>1991</c:v>
                </c:pt>
                <c:pt idx="27">
                  <c:v>1992</c:v>
                </c:pt>
                <c:pt idx="28">
                  <c:v>1993</c:v>
                </c:pt>
                <c:pt idx="29">
                  <c:v>1994</c:v>
                </c:pt>
                <c:pt idx="30">
                  <c:v>1995</c:v>
                </c:pt>
                <c:pt idx="31">
                  <c:v>1996</c:v>
                </c:pt>
                <c:pt idx="32">
                  <c:v>1997</c:v>
                </c:pt>
                <c:pt idx="33">
                  <c:v>1998</c:v>
                </c:pt>
                <c:pt idx="34">
                  <c:v>1999</c:v>
                </c:pt>
                <c:pt idx="35">
                  <c:v>2000</c:v>
                </c:pt>
                <c:pt idx="36">
                  <c:v>2001</c:v>
                </c:pt>
                <c:pt idx="37">
                  <c:v>2002</c:v>
                </c:pt>
                <c:pt idx="38">
                  <c:v>2003</c:v>
                </c:pt>
                <c:pt idx="39">
                  <c:v>2004</c:v>
                </c:pt>
                <c:pt idx="40">
                  <c:v>2005</c:v>
                </c:pt>
                <c:pt idx="41">
                  <c:v>2006</c:v>
                </c:pt>
                <c:pt idx="42">
                  <c:v>2007</c:v>
                </c:pt>
                <c:pt idx="43">
                  <c:v>2008</c:v>
                </c:pt>
                <c:pt idx="44">
                  <c:v>2009</c:v>
                </c:pt>
                <c:pt idx="45">
                  <c:v>2010</c:v>
                </c:pt>
                <c:pt idx="46">
                  <c:v>2011</c:v>
                </c:pt>
                <c:pt idx="47">
                  <c:v>2012</c:v>
                </c:pt>
                <c:pt idx="48">
                  <c:v>2013</c:v>
                </c:pt>
                <c:pt idx="49">
                  <c:v>2014</c:v>
                </c:pt>
                <c:pt idx="50">
                  <c:v>2015</c:v>
                </c:pt>
                <c:pt idx="51">
                  <c:v>2016</c:v>
                </c:pt>
                <c:pt idx="52">
                  <c:v>2017</c:v>
                </c:pt>
                <c:pt idx="53">
                  <c:v>2018</c:v>
                </c:pt>
                <c:pt idx="54">
                  <c:v>2019</c:v>
                </c:pt>
                <c:pt idx="55">
                  <c:v>2020</c:v>
                </c:pt>
                <c:pt idx="56">
                  <c:v>2021</c:v>
                </c:pt>
                <c:pt idx="57">
                  <c:v>2022</c:v>
                </c:pt>
                <c:pt idx="58">
                  <c:v>2023</c:v>
                </c:pt>
                <c:pt idx="59">
                  <c:v>2024</c:v>
                </c:pt>
                <c:pt idx="60">
                  <c:v>2025</c:v>
                </c:pt>
              </c:numCache>
            </c:numRef>
          </c:cat>
          <c:val>
            <c:numRef>
              <c:f>Sheet1!$B$3:$BJ$3</c:f>
              <c:numCache>
                <c:formatCode>0.0</c:formatCode>
                <c:ptCount val="61"/>
                <c:pt idx="0">
                  <c:v>3.1372549019607869</c:v>
                </c:pt>
                <c:pt idx="1">
                  <c:v>3.4220532319391581</c:v>
                </c:pt>
                <c:pt idx="2">
                  <c:v>1.8382352941176472</c:v>
                </c:pt>
                <c:pt idx="3">
                  <c:v>1.4440433212996466</c:v>
                </c:pt>
                <c:pt idx="4">
                  <c:v>2.1352313167259709</c:v>
                </c:pt>
                <c:pt idx="5">
                  <c:v>3.484320557491289</c:v>
                </c:pt>
                <c:pt idx="6">
                  <c:v>5.0505050505050502</c:v>
                </c:pt>
                <c:pt idx="7">
                  <c:v>5.4487179487179471</c:v>
                </c:pt>
                <c:pt idx="8">
                  <c:v>7.294832826747716</c:v>
                </c:pt>
                <c:pt idx="9">
                  <c:v>6.7988668555240963</c:v>
                </c:pt>
                <c:pt idx="10">
                  <c:v>5.835543766578275</c:v>
                </c:pt>
                <c:pt idx="11">
                  <c:v>4.2606516290726519</c:v>
                </c:pt>
                <c:pt idx="12">
                  <c:v>3.8461538461538494</c:v>
                </c:pt>
                <c:pt idx="13">
                  <c:v>2.7777777777778003</c:v>
                </c:pt>
                <c:pt idx="14">
                  <c:v>4.0540540540540304</c:v>
                </c:pt>
                <c:pt idx="15">
                  <c:v>5.4470000000000001</c:v>
                </c:pt>
                <c:pt idx="16">
                  <c:v>6.3239999999999998</c:v>
                </c:pt>
                <c:pt idx="17">
                  <c:v>5.2560000000000002</c:v>
                </c:pt>
                <c:pt idx="18">
                  <c:v>3.2839999999999998</c:v>
                </c:pt>
                <c:pt idx="19">
                  <c:v>2.3959999999999999</c:v>
                </c:pt>
                <c:pt idx="20">
                  <c:v>2.0840000000000001</c:v>
                </c:pt>
                <c:pt idx="21">
                  <c:v>-0.125</c:v>
                </c:pt>
                <c:pt idx="22">
                  <c:v>0.24199999999999999</c:v>
                </c:pt>
                <c:pt idx="23">
                  <c:v>1.274</c:v>
                </c:pt>
                <c:pt idx="24">
                  <c:v>2.778</c:v>
                </c:pt>
                <c:pt idx="25">
                  <c:v>2.6869999999999998</c:v>
                </c:pt>
                <c:pt idx="26">
                  <c:v>3.4740000000000002</c:v>
                </c:pt>
                <c:pt idx="27">
                  <c:v>5.0460000000000003</c:v>
                </c:pt>
                <c:pt idx="28">
                  <c:v>4.476</c:v>
                </c:pt>
                <c:pt idx="29">
                  <c:v>2.7170000000000001</c:v>
                </c:pt>
                <c:pt idx="30">
                  <c:v>1.7330000000000001</c:v>
                </c:pt>
                <c:pt idx="31">
                  <c:v>1.274</c:v>
                </c:pt>
                <c:pt idx="32">
                  <c:v>1.5069999999999999</c:v>
                </c:pt>
                <c:pt idx="33">
                  <c:v>0.59599999999999997</c:v>
                </c:pt>
                <c:pt idx="34">
                  <c:v>0.64700000000000002</c:v>
                </c:pt>
                <c:pt idx="35">
                  <c:v>1.413</c:v>
                </c:pt>
                <c:pt idx="36">
                  <c:v>1.9</c:v>
                </c:pt>
                <c:pt idx="37">
                  <c:v>1.3260000000000001</c:v>
                </c:pt>
                <c:pt idx="38">
                  <c:v>1.0740000000000001</c:v>
                </c:pt>
                <c:pt idx="39">
                  <c:v>1.78</c:v>
                </c:pt>
                <c:pt idx="40">
                  <c:v>1.9279999999999999</c:v>
                </c:pt>
                <c:pt idx="41">
                  <c:v>1.7749999999999999</c:v>
                </c:pt>
                <c:pt idx="42">
                  <c:v>2.2709999999999999</c:v>
                </c:pt>
                <c:pt idx="43">
                  <c:v>2.754</c:v>
                </c:pt>
                <c:pt idx="44">
                  <c:v>0.246</c:v>
                </c:pt>
                <c:pt idx="45">
                  <c:v>1.119</c:v>
                </c:pt>
                <c:pt idx="46">
                  <c:v>2.4820000000000002</c:v>
                </c:pt>
                <c:pt idx="47">
                  <c:v>2.1589999999999998</c:v>
                </c:pt>
                <c:pt idx="48">
                  <c:v>1.607</c:v>
                </c:pt>
                <c:pt idx="49">
                  <c:v>0.76900000000000002</c:v>
                </c:pt>
                <c:pt idx="50">
                  <c:v>0.68</c:v>
                </c:pt>
                <c:pt idx="51">
                  <c:v>0.36699999999999999</c:v>
                </c:pt>
                <c:pt idx="52">
                  <c:v>1.702</c:v>
                </c:pt>
                <c:pt idx="53">
                  <c:v>1.9</c:v>
                </c:pt>
                <c:pt idx="54">
                  <c:v>1.4</c:v>
                </c:pt>
                <c:pt idx="55">
                  <c:v>0.4</c:v>
                </c:pt>
                <c:pt idx="56">
                  <c:v>3.2</c:v>
                </c:pt>
                <c:pt idx="57">
                  <c:v>8.5</c:v>
                </c:pt>
                <c:pt idx="58">
                  <c:v>7.2</c:v>
                </c:pt>
                <c:pt idx="59">
                  <c:v>3.5</c:v>
                </c:pt>
                <c:pt idx="60">
                  <c:v>2.6</c:v>
                </c:pt>
              </c:numCache>
            </c:numRef>
          </c:val>
          <c:smooth val="0"/>
          <c:extLst>
            <c:ext xmlns:c16="http://schemas.microsoft.com/office/drawing/2014/chart" uri="{C3380CC4-5D6E-409C-BE32-E72D297353CC}">
              <c16:uniqueId val="{00000001-A58E-814E-AF58-C9A75A583FDC}"/>
            </c:ext>
          </c:extLst>
        </c:ser>
        <c:ser>
          <c:idx val="4"/>
          <c:order val="2"/>
          <c:tx>
            <c:strRef>
              <c:f>Sheet1!$A$4</c:f>
              <c:strCache>
                <c:ptCount val="1"/>
                <c:pt idx="0">
                  <c:v>UK</c:v>
                </c:pt>
              </c:strCache>
            </c:strRef>
          </c:tx>
          <c:spPr>
            <a:ln w="31750">
              <a:solidFill>
                <a:srgbClr val="FF0000"/>
              </a:solidFill>
              <a:prstDash val="solid"/>
            </a:ln>
          </c:spPr>
          <c:marker>
            <c:symbol val="none"/>
          </c:marker>
          <c:cat>
            <c:numRef>
              <c:f>Sheet1!$B$1:$BJ$1</c:f>
              <c:numCache>
                <c:formatCode>General</c:formatCode>
                <c:ptCount val="61"/>
                <c:pt idx="0">
                  <c:v>1965</c:v>
                </c:pt>
                <c:pt idx="1">
                  <c:v>1966</c:v>
                </c:pt>
                <c:pt idx="2">
                  <c:v>1967</c:v>
                </c:pt>
                <c:pt idx="3">
                  <c:v>1968</c:v>
                </c:pt>
                <c:pt idx="4">
                  <c:v>1969</c:v>
                </c:pt>
                <c:pt idx="5">
                  <c:v>1970</c:v>
                </c:pt>
                <c:pt idx="6">
                  <c:v>1971</c:v>
                </c:pt>
                <c:pt idx="7">
                  <c:v>1972</c:v>
                </c:pt>
                <c:pt idx="8">
                  <c:v>1973</c:v>
                </c:pt>
                <c:pt idx="9">
                  <c:v>1974</c:v>
                </c:pt>
                <c:pt idx="10">
                  <c:v>1975</c:v>
                </c:pt>
                <c:pt idx="11">
                  <c:v>1976</c:v>
                </c:pt>
                <c:pt idx="12">
                  <c:v>1977</c:v>
                </c:pt>
                <c:pt idx="13">
                  <c:v>1978</c:v>
                </c:pt>
                <c:pt idx="14">
                  <c:v>1979</c:v>
                </c:pt>
                <c:pt idx="15">
                  <c:v>1980</c:v>
                </c:pt>
                <c:pt idx="16">
                  <c:v>1981</c:v>
                </c:pt>
                <c:pt idx="17">
                  <c:v>1982</c:v>
                </c:pt>
                <c:pt idx="18">
                  <c:v>1983</c:v>
                </c:pt>
                <c:pt idx="19">
                  <c:v>1984</c:v>
                </c:pt>
                <c:pt idx="20">
                  <c:v>1985</c:v>
                </c:pt>
                <c:pt idx="21">
                  <c:v>1986</c:v>
                </c:pt>
                <c:pt idx="22">
                  <c:v>1987</c:v>
                </c:pt>
                <c:pt idx="23">
                  <c:v>1988</c:v>
                </c:pt>
                <c:pt idx="24">
                  <c:v>1989</c:v>
                </c:pt>
                <c:pt idx="25">
                  <c:v>1990</c:v>
                </c:pt>
                <c:pt idx="26">
                  <c:v>1991</c:v>
                </c:pt>
                <c:pt idx="27">
                  <c:v>1992</c:v>
                </c:pt>
                <c:pt idx="28">
                  <c:v>1993</c:v>
                </c:pt>
                <c:pt idx="29">
                  <c:v>1994</c:v>
                </c:pt>
                <c:pt idx="30">
                  <c:v>1995</c:v>
                </c:pt>
                <c:pt idx="31">
                  <c:v>1996</c:v>
                </c:pt>
                <c:pt idx="32">
                  <c:v>1997</c:v>
                </c:pt>
                <c:pt idx="33">
                  <c:v>1998</c:v>
                </c:pt>
                <c:pt idx="34">
                  <c:v>1999</c:v>
                </c:pt>
                <c:pt idx="35">
                  <c:v>2000</c:v>
                </c:pt>
                <c:pt idx="36">
                  <c:v>2001</c:v>
                </c:pt>
                <c:pt idx="37">
                  <c:v>2002</c:v>
                </c:pt>
                <c:pt idx="38">
                  <c:v>2003</c:v>
                </c:pt>
                <c:pt idx="39">
                  <c:v>2004</c:v>
                </c:pt>
                <c:pt idx="40">
                  <c:v>2005</c:v>
                </c:pt>
                <c:pt idx="41">
                  <c:v>2006</c:v>
                </c:pt>
                <c:pt idx="42">
                  <c:v>2007</c:v>
                </c:pt>
                <c:pt idx="43">
                  <c:v>2008</c:v>
                </c:pt>
                <c:pt idx="44">
                  <c:v>2009</c:v>
                </c:pt>
                <c:pt idx="45">
                  <c:v>2010</c:v>
                </c:pt>
                <c:pt idx="46">
                  <c:v>2011</c:v>
                </c:pt>
                <c:pt idx="47">
                  <c:v>2012</c:v>
                </c:pt>
                <c:pt idx="48">
                  <c:v>2013</c:v>
                </c:pt>
                <c:pt idx="49">
                  <c:v>2014</c:v>
                </c:pt>
                <c:pt idx="50">
                  <c:v>2015</c:v>
                </c:pt>
                <c:pt idx="51">
                  <c:v>2016</c:v>
                </c:pt>
                <c:pt idx="52">
                  <c:v>2017</c:v>
                </c:pt>
                <c:pt idx="53">
                  <c:v>2018</c:v>
                </c:pt>
                <c:pt idx="54">
                  <c:v>2019</c:v>
                </c:pt>
                <c:pt idx="55">
                  <c:v>2020</c:v>
                </c:pt>
                <c:pt idx="56">
                  <c:v>2021</c:v>
                </c:pt>
                <c:pt idx="57">
                  <c:v>2022</c:v>
                </c:pt>
                <c:pt idx="58">
                  <c:v>2023</c:v>
                </c:pt>
                <c:pt idx="59">
                  <c:v>2024</c:v>
                </c:pt>
                <c:pt idx="60">
                  <c:v>2025</c:v>
                </c:pt>
              </c:numCache>
            </c:numRef>
          </c:cat>
          <c:val>
            <c:numRef>
              <c:f>Sheet1!$B$4:$BJ$4</c:f>
              <c:numCache>
                <c:formatCode>0.0</c:formatCode>
                <c:ptCount val="61"/>
                <c:pt idx="0">
                  <c:v>4.6874999999999973</c:v>
                </c:pt>
                <c:pt idx="1">
                  <c:v>4.4776119402985044</c:v>
                </c:pt>
                <c:pt idx="2">
                  <c:v>2.8571428571428599</c:v>
                </c:pt>
                <c:pt idx="3">
                  <c:v>4.1666666666666643</c:v>
                </c:pt>
                <c:pt idx="4">
                  <c:v>5.3333333333333375</c:v>
                </c:pt>
                <c:pt idx="5">
                  <c:v>6.329113924050632</c:v>
                </c:pt>
                <c:pt idx="6">
                  <c:v>9.5238095238095308</c:v>
                </c:pt>
                <c:pt idx="7">
                  <c:v>7.6086956521739042</c:v>
                </c:pt>
                <c:pt idx="8">
                  <c:v>9.0909090909090935</c:v>
                </c:pt>
                <c:pt idx="9">
                  <c:v>15.740740740740733</c:v>
                </c:pt>
                <c:pt idx="10">
                  <c:v>24</c:v>
                </c:pt>
                <c:pt idx="11">
                  <c:v>16.774193548387107</c:v>
                </c:pt>
                <c:pt idx="12">
                  <c:v>16.022099447513803</c:v>
                </c:pt>
                <c:pt idx="13">
                  <c:v>8.0952380952380913</c:v>
                </c:pt>
                <c:pt idx="14">
                  <c:v>13.215859030837004</c:v>
                </c:pt>
                <c:pt idx="15">
                  <c:v>16.849</c:v>
                </c:pt>
                <c:pt idx="16">
                  <c:v>12.189</c:v>
                </c:pt>
                <c:pt idx="17">
                  <c:v>8.5109999999999992</c:v>
                </c:pt>
                <c:pt idx="18">
                  <c:v>5.1980000000000004</c:v>
                </c:pt>
                <c:pt idx="19">
                  <c:v>4.4480000000000004</c:v>
                </c:pt>
                <c:pt idx="20">
                  <c:v>5.16</c:v>
                </c:pt>
                <c:pt idx="21">
                  <c:v>3.6259999999999999</c:v>
                </c:pt>
                <c:pt idx="22">
                  <c:v>4.0659999999999998</c:v>
                </c:pt>
                <c:pt idx="23">
                  <c:v>4.6120000000000001</c:v>
                </c:pt>
                <c:pt idx="24">
                  <c:v>5.2160000000000002</c:v>
                </c:pt>
                <c:pt idx="25">
                  <c:v>6.9989999999999997</c:v>
                </c:pt>
                <c:pt idx="26">
                  <c:v>7.5190000000000001</c:v>
                </c:pt>
                <c:pt idx="27">
                  <c:v>4.2320000000000002</c:v>
                </c:pt>
                <c:pt idx="28">
                  <c:v>2.5329999999999999</c:v>
                </c:pt>
                <c:pt idx="29">
                  <c:v>1.994</c:v>
                </c:pt>
                <c:pt idx="30">
                  <c:v>2.63</c:v>
                </c:pt>
                <c:pt idx="31">
                  <c:v>2.4249999999999998</c:v>
                </c:pt>
                <c:pt idx="32">
                  <c:v>1.825</c:v>
                </c:pt>
                <c:pt idx="33">
                  <c:v>1.5569999999999999</c:v>
                </c:pt>
                <c:pt idx="34">
                  <c:v>1.329</c:v>
                </c:pt>
                <c:pt idx="35">
                  <c:v>0.79600000000000004</c:v>
                </c:pt>
                <c:pt idx="36">
                  <c:v>1.234</c:v>
                </c:pt>
                <c:pt idx="37">
                  <c:v>1.2589999999999999</c:v>
                </c:pt>
                <c:pt idx="38">
                  <c:v>1.3620000000000001</c:v>
                </c:pt>
                <c:pt idx="39">
                  <c:v>1.3440000000000001</c:v>
                </c:pt>
                <c:pt idx="40">
                  <c:v>2.0569999999999999</c:v>
                </c:pt>
                <c:pt idx="41">
                  <c:v>2.3290000000000002</c:v>
                </c:pt>
                <c:pt idx="42">
                  <c:v>2.323</c:v>
                </c:pt>
                <c:pt idx="43">
                  <c:v>3.6019999999999999</c:v>
                </c:pt>
                <c:pt idx="44">
                  <c:v>2.165</c:v>
                </c:pt>
                <c:pt idx="45">
                  <c:v>3.298</c:v>
                </c:pt>
                <c:pt idx="46">
                  <c:v>4.4640000000000004</c:v>
                </c:pt>
                <c:pt idx="47">
                  <c:v>2.8279999999999998</c:v>
                </c:pt>
                <c:pt idx="48">
                  <c:v>2.5649999999999999</c:v>
                </c:pt>
                <c:pt idx="49">
                  <c:v>1.4610000000000001</c:v>
                </c:pt>
                <c:pt idx="50">
                  <c:v>0.04</c:v>
                </c:pt>
                <c:pt idx="51">
                  <c:v>0.66</c:v>
                </c:pt>
                <c:pt idx="52">
                  <c:v>2.6829999999999998</c:v>
                </c:pt>
                <c:pt idx="53">
                  <c:v>2.5</c:v>
                </c:pt>
                <c:pt idx="54">
                  <c:v>1.8</c:v>
                </c:pt>
                <c:pt idx="55">
                  <c:v>0.9</c:v>
                </c:pt>
                <c:pt idx="56">
                  <c:v>2.6</c:v>
                </c:pt>
                <c:pt idx="57">
                  <c:v>10.1</c:v>
                </c:pt>
                <c:pt idx="58">
                  <c:v>9</c:v>
                </c:pt>
                <c:pt idx="59">
                  <c:v>3.7</c:v>
                </c:pt>
                <c:pt idx="60">
                  <c:v>1.8</c:v>
                </c:pt>
              </c:numCache>
            </c:numRef>
          </c:val>
          <c:smooth val="0"/>
          <c:extLst>
            <c:ext xmlns:c16="http://schemas.microsoft.com/office/drawing/2014/chart" uri="{C3380CC4-5D6E-409C-BE32-E72D297353CC}">
              <c16:uniqueId val="{00000002-A58E-814E-AF58-C9A75A583FDC}"/>
            </c:ext>
          </c:extLst>
        </c:ser>
        <c:ser>
          <c:idx val="2"/>
          <c:order val="3"/>
          <c:tx>
            <c:strRef>
              <c:f>Sheet1!$A$5</c:f>
              <c:strCache>
                <c:ptCount val="1"/>
                <c:pt idx="0">
                  <c:v>USA</c:v>
                </c:pt>
              </c:strCache>
            </c:strRef>
          </c:tx>
          <c:spPr>
            <a:ln w="31750">
              <a:solidFill>
                <a:schemeClr val="tx2"/>
              </a:solidFill>
              <a:prstDash val="solid"/>
            </a:ln>
          </c:spPr>
          <c:marker>
            <c:symbol val="none"/>
          </c:marker>
          <c:cat>
            <c:numRef>
              <c:f>Sheet1!$B$1:$BJ$1</c:f>
              <c:numCache>
                <c:formatCode>General</c:formatCode>
                <c:ptCount val="61"/>
                <c:pt idx="0">
                  <c:v>1965</c:v>
                </c:pt>
                <c:pt idx="1">
                  <c:v>1966</c:v>
                </c:pt>
                <c:pt idx="2">
                  <c:v>1967</c:v>
                </c:pt>
                <c:pt idx="3">
                  <c:v>1968</c:v>
                </c:pt>
                <c:pt idx="4">
                  <c:v>1969</c:v>
                </c:pt>
                <c:pt idx="5">
                  <c:v>1970</c:v>
                </c:pt>
                <c:pt idx="6">
                  <c:v>1971</c:v>
                </c:pt>
                <c:pt idx="7">
                  <c:v>1972</c:v>
                </c:pt>
                <c:pt idx="8">
                  <c:v>1973</c:v>
                </c:pt>
                <c:pt idx="9">
                  <c:v>1974</c:v>
                </c:pt>
                <c:pt idx="10">
                  <c:v>1975</c:v>
                </c:pt>
                <c:pt idx="11">
                  <c:v>1976</c:v>
                </c:pt>
                <c:pt idx="12">
                  <c:v>1977</c:v>
                </c:pt>
                <c:pt idx="13">
                  <c:v>1978</c:v>
                </c:pt>
                <c:pt idx="14">
                  <c:v>1979</c:v>
                </c:pt>
                <c:pt idx="15">
                  <c:v>1980</c:v>
                </c:pt>
                <c:pt idx="16">
                  <c:v>1981</c:v>
                </c:pt>
                <c:pt idx="17">
                  <c:v>1982</c:v>
                </c:pt>
                <c:pt idx="18">
                  <c:v>1983</c:v>
                </c:pt>
                <c:pt idx="19">
                  <c:v>1984</c:v>
                </c:pt>
                <c:pt idx="20">
                  <c:v>1985</c:v>
                </c:pt>
                <c:pt idx="21">
                  <c:v>1986</c:v>
                </c:pt>
                <c:pt idx="22">
                  <c:v>1987</c:v>
                </c:pt>
                <c:pt idx="23">
                  <c:v>1988</c:v>
                </c:pt>
                <c:pt idx="24">
                  <c:v>1989</c:v>
                </c:pt>
                <c:pt idx="25">
                  <c:v>1990</c:v>
                </c:pt>
                <c:pt idx="26">
                  <c:v>1991</c:v>
                </c:pt>
                <c:pt idx="27">
                  <c:v>1992</c:v>
                </c:pt>
                <c:pt idx="28">
                  <c:v>1993</c:v>
                </c:pt>
                <c:pt idx="29">
                  <c:v>1994</c:v>
                </c:pt>
                <c:pt idx="30">
                  <c:v>1995</c:v>
                </c:pt>
                <c:pt idx="31">
                  <c:v>1996</c:v>
                </c:pt>
                <c:pt idx="32">
                  <c:v>1997</c:v>
                </c:pt>
                <c:pt idx="33">
                  <c:v>1998</c:v>
                </c:pt>
                <c:pt idx="34">
                  <c:v>1999</c:v>
                </c:pt>
                <c:pt idx="35">
                  <c:v>2000</c:v>
                </c:pt>
                <c:pt idx="36">
                  <c:v>2001</c:v>
                </c:pt>
                <c:pt idx="37">
                  <c:v>2002</c:v>
                </c:pt>
                <c:pt idx="38">
                  <c:v>2003</c:v>
                </c:pt>
                <c:pt idx="39">
                  <c:v>2004</c:v>
                </c:pt>
                <c:pt idx="40">
                  <c:v>2005</c:v>
                </c:pt>
                <c:pt idx="41">
                  <c:v>2006</c:v>
                </c:pt>
                <c:pt idx="42">
                  <c:v>2007</c:v>
                </c:pt>
                <c:pt idx="43">
                  <c:v>2008</c:v>
                </c:pt>
                <c:pt idx="44">
                  <c:v>2009</c:v>
                </c:pt>
                <c:pt idx="45">
                  <c:v>2010</c:v>
                </c:pt>
                <c:pt idx="46">
                  <c:v>2011</c:v>
                </c:pt>
                <c:pt idx="47">
                  <c:v>2012</c:v>
                </c:pt>
                <c:pt idx="48">
                  <c:v>2013</c:v>
                </c:pt>
                <c:pt idx="49">
                  <c:v>2014</c:v>
                </c:pt>
                <c:pt idx="50">
                  <c:v>2015</c:v>
                </c:pt>
                <c:pt idx="51">
                  <c:v>2016</c:v>
                </c:pt>
                <c:pt idx="52">
                  <c:v>2017</c:v>
                </c:pt>
                <c:pt idx="53">
                  <c:v>2018</c:v>
                </c:pt>
                <c:pt idx="54">
                  <c:v>2019</c:v>
                </c:pt>
                <c:pt idx="55">
                  <c:v>2020</c:v>
                </c:pt>
                <c:pt idx="56">
                  <c:v>2021</c:v>
                </c:pt>
                <c:pt idx="57">
                  <c:v>2022</c:v>
                </c:pt>
                <c:pt idx="58">
                  <c:v>2023</c:v>
                </c:pt>
                <c:pt idx="59">
                  <c:v>2024</c:v>
                </c:pt>
                <c:pt idx="60">
                  <c:v>2025</c:v>
                </c:pt>
              </c:numCache>
            </c:numRef>
          </c:cat>
          <c:val>
            <c:numRef>
              <c:f>Sheet1!$B$5:$BJ$5</c:f>
              <c:numCache>
                <c:formatCode>0.0</c:formatCode>
                <c:ptCount val="61"/>
                <c:pt idx="0">
                  <c:v>1.5267175572519165</c:v>
                </c:pt>
                <c:pt idx="1">
                  <c:v>3.0075187969924704</c:v>
                </c:pt>
                <c:pt idx="2">
                  <c:v>2.9197080291970829</c:v>
                </c:pt>
                <c:pt idx="3">
                  <c:v>4.2553191489361684</c:v>
                </c:pt>
                <c:pt idx="4">
                  <c:v>5.4421768707483045</c:v>
                </c:pt>
                <c:pt idx="5">
                  <c:v>5.8064516129032162</c:v>
                </c:pt>
                <c:pt idx="6">
                  <c:v>4.2682926829268473</c:v>
                </c:pt>
                <c:pt idx="7">
                  <c:v>2.9239766081871341</c:v>
                </c:pt>
                <c:pt idx="8">
                  <c:v>6.2499999999999876</c:v>
                </c:pt>
                <c:pt idx="9">
                  <c:v>11.229946524064179</c:v>
                </c:pt>
                <c:pt idx="10">
                  <c:v>9.1346153846153779</c:v>
                </c:pt>
                <c:pt idx="11">
                  <c:v>5.7268722466960389</c:v>
                </c:pt>
                <c:pt idx="12">
                  <c:v>6.6666666666666723</c:v>
                </c:pt>
                <c:pt idx="13">
                  <c:v>7.4218749999999947</c:v>
                </c:pt>
                <c:pt idx="14">
                  <c:v>11.272727272727277</c:v>
                </c:pt>
                <c:pt idx="15">
                  <c:v>13.502000000000001</c:v>
                </c:pt>
                <c:pt idx="16">
                  <c:v>10.378</c:v>
                </c:pt>
                <c:pt idx="17">
                  <c:v>6.1580000000000004</c:v>
                </c:pt>
                <c:pt idx="18">
                  <c:v>3.16</c:v>
                </c:pt>
                <c:pt idx="19">
                  <c:v>4.3680000000000003</c:v>
                </c:pt>
                <c:pt idx="20">
                  <c:v>3.528</c:v>
                </c:pt>
                <c:pt idx="21">
                  <c:v>1.944</c:v>
                </c:pt>
                <c:pt idx="22">
                  <c:v>3.5779999999999998</c:v>
                </c:pt>
                <c:pt idx="23">
                  <c:v>4.0999999999999996</c:v>
                </c:pt>
                <c:pt idx="24">
                  <c:v>4.7910000000000004</c:v>
                </c:pt>
                <c:pt idx="25">
                  <c:v>5.4189999999999996</c:v>
                </c:pt>
                <c:pt idx="26">
                  <c:v>4.2160000000000002</c:v>
                </c:pt>
                <c:pt idx="27">
                  <c:v>3.0419999999999998</c:v>
                </c:pt>
                <c:pt idx="28">
                  <c:v>2.97</c:v>
                </c:pt>
                <c:pt idx="29">
                  <c:v>2.5960000000000001</c:v>
                </c:pt>
                <c:pt idx="30">
                  <c:v>2.8050000000000002</c:v>
                </c:pt>
                <c:pt idx="31">
                  <c:v>2.9369999999999998</c:v>
                </c:pt>
                <c:pt idx="32">
                  <c:v>2.3380000000000001</c:v>
                </c:pt>
                <c:pt idx="33">
                  <c:v>1.5469999999999999</c:v>
                </c:pt>
                <c:pt idx="34">
                  <c:v>2.1930000000000001</c:v>
                </c:pt>
                <c:pt idx="35">
                  <c:v>3.367</c:v>
                </c:pt>
                <c:pt idx="36">
                  <c:v>2.8170000000000002</c:v>
                </c:pt>
                <c:pt idx="37">
                  <c:v>1.5960000000000001</c:v>
                </c:pt>
                <c:pt idx="38">
                  <c:v>2.298</c:v>
                </c:pt>
                <c:pt idx="39">
                  <c:v>2.6680000000000001</c:v>
                </c:pt>
                <c:pt idx="40">
                  <c:v>3.3660000000000001</c:v>
                </c:pt>
                <c:pt idx="41">
                  <c:v>3.222</c:v>
                </c:pt>
                <c:pt idx="42">
                  <c:v>2.871</c:v>
                </c:pt>
                <c:pt idx="43">
                  <c:v>3.8149999999999999</c:v>
                </c:pt>
                <c:pt idx="44">
                  <c:v>-0.32</c:v>
                </c:pt>
                <c:pt idx="45">
                  <c:v>1.637</c:v>
                </c:pt>
                <c:pt idx="46">
                  <c:v>3.14</c:v>
                </c:pt>
                <c:pt idx="47">
                  <c:v>2.073</c:v>
                </c:pt>
                <c:pt idx="48">
                  <c:v>1.466</c:v>
                </c:pt>
                <c:pt idx="49">
                  <c:v>1.615</c:v>
                </c:pt>
                <c:pt idx="50">
                  <c:v>0.121</c:v>
                </c:pt>
                <c:pt idx="51">
                  <c:v>1.2669999999999999</c:v>
                </c:pt>
                <c:pt idx="52">
                  <c:v>2.1309999999999998</c:v>
                </c:pt>
                <c:pt idx="53">
                  <c:v>2.4</c:v>
                </c:pt>
                <c:pt idx="54">
                  <c:v>1.8</c:v>
                </c:pt>
                <c:pt idx="55">
                  <c:v>1.2</c:v>
                </c:pt>
                <c:pt idx="56">
                  <c:v>4.7</c:v>
                </c:pt>
                <c:pt idx="57">
                  <c:v>8.1</c:v>
                </c:pt>
                <c:pt idx="58">
                  <c:v>3.5</c:v>
                </c:pt>
                <c:pt idx="59">
                  <c:v>2.2000000000000002</c:v>
                </c:pt>
                <c:pt idx="60">
                  <c:v>2</c:v>
                </c:pt>
              </c:numCache>
            </c:numRef>
          </c:val>
          <c:smooth val="0"/>
          <c:extLst>
            <c:ext xmlns:c16="http://schemas.microsoft.com/office/drawing/2014/chart" uri="{C3380CC4-5D6E-409C-BE32-E72D297353CC}">
              <c16:uniqueId val="{00000003-A58E-814E-AF58-C9A75A583FDC}"/>
            </c:ext>
          </c:extLst>
        </c:ser>
        <c:ser>
          <c:idx val="5"/>
          <c:order val="4"/>
          <c:tx>
            <c:strRef>
              <c:f>Sheet1!$A$6</c:f>
              <c:strCache>
                <c:ptCount val="1"/>
                <c:pt idx="0">
                  <c:v>Japan</c:v>
                </c:pt>
              </c:strCache>
            </c:strRef>
          </c:tx>
          <c:spPr>
            <a:ln w="31750">
              <a:solidFill>
                <a:srgbClr val="FF9900"/>
              </a:solidFill>
              <a:prstDash val="solid"/>
            </a:ln>
          </c:spPr>
          <c:marker>
            <c:symbol val="none"/>
          </c:marker>
          <c:cat>
            <c:numRef>
              <c:f>Sheet1!$B$1:$BJ$1</c:f>
              <c:numCache>
                <c:formatCode>General</c:formatCode>
                <c:ptCount val="61"/>
                <c:pt idx="0">
                  <c:v>1965</c:v>
                </c:pt>
                <c:pt idx="1">
                  <c:v>1966</c:v>
                </c:pt>
                <c:pt idx="2">
                  <c:v>1967</c:v>
                </c:pt>
                <c:pt idx="3">
                  <c:v>1968</c:v>
                </c:pt>
                <c:pt idx="4">
                  <c:v>1969</c:v>
                </c:pt>
                <c:pt idx="5">
                  <c:v>1970</c:v>
                </c:pt>
                <c:pt idx="6">
                  <c:v>1971</c:v>
                </c:pt>
                <c:pt idx="7">
                  <c:v>1972</c:v>
                </c:pt>
                <c:pt idx="8">
                  <c:v>1973</c:v>
                </c:pt>
                <c:pt idx="9">
                  <c:v>1974</c:v>
                </c:pt>
                <c:pt idx="10">
                  <c:v>1975</c:v>
                </c:pt>
                <c:pt idx="11">
                  <c:v>1976</c:v>
                </c:pt>
                <c:pt idx="12">
                  <c:v>1977</c:v>
                </c:pt>
                <c:pt idx="13">
                  <c:v>1978</c:v>
                </c:pt>
                <c:pt idx="14">
                  <c:v>1979</c:v>
                </c:pt>
                <c:pt idx="15">
                  <c:v>1980</c:v>
                </c:pt>
                <c:pt idx="16">
                  <c:v>1981</c:v>
                </c:pt>
                <c:pt idx="17">
                  <c:v>1982</c:v>
                </c:pt>
                <c:pt idx="18">
                  <c:v>1983</c:v>
                </c:pt>
                <c:pt idx="19">
                  <c:v>1984</c:v>
                </c:pt>
                <c:pt idx="20">
                  <c:v>1985</c:v>
                </c:pt>
                <c:pt idx="21">
                  <c:v>1986</c:v>
                </c:pt>
                <c:pt idx="22">
                  <c:v>1987</c:v>
                </c:pt>
                <c:pt idx="23">
                  <c:v>1988</c:v>
                </c:pt>
                <c:pt idx="24">
                  <c:v>1989</c:v>
                </c:pt>
                <c:pt idx="25">
                  <c:v>1990</c:v>
                </c:pt>
                <c:pt idx="26">
                  <c:v>1991</c:v>
                </c:pt>
                <c:pt idx="27">
                  <c:v>1992</c:v>
                </c:pt>
                <c:pt idx="28">
                  <c:v>1993</c:v>
                </c:pt>
                <c:pt idx="29">
                  <c:v>1994</c:v>
                </c:pt>
                <c:pt idx="30">
                  <c:v>1995</c:v>
                </c:pt>
                <c:pt idx="31">
                  <c:v>1996</c:v>
                </c:pt>
                <c:pt idx="32">
                  <c:v>1997</c:v>
                </c:pt>
                <c:pt idx="33">
                  <c:v>1998</c:v>
                </c:pt>
                <c:pt idx="34">
                  <c:v>1999</c:v>
                </c:pt>
                <c:pt idx="35">
                  <c:v>2000</c:v>
                </c:pt>
                <c:pt idx="36">
                  <c:v>2001</c:v>
                </c:pt>
                <c:pt idx="37">
                  <c:v>2002</c:v>
                </c:pt>
                <c:pt idx="38">
                  <c:v>2003</c:v>
                </c:pt>
                <c:pt idx="39">
                  <c:v>2004</c:v>
                </c:pt>
                <c:pt idx="40">
                  <c:v>2005</c:v>
                </c:pt>
                <c:pt idx="41">
                  <c:v>2006</c:v>
                </c:pt>
                <c:pt idx="42">
                  <c:v>2007</c:v>
                </c:pt>
                <c:pt idx="43">
                  <c:v>2008</c:v>
                </c:pt>
                <c:pt idx="44">
                  <c:v>2009</c:v>
                </c:pt>
                <c:pt idx="45">
                  <c:v>2010</c:v>
                </c:pt>
                <c:pt idx="46">
                  <c:v>2011</c:v>
                </c:pt>
                <c:pt idx="47">
                  <c:v>2012</c:v>
                </c:pt>
                <c:pt idx="48">
                  <c:v>2013</c:v>
                </c:pt>
                <c:pt idx="49">
                  <c:v>2014</c:v>
                </c:pt>
                <c:pt idx="50">
                  <c:v>2015</c:v>
                </c:pt>
                <c:pt idx="51">
                  <c:v>2016</c:v>
                </c:pt>
                <c:pt idx="52">
                  <c:v>2017</c:v>
                </c:pt>
                <c:pt idx="53">
                  <c:v>2018</c:v>
                </c:pt>
                <c:pt idx="54">
                  <c:v>2019</c:v>
                </c:pt>
                <c:pt idx="55">
                  <c:v>2020</c:v>
                </c:pt>
                <c:pt idx="56">
                  <c:v>2021</c:v>
                </c:pt>
                <c:pt idx="57">
                  <c:v>2022</c:v>
                </c:pt>
                <c:pt idx="58">
                  <c:v>2023</c:v>
                </c:pt>
                <c:pt idx="59">
                  <c:v>2024</c:v>
                </c:pt>
                <c:pt idx="60">
                  <c:v>2025</c:v>
                </c:pt>
              </c:numCache>
            </c:numRef>
          </c:cat>
          <c:val>
            <c:numRef>
              <c:f>Sheet1!$B$6:$BJ$6</c:f>
              <c:numCache>
                <c:formatCode>0.0</c:formatCode>
                <c:ptCount val="61"/>
                <c:pt idx="0">
                  <c:v>7.0175438596491126</c:v>
                </c:pt>
                <c:pt idx="1">
                  <c:v>4.9180327868852576</c:v>
                </c:pt>
                <c:pt idx="2">
                  <c:v>3.90625</c:v>
                </c:pt>
                <c:pt idx="3">
                  <c:v>5.2631578947368363</c:v>
                </c:pt>
                <c:pt idx="4">
                  <c:v>5.3571428571428568</c:v>
                </c:pt>
                <c:pt idx="5">
                  <c:v>6.7796610169491522</c:v>
                </c:pt>
                <c:pt idx="6">
                  <c:v>6.3492063492063489</c:v>
                </c:pt>
                <c:pt idx="7">
                  <c:v>5.0746268656716502</c:v>
                </c:pt>
                <c:pt idx="8">
                  <c:v>11.647727272727256</c:v>
                </c:pt>
                <c:pt idx="9">
                  <c:v>23.155216284987318</c:v>
                </c:pt>
                <c:pt idx="10">
                  <c:v>11.570247933884268</c:v>
                </c:pt>
                <c:pt idx="11">
                  <c:v>9.4444444444444464</c:v>
                </c:pt>
                <c:pt idx="12">
                  <c:v>8.1218274111675086</c:v>
                </c:pt>
                <c:pt idx="13">
                  <c:v>4.225352112676072</c:v>
                </c:pt>
                <c:pt idx="14">
                  <c:v>3.7537537537537533</c:v>
                </c:pt>
                <c:pt idx="15">
                  <c:v>7.8079999999999998</c:v>
                </c:pt>
                <c:pt idx="16">
                  <c:v>4.9359999999999999</c:v>
                </c:pt>
                <c:pt idx="17">
                  <c:v>2.7490000000000001</c:v>
                </c:pt>
                <c:pt idx="18">
                  <c:v>1.881</c:v>
                </c:pt>
                <c:pt idx="19">
                  <c:v>2.2509999999999999</c:v>
                </c:pt>
                <c:pt idx="20">
                  <c:v>2.0379999999999998</c:v>
                </c:pt>
                <c:pt idx="21">
                  <c:v>0.60799999999999998</c:v>
                </c:pt>
                <c:pt idx="22">
                  <c:v>0.128</c:v>
                </c:pt>
                <c:pt idx="23">
                  <c:v>0.65400000000000003</c:v>
                </c:pt>
                <c:pt idx="24">
                  <c:v>2.294</c:v>
                </c:pt>
                <c:pt idx="25">
                  <c:v>3.0710000000000002</c:v>
                </c:pt>
                <c:pt idx="26">
                  <c:v>3.2730000000000001</c:v>
                </c:pt>
                <c:pt idx="27">
                  <c:v>1.7270000000000001</c:v>
                </c:pt>
                <c:pt idx="28">
                  <c:v>1.254</c:v>
                </c:pt>
                <c:pt idx="29">
                  <c:v>0.69</c:v>
                </c:pt>
                <c:pt idx="30">
                  <c:v>-8.7999999999999995E-2</c:v>
                </c:pt>
                <c:pt idx="31">
                  <c:v>0.13800000000000001</c:v>
                </c:pt>
                <c:pt idx="32">
                  <c:v>1.6990000000000001</c:v>
                </c:pt>
                <c:pt idx="33">
                  <c:v>0.65200000000000002</c:v>
                </c:pt>
                <c:pt idx="34">
                  <c:v>-0.34599999999999997</c:v>
                </c:pt>
                <c:pt idx="35">
                  <c:v>-0.68700000000000006</c:v>
                </c:pt>
                <c:pt idx="36">
                  <c:v>-0.69399999999999995</c:v>
                </c:pt>
                <c:pt idx="37">
                  <c:v>-0.89700000000000002</c:v>
                </c:pt>
                <c:pt idx="38">
                  <c:v>-0.26300000000000001</c:v>
                </c:pt>
                <c:pt idx="39">
                  <c:v>-0.01</c:v>
                </c:pt>
                <c:pt idx="40">
                  <c:v>-0.28799999999999998</c:v>
                </c:pt>
                <c:pt idx="41">
                  <c:v>0.25600000000000001</c:v>
                </c:pt>
                <c:pt idx="42">
                  <c:v>4.7E-2</c:v>
                </c:pt>
                <c:pt idx="43">
                  <c:v>1.383</c:v>
                </c:pt>
                <c:pt idx="44">
                  <c:v>-1.331</c:v>
                </c:pt>
                <c:pt idx="45">
                  <c:v>-0.74199999999999999</c:v>
                </c:pt>
                <c:pt idx="46">
                  <c:v>-0.27800000000000002</c:v>
                </c:pt>
                <c:pt idx="47">
                  <c:v>-4.9000000000000002E-2</c:v>
                </c:pt>
                <c:pt idx="48">
                  <c:v>0.33200000000000002</c:v>
                </c:pt>
                <c:pt idx="49">
                  <c:v>2.758</c:v>
                </c:pt>
                <c:pt idx="50">
                  <c:v>0.79900000000000004</c:v>
                </c:pt>
                <c:pt idx="51">
                  <c:v>-0.124</c:v>
                </c:pt>
                <c:pt idx="52">
                  <c:v>0.48599999999999999</c:v>
                </c:pt>
                <c:pt idx="53">
                  <c:v>0.9</c:v>
                </c:pt>
                <c:pt idx="54">
                  <c:v>0.5</c:v>
                </c:pt>
                <c:pt idx="55">
                  <c:v>-0.9</c:v>
                </c:pt>
                <c:pt idx="56">
                  <c:v>0.5</c:v>
                </c:pt>
                <c:pt idx="57">
                  <c:v>2.4</c:v>
                </c:pt>
                <c:pt idx="58">
                  <c:v>1.2</c:v>
                </c:pt>
                <c:pt idx="59">
                  <c:v>1</c:v>
                </c:pt>
                <c:pt idx="60">
                  <c:v>1</c:v>
                </c:pt>
              </c:numCache>
            </c:numRef>
          </c:val>
          <c:smooth val="0"/>
          <c:extLst>
            <c:ext xmlns:c16="http://schemas.microsoft.com/office/drawing/2014/chart" uri="{C3380CC4-5D6E-409C-BE32-E72D297353CC}">
              <c16:uniqueId val="{00000004-A58E-814E-AF58-C9A75A583FDC}"/>
            </c:ext>
          </c:extLst>
        </c:ser>
        <c:ser>
          <c:idx val="3"/>
          <c:order val="5"/>
          <c:tx>
            <c:strRef>
              <c:f>Sheet1!$A$7</c:f>
              <c:strCache>
                <c:ptCount val="1"/>
                <c:pt idx="0">
                  <c:v>Australia</c:v>
                </c:pt>
              </c:strCache>
            </c:strRef>
          </c:tx>
          <c:spPr>
            <a:ln w="31750">
              <a:solidFill>
                <a:srgbClr val="008000"/>
              </a:solidFill>
            </a:ln>
          </c:spPr>
          <c:marker>
            <c:symbol val="none"/>
          </c:marker>
          <c:cat>
            <c:numRef>
              <c:f>Sheet1!$B$1:$BJ$1</c:f>
              <c:numCache>
                <c:formatCode>General</c:formatCode>
                <c:ptCount val="61"/>
                <c:pt idx="0">
                  <c:v>1965</c:v>
                </c:pt>
                <c:pt idx="1">
                  <c:v>1966</c:v>
                </c:pt>
                <c:pt idx="2">
                  <c:v>1967</c:v>
                </c:pt>
                <c:pt idx="3">
                  <c:v>1968</c:v>
                </c:pt>
                <c:pt idx="4">
                  <c:v>1969</c:v>
                </c:pt>
                <c:pt idx="5">
                  <c:v>1970</c:v>
                </c:pt>
                <c:pt idx="6">
                  <c:v>1971</c:v>
                </c:pt>
                <c:pt idx="7">
                  <c:v>1972</c:v>
                </c:pt>
                <c:pt idx="8">
                  <c:v>1973</c:v>
                </c:pt>
                <c:pt idx="9">
                  <c:v>1974</c:v>
                </c:pt>
                <c:pt idx="10">
                  <c:v>1975</c:v>
                </c:pt>
                <c:pt idx="11">
                  <c:v>1976</c:v>
                </c:pt>
                <c:pt idx="12">
                  <c:v>1977</c:v>
                </c:pt>
                <c:pt idx="13">
                  <c:v>1978</c:v>
                </c:pt>
                <c:pt idx="14">
                  <c:v>1979</c:v>
                </c:pt>
                <c:pt idx="15">
                  <c:v>1980</c:v>
                </c:pt>
                <c:pt idx="16">
                  <c:v>1981</c:v>
                </c:pt>
                <c:pt idx="17">
                  <c:v>1982</c:v>
                </c:pt>
                <c:pt idx="18">
                  <c:v>1983</c:v>
                </c:pt>
                <c:pt idx="19">
                  <c:v>1984</c:v>
                </c:pt>
                <c:pt idx="20">
                  <c:v>1985</c:v>
                </c:pt>
                <c:pt idx="21">
                  <c:v>1986</c:v>
                </c:pt>
                <c:pt idx="22">
                  <c:v>1987</c:v>
                </c:pt>
                <c:pt idx="23">
                  <c:v>1988</c:v>
                </c:pt>
                <c:pt idx="24">
                  <c:v>1989</c:v>
                </c:pt>
                <c:pt idx="25">
                  <c:v>1990</c:v>
                </c:pt>
                <c:pt idx="26">
                  <c:v>1991</c:v>
                </c:pt>
                <c:pt idx="27">
                  <c:v>1992</c:v>
                </c:pt>
                <c:pt idx="28">
                  <c:v>1993</c:v>
                </c:pt>
                <c:pt idx="29">
                  <c:v>1994</c:v>
                </c:pt>
                <c:pt idx="30">
                  <c:v>1995</c:v>
                </c:pt>
                <c:pt idx="31">
                  <c:v>1996</c:v>
                </c:pt>
                <c:pt idx="32">
                  <c:v>1997</c:v>
                </c:pt>
                <c:pt idx="33">
                  <c:v>1998</c:v>
                </c:pt>
                <c:pt idx="34">
                  <c:v>1999</c:v>
                </c:pt>
                <c:pt idx="35">
                  <c:v>2000</c:v>
                </c:pt>
                <c:pt idx="36">
                  <c:v>2001</c:v>
                </c:pt>
                <c:pt idx="37">
                  <c:v>2002</c:v>
                </c:pt>
                <c:pt idx="38">
                  <c:v>2003</c:v>
                </c:pt>
                <c:pt idx="39">
                  <c:v>2004</c:v>
                </c:pt>
                <c:pt idx="40">
                  <c:v>2005</c:v>
                </c:pt>
                <c:pt idx="41">
                  <c:v>2006</c:v>
                </c:pt>
                <c:pt idx="42">
                  <c:v>2007</c:v>
                </c:pt>
                <c:pt idx="43">
                  <c:v>2008</c:v>
                </c:pt>
                <c:pt idx="44">
                  <c:v>2009</c:v>
                </c:pt>
                <c:pt idx="45">
                  <c:v>2010</c:v>
                </c:pt>
                <c:pt idx="46">
                  <c:v>2011</c:v>
                </c:pt>
                <c:pt idx="47">
                  <c:v>2012</c:v>
                </c:pt>
                <c:pt idx="48">
                  <c:v>2013</c:v>
                </c:pt>
                <c:pt idx="49">
                  <c:v>2014</c:v>
                </c:pt>
                <c:pt idx="50">
                  <c:v>2015</c:v>
                </c:pt>
                <c:pt idx="51">
                  <c:v>2016</c:v>
                </c:pt>
                <c:pt idx="52">
                  <c:v>2017</c:v>
                </c:pt>
                <c:pt idx="53">
                  <c:v>2018</c:v>
                </c:pt>
                <c:pt idx="54">
                  <c:v>2019</c:v>
                </c:pt>
                <c:pt idx="55">
                  <c:v>2020</c:v>
                </c:pt>
                <c:pt idx="56">
                  <c:v>2021</c:v>
                </c:pt>
                <c:pt idx="57">
                  <c:v>2022</c:v>
                </c:pt>
                <c:pt idx="58">
                  <c:v>2023</c:v>
                </c:pt>
                <c:pt idx="59">
                  <c:v>2024</c:v>
                </c:pt>
                <c:pt idx="60">
                  <c:v>2025</c:v>
                </c:pt>
              </c:numCache>
            </c:numRef>
          </c:cat>
          <c:val>
            <c:numRef>
              <c:f>Sheet1!$B$7:$BJ$7</c:f>
              <c:numCache>
                <c:formatCode>0.0</c:formatCode>
                <c:ptCount val="61"/>
                <c:pt idx="0">
                  <c:v>4.0000000000000213</c:v>
                </c:pt>
                <c:pt idx="1">
                  <c:v>2.564102564102543</c:v>
                </c:pt>
                <c:pt idx="2">
                  <c:v>3.7500000000000089</c:v>
                </c:pt>
                <c:pt idx="3">
                  <c:v>2.4096385542168584</c:v>
                </c:pt>
                <c:pt idx="4">
                  <c:v>3.5294117647058907</c:v>
                </c:pt>
                <c:pt idx="5">
                  <c:v>3.4090909090908972</c:v>
                </c:pt>
                <c:pt idx="6">
                  <c:v>5.494505494505515</c:v>
                </c:pt>
                <c:pt idx="7">
                  <c:v>6.2499999999999769</c:v>
                </c:pt>
                <c:pt idx="8">
                  <c:v>8.8235294117647101</c:v>
                </c:pt>
                <c:pt idx="9">
                  <c:v>16.216216216216221</c:v>
                </c:pt>
                <c:pt idx="10">
                  <c:v>14.728682170542637</c:v>
                </c:pt>
                <c:pt idx="11">
                  <c:v>13.513513513513512</c:v>
                </c:pt>
                <c:pt idx="12">
                  <c:v>12.499999999999986</c:v>
                </c:pt>
                <c:pt idx="13">
                  <c:v>7.9365079365079376</c:v>
                </c:pt>
                <c:pt idx="14">
                  <c:v>8.8235294117647101</c:v>
                </c:pt>
                <c:pt idx="15">
                  <c:v>10.135999999999999</c:v>
                </c:pt>
                <c:pt idx="16">
                  <c:v>9.4879999999999995</c:v>
                </c:pt>
                <c:pt idx="17">
                  <c:v>11.352</c:v>
                </c:pt>
                <c:pt idx="18">
                  <c:v>10.039</c:v>
                </c:pt>
                <c:pt idx="19">
                  <c:v>3.96</c:v>
                </c:pt>
                <c:pt idx="20">
                  <c:v>6.7350000000000003</c:v>
                </c:pt>
                <c:pt idx="21">
                  <c:v>9.0500000000000007</c:v>
                </c:pt>
                <c:pt idx="22">
                  <c:v>8.5329999999999995</c:v>
                </c:pt>
                <c:pt idx="23">
                  <c:v>7.27</c:v>
                </c:pt>
                <c:pt idx="24">
                  <c:v>7.58</c:v>
                </c:pt>
                <c:pt idx="25">
                  <c:v>7.2329999999999997</c:v>
                </c:pt>
                <c:pt idx="26">
                  <c:v>3.3069999999999999</c:v>
                </c:pt>
                <c:pt idx="27">
                  <c:v>0.96899999999999997</c:v>
                </c:pt>
                <c:pt idx="28">
                  <c:v>1.752</c:v>
                </c:pt>
                <c:pt idx="29">
                  <c:v>1.968</c:v>
                </c:pt>
                <c:pt idx="30">
                  <c:v>4.5839999999999996</c:v>
                </c:pt>
                <c:pt idx="31">
                  <c:v>2.653</c:v>
                </c:pt>
                <c:pt idx="32">
                  <c:v>0.22500000000000001</c:v>
                </c:pt>
                <c:pt idx="33">
                  <c:v>0.85899999999999999</c:v>
                </c:pt>
                <c:pt idx="34">
                  <c:v>1.4079999999999999</c:v>
                </c:pt>
                <c:pt idx="35">
                  <c:v>4.4569999999999999</c:v>
                </c:pt>
                <c:pt idx="36">
                  <c:v>4.407</c:v>
                </c:pt>
                <c:pt idx="37">
                  <c:v>3.0489999999999999</c:v>
                </c:pt>
                <c:pt idx="38">
                  <c:v>2.7309999999999999</c:v>
                </c:pt>
                <c:pt idx="39">
                  <c:v>2.3420000000000001</c:v>
                </c:pt>
                <c:pt idx="40">
                  <c:v>2.6589999999999998</c:v>
                </c:pt>
                <c:pt idx="41">
                  <c:v>3.5539999999999998</c:v>
                </c:pt>
                <c:pt idx="42">
                  <c:v>2.3559999999999999</c:v>
                </c:pt>
                <c:pt idx="43">
                  <c:v>4.3479999999999999</c:v>
                </c:pt>
                <c:pt idx="44">
                  <c:v>1.77</c:v>
                </c:pt>
                <c:pt idx="45">
                  <c:v>2.863</c:v>
                </c:pt>
                <c:pt idx="46">
                  <c:v>3.3559999999999999</c:v>
                </c:pt>
                <c:pt idx="47">
                  <c:v>1.6859999999999999</c:v>
                </c:pt>
                <c:pt idx="48">
                  <c:v>2.4750000000000001</c:v>
                </c:pt>
                <c:pt idx="49">
                  <c:v>2.488</c:v>
                </c:pt>
                <c:pt idx="50">
                  <c:v>1.4850000000000001</c:v>
                </c:pt>
                <c:pt idx="51">
                  <c:v>1.2769999999999999</c:v>
                </c:pt>
                <c:pt idx="52">
                  <c:v>1.9950000000000001</c:v>
                </c:pt>
                <c:pt idx="53">
                  <c:v>1.9</c:v>
                </c:pt>
                <c:pt idx="54">
                  <c:v>1.6</c:v>
                </c:pt>
                <c:pt idx="55">
                  <c:v>0.9</c:v>
                </c:pt>
                <c:pt idx="56">
                  <c:v>2.8</c:v>
                </c:pt>
                <c:pt idx="57">
                  <c:v>6.5</c:v>
                </c:pt>
                <c:pt idx="58">
                  <c:v>4.8</c:v>
                </c:pt>
                <c:pt idx="59">
                  <c:v>2.9</c:v>
                </c:pt>
                <c:pt idx="60">
                  <c:v>2.8</c:v>
                </c:pt>
              </c:numCache>
            </c:numRef>
          </c:val>
          <c:smooth val="0"/>
          <c:extLst>
            <c:ext xmlns:c16="http://schemas.microsoft.com/office/drawing/2014/chart" uri="{C3380CC4-5D6E-409C-BE32-E72D297353CC}">
              <c16:uniqueId val="{00000005-A58E-814E-AF58-C9A75A583FDC}"/>
            </c:ext>
          </c:extLst>
        </c:ser>
        <c:ser>
          <c:idx val="6"/>
          <c:order val="6"/>
          <c:tx>
            <c:strRef>
              <c:f>Sheet1!$A$8</c:f>
              <c:strCache>
                <c:ptCount val="1"/>
                <c:pt idx="0">
                  <c:v>zero</c:v>
                </c:pt>
              </c:strCache>
            </c:strRef>
          </c:tx>
          <c:spPr>
            <a:ln w="12700">
              <a:solidFill>
                <a:schemeClr val="tx1">
                  <a:lumMod val="75000"/>
                  <a:lumOff val="25000"/>
                </a:schemeClr>
              </a:solidFill>
            </a:ln>
          </c:spPr>
          <c:marker>
            <c:symbol val="none"/>
          </c:marker>
          <c:cat>
            <c:numRef>
              <c:f>Sheet1!$B$1:$BJ$1</c:f>
              <c:numCache>
                <c:formatCode>General</c:formatCode>
                <c:ptCount val="61"/>
                <c:pt idx="0">
                  <c:v>1965</c:v>
                </c:pt>
                <c:pt idx="1">
                  <c:v>1966</c:v>
                </c:pt>
                <c:pt idx="2">
                  <c:v>1967</c:v>
                </c:pt>
                <c:pt idx="3">
                  <c:v>1968</c:v>
                </c:pt>
                <c:pt idx="4">
                  <c:v>1969</c:v>
                </c:pt>
                <c:pt idx="5">
                  <c:v>1970</c:v>
                </c:pt>
                <c:pt idx="6">
                  <c:v>1971</c:v>
                </c:pt>
                <c:pt idx="7">
                  <c:v>1972</c:v>
                </c:pt>
                <c:pt idx="8">
                  <c:v>1973</c:v>
                </c:pt>
                <c:pt idx="9">
                  <c:v>1974</c:v>
                </c:pt>
                <c:pt idx="10">
                  <c:v>1975</c:v>
                </c:pt>
                <c:pt idx="11">
                  <c:v>1976</c:v>
                </c:pt>
                <c:pt idx="12">
                  <c:v>1977</c:v>
                </c:pt>
                <c:pt idx="13">
                  <c:v>1978</c:v>
                </c:pt>
                <c:pt idx="14">
                  <c:v>1979</c:v>
                </c:pt>
                <c:pt idx="15">
                  <c:v>1980</c:v>
                </c:pt>
                <c:pt idx="16">
                  <c:v>1981</c:v>
                </c:pt>
                <c:pt idx="17">
                  <c:v>1982</c:v>
                </c:pt>
                <c:pt idx="18">
                  <c:v>1983</c:v>
                </c:pt>
                <c:pt idx="19">
                  <c:v>1984</c:v>
                </c:pt>
                <c:pt idx="20">
                  <c:v>1985</c:v>
                </c:pt>
                <c:pt idx="21">
                  <c:v>1986</c:v>
                </c:pt>
                <c:pt idx="22">
                  <c:v>1987</c:v>
                </c:pt>
                <c:pt idx="23">
                  <c:v>1988</c:v>
                </c:pt>
                <c:pt idx="24">
                  <c:v>1989</c:v>
                </c:pt>
                <c:pt idx="25">
                  <c:v>1990</c:v>
                </c:pt>
                <c:pt idx="26">
                  <c:v>1991</c:v>
                </c:pt>
                <c:pt idx="27">
                  <c:v>1992</c:v>
                </c:pt>
                <c:pt idx="28">
                  <c:v>1993</c:v>
                </c:pt>
                <c:pt idx="29">
                  <c:v>1994</c:v>
                </c:pt>
                <c:pt idx="30">
                  <c:v>1995</c:v>
                </c:pt>
                <c:pt idx="31">
                  <c:v>1996</c:v>
                </c:pt>
                <c:pt idx="32">
                  <c:v>1997</c:v>
                </c:pt>
                <c:pt idx="33">
                  <c:v>1998</c:v>
                </c:pt>
                <c:pt idx="34">
                  <c:v>1999</c:v>
                </c:pt>
                <c:pt idx="35">
                  <c:v>2000</c:v>
                </c:pt>
                <c:pt idx="36">
                  <c:v>2001</c:v>
                </c:pt>
                <c:pt idx="37">
                  <c:v>2002</c:v>
                </c:pt>
                <c:pt idx="38">
                  <c:v>2003</c:v>
                </c:pt>
                <c:pt idx="39">
                  <c:v>2004</c:v>
                </c:pt>
                <c:pt idx="40">
                  <c:v>2005</c:v>
                </c:pt>
                <c:pt idx="41">
                  <c:v>2006</c:v>
                </c:pt>
                <c:pt idx="42">
                  <c:v>2007</c:v>
                </c:pt>
                <c:pt idx="43">
                  <c:v>2008</c:v>
                </c:pt>
                <c:pt idx="44">
                  <c:v>2009</c:v>
                </c:pt>
                <c:pt idx="45">
                  <c:v>2010</c:v>
                </c:pt>
                <c:pt idx="46">
                  <c:v>2011</c:v>
                </c:pt>
                <c:pt idx="47">
                  <c:v>2012</c:v>
                </c:pt>
                <c:pt idx="48">
                  <c:v>2013</c:v>
                </c:pt>
                <c:pt idx="49">
                  <c:v>2014</c:v>
                </c:pt>
                <c:pt idx="50">
                  <c:v>2015</c:v>
                </c:pt>
                <c:pt idx="51">
                  <c:v>2016</c:v>
                </c:pt>
                <c:pt idx="52">
                  <c:v>2017</c:v>
                </c:pt>
                <c:pt idx="53">
                  <c:v>2018</c:v>
                </c:pt>
                <c:pt idx="54">
                  <c:v>2019</c:v>
                </c:pt>
                <c:pt idx="55">
                  <c:v>2020</c:v>
                </c:pt>
                <c:pt idx="56">
                  <c:v>2021</c:v>
                </c:pt>
                <c:pt idx="57">
                  <c:v>2022</c:v>
                </c:pt>
                <c:pt idx="58">
                  <c:v>2023</c:v>
                </c:pt>
                <c:pt idx="59">
                  <c:v>2024</c:v>
                </c:pt>
                <c:pt idx="60">
                  <c:v>2025</c:v>
                </c:pt>
              </c:numCache>
            </c:numRef>
          </c:cat>
          <c:val>
            <c:numRef>
              <c:f>Sheet1!$B$8:$BJ$8</c:f>
              <c:numCache>
                <c:formatCode>General</c:formatCode>
                <c:ptCount val="61"/>
                <c:pt idx="0" formatCode="0.0">
                  <c:v>0</c:v>
                </c:pt>
                <c:pt idx="60" formatCode="0.0">
                  <c:v>0</c:v>
                </c:pt>
              </c:numCache>
            </c:numRef>
          </c:val>
          <c:smooth val="0"/>
          <c:extLst>
            <c:ext xmlns:c16="http://schemas.microsoft.com/office/drawing/2014/chart" uri="{C3380CC4-5D6E-409C-BE32-E72D297353CC}">
              <c16:uniqueId val="{00000006-A58E-814E-AF58-C9A75A583FDC}"/>
            </c:ext>
          </c:extLst>
        </c:ser>
        <c:dLbls>
          <c:showLegendKey val="0"/>
          <c:showVal val="0"/>
          <c:showCatName val="0"/>
          <c:showSerName val="0"/>
          <c:showPercent val="0"/>
          <c:showBubbleSize val="0"/>
        </c:dLbls>
        <c:smooth val="0"/>
        <c:axId val="213604472"/>
        <c:axId val="1"/>
      </c:lineChart>
      <c:catAx>
        <c:axId val="213604472"/>
        <c:scaling>
          <c:orientation val="minMax"/>
        </c:scaling>
        <c:delete val="0"/>
        <c:axPos val="b"/>
        <c:numFmt formatCode="General" sourceLinked="1"/>
        <c:majorTickMark val="out"/>
        <c:minorTickMark val="none"/>
        <c:tickLblPos val="nextTo"/>
        <c:spPr>
          <a:ln w="10914">
            <a:solidFill>
              <a:srgbClr val="000000"/>
            </a:solidFill>
            <a:prstDash val="solid"/>
          </a:ln>
        </c:spPr>
        <c:txPr>
          <a:bodyPr rot="0" vert="horz"/>
          <a:lstStyle/>
          <a:p>
            <a:pPr>
              <a:defRPr sz="1800" b="0" i="0" u="none" strike="noStrike" baseline="0">
                <a:solidFill>
                  <a:srgbClr val="000000"/>
                </a:solidFill>
                <a:latin typeface="Arial"/>
                <a:ea typeface="Arial"/>
                <a:cs typeface="Arial"/>
              </a:defRPr>
            </a:pPr>
            <a:endParaRPr lang="en-US"/>
          </a:p>
        </c:txPr>
        <c:crossAx val="1"/>
        <c:crossesAt val="-6"/>
        <c:auto val="0"/>
        <c:lblAlgn val="ctr"/>
        <c:lblOffset val="100"/>
        <c:tickLblSkip val="5"/>
        <c:tickMarkSkip val="1"/>
        <c:noMultiLvlLbl val="0"/>
      </c:catAx>
      <c:valAx>
        <c:axId val="1"/>
        <c:scaling>
          <c:orientation val="minMax"/>
          <c:max val="24"/>
          <c:min val="-2"/>
        </c:scaling>
        <c:delete val="0"/>
        <c:axPos val="l"/>
        <c:majorGridlines>
          <c:spPr>
            <a:ln w="6350">
              <a:solidFill>
                <a:schemeClr val="tx1">
                  <a:lumMod val="65000"/>
                  <a:lumOff val="35000"/>
                </a:schemeClr>
              </a:solidFill>
            </a:ln>
          </c:spPr>
        </c:majorGridlines>
        <c:title>
          <c:tx>
            <c:rich>
              <a:bodyPr/>
              <a:lstStyle/>
              <a:p>
                <a:pPr>
                  <a:defRPr sz="1800" b="0" i="0" u="none" strike="noStrike" baseline="0">
                    <a:solidFill>
                      <a:schemeClr val="tx1"/>
                    </a:solidFill>
                    <a:latin typeface="Arial"/>
                    <a:ea typeface="Arial"/>
                    <a:cs typeface="Arial"/>
                  </a:defRPr>
                </a:pPr>
                <a:r>
                  <a:rPr lang="en-GB" sz="1800" dirty="0">
                    <a:effectLst/>
                  </a:rPr>
                  <a:t>Annual rate of inflation (%)</a:t>
                </a:r>
              </a:p>
            </c:rich>
          </c:tx>
          <c:layout>
            <c:manualLayout>
              <c:xMode val="edge"/>
              <c:yMode val="edge"/>
              <c:x val="1.767542264771051E-2"/>
              <c:y val="0.2227831891148061"/>
            </c:manualLayout>
          </c:layout>
          <c:overlay val="0"/>
          <c:spPr>
            <a:noFill/>
            <a:ln w="21828">
              <a:noFill/>
            </a:ln>
          </c:spPr>
        </c:title>
        <c:numFmt formatCode="0_ ;\–0\ " sourceLinked="0"/>
        <c:majorTickMark val="out"/>
        <c:minorTickMark val="none"/>
        <c:tickLblPos val="nextTo"/>
        <c:spPr>
          <a:ln w="10914">
            <a:solidFill>
              <a:srgbClr val="000000"/>
            </a:solidFill>
            <a:prstDash val="solid"/>
          </a:ln>
        </c:spPr>
        <c:txPr>
          <a:bodyPr rot="0" vert="horz"/>
          <a:lstStyle/>
          <a:p>
            <a:pPr>
              <a:defRPr sz="1800" b="0" i="0" u="none" strike="noStrike" baseline="0">
                <a:solidFill>
                  <a:srgbClr val="000000"/>
                </a:solidFill>
                <a:latin typeface="Arial"/>
                <a:ea typeface="Arial"/>
                <a:cs typeface="Arial"/>
              </a:defRPr>
            </a:pPr>
            <a:endParaRPr lang="en-US"/>
          </a:p>
        </c:txPr>
        <c:crossAx val="213604472"/>
        <c:crosses val="autoZero"/>
        <c:crossBetween val="midCat"/>
        <c:majorUnit val="2"/>
      </c:valAx>
      <c:spPr>
        <a:solidFill>
          <a:schemeClr val="bg1"/>
        </a:solidFill>
        <a:ln w="9525">
          <a:solidFill>
            <a:schemeClr val="bg1">
              <a:lumMod val="75000"/>
            </a:schemeClr>
          </a:solidFill>
        </a:ln>
      </c:spPr>
    </c:plotArea>
    <c:legend>
      <c:legendPos val="r"/>
      <c:legendEntry>
        <c:idx val="1"/>
        <c:txPr>
          <a:bodyPr/>
          <a:lstStyle/>
          <a:p>
            <a:pPr>
              <a:defRPr sz="1800" b="0">
                <a:solidFill>
                  <a:srgbClr val="B68600"/>
                </a:solidFill>
              </a:defRPr>
            </a:pPr>
            <a:endParaRPr lang="en-US"/>
          </a:p>
        </c:txPr>
      </c:legendEntry>
      <c:legendEntry>
        <c:idx val="2"/>
        <c:txPr>
          <a:bodyPr/>
          <a:lstStyle/>
          <a:p>
            <a:pPr>
              <a:defRPr sz="1800" b="0">
                <a:solidFill>
                  <a:srgbClr val="FF0000"/>
                </a:solidFill>
              </a:defRPr>
            </a:pPr>
            <a:endParaRPr lang="en-US"/>
          </a:p>
        </c:txPr>
      </c:legendEntry>
      <c:legendEntry>
        <c:idx val="3"/>
        <c:txPr>
          <a:bodyPr/>
          <a:lstStyle/>
          <a:p>
            <a:pPr>
              <a:defRPr sz="1800" b="0">
                <a:solidFill>
                  <a:schemeClr val="tx2"/>
                </a:solidFill>
              </a:defRPr>
            </a:pPr>
            <a:endParaRPr lang="en-US"/>
          </a:p>
        </c:txPr>
      </c:legendEntry>
      <c:legendEntry>
        <c:idx val="4"/>
        <c:txPr>
          <a:bodyPr/>
          <a:lstStyle/>
          <a:p>
            <a:pPr>
              <a:defRPr sz="1800" b="0">
                <a:solidFill>
                  <a:srgbClr val="FF9900"/>
                </a:solidFill>
              </a:defRPr>
            </a:pPr>
            <a:endParaRPr lang="en-US"/>
          </a:p>
        </c:txPr>
      </c:legendEntry>
      <c:legendEntry>
        <c:idx val="5"/>
        <c:txPr>
          <a:bodyPr/>
          <a:lstStyle/>
          <a:p>
            <a:pPr>
              <a:defRPr sz="1800" b="0">
                <a:solidFill>
                  <a:srgbClr val="008000"/>
                </a:solidFill>
              </a:defRPr>
            </a:pPr>
            <a:endParaRPr lang="en-US"/>
          </a:p>
        </c:txPr>
      </c:legendEntry>
      <c:legendEntry>
        <c:idx val="6"/>
        <c:delete val="1"/>
      </c:legendEntry>
      <c:layout>
        <c:manualLayout>
          <c:xMode val="edge"/>
          <c:yMode val="edge"/>
          <c:x val="0.55971899053348673"/>
          <c:y val="7.6057417694295762E-2"/>
          <c:w val="0.31528100946651333"/>
          <c:h val="0.16832511318781057"/>
        </c:manualLayout>
      </c:layout>
      <c:overlay val="0"/>
      <c:spPr>
        <a:solidFill>
          <a:srgbClr val="FFFFE1"/>
        </a:solidFill>
        <a:ln w="15875">
          <a:solidFill>
            <a:srgbClr val="7030A0"/>
          </a:solidFill>
        </a:ln>
      </c:spPr>
      <c:txPr>
        <a:bodyPr/>
        <a:lstStyle/>
        <a:p>
          <a:pPr>
            <a:defRPr sz="1800" b="0"/>
          </a:pPr>
          <a:endParaRPr lang="en-US"/>
        </a:p>
      </c:txPr>
    </c:legend>
    <c:plotVisOnly val="1"/>
    <c:dispBlanksAs val="span"/>
    <c:showDLblsOverMax val="0"/>
  </c:chart>
  <c:spPr>
    <a:noFill/>
    <a:ln>
      <a:noFill/>
    </a:ln>
  </c:spPr>
  <c:txPr>
    <a:bodyPr/>
    <a:lstStyle/>
    <a:p>
      <a:pPr>
        <a:defRPr sz="1547" b="1" i="0" u="none" strike="noStrike" baseline="0">
          <a:solidFill>
            <a:schemeClr val="tx1"/>
          </a:solidFill>
          <a:latin typeface="Arial"/>
          <a:ea typeface="Arial"/>
          <a:cs typeface="Arial"/>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0510482283464567"/>
          <c:y val="3.9920114993703328E-2"/>
          <c:w val="0.85874311023622052"/>
          <c:h val="0.85628742514970058"/>
        </c:manualLayout>
      </c:layout>
      <c:lineChart>
        <c:grouping val="standard"/>
        <c:varyColors val="0"/>
        <c:ser>
          <c:idx val="3"/>
          <c:order val="0"/>
          <c:tx>
            <c:strRef>
              <c:f>Sheet1!$A$2</c:f>
              <c:strCache>
                <c:ptCount val="1"/>
              </c:strCache>
            </c:strRef>
          </c:tx>
          <c:spPr>
            <a:ln w="15648">
              <a:solidFill>
                <a:srgbClr val="808080"/>
              </a:solidFill>
              <a:prstDash val="solid"/>
            </a:ln>
          </c:spPr>
          <c:marker>
            <c:symbol val="none"/>
          </c:marker>
          <c:dPt>
            <c:idx val="52"/>
            <c:bubble3D val="0"/>
            <c:spPr>
              <a:ln w="15648">
                <a:solidFill>
                  <a:srgbClr val="5F5F5F"/>
                </a:solidFill>
                <a:prstDash val="solid"/>
              </a:ln>
            </c:spPr>
            <c:extLst>
              <c:ext xmlns:c16="http://schemas.microsoft.com/office/drawing/2014/chart" uri="{C3380CC4-5D6E-409C-BE32-E72D297353CC}">
                <c16:uniqueId val="{00000006-CAC8-47B1-AD87-AF3B9C1667B6}"/>
              </c:ext>
            </c:extLst>
          </c:dPt>
          <c:cat>
            <c:numRef>
              <c:f>Sheet1!$B$1:$BC$1</c:f>
              <c:numCache>
                <c:formatCode>General</c:formatCode>
                <c:ptCount val="54"/>
                <c:pt idx="0">
                  <c:v>1970</c:v>
                </c:pt>
                <c:pt idx="1">
                  <c:v>1971</c:v>
                </c:pt>
                <c:pt idx="2">
                  <c:v>1972</c:v>
                </c:pt>
                <c:pt idx="3">
                  <c:v>1973</c:v>
                </c:pt>
                <c:pt idx="4">
                  <c:v>1974</c:v>
                </c:pt>
                <c:pt idx="5">
                  <c:v>1975</c:v>
                </c:pt>
                <c:pt idx="6">
                  <c:v>1976</c:v>
                </c:pt>
                <c:pt idx="7">
                  <c:v>1977</c:v>
                </c:pt>
                <c:pt idx="8">
                  <c:v>1978</c:v>
                </c:pt>
                <c:pt idx="9">
                  <c:v>1979</c:v>
                </c:pt>
                <c:pt idx="10">
                  <c:v>1980</c:v>
                </c:pt>
                <c:pt idx="11">
                  <c:v>1981</c:v>
                </c:pt>
                <c:pt idx="12">
                  <c:v>1982</c:v>
                </c:pt>
                <c:pt idx="13">
                  <c:v>1983</c:v>
                </c:pt>
                <c:pt idx="14">
                  <c:v>1984</c:v>
                </c:pt>
                <c:pt idx="15">
                  <c:v>1985</c:v>
                </c:pt>
                <c:pt idx="16">
                  <c:v>1986</c:v>
                </c:pt>
                <c:pt idx="17">
                  <c:v>1987</c:v>
                </c:pt>
                <c:pt idx="18">
                  <c:v>1988</c:v>
                </c:pt>
                <c:pt idx="19">
                  <c:v>1989</c:v>
                </c:pt>
                <c:pt idx="20">
                  <c:v>1990</c:v>
                </c:pt>
                <c:pt idx="21">
                  <c:v>1991</c:v>
                </c:pt>
                <c:pt idx="22">
                  <c:v>1992</c:v>
                </c:pt>
                <c:pt idx="23">
                  <c:v>1993</c:v>
                </c:pt>
                <c:pt idx="24">
                  <c:v>1994</c:v>
                </c:pt>
                <c:pt idx="25">
                  <c:v>1995</c:v>
                </c:pt>
                <c:pt idx="26">
                  <c:v>1996</c:v>
                </c:pt>
                <c:pt idx="27">
                  <c:v>1997</c:v>
                </c:pt>
                <c:pt idx="28">
                  <c:v>1998</c:v>
                </c:pt>
                <c:pt idx="29">
                  <c:v>1999</c:v>
                </c:pt>
                <c:pt idx="30">
                  <c:v>2000</c:v>
                </c:pt>
                <c:pt idx="31">
                  <c:v>2001</c:v>
                </c:pt>
                <c:pt idx="32">
                  <c:v>2002</c:v>
                </c:pt>
                <c:pt idx="33">
                  <c:v>2003</c:v>
                </c:pt>
                <c:pt idx="34">
                  <c:v>2004</c:v>
                </c:pt>
                <c:pt idx="35">
                  <c:v>2005</c:v>
                </c:pt>
                <c:pt idx="36">
                  <c:v>2006</c:v>
                </c:pt>
                <c:pt idx="37">
                  <c:v>2007</c:v>
                </c:pt>
                <c:pt idx="38">
                  <c:v>2008</c:v>
                </c:pt>
                <c:pt idx="39">
                  <c:v>2009</c:v>
                </c:pt>
                <c:pt idx="40">
                  <c:v>2010</c:v>
                </c:pt>
                <c:pt idx="41">
                  <c:v>2011</c:v>
                </c:pt>
                <c:pt idx="42">
                  <c:v>2012</c:v>
                </c:pt>
                <c:pt idx="43">
                  <c:v>2013</c:v>
                </c:pt>
                <c:pt idx="44">
                  <c:v>2014</c:v>
                </c:pt>
                <c:pt idx="45">
                  <c:v>2015</c:v>
                </c:pt>
                <c:pt idx="46">
                  <c:v>2016</c:v>
                </c:pt>
                <c:pt idx="47">
                  <c:v>2017</c:v>
                </c:pt>
                <c:pt idx="48">
                  <c:v>2018</c:v>
                </c:pt>
                <c:pt idx="49">
                  <c:v>2019</c:v>
                </c:pt>
                <c:pt idx="50">
                  <c:v>2020</c:v>
                </c:pt>
                <c:pt idx="51">
                  <c:v>2021</c:v>
                </c:pt>
                <c:pt idx="52">
                  <c:v>2022</c:v>
                </c:pt>
                <c:pt idx="53">
                  <c:v>2023</c:v>
                </c:pt>
              </c:numCache>
            </c:numRef>
          </c:cat>
          <c:val>
            <c:numRef>
              <c:f>Sheet1!$B$2:$BC$2</c:f>
              <c:numCache>
                <c:formatCode>General</c:formatCode>
                <c:ptCount val="54"/>
                <c:pt idx="0">
                  <c:v>0</c:v>
                </c:pt>
                <c:pt idx="53">
                  <c:v>0</c:v>
                </c:pt>
              </c:numCache>
            </c:numRef>
          </c:val>
          <c:smooth val="0"/>
          <c:extLst>
            <c:ext xmlns:c16="http://schemas.microsoft.com/office/drawing/2014/chart" uri="{C3380CC4-5D6E-409C-BE32-E72D297353CC}">
              <c16:uniqueId val="{00000000-CAC8-47B1-AD87-AF3B9C1667B6}"/>
            </c:ext>
          </c:extLst>
        </c:ser>
        <c:ser>
          <c:idx val="4"/>
          <c:order val="1"/>
          <c:tx>
            <c:strRef>
              <c:f>Sheet1!$A$3</c:f>
              <c:strCache>
                <c:ptCount val="1"/>
                <c:pt idx="0">
                  <c:v>UK</c:v>
                </c:pt>
              </c:strCache>
            </c:strRef>
          </c:tx>
          <c:spPr>
            <a:ln w="31296">
              <a:solidFill>
                <a:srgbClr val="CC0000"/>
              </a:solidFill>
              <a:prstDash val="solid"/>
            </a:ln>
          </c:spPr>
          <c:marker>
            <c:symbol val="none"/>
          </c:marker>
          <c:cat>
            <c:numRef>
              <c:f>Sheet1!$B$1:$BC$1</c:f>
              <c:numCache>
                <c:formatCode>General</c:formatCode>
                <c:ptCount val="54"/>
                <c:pt idx="0">
                  <c:v>1970</c:v>
                </c:pt>
                <c:pt idx="1">
                  <c:v>1971</c:v>
                </c:pt>
                <c:pt idx="2">
                  <c:v>1972</c:v>
                </c:pt>
                <c:pt idx="3">
                  <c:v>1973</c:v>
                </c:pt>
                <c:pt idx="4">
                  <c:v>1974</c:v>
                </c:pt>
                <c:pt idx="5">
                  <c:v>1975</c:v>
                </c:pt>
                <c:pt idx="6">
                  <c:v>1976</c:v>
                </c:pt>
                <c:pt idx="7">
                  <c:v>1977</c:v>
                </c:pt>
                <c:pt idx="8">
                  <c:v>1978</c:v>
                </c:pt>
                <c:pt idx="9">
                  <c:v>1979</c:v>
                </c:pt>
                <c:pt idx="10">
                  <c:v>1980</c:v>
                </c:pt>
                <c:pt idx="11">
                  <c:v>1981</c:v>
                </c:pt>
                <c:pt idx="12">
                  <c:v>1982</c:v>
                </c:pt>
                <c:pt idx="13">
                  <c:v>1983</c:v>
                </c:pt>
                <c:pt idx="14">
                  <c:v>1984</c:v>
                </c:pt>
                <c:pt idx="15">
                  <c:v>1985</c:v>
                </c:pt>
                <c:pt idx="16">
                  <c:v>1986</c:v>
                </c:pt>
                <c:pt idx="17">
                  <c:v>1987</c:v>
                </c:pt>
                <c:pt idx="18">
                  <c:v>1988</c:v>
                </c:pt>
                <c:pt idx="19">
                  <c:v>1989</c:v>
                </c:pt>
                <c:pt idx="20">
                  <c:v>1990</c:v>
                </c:pt>
                <c:pt idx="21">
                  <c:v>1991</c:v>
                </c:pt>
                <c:pt idx="22">
                  <c:v>1992</c:v>
                </c:pt>
                <c:pt idx="23">
                  <c:v>1993</c:v>
                </c:pt>
                <c:pt idx="24">
                  <c:v>1994</c:v>
                </c:pt>
                <c:pt idx="25">
                  <c:v>1995</c:v>
                </c:pt>
                <c:pt idx="26">
                  <c:v>1996</c:v>
                </c:pt>
                <c:pt idx="27">
                  <c:v>1997</c:v>
                </c:pt>
                <c:pt idx="28">
                  <c:v>1998</c:v>
                </c:pt>
                <c:pt idx="29">
                  <c:v>1999</c:v>
                </c:pt>
                <c:pt idx="30">
                  <c:v>2000</c:v>
                </c:pt>
                <c:pt idx="31">
                  <c:v>2001</c:v>
                </c:pt>
                <c:pt idx="32">
                  <c:v>2002</c:v>
                </c:pt>
                <c:pt idx="33">
                  <c:v>2003</c:v>
                </c:pt>
                <c:pt idx="34">
                  <c:v>2004</c:v>
                </c:pt>
                <c:pt idx="35">
                  <c:v>2005</c:v>
                </c:pt>
                <c:pt idx="36">
                  <c:v>2006</c:v>
                </c:pt>
                <c:pt idx="37">
                  <c:v>2007</c:v>
                </c:pt>
                <c:pt idx="38">
                  <c:v>2008</c:v>
                </c:pt>
                <c:pt idx="39">
                  <c:v>2009</c:v>
                </c:pt>
                <c:pt idx="40">
                  <c:v>2010</c:v>
                </c:pt>
                <c:pt idx="41">
                  <c:v>2011</c:v>
                </c:pt>
                <c:pt idx="42">
                  <c:v>2012</c:v>
                </c:pt>
                <c:pt idx="43">
                  <c:v>2013</c:v>
                </c:pt>
                <c:pt idx="44">
                  <c:v>2014</c:v>
                </c:pt>
                <c:pt idx="45">
                  <c:v>2015</c:v>
                </c:pt>
                <c:pt idx="46">
                  <c:v>2016</c:v>
                </c:pt>
                <c:pt idx="47">
                  <c:v>2017</c:v>
                </c:pt>
                <c:pt idx="48">
                  <c:v>2018</c:v>
                </c:pt>
                <c:pt idx="49">
                  <c:v>2019</c:v>
                </c:pt>
                <c:pt idx="50">
                  <c:v>2020</c:v>
                </c:pt>
                <c:pt idx="51">
                  <c:v>2021</c:v>
                </c:pt>
                <c:pt idx="52">
                  <c:v>2022</c:v>
                </c:pt>
                <c:pt idx="53">
                  <c:v>2023</c:v>
                </c:pt>
              </c:numCache>
            </c:numRef>
          </c:cat>
          <c:val>
            <c:numRef>
              <c:f>Sheet1!$B$3:$BC$3</c:f>
              <c:numCache>
                <c:formatCode>#,##0.0</c:formatCode>
                <c:ptCount val="54"/>
                <c:pt idx="1">
                  <c:v>0.60000000000000009</c:v>
                </c:pt>
                <c:pt idx="2">
                  <c:v>1.9</c:v>
                </c:pt>
                <c:pt idx="3">
                  <c:v>5.5</c:v>
                </c:pt>
                <c:pt idx="4">
                  <c:v>0.4</c:v>
                </c:pt>
                <c:pt idx="5">
                  <c:v>-3</c:v>
                </c:pt>
                <c:pt idx="6">
                  <c:v>-1.9</c:v>
                </c:pt>
                <c:pt idx="7">
                  <c:v>-1.1000000000000001</c:v>
                </c:pt>
                <c:pt idx="8">
                  <c:v>1.3</c:v>
                </c:pt>
                <c:pt idx="9">
                  <c:v>3.2</c:v>
                </c:pt>
                <c:pt idx="10">
                  <c:v>-0.5</c:v>
                </c:pt>
                <c:pt idx="11">
                  <c:v>-2.5</c:v>
                </c:pt>
                <c:pt idx="12">
                  <c:v>-2.2999999999999998</c:v>
                </c:pt>
                <c:pt idx="13">
                  <c:v>-0.4</c:v>
                </c:pt>
                <c:pt idx="14">
                  <c:v>-1</c:v>
                </c:pt>
                <c:pt idx="15">
                  <c:v>-0.1</c:v>
                </c:pt>
                <c:pt idx="16">
                  <c:v>-0.1</c:v>
                </c:pt>
                <c:pt idx="17">
                  <c:v>1.9</c:v>
                </c:pt>
                <c:pt idx="18">
                  <c:v>4.4000000000000004</c:v>
                </c:pt>
                <c:pt idx="19">
                  <c:v>3.8</c:v>
                </c:pt>
                <c:pt idx="20">
                  <c:v>2</c:v>
                </c:pt>
                <c:pt idx="21">
                  <c:v>-1.1000000000000001</c:v>
                </c:pt>
                <c:pt idx="22">
                  <c:v>-2.5</c:v>
                </c:pt>
                <c:pt idx="23">
                  <c:v>-2.1</c:v>
                </c:pt>
                <c:pt idx="24">
                  <c:v>-0.60000000000000009</c:v>
                </c:pt>
                <c:pt idx="25">
                  <c:v>-0.5</c:v>
                </c:pt>
                <c:pt idx="26">
                  <c:v>-0.70000000000000018</c:v>
                </c:pt>
                <c:pt idx="27">
                  <c:v>1.3</c:v>
                </c:pt>
                <c:pt idx="28">
                  <c:v>1.5</c:v>
                </c:pt>
                <c:pt idx="29">
                  <c:v>1.4</c:v>
                </c:pt>
                <c:pt idx="30">
                  <c:v>2</c:v>
                </c:pt>
                <c:pt idx="31">
                  <c:v>1.2</c:v>
                </c:pt>
                <c:pt idx="32">
                  <c:v>0.60000000000000009</c:v>
                </c:pt>
                <c:pt idx="33">
                  <c:v>1.1000000000000001</c:v>
                </c:pt>
                <c:pt idx="34">
                  <c:v>1</c:v>
                </c:pt>
                <c:pt idx="35">
                  <c:v>1.1000000000000001</c:v>
                </c:pt>
                <c:pt idx="36">
                  <c:v>1.6</c:v>
                </c:pt>
                <c:pt idx="37">
                  <c:v>1.9</c:v>
                </c:pt>
                <c:pt idx="38">
                  <c:v>0.1</c:v>
                </c:pt>
                <c:pt idx="39">
                  <c:v>-4.9000000000000004</c:v>
                </c:pt>
                <c:pt idx="40">
                  <c:v>-3.9000000000000008</c:v>
                </c:pt>
                <c:pt idx="41">
                  <c:v>-3.5</c:v>
                </c:pt>
                <c:pt idx="42">
                  <c:v>-3</c:v>
                </c:pt>
                <c:pt idx="43">
                  <c:v>-2.2999999999999998</c:v>
                </c:pt>
                <c:pt idx="44">
                  <c:v>-0.9</c:v>
                </c:pt>
                <c:pt idx="45">
                  <c:v>0.1</c:v>
                </c:pt>
                <c:pt idx="46">
                  <c:v>0.5</c:v>
                </c:pt>
                <c:pt idx="47">
                  <c:v>1.1000000000000001</c:v>
                </c:pt>
                <c:pt idx="48">
                  <c:v>1.5</c:v>
                </c:pt>
                <c:pt idx="49">
                  <c:v>2</c:v>
                </c:pt>
                <c:pt idx="50">
                  <c:v>-8.6</c:v>
                </c:pt>
                <c:pt idx="51">
                  <c:v>-3.3</c:v>
                </c:pt>
                <c:pt idx="52">
                  <c:v>-0.2</c:v>
                </c:pt>
                <c:pt idx="53">
                  <c:v>-0.1</c:v>
                </c:pt>
              </c:numCache>
            </c:numRef>
          </c:val>
          <c:smooth val="0"/>
          <c:extLst>
            <c:ext xmlns:c16="http://schemas.microsoft.com/office/drawing/2014/chart" uri="{C3380CC4-5D6E-409C-BE32-E72D297353CC}">
              <c16:uniqueId val="{00000001-CAC8-47B1-AD87-AF3B9C1667B6}"/>
            </c:ext>
          </c:extLst>
        </c:ser>
        <c:ser>
          <c:idx val="5"/>
          <c:order val="2"/>
          <c:tx>
            <c:strRef>
              <c:f>Sheet1!$A$4</c:f>
              <c:strCache>
                <c:ptCount val="1"/>
                <c:pt idx="0">
                  <c:v>USA</c:v>
                </c:pt>
              </c:strCache>
            </c:strRef>
          </c:tx>
          <c:spPr>
            <a:ln w="31296">
              <a:solidFill>
                <a:srgbClr val="CC00CC"/>
              </a:solidFill>
              <a:prstDash val="solid"/>
            </a:ln>
          </c:spPr>
          <c:marker>
            <c:symbol val="none"/>
          </c:marker>
          <c:cat>
            <c:numRef>
              <c:f>Sheet1!$B$1:$BC$1</c:f>
              <c:numCache>
                <c:formatCode>General</c:formatCode>
                <c:ptCount val="54"/>
                <c:pt idx="0">
                  <c:v>1970</c:v>
                </c:pt>
                <c:pt idx="1">
                  <c:v>1971</c:v>
                </c:pt>
                <c:pt idx="2">
                  <c:v>1972</c:v>
                </c:pt>
                <c:pt idx="3">
                  <c:v>1973</c:v>
                </c:pt>
                <c:pt idx="4">
                  <c:v>1974</c:v>
                </c:pt>
                <c:pt idx="5">
                  <c:v>1975</c:v>
                </c:pt>
                <c:pt idx="6">
                  <c:v>1976</c:v>
                </c:pt>
                <c:pt idx="7">
                  <c:v>1977</c:v>
                </c:pt>
                <c:pt idx="8">
                  <c:v>1978</c:v>
                </c:pt>
                <c:pt idx="9">
                  <c:v>1979</c:v>
                </c:pt>
                <c:pt idx="10">
                  <c:v>1980</c:v>
                </c:pt>
                <c:pt idx="11">
                  <c:v>1981</c:v>
                </c:pt>
                <c:pt idx="12">
                  <c:v>1982</c:v>
                </c:pt>
                <c:pt idx="13">
                  <c:v>1983</c:v>
                </c:pt>
                <c:pt idx="14">
                  <c:v>1984</c:v>
                </c:pt>
                <c:pt idx="15">
                  <c:v>1985</c:v>
                </c:pt>
                <c:pt idx="16">
                  <c:v>1986</c:v>
                </c:pt>
                <c:pt idx="17">
                  <c:v>1987</c:v>
                </c:pt>
                <c:pt idx="18">
                  <c:v>1988</c:v>
                </c:pt>
                <c:pt idx="19">
                  <c:v>1989</c:v>
                </c:pt>
                <c:pt idx="20">
                  <c:v>1990</c:v>
                </c:pt>
                <c:pt idx="21">
                  <c:v>1991</c:v>
                </c:pt>
                <c:pt idx="22">
                  <c:v>1992</c:v>
                </c:pt>
                <c:pt idx="23">
                  <c:v>1993</c:v>
                </c:pt>
                <c:pt idx="24">
                  <c:v>1994</c:v>
                </c:pt>
                <c:pt idx="25">
                  <c:v>1995</c:v>
                </c:pt>
                <c:pt idx="26">
                  <c:v>1996</c:v>
                </c:pt>
                <c:pt idx="27">
                  <c:v>1997</c:v>
                </c:pt>
                <c:pt idx="28">
                  <c:v>1998</c:v>
                </c:pt>
                <c:pt idx="29">
                  <c:v>1999</c:v>
                </c:pt>
                <c:pt idx="30">
                  <c:v>2000</c:v>
                </c:pt>
                <c:pt idx="31">
                  <c:v>2001</c:v>
                </c:pt>
                <c:pt idx="32">
                  <c:v>2002</c:v>
                </c:pt>
                <c:pt idx="33">
                  <c:v>2003</c:v>
                </c:pt>
                <c:pt idx="34">
                  <c:v>2004</c:v>
                </c:pt>
                <c:pt idx="35">
                  <c:v>2005</c:v>
                </c:pt>
                <c:pt idx="36">
                  <c:v>2006</c:v>
                </c:pt>
                <c:pt idx="37">
                  <c:v>2007</c:v>
                </c:pt>
                <c:pt idx="38">
                  <c:v>2008</c:v>
                </c:pt>
                <c:pt idx="39">
                  <c:v>2009</c:v>
                </c:pt>
                <c:pt idx="40">
                  <c:v>2010</c:v>
                </c:pt>
                <c:pt idx="41">
                  <c:v>2011</c:v>
                </c:pt>
                <c:pt idx="42">
                  <c:v>2012</c:v>
                </c:pt>
                <c:pt idx="43">
                  <c:v>2013</c:v>
                </c:pt>
                <c:pt idx="44">
                  <c:v>2014</c:v>
                </c:pt>
                <c:pt idx="45">
                  <c:v>2015</c:v>
                </c:pt>
                <c:pt idx="46">
                  <c:v>2016</c:v>
                </c:pt>
                <c:pt idx="47">
                  <c:v>2017</c:v>
                </c:pt>
                <c:pt idx="48">
                  <c:v>2018</c:v>
                </c:pt>
                <c:pt idx="49">
                  <c:v>2019</c:v>
                </c:pt>
                <c:pt idx="50">
                  <c:v>2020</c:v>
                </c:pt>
                <c:pt idx="51">
                  <c:v>2021</c:v>
                </c:pt>
                <c:pt idx="52">
                  <c:v>2022</c:v>
                </c:pt>
                <c:pt idx="53">
                  <c:v>2023</c:v>
                </c:pt>
              </c:numCache>
            </c:numRef>
          </c:cat>
          <c:val>
            <c:numRef>
              <c:f>Sheet1!$B$4:$BC$4</c:f>
              <c:numCache>
                <c:formatCode>#,##0.0</c:formatCode>
                <c:ptCount val="54"/>
                <c:pt idx="0">
                  <c:v>0.1</c:v>
                </c:pt>
                <c:pt idx="1">
                  <c:v>0.4</c:v>
                </c:pt>
                <c:pt idx="2">
                  <c:v>2.2999999999999998</c:v>
                </c:pt>
                <c:pt idx="3">
                  <c:v>4.7</c:v>
                </c:pt>
                <c:pt idx="4">
                  <c:v>1.1000000000000001</c:v>
                </c:pt>
                <c:pt idx="5">
                  <c:v>-1.9</c:v>
                </c:pt>
                <c:pt idx="6">
                  <c:v>0.4</c:v>
                </c:pt>
                <c:pt idx="7">
                  <c:v>1.7</c:v>
                </c:pt>
                <c:pt idx="8">
                  <c:v>3.7</c:v>
                </c:pt>
                <c:pt idx="9">
                  <c:v>3.5</c:v>
                </c:pt>
                <c:pt idx="10">
                  <c:v>0.3</c:v>
                </c:pt>
                <c:pt idx="11">
                  <c:v>-0.2</c:v>
                </c:pt>
                <c:pt idx="12">
                  <c:v>-4.8000000000000007</c:v>
                </c:pt>
                <c:pt idx="13">
                  <c:v>-3.4000000000000008</c:v>
                </c:pt>
                <c:pt idx="14">
                  <c:v>0</c:v>
                </c:pt>
                <c:pt idx="15">
                  <c:v>0.4</c:v>
                </c:pt>
                <c:pt idx="16">
                  <c:v>0.2</c:v>
                </c:pt>
                <c:pt idx="17">
                  <c:v>0.3</c:v>
                </c:pt>
                <c:pt idx="18">
                  <c:v>1.2</c:v>
                </c:pt>
                <c:pt idx="19">
                  <c:v>1.9</c:v>
                </c:pt>
                <c:pt idx="20">
                  <c:v>1</c:v>
                </c:pt>
                <c:pt idx="21">
                  <c:v>-1.6</c:v>
                </c:pt>
                <c:pt idx="22">
                  <c:v>-0.9</c:v>
                </c:pt>
                <c:pt idx="23">
                  <c:v>-1</c:v>
                </c:pt>
                <c:pt idx="24">
                  <c:v>-0.1</c:v>
                </c:pt>
                <c:pt idx="25">
                  <c:v>-0.70000000000000018</c:v>
                </c:pt>
                <c:pt idx="26">
                  <c:v>-0.5</c:v>
                </c:pt>
                <c:pt idx="27">
                  <c:v>0.2</c:v>
                </c:pt>
                <c:pt idx="28">
                  <c:v>0.8</c:v>
                </c:pt>
                <c:pt idx="29">
                  <c:v>1.7</c:v>
                </c:pt>
                <c:pt idx="30">
                  <c:v>2.2999999999999998</c:v>
                </c:pt>
                <c:pt idx="31">
                  <c:v>0.2</c:v>
                </c:pt>
                <c:pt idx="32">
                  <c:v>-0.8</c:v>
                </c:pt>
                <c:pt idx="33">
                  <c:v>-0.60000000000000009</c:v>
                </c:pt>
                <c:pt idx="34">
                  <c:v>0.5</c:v>
                </c:pt>
                <c:pt idx="35">
                  <c:v>1.2</c:v>
                </c:pt>
                <c:pt idx="36">
                  <c:v>1.5</c:v>
                </c:pt>
                <c:pt idx="37">
                  <c:v>1.3</c:v>
                </c:pt>
                <c:pt idx="38">
                  <c:v>-0.2</c:v>
                </c:pt>
                <c:pt idx="39">
                  <c:v>-3.9000000000000008</c:v>
                </c:pt>
                <c:pt idx="40">
                  <c:v>-2.5</c:v>
                </c:pt>
                <c:pt idx="41">
                  <c:v>-2.2000000000000002</c:v>
                </c:pt>
                <c:pt idx="42">
                  <c:v>-1.4</c:v>
                </c:pt>
                <c:pt idx="43">
                  <c:v>-1.1000000000000001</c:v>
                </c:pt>
                <c:pt idx="44">
                  <c:v>-0.60000000000000009</c:v>
                </c:pt>
                <c:pt idx="45">
                  <c:v>0.2</c:v>
                </c:pt>
                <c:pt idx="46">
                  <c:v>0</c:v>
                </c:pt>
                <c:pt idx="47">
                  <c:v>0.3</c:v>
                </c:pt>
                <c:pt idx="48">
                  <c:v>1.3</c:v>
                </c:pt>
                <c:pt idx="49">
                  <c:v>1.6</c:v>
                </c:pt>
                <c:pt idx="50">
                  <c:v>-4.0999999999999996</c:v>
                </c:pt>
                <c:pt idx="51">
                  <c:v>-0.6</c:v>
                </c:pt>
                <c:pt idx="52">
                  <c:v>1.5</c:v>
                </c:pt>
                <c:pt idx="53">
                  <c:v>1.7</c:v>
                </c:pt>
              </c:numCache>
            </c:numRef>
          </c:val>
          <c:smooth val="0"/>
          <c:extLst>
            <c:ext xmlns:c16="http://schemas.microsoft.com/office/drawing/2014/chart" uri="{C3380CC4-5D6E-409C-BE32-E72D297353CC}">
              <c16:uniqueId val="{00000002-CAC8-47B1-AD87-AF3B9C1667B6}"/>
            </c:ext>
          </c:extLst>
        </c:ser>
        <c:ser>
          <c:idx val="0"/>
          <c:order val="3"/>
          <c:tx>
            <c:strRef>
              <c:f>Sheet1!$A$5</c:f>
              <c:strCache>
                <c:ptCount val="1"/>
                <c:pt idx="0">
                  <c:v>Germany</c:v>
                </c:pt>
              </c:strCache>
            </c:strRef>
          </c:tx>
          <c:spPr>
            <a:ln w="31296">
              <a:solidFill>
                <a:srgbClr val="333333"/>
              </a:solidFill>
              <a:prstDash val="solid"/>
            </a:ln>
          </c:spPr>
          <c:marker>
            <c:symbol val="none"/>
          </c:marker>
          <c:cat>
            <c:numRef>
              <c:f>Sheet1!$B$1:$BC$1</c:f>
              <c:numCache>
                <c:formatCode>General</c:formatCode>
                <c:ptCount val="54"/>
                <c:pt idx="0">
                  <c:v>1970</c:v>
                </c:pt>
                <c:pt idx="1">
                  <c:v>1971</c:v>
                </c:pt>
                <c:pt idx="2">
                  <c:v>1972</c:v>
                </c:pt>
                <c:pt idx="3">
                  <c:v>1973</c:v>
                </c:pt>
                <c:pt idx="4">
                  <c:v>1974</c:v>
                </c:pt>
                <c:pt idx="5">
                  <c:v>1975</c:v>
                </c:pt>
                <c:pt idx="6">
                  <c:v>1976</c:v>
                </c:pt>
                <c:pt idx="7">
                  <c:v>1977</c:v>
                </c:pt>
                <c:pt idx="8">
                  <c:v>1978</c:v>
                </c:pt>
                <c:pt idx="9">
                  <c:v>1979</c:v>
                </c:pt>
                <c:pt idx="10">
                  <c:v>1980</c:v>
                </c:pt>
                <c:pt idx="11">
                  <c:v>1981</c:v>
                </c:pt>
                <c:pt idx="12">
                  <c:v>1982</c:v>
                </c:pt>
                <c:pt idx="13">
                  <c:v>1983</c:v>
                </c:pt>
                <c:pt idx="14">
                  <c:v>1984</c:v>
                </c:pt>
                <c:pt idx="15">
                  <c:v>1985</c:v>
                </c:pt>
                <c:pt idx="16">
                  <c:v>1986</c:v>
                </c:pt>
                <c:pt idx="17">
                  <c:v>1987</c:v>
                </c:pt>
                <c:pt idx="18">
                  <c:v>1988</c:v>
                </c:pt>
                <c:pt idx="19">
                  <c:v>1989</c:v>
                </c:pt>
                <c:pt idx="20">
                  <c:v>1990</c:v>
                </c:pt>
                <c:pt idx="21">
                  <c:v>1991</c:v>
                </c:pt>
                <c:pt idx="22">
                  <c:v>1992</c:v>
                </c:pt>
                <c:pt idx="23">
                  <c:v>1993</c:v>
                </c:pt>
                <c:pt idx="24">
                  <c:v>1994</c:v>
                </c:pt>
                <c:pt idx="25">
                  <c:v>1995</c:v>
                </c:pt>
                <c:pt idx="26">
                  <c:v>1996</c:v>
                </c:pt>
                <c:pt idx="27">
                  <c:v>1997</c:v>
                </c:pt>
                <c:pt idx="28">
                  <c:v>1998</c:v>
                </c:pt>
                <c:pt idx="29">
                  <c:v>1999</c:v>
                </c:pt>
                <c:pt idx="30">
                  <c:v>2000</c:v>
                </c:pt>
                <c:pt idx="31">
                  <c:v>2001</c:v>
                </c:pt>
                <c:pt idx="32">
                  <c:v>2002</c:v>
                </c:pt>
                <c:pt idx="33">
                  <c:v>2003</c:v>
                </c:pt>
                <c:pt idx="34">
                  <c:v>2004</c:v>
                </c:pt>
                <c:pt idx="35">
                  <c:v>2005</c:v>
                </c:pt>
                <c:pt idx="36">
                  <c:v>2006</c:v>
                </c:pt>
                <c:pt idx="37">
                  <c:v>2007</c:v>
                </c:pt>
                <c:pt idx="38">
                  <c:v>2008</c:v>
                </c:pt>
                <c:pt idx="39">
                  <c:v>2009</c:v>
                </c:pt>
                <c:pt idx="40">
                  <c:v>2010</c:v>
                </c:pt>
                <c:pt idx="41">
                  <c:v>2011</c:v>
                </c:pt>
                <c:pt idx="42">
                  <c:v>2012</c:v>
                </c:pt>
                <c:pt idx="43">
                  <c:v>2013</c:v>
                </c:pt>
                <c:pt idx="44">
                  <c:v>2014</c:v>
                </c:pt>
                <c:pt idx="45">
                  <c:v>2015</c:v>
                </c:pt>
                <c:pt idx="46">
                  <c:v>2016</c:v>
                </c:pt>
                <c:pt idx="47">
                  <c:v>2017</c:v>
                </c:pt>
                <c:pt idx="48">
                  <c:v>2018</c:v>
                </c:pt>
                <c:pt idx="49">
                  <c:v>2019</c:v>
                </c:pt>
                <c:pt idx="50">
                  <c:v>2020</c:v>
                </c:pt>
                <c:pt idx="51">
                  <c:v>2021</c:v>
                </c:pt>
                <c:pt idx="52">
                  <c:v>2022</c:v>
                </c:pt>
                <c:pt idx="53">
                  <c:v>2023</c:v>
                </c:pt>
              </c:numCache>
            </c:numRef>
          </c:cat>
          <c:val>
            <c:numRef>
              <c:f>Sheet1!$B$5:$BC$5</c:f>
              <c:numCache>
                <c:formatCode>#,##0.0</c:formatCode>
                <c:ptCount val="54"/>
                <c:pt idx="0">
                  <c:v>1.9</c:v>
                </c:pt>
                <c:pt idx="1">
                  <c:v>1.1000000000000001</c:v>
                </c:pt>
                <c:pt idx="2">
                  <c:v>1.4</c:v>
                </c:pt>
                <c:pt idx="3">
                  <c:v>2.5</c:v>
                </c:pt>
                <c:pt idx="4">
                  <c:v>0.60000000000000009</c:v>
                </c:pt>
                <c:pt idx="5">
                  <c:v>-2.4</c:v>
                </c:pt>
                <c:pt idx="6">
                  <c:v>0.2</c:v>
                </c:pt>
                <c:pt idx="7">
                  <c:v>1.1000000000000001</c:v>
                </c:pt>
                <c:pt idx="8">
                  <c:v>1.7</c:v>
                </c:pt>
                <c:pt idx="9">
                  <c:v>3.2</c:v>
                </c:pt>
                <c:pt idx="10">
                  <c:v>2</c:v>
                </c:pt>
                <c:pt idx="11">
                  <c:v>0.5</c:v>
                </c:pt>
                <c:pt idx="12">
                  <c:v>-1.6</c:v>
                </c:pt>
                <c:pt idx="13">
                  <c:v>-1.9</c:v>
                </c:pt>
                <c:pt idx="14">
                  <c:v>-1</c:v>
                </c:pt>
                <c:pt idx="15">
                  <c:v>-0.70000000000000018</c:v>
                </c:pt>
                <c:pt idx="16">
                  <c:v>-0.8</c:v>
                </c:pt>
                <c:pt idx="17">
                  <c:v>-1.8</c:v>
                </c:pt>
                <c:pt idx="18">
                  <c:v>-0.70000000000000018</c:v>
                </c:pt>
                <c:pt idx="19">
                  <c:v>0.2</c:v>
                </c:pt>
                <c:pt idx="20">
                  <c:v>2.2000000000000002</c:v>
                </c:pt>
                <c:pt idx="21">
                  <c:v>4.1000000000000014</c:v>
                </c:pt>
                <c:pt idx="22">
                  <c:v>2.8</c:v>
                </c:pt>
                <c:pt idx="23">
                  <c:v>-0.70000000000000018</c:v>
                </c:pt>
                <c:pt idx="24">
                  <c:v>-0.4</c:v>
                </c:pt>
                <c:pt idx="25">
                  <c:v>-0.5</c:v>
                </c:pt>
                <c:pt idx="26">
                  <c:v>-1.1000000000000001</c:v>
                </c:pt>
                <c:pt idx="27">
                  <c:v>-0.70000000000000018</c:v>
                </c:pt>
                <c:pt idx="28">
                  <c:v>-0.1</c:v>
                </c:pt>
                <c:pt idx="29">
                  <c:v>0.3</c:v>
                </c:pt>
                <c:pt idx="30">
                  <c:v>1.6</c:v>
                </c:pt>
                <c:pt idx="31">
                  <c:v>1.8</c:v>
                </c:pt>
                <c:pt idx="32">
                  <c:v>0.3</c:v>
                </c:pt>
                <c:pt idx="33">
                  <c:v>-1.6</c:v>
                </c:pt>
                <c:pt idx="34">
                  <c:v>-1.6</c:v>
                </c:pt>
                <c:pt idx="35">
                  <c:v>-2</c:v>
                </c:pt>
                <c:pt idx="36">
                  <c:v>0.3</c:v>
                </c:pt>
                <c:pt idx="37">
                  <c:v>1.9</c:v>
                </c:pt>
                <c:pt idx="38">
                  <c:v>1.6</c:v>
                </c:pt>
                <c:pt idx="39">
                  <c:v>-4.9000000000000004</c:v>
                </c:pt>
                <c:pt idx="40">
                  <c:v>-2</c:v>
                </c:pt>
                <c:pt idx="41">
                  <c:v>1</c:v>
                </c:pt>
                <c:pt idx="42">
                  <c:v>0.5</c:v>
                </c:pt>
                <c:pt idx="43">
                  <c:v>-0.60000000000000009</c:v>
                </c:pt>
                <c:pt idx="44">
                  <c:v>0</c:v>
                </c:pt>
                <c:pt idx="45">
                  <c:v>-0.3</c:v>
                </c:pt>
                <c:pt idx="46">
                  <c:v>0.3</c:v>
                </c:pt>
                <c:pt idx="47">
                  <c:v>1.5</c:v>
                </c:pt>
                <c:pt idx="48">
                  <c:v>1.3</c:v>
                </c:pt>
                <c:pt idx="49">
                  <c:v>1.2</c:v>
                </c:pt>
                <c:pt idx="50">
                  <c:v>-4.4000000000000004</c:v>
                </c:pt>
                <c:pt idx="51">
                  <c:v>-2.9</c:v>
                </c:pt>
                <c:pt idx="52">
                  <c:v>0.2</c:v>
                </c:pt>
                <c:pt idx="53">
                  <c:v>0.5</c:v>
                </c:pt>
              </c:numCache>
            </c:numRef>
          </c:val>
          <c:smooth val="0"/>
          <c:extLst>
            <c:ext xmlns:c16="http://schemas.microsoft.com/office/drawing/2014/chart" uri="{C3380CC4-5D6E-409C-BE32-E72D297353CC}">
              <c16:uniqueId val="{00000003-CAC8-47B1-AD87-AF3B9C1667B6}"/>
            </c:ext>
          </c:extLst>
        </c:ser>
        <c:ser>
          <c:idx val="8"/>
          <c:order val="4"/>
          <c:tx>
            <c:strRef>
              <c:f>Sheet1!$A$6</c:f>
              <c:strCache>
                <c:ptCount val="1"/>
                <c:pt idx="0">
                  <c:v>France</c:v>
                </c:pt>
              </c:strCache>
            </c:strRef>
          </c:tx>
          <c:spPr>
            <a:ln w="31296">
              <a:solidFill>
                <a:srgbClr val="0000FF"/>
              </a:solidFill>
              <a:prstDash val="solid"/>
            </a:ln>
          </c:spPr>
          <c:marker>
            <c:symbol val="none"/>
          </c:marker>
          <c:cat>
            <c:numRef>
              <c:f>Sheet1!$B$1:$BC$1</c:f>
              <c:numCache>
                <c:formatCode>General</c:formatCode>
                <c:ptCount val="54"/>
                <c:pt idx="0">
                  <c:v>1970</c:v>
                </c:pt>
                <c:pt idx="1">
                  <c:v>1971</c:v>
                </c:pt>
                <c:pt idx="2">
                  <c:v>1972</c:v>
                </c:pt>
                <c:pt idx="3">
                  <c:v>1973</c:v>
                </c:pt>
                <c:pt idx="4">
                  <c:v>1974</c:v>
                </c:pt>
                <c:pt idx="5">
                  <c:v>1975</c:v>
                </c:pt>
                <c:pt idx="6">
                  <c:v>1976</c:v>
                </c:pt>
                <c:pt idx="7">
                  <c:v>1977</c:v>
                </c:pt>
                <c:pt idx="8">
                  <c:v>1978</c:v>
                </c:pt>
                <c:pt idx="9">
                  <c:v>1979</c:v>
                </c:pt>
                <c:pt idx="10">
                  <c:v>1980</c:v>
                </c:pt>
                <c:pt idx="11">
                  <c:v>1981</c:v>
                </c:pt>
                <c:pt idx="12">
                  <c:v>1982</c:v>
                </c:pt>
                <c:pt idx="13">
                  <c:v>1983</c:v>
                </c:pt>
                <c:pt idx="14">
                  <c:v>1984</c:v>
                </c:pt>
                <c:pt idx="15">
                  <c:v>1985</c:v>
                </c:pt>
                <c:pt idx="16">
                  <c:v>1986</c:v>
                </c:pt>
                <c:pt idx="17">
                  <c:v>1987</c:v>
                </c:pt>
                <c:pt idx="18">
                  <c:v>1988</c:v>
                </c:pt>
                <c:pt idx="19">
                  <c:v>1989</c:v>
                </c:pt>
                <c:pt idx="20">
                  <c:v>1990</c:v>
                </c:pt>
                <c:pt idx="21">
                  <c:v>1991</c:v>
                </c:pt>
                <c:pt idx="22">
                  <c:v>1992</c:v>
                </c:pt>
                <c:pt idx="23">
                  <c:v>1993</c:v>
                </c:pt>
                <c:pt idx="24">
                  <c:v>1994</c:v>
                </c:pt>
                <c:pt idx="25">
                  <c:v>1995</c:v>
                </c:pt>
                <c:pt idx="26">
                  <c:v>1996</c:v>
                </c:pt>
                <c:pt idx="27">
                  <c:v>1997</c:v>
                </c:pt>
                <c:pt idx="28">
                  <c:v>1998</c:v>
                </c:pt>
                <c:pt idx="29">
                  <c:v>1999</c:v>
                </c:pt>
                <c:pt idx="30">
                  <c:v>2000</c:v>
                </c:pt>
                <c:pt idx="31">
                  <c:v>2001</c:v>
                </c:pt>
                <c:pt idx="32">
                  <c:v>2002</c:v>
                </c:pt>
                <c:pt idx="33">
                  <c:v>2003</c:v>
                </c:pt>
                <c:pt idx="34">
                  <c:v>2004</c:v>
                </c:pt>
                <c:pt idx="35">
                  <c:v>2005</c:v>
                </c:pt>
                <c:pt idx="36">
                  <c:v>2006</c:v>
                </c:pt>
                <c:pt idx="37">
                  <c:v>2007</c:v>
                </c:pt>
                <c:pt idx="38">
                  <c:v>2008</c:v>
                </c:pt>
                <c:pt idx="39">
                  <c:v>2009</c:v>
                </c:pt>
                <c:pt idx="40">
                  <c:v>2010</c:v>
                </c:pt>
                <c:pt idx="41">
                  <c:v>2011</c:v>
                </c:pt>
                <c:pt idx="42">
                  <c:v>2012</c:v>
                </c:pt>
                <c:pt idx="43">
                  <c:v>2013</c:v>
                </c:pt>
                <c:pt idx="44">
                  <c:v>2014</c:v>
                </c:pt>
                <c:pt idx="45">
                  <c:v>2015</c:v>
                </c:pt>
                <c:pt idx="46">
                  <c:v>2016</c:v>
                </c:pt>
                <c:pt idx="47">
                  <c:v>2017</c:v>
                </c:pt>
                <c:pt idx="48">
                  <c:v>2018</c:v>
                </c:pt>
                <c:pt idx="49">
                  <c:v>2019</c:v>
                </c:pt>
                <c:pt idx="50">
                  <c:v>2020</c:v>
                </c:pt>
                <c:pt idx="51">
                  <c:v>2021</c:v>
                </c:pt>
                <c:pt idx="52">
                  <c:v>2022</c:v>
                </c:pt>
                <c:pt idx="53">
                  <c:v>2023</c:v>
                </c:pt>
              </c:numCache>
            </c:numRef>
          </c:cat>
          <c:val>
            <c:numRef>
              <c:f>Sheet1!$B$6:$BC$6</c:f>
              <c:numCache>
                <c:formatCode>#,##0.0</c:formatCode>
                <c:ptCount val="54"/>
                <c:pt idx="0">
                  <c:v>1.2</c:v>
                </c:pt>
                <c:pt idx="1">
                  <c:v>1.5</c:v>
                </c:pt>
                <c:pt idx="2">
                  <c:v>1.3</c:v>
                </c:pt>
                <c:pt idx="3">
                  <c:v>3</c:v>
                </c:pt>
                <c:pt idx="4">
                  <c:v>3</c:v>
                </c:pt>
                <c:pt idx="5">
                  <c:v>-1.7</c:v>
                </c:pt>
                <c:pt idx="6">
                  <c:v>-1</c:v>
                </c:pt>
                <c:pt idx="7">
                  <c:v>-0.9</c:v>
                </c:pt>
                <c:pt idx="8">
                  <c:v>-0.1</c:v>
                </c:pt>
                <c:pt idx="9">
                  <c:v>0.5</c:v>
                </c:pt>
                <c:pt idx="10">
                  <c:v>-0.60000000000000009</c:v>
                </c:pt>
                <c:pt idx="11">
                  <c:v>-1.5</c:v>
                </c:pt>
                <c:pt idx="12">
                  <c:v>-0.70000000000000018</c:v>
                </c:pt>
                <c:pt idx="13">
                  <c:v>-1</c:v>
                </c:pt>
                <c:pt idx="14">
                  <c:v>-0.9</c:v>
                </c:pt>
                <c:pt idx="15">
                  <c:v>-1</c:v>
                </c:pt>
                <c:pt idx="16">
                  <c:v>-0.8</c:v>
                </c:pt>
                <c:pt idx="17">
                  <c:v>-0.70000000000000018</c:v>
                </c:pt>
                <c:pt idx="18">
                  <c:v>1.2</c:v>
                </c:pt>
                <c:pt idx="19">
                  <c:v>2.7</c:v>
                </c:pt>
                <c:pt idx="20">
                  <c:v>2.8</c:v>
                </c:pt>
                <c:pt idx="21">
                  <c:v>1.3</c:v>
                </c:pt>
                <c:pt idx="22">
                  <c:v>0.4</c:v>
                </c:pt>
                <c:pt idx="23">
                  <c:v>-2.2999999999999998</c:v>
                </c:pt>
                <c:pt idx="24">
                  <c:v>-2</c:v>
                </c:pt>
                <c:pt idx="25">
                  <c:v>-1.9</c:v>
                </c:pt>
                <c:pt idx="26">
                  <c:v>-2.5</c:v>
                </c:pt>
                <c:pt idx="27">
                  <c:v>-2.2000000000000002</c:v>
                </c:pt>
                <c:pt idx="28">
                  <c:v>-0.8</c:v>
                </c:pt>
                <c:pt idx="29">
                  <c:v>0.5</c:v>
                </c:pt>
                <c:pt idx="30">
                  <c:v>2.2000000000000002</c:v>
                </c:pt>
                <c:pt idx="31">
                  <c:v>2.2000000000000002</c:v>
                </c:pt>
                <c:pt idx="32">
                  <c:v>1.5</c:v>
                </c:pt>
                <c:pt idx="33">
                  <c:v>0.5</c:v>
                </c:pt>
                <c:pt idx="34">
                  <c:v>1.5</c:v>
                </c:pt>
                <c:pt idx="35">
                  <c:v>1.3</c:v>
                </c:pt>
                <c:pt idx="36">
                  <c:v>2</c:v>
                </c:pt>
                <c:pt idx="37">
                  <c:v>2.6</c:v>
                </c:pt>
                <c:pt idx="38">
                  <c:v>1.3</c:v>
                </c:pt>
                <c:pt idx="39">
                  <c:v>-2.7</c:v>
                </c:pt>
                <c:pt idx="40">
                  <c:v>-1.9</c:v>
                </c:pt>
                <c:pt idx="41">
                  <c:v>-0.8</c:v>
                </c:pt>
                <c:pt idx="42">
                  <c:v>-1.5</c:v>
                </c:pt>
                <c:pt idx="43">
                  <c:v>-2</c:v>
                </c:pt>
                <c:pt idx="44">
                  <c:v>-1.9</c:v>
                </c:pt>
                <c:pt idx="45">
                  <c:v>-1.7</c:v>
                </c:pt>
                <c:pt idx="46">
                  <c:v>-1.4</c:v>
                </c:pt>
                <c:pt idx="47">
                  <c:v>-0.1</c:v>
                </c:pt>
                <c:pt idx="48">
                  <c:v>0.9</c:v>
                </c:pt>
                <c:pt idx="49">
                  <c:v>1.8</c:v>
                </c:pt>
                <c:pt idx="50">
                  <c:v>-7</c:v>
                </c:pt>
                <c:pt idx="51">
                  <c:v>-2.1</c:v>
                </c:pt>
                <c:pt idx="52">
                  <c:v>0.1</c:v>
                </c:pt>
                <c:pt idx="53">
                  <c:v>0.8</c:v>
                </c:pt>
              </c:numCache>
            </c:numRef>
          </c:val>
          <c:smooth val="0"/>
          <c:extLst>
            <c:ext xmlns:c16="http://schemas.microsoft.com/office/drawing/2014/chart" uri="{C3380CC4-5D6E-409C-BE32-E72D297353CC}">
              <c16:uniqueId val="{00000004-CAC8-47B1-AD87-AF3B9C1667B6}"/>
            </c:ext>
          </c:extLst>
        </c:ser>
        <c:ser>
          <c:idx val="9"/>
          <c:order val="5"/>
          <c:tx>
            <c:strRef>
              <c:f>Sheet1!$A$7</c:f>
              <c:strCache>
                <c:ptCount val="1"/>
                <c:pt idx="0">
                  <c:v>Ireland</c:v>
                </c:pt>
              </c:strCache>
            </c:strRef>
          </c:tx>
          <c:spPr>
            <a:ln w="31296">
              <a:solidFill>
                <a:srgbClr val="008000"/>
              </a:solidFill>
              <a:prstDash val="solid"/>
            </a:ln>
          </c:spPr>
          <c:marker>
            <c:symbol val="none"/>
          </c:marker>
          <c:cat>
            <c:numRef>
              <c:f>Sheet1!$B$1:$BC$1</c:f>
              <c:numCache>
                <c:formatCode>General</c:formatCode>
                <c:ptCount val="54"/>
                <c:pt idx="0">
                  <c:v>1970</c:v>
                </c:pt>
                <c:pt idx="1">
                  <c:v>1971</c:v>
                </c:pt>
                <c:pt idx="2">
                  <c:v>1972</c:v>
                </c:pt>
                <c:pt idx="3">
                  <c:v>1973</c:v>
                </c:pt>
                <c:pt idx="4">
                  <c:v>1974</c:v>
                </c:pt>
                <c:pt idx="5">
                  <c:v>1975</c:v>
                </c:pt>
                <c:pt idx="6">
                  <c:v>1976</c:v>
                </c:pt>
                <c:pt idx="7">
                  <c:v>1977</c:v>
                </c:pt>
                <c:pt idx="8">
                  <c:v>1978</c:v>
                </c:pt>
                <c:pt idx="9">
                  <c:v>1979</c:v>
                </c:pt>
                <c:pt idx="10">
                  <c:v>1980</c:v>
                </c:pt>
                <c:pt idx="11">
                  <c:v>1981</c:v>
                </c:pt>
                <c:pt idx="12">
                  <c:v>1982</c:v>
                </c:pt>
                <c:pt idx="13">
                  <c:v>1983</c:v>
                </c:pt>
                <c:pt idx="14">
                  <c:v>1984</c:v>
                </c:pt>
                <c:pt idx="15">
                  <c:v>1985</c:v>
                </c:pt>
                <c:pt idx="16">
                  <c:v>1986</c:v>
                </c:pt>
                <c:pt idx="17">
                  <c:v>1987</c:v>
                </c:pt>
                <c:pt idx="18">
                  <c:v>1988</c:v>
                </c:pt>
                <c:pt idx="19">
                  <c:v>1989</c:v>
                </c:pt>
                <c:pt idx="20">
                  <c:v>1990</c:v>
                </c:pt>
                <c:pt idx="21">
                  <c:v>1991</c:v>
                </c:pt>
                <c:pt idx="22">
                  <c:v>1992</c:v>
                </c:pt>
                <c:pt idx="23">
                  <c:v>1993</c:v>
                </c:pt>
                <c:pt idx="24">
                  <c:v>1994</c:v>
                </c:pt>
                <c:pt idx="25">
                  <c:v>1995</c:v>
                </c:pt>
                <c:pt idx="26">
                  <c:v>1996</c:v>
                </c:pt>
                <c:pt idx="27">
                  <c:v>1997</c:v>
                </c:pt>
                <c:pt idx="28">
                  <c:v>1998</c:v>
                </c:pt>
                <c:pt idx="29">
                  <c:v>1999</c:v>
                </c:pt>
                <c:pt idx="30">
                  <c:v>2000</c:v>
                </c:pt>
                <c:pt idx="31">
                  <c:v>2001</c:v>
                </c:pt>
                <c:pt idx="32">
                  <c:v>2002</c:v>
                </c:pt>
                <c:pt idx="33">
                  <c:v>2003</c:v>
                </c:pt>
                <c:pt idx="34">
                  <c:v>2004</c:v>
                </c:pt>
                <c:pt idx="35">
                  <c:v>2005</c:v>
                </c:pt>
                <c:pt idx="36">
                  <c:v>2006</c:v>
                </c:pt>
                <c:pt idx="37">
                  <c:v>2007</c:v>
                </c:pt>
                <c:pt idx="38">
                  <c:v>2008</c:v>
                </c:pt>
                <c:pt idx="39">
                  <c:v>2009</c:v>
                </c:pt>
                <c:pt idx="40">
                  <c:v>2010</c:v>
                </c:pt>
                <c:pt idx="41">
                  <c:v>2011</c:v>
                </c:pt>
                <c:pt idx="42">
                  <c:v>2012</c:v>
                </c:pt>
                <c:pt idx="43">
                  <c:v>2013</c:v>
                </c:pt>
                <c:pt idx="44">
                  <c:v>2014</c:v>
                </c:pt>
                <c:pt idx="45">
                  <c:v>2015</c:v>
                </c:pt>
                <c:pt idx="46">
                  <c:v>2016</c:v>
                </c:pt>
                <c:pt idx="47">
                  <c:v>2017</c:v>
                </c:pt>
                <c:pt idx="48">
                  <c:v>2018</c:v>
                </c:pt>
                <c:pt idx="49">
                  <c:v>2019</c:v>
                </c:pt>
                <c:pt idx="50">
                  <c:v>2020</c:v>
                </c:pt>
                <c:pt idx="51">
                  <c:v>2021</c:v>
                </c:pt>
                <c:pt idx="52">
                  <c:v>2022</c:v>
                </c:pt>
                <c:pt idx="53">
                  <c:v>2023</c:v>
                </c:pt>
              </c:numCache>
            </c:numRef>
          </c:cat>
          <c:val>
            <c:numRef>
              <c:f>Sheet1!$B$7:$BC$7</c:f>
              <c:numCache>
                <c:formatCode>#,##0.0</c:formatCode>
                <c:ptCount val="54"/>
                <c:pt idx="0">
                  <c:v>-0.70000000000000018</c:v>
                </c:pt>
                <c:pt idx="1">
                  <c:v>-2</c:v>
                </c:pt>
                <c:pt idx="2">
                  <c:v>-0.60000000000000009</c:v>
                </c:pt>
                <c:pt idx="3">
                  <c:v>-1.1000000000000001</c:v>
                </c:pt>
                <c:pt idx="4">
                  <c:v>-1.4</c:v>
                </c:pt>
                <c:pt idx="5">
                  <c:v>-0.3</c:v>
                </c:pt>
                <c:pt idx="6">
                  <c:v>-3.3</c:v>
                </c:pt>
                <c:pt idx="7">
                  <c:v>0.2</c:v>
                </c:pt>
                <c:pt idx="8">
                  <c:v>2.7</c:v>
                </c:pt>
                <c:pt idx="9">
                  <c:v>1.2</c:v>
                </c:pt>
                <c:pt idx="10">
                  <c:v>0.60000000000000009</c:v>
                </c:pt>
                <c:pt idx="11">
                  <c:v>0</c:v>
                </c:pt>
                <c:pt idx="12">
                  <c:v>-1</c:v>
                </c:pt>
                <c:pt idx="13">
                  <c:v>-4.1000000000000014</c:v>
                </c:pt>
                <c:pt idx="14">
                  <c:v>-3.2</c:v>
                </c:pt>
                <c:pt idx="15">
                  <c:v>-3.2</c:v>
                </c:pt>
                <c:pt idx="16">
                  <c:v>-5.3000000000000007</c:v>
                </c:pt>
                <c:pt idx="17">
                  <c:v>-3.6</c:v>
                </c:pt>
                <c:pt idx="18">
                  <c:v>-2.2999999999999998</c:v>
                </c:pt>
                <c:pt idx="19">
                  <c:v>0.2</c:v>
                </c:pt>
                <c:pt idx="20">
                  <c:v>3.6</c:v>
                </c:pt>
                <c:pt idx="21">
                  <c:v>1.2</c:v>
                </c:pt>
                <c:pt idx="22">
                  <c:v>0.1</c:v>
                </c:pt>
                <c:pt idx="23">
                  <c:v>-1.9</c:v>
                </c:pt>
                <c:pt idx="24">
                  <c:v>-1.8</c:v>
                </c:pt>
                <c:pt idx="25">
                  <c:v>1</c:v>
                </c:pt>
                <c:pt idx="26">
                  <c:v>0.5</c:v>
                </c:pt>
                <c:pt idx="27">
                  <c:v>2.5</c:v>
                </c:pt>
                <c:pt idx="28">
                  <c:v>2.2999999999999998</c:v>
                </c:pt>
                <c:pt idx="29">
                  <c:v>3.9000000000000008</c:v>
                </c:pt>
                <c:pt idx="30">
                  <c:v>4.8000000000000007</c:v>
                </c:pt>
                <c:pt idx="31">
                  <c:v>2.5</c:v>
                </c:pt>
                <c:pt idx="32">
                  <c:v>1.5</c:v>
                </c:pt>
                <c:pt idx="33">
                  <c:v>-1.1000000000000001</c:v>
                </c:pt>
                <c:pt idx="34">
                  <c:v>0.2</c:v>
                </c:pt>
                <c:pt idx="35">
                  <c:v>1</c:v>
                </c:pt>
                <c:pt idx="36">
                  <c:v>1.7</c:v>
                </c:pt>
                <c:pt idx="37">
                  <c:v>3.8</c:v>
                </c:pt>
                <c:pt idx="38">
                  <c:v>-1.7</c:v>
                </c:pt>
                <c:pt idx="39">
                  <c:v>-5.9</c:v>
                </c:pt>
                <c:pt idx="40">
                  <c:v>-3.2</c:v>
                </c:pt>
                <c:pt idx="41">
                  <c:v>-1.5</c:v>
                </c:pt>
                <c:pt idx="42">
                  <c:v>-2.2000000000000002</c:v>
                </c:pt>
                <c:pt idx="43">
                  <c:v>-2.6</c:v>
                </c:pt>
                <c:pt idx="44">
                  <c:v>2.4</c:v>
                </c:pt>
                <c:pt idx="45">
                  <c:v>5.3000000000000007</c:v>
                </c:pt>
                <c:pt idx="46">
                  <c:v>2</c:v>
                </c:pt>
                <c:pt idx="47">
                  <c:v>1.9</c:v>
                </c:pt>
                <c:pt idx="48">
                  <c:v>0.4</c:v>
                </c:pt>
                <c:pt idx="49">
                  <c:v>-3.4</c:v>
                </c:pt>
                <c:pt idx="50">
                  <c:v>-4.8</c:v>
                </c:pt>
                <c:pt idx="51">
                  <c:v>3</c:v>
                </c:pt>
                <c:pt idx="52">
                  <c:v>2.7</c:v>
                </c:pt>
                <c:pt idx="53">
                  <c:v>1.8</c:v>
                </c:pt>
              </c:numCache>
            </c:numRef>
          </c:val>
          <c:smooth val="0"/>
          <c:extLst>
            <c:ext xmlns:c16="http://schemas.microsoft.com/office/drawing/2014/chart" uri="{C3380CC4-5D6E-409C-BE32-E72D297353CC}">
              <c16:uniqueId val="{00000005-CAC8-47B1-AD87-AF3B9C1667B6}"/>
            </c:ext>
          </c:extLst>
        </c:ser>
        <c:dLbls>
          <c:showLegendKey val="0"/>
          <c:showVal val="0"/>
          <c:showCatName val="0"/>
          <c:showSerName val="0"/>
          <c:showPercent val="0"/>
          <c:showBubbleSize val="0"/>
        </c:dLbls>
        <c:smooth val="0"/>
        <c:axId val="247379896"/>
        <c:axId val="1"/>
      </c:lineChart>
      <c:catAx>
        <c:axId val="247379896"/>
        <c:scaling>
          <c:orientation val="minMax"/>
        </c:scaling>
        <c:delete val="0"/>
        <c:axPos val="b"/>
        <c:numFmt formatCode="General" sourceLinked="1"/>
        <c:majorTickMark val="out"/>
        <c:minorTickMark val="none"/>
        <c:tickLblPos val="low"/>
        <c:spPr>
          <a:ln w="15875">
            <a:solidFill>
              <a:schemeClr val="tx1"/>
            </a:solidFill>
            <a:prstDash val="solid"/>
          </a:ln>
        </c:spPr>
        <c:txPr>
          <a:bodyPr rot="0" vert="horz"/>
          <a:lstStyle/>
          <a:p>
            <a:pPr>
              <a:defRPr sz="1910" b="0" i="0" u="none" strike="noStrike" baseline="0">
                <a:solidFill>
                  <a:schemeClr val="tx1"/>
                </a:solidFill>
                <a:latin typeface="Arial"/>
                <a:ea typeface="Arial"/>
                <a:cs typeface="Arial"/>
              </a:defRPr>
            </a:pPr>
            <a:endParaRPr lang="en-US"/>
          </a:p>
        </c:txPr>
        <c:crossAx val="1"/>
        <c:crossesAt val="-9"/>
        <c:auto val="0"/>
        <c:lblAlgn val="ctr"/>
        <c:lblOffset val="100"/>
        <c:tickLblSkip val="5"/>
        <c:tickMarkSkip val="5"/>
        <c:noMultiLvlLbl val="0"/>
      </c:catAx>
      <c:valAx>
        <c:axId val="1"/>
        <c:scaling>
          <c:orientation val="minMax"/>
          <c:max val="6"/>
          <c:min val="-9"/>
        </c:scaling>
        <c:delete val="0"/>
        <c:axPos val="l"/>
        <c:title>
          <c:tx>
            <c:rich>
              <a:bodyPr/>
              <a:lstStyle/>
              <a:p>
                <a:pPr>
                  <a:defRPr sz="1910" b="0" i="0" u="none" strike="noStrike" baseline="0">
                    <a:solidFill>
                      <a:schemeClr val="tx1"/>
                    </a:solidFill>
                    <a:latin typeface="Arial"/>
                    <a:ea typeface="Arial"/>
                    <a:cs typeface="Arial"/>
                  </a:defRPr>
                </a:pPr>
                <a:r>
                  <a:rPr lang="en-GB"/>
                  <a:t>% of potential GDP</a:t>
                </a:r>
              </a:p>
            </c:rich>
          </c:tx>
          <c:layout>
            <c:manualLayout>
              <c:xMode val="edge"/>
              <c:yMode val="edge"/>
              <c:x val="7.6923076923076927E-3"/>
              <c:y val="0.29220714131250558"/>
            </c:manualLayout>
          </c:layout>
          <c:overlay val="0"/>
          <c:spPr>
            <a:noFill/>
            <a:ln w="31296">
              <a:noFill/>
            </a:ln>
          </c:spPr>
        </c:title>
        <c:numFmt formatCode="0_ ;\−0\ " sourceLinked="0"/>
        <c:majorTickMark val="out"/>
        <c:minorTickMark val="none"/>
        <c:tickLblPos val="nextTo"/>
        <c:spPr>
          <a:ln w="15875">
            <a:solidFill>
              <a:schemeClr val="tx1"/>
            </a:solidFill>
            <a:prstDash val="solid"/>
          </a:ln>
        </c:spPr>
        <c:txPr>
          <a:bodyPr rot="0" vert="horz"/>
          <a:lstStyle/>
          <a:p>
            <a:pPr>
              <a:defRPr sz="1910" b="0" i="0" u="none" strike="noStrike" baseline="0">
                <a:solidFill>
                  <a:schemeClr val="tx1"/>
                </a:solidFill>
                <a:latin typeface="Arial"/>
                <a:ea typeface="Arial"/>
                <a:cs typeface="Arial"/>
              </a:defRPr>
            </a:pPr>
            <a:endParaRPr lang="en-US"/>
          </a:p>
        </c:txPr>
        <c:crossAx val="247379896"/>
        <c:crosses val="autoZero"/>
        <c:crossBetween val="midCat"/>
        <c:majorUnit val="1"/>
      </c:valAx>
      <c:spPr>
        <a:noFill/>
        <a:ln w="25400">
          <a:noFill/>
        </a:ln>
      </c:spPr>
    </c:plotArea>
    <c:legend>
      <c:legendPos val="r"/>
      <c:legendEntry>
        <c:idx val="0"/>
        <c:delete val="1"/>
      </c:legendEntry>
      <c:legendEntry>
        <c:idx val="1"/>
        <c:txPr>
          <a:bodyPr/>
          <a:lstStyle/>
          <a:p>
            <a:pPr>
              <a:defRPr sz="1756" b="0" i="0" u="none" strike="noStrike" baseline="0">
                <a:solidFill>
                  <a:srgbClr val="CC0000"/>
                </a:solidFill>
                <a:latin typeface="Arial"/>
                <a:ea typeface="Arial"/>
                <a:cs typeface="Arial"/>
              </a:defRPr>
            </a:pPr>
            <a:endParaRPr lang="en-US"/>
          </a:p>
        </c:txPr>
      </c:legendEntry>
      <c:legendEntry>
        <c:idx val="2"/>
        <c:txPr>
          <a:bodyPr/>
          <a:lstStyle/>
          <a:p>
            <a:pPr>
              <a:defRPr sz="1756" b="0" i="0" u="none" strike="noStrike" baseline="0">
                <a:solidFill>
                  <a:srgbClr val="CC00CC"/>
                </a:solidFill>
                <a:latin typeface="Arial"/>
                <a:ea typeface="Arial"/>
                <a:cs typeface="Arial"/>
              </a:defRPr>
            </a:pPr>
            <a:endParaRPr lang="en-US"/>
          </a:p>
        </c:txPr>
      </c:legendEntry>
      <c:legendEntry>
        <c:idx val="4"/>
        <c:txPr>
          <a:bodyPr/>
          <a:lstStyle/>
          <a:p>
            <a:pPr>
              <a:defRPr sz="1756" b="0" i="0" u="none" strike="noStrike" baseline="0">
                <a:solidFill>
                  <a:srgbClr val="0000FF"/>
                </a:solidFill>
                <a:latin typeface="Arial"/>
                <a:ea typeface="Arial"/>
                <a:cs typeface="Arial"/>
              </a:defRPr>
            </a:pPr>
            <a:endParaRPr lang="en-US"/>
          </a:p>
        </c:txPr>
      </c:legendEntry>
      <c:legendEntry>
        <c:idx val="5"/>
        <c:txPr>
          <a:bodyPr/>
          <a:lstStyle/>
          <a:p>
            <a:pPr>
              <a:defRPr sz="1756" b="0" i="0" u="none" strike="noStrike" baseline="0">
                <a:solidFill>
                  <a:srgbClr val="008000"/>
                </a:solidFill>
                <a:latin typeface="Arial"/>
                <a:ea typeface="Arial"/>
                <a:cs typeface="Arial"/>
              </a:defRPr>
            </a:pPr>
            <a:endParaRPr lang="en-US"/>
          </a:p>
        </c:txPr>
      </c:legendEntry>
      <c:layout>
        <c:manualLayout>
          <c:xMode val="edge"/>
          <c:yMode val="edge"/>
          <c:x val="0.12800878255602666"/>
          <c:y val="0.73218984137483634"/>
          <c:w val="0.33351009489198463"/>
          <c:h val="0.14661476685365865"/>
        </c:manualLayout>
      </c:layout>
      <c:overlay val="0"/>
      <c:spPr>
        <a:solidFill>
          <a:srgbClr val="FFFFD7"/>
        </a:solidFill>
        <a:ln w="15648">
          <a:solidFill>
            <a:srgbClr val="800080"/>
          </a:solidFill>
          <a:prstDash val="solid"/>
        </a:ln>
      </c:spPr>
      <c:txPr>
        <a:bodyPr/>
        <a:lstStyle/>
        <a:p>
          <a:pPr>
            <a:defRPr sz="1756" b="0" i="0" u="none" strike="noStrike" baseline="0">
              <a:solidFill>
                <a:srgbClr val="333333"/>
              </a:solidFill>
              <a:latin typeface="Arial"/>
              <a:ea typeface="Arial"/>
              <a:cs typeface="Arial"/>
            </a:defRPr>
          </a:pPr>
          <a:endParaRPr lang="en-US"/>
        </a:p>
      </c:txPr>
    </c:legend>
    <c:plotVisOnly val="1"/>
    <c:dispBlanksAs val="span"/>
    <c:showDLblsOverMax val="0"/>
  </c:chart>
  <c:spPr>
    <a:noFill/>
    <a:ln>
      <a:noFill/>
    </a:ln>
  </c:spPr>
  <c:txPr>
    <a:bodyPr/>
    <a:lstStyle/>
    <a:p>
      <a:pPr>
        <a:defRPr sz="2218" b="1" i="0" u="none" strike="noStrike" baseline="0">
          <a:solidFill>
            <a:schemeClr val="tx1"/>
          </a:solidFill>
          <a:latin typeface="Arial"/>
          <a:ea typeface="Arial"/>
          <a:cs typeface="Arial"/>
        </a:defRPr>
      </a:pPr>
      <a:endParaRPr lang="en-US"/>
    </a:p>
  </c:txPr>
  <c:externalData r:id="rId1">
    <c:autoUpdate val="0"/>
  </c:externalData>
</c:chartSpace>
</file>

<file path=ppt/drawings/drawing1.xml><?xml version="1.0" encoding="utf-8"?>
<c:userShapes xmlns:c="http://schemas.openxmlformats.org/drawingml/2006/chart">
  <cdr:relSizeAnchor xmlns:cdr="http://schemas.openxmlformats.org/drawingml/2006/chartDrawing">
    <cdr:from>
      <cdr:x>0.55849</cdr:x>
      <cdr:y>0.60341</cdr:y>
    </cdr:from>
    <cdr:to>
      <cdr:x>0.69343</cdr:x>
      <cdr:y>0.78323</cdr:y>
    </cdr:to>
    <cdr:sp macro="" textlink="">
      <cdr:nvSpPr>
        <cdr:cNvPr id="2" name="TextBox 1">
          <a:extLst xmlns:a="http://schemas.openxmlformats.org/drawingml/2006/main">
            <a:ext uri="{FF2B5EF4-FFF2-40B4-BE49-F238E27FC236}">
              <a16:creationId xmlns:a16="http://schemas.microsoft.com/office/drawing/2014/main" id="{BDA12B02-C253-ACC4-D7D9-4D04A5E8A657}"/>
            </a:ext>
          </a:extLst>
        </cdr:cNvPr>
        <cdr:cNvSpPr txBox="1"/>
      </cdr:nvSpPr>
      <cdr:spPr>
        <a:xfrm xmlns:a="http://schemas.openxmlformats.org/drawingml/2006/main">
          <a:off x="5872861" y="2788488"/>
          <a:ext cx="1418978" cy="830997"/>
        </a:xfrm>
        <a:prstGeom xmlns:a="http://schemas.openxmlformats.org/drawingml/2006/main" prst="rect">
          <a:avLst/>
        </a:prstGeom>
        <a:noFill xmlns:a="http://schemas.openxmlformats.org/drawingml/2006/main"/>
      </cdr:spPr>
      <cdr:txBody>
        <a:bodyPr xmlns:a="http://schemas.openxmlformats.org/drawingml/2006/main" wrap="none" rtlCol="0">
          <a:spAutoFit/>
        </a:bodyPr>
        <a:lstStyle xmlns:a="http://schemas.openxmlformats.org/drawingml/2006/main">
          <a:defPPr>
            <a:defRPr lang="en-GB"/>
          </a:defPPr>
          <a:lvl1pPr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a:lstStyle>
        <a:p xmlns:a="http://schemas.openxmlformats.org/drawingml/2006/main">
          <a:pPr algn="ctr"/>
          <a:r>
            <a:rPr lang="en-GB" dirty="0">
              <a:solidFill>
                <a:schemeClr val="tx2"/>
              </a:solidFill>
              <a:latin typeface="+mj-lt"/>
            </a:rPr>
            <a:t>Financial</a:t>
          </a:r>
          <a:br>
            <a:rPr lang="en-GB" dirty="0">
              <a:solidFill>
                <a:schemeClr val="tx2"/>
              </a:solidFill>
              <a:latin typeface="+mj-lt"/>
            </a:rPr>
          </a:br>
          <a:r>
            <a:rPr lang="en-GB" dirty="0">
              <a:solidFill>
                <a:schemeClr val="tx2"/>
              </a:solidFill>
              <a:latin typeface="+mj-lt"/>
            </a:rPr>
            <a:t>crisis</a:t>
          </a:r>
        </a:p>
      </cdr:txBody>
    </cdr:sp>
  </cdr:relSizeAnchor>
  <cdr:relSizeAnchor xmlns:cdr="http://schemas.openxmlformats.org/drawingml/2006/chartDrawing">
    <cdr:from>
      <cdr:x>0.76878</cdr:x>
      <cdr:y>0.76077</cdr:y>
    </cdr:from>
    <cdr:to>
      <cdr:x>0.86134</cdr:x>
      <cdr:y>0.86067</cdr:y>
    </cdr:to>
    <cdr:sp macro="" textlink="">
      <cdr:nvSpPr>
        <cdr:cNvPr id="3" name="TextBox 2">
          <a:extLst xmlns:a="http://schemas.openxmlformats.org/drawingml/2006/main">
            <a:ext uri="{FF2B5EF4-FFF2-40B4-BE49-F238E27FC236}">
              <a16:creationId xmlns:a16="http://schemas.microsoft.com/office/drawing/2014/main" id="{BBD7435E-6A3E-38CF-AF5E-008A6D271C64}"/>
            </a:ext>
          </a:extLst>
        </cdr:cNvPr>
        <cdr:cNvSpPr txBox="1"/>
      </cdr:nvSpPr>
      <cdr:spPr>
        <a:xfrm xmlns:a="http://schemas.openxmlformats.org/drawingml/2006/main">
          <a:off x="8084158" y="3515667"/>
          <a:ext cx="973344" cy="461665"/>
        </a:xfrm>
        <a:prstGeom xmlns:a="http://schemas.openxmlformats.org/drawingml/2006/main" prst="rect">
          <a:avLst/>
        </a:prstGeom>
        <a:noFill xmlns:a="http://schemas.openxmlformats.org/drawingml/2006/main"/>
      </cdr:spPr>
      <cdr:txBody>
        <a:bodyPr xmlns:a="http://schemas.openxmlformats.org/drawingml/2006/main" wrap="none" rtlCol="0">
          <a:spAutoFit/>
        </a:bodyPr>
        <a:lstStyle xmlns:a="http://schemas.openxmlformats.org/drawingml/2006/main">
          <a:defPPr>
            <a:defRPr lang="en-GB"/>
          </a:defPPr>
          <a:lvl1pPr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a:lstStyle>
        <a:p xmlns:a="http://schemas.openxmlformats.org/drawingml/2006/main">
          <a:pPr algn="ctr"/>
          <a:r>
            <a:rPr lang="en-GB" dirty="0">
              <a:solidFill>
                <a:schemeClr val="tx2"/>
              </a:solidFill>
              <a:latin typeface="+mj-lt"/>
            </a:rPr>
            <a:t>Covid</a:t>
          </a:r>
        </a:p>
      </cdr:txBody>
    </cdr:sp>
  </cdr:relSizeAnchor>
</c:userShapes>
</file>

<file path=ppt/drawings/drawing2.xml><?xml version="1.0" encoding="utf-8"?>
<c:userShapes xmlns:c="http://schemas.openxmlformats.org/drawingml/2006/chart">
  <cdr:relSizeAnchor xmlns:cdr="http://schemas.openxmlformats.org/drawingml/2006/chartDrawing">
    <cdr:from>
      <cdr:x>0.54906</cdr:x>
      <cdr:y>0.62844</cdr:y>
    </cdr:from>
    <cdr:to>
      <cdr:x>0.98023</cdr:x>
      <cdr:y>0.83674</cdr:y>
    </cdr:to>
    <cdr:sp macro="" textlink="">
      <cdr:nvSpPr>
        <cdr:cNvPr id="2" name="TextBox 1">
          <a:extLst xmlns:a="http://schemas.openxmlformats.org/drawingml/2006/main">
            <a:ext uri="{FF2B5EF4-FFF2-40B4-BE49-F238E27FC236}">
              <a16:creationId xmlns:a16="http://schemas.microsoft.com/office/drawing/2014/main" id="{6F71FFDD-B670-900B-1A3D-55BBDCA22636}"/>
            </a:ext>
          </a:extLst>
        </cdr:cNvPr>
        <cdr:cNvSpPr txBox="1"/>
      </cdr:nvSpPr>
      <cdr:spPr>
        <a:xfrm xmlns:a="http://schemas.openxmlformats.org/drawingml/2006/main">
          <a:off x="5890205" y="2758732"/>
          <a:ext cx="4625395" cy="914400"/>
        </a:xfrm>
        <a:prstGeom xmlns:a="http://schemas.openxmlformats.org/drawingml/2006/main" prst="rect">
          <a:avLst/>
        </a:prstGeom>
      </cdr:spPr>
      <cdr:txBody>
        <a:bodyPr xmlns:a="http://schemas.openxmlformats.org/drawingml/2006/main" wrap="none" rtlCol="0"/>
        <a:lstStyle xmlns:a="http://schemas.openxmlformats.org/drawingml/2006/main">
          <a:defPPr>
            <a:defRPr lang="en-GB"/>
          </a:defPPr>
          <a:lvl1pPr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a:lstStyle>
        <a:p xmlns:a="http://schemas.openxmlformats.org/drawingml/2006/main">
          <a:r>
            <a:rPr lang="en-GB" sz="2400" dirty="0">
              <a:solidFill>
                <a:schemeClr val="accent4">
                  <a:lumMod val="95000"/>
                  <a:lumOff val="5000"/>
                </a:schemeClr>
              </a:solidFill>
            </a:rPr>
            <a:t>Japan – very rapid growth to 1990</a:t>
          </a:r>
        </a:p>
        <a:p xmlns:a="http://schemas.openxmlformats.org/drawingml/2006/main">
          <a:r>
            <a:rPr lang="en-GB" sz="2400" dirty="0">
              <a:solidFill>
                <a:schemeClr val="accent4">
                  <a:lumMod val="95000"/>
                  <a:lumOff val="5000"/>
                </a:schemeClr>
              </a:solidFill>
            </a:rPr>
            <a:t>Australia – most sustained growth</a:t>
          </a:r>
        </a:p>
      </cdr:txBody>
    </cdr: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50B329C-BA19-7741-82E1-E99DDC8851B4}" type="datetimeFigureOut">
              <a:rPr lang="en-US" smtClean="0"/>
              <a:t>8/29/2025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94252F9-E879-1640-ADA4-A5A78E6B455C}" type="slidenum">
              <a:rPr lang="en-US" smtClean="0"/>
              <a:t>‹#›</a:t>
            </a:fld>
            <a:endParaRPr lang="en-US"/>
          </a:p>
        </p:txBody>
      </p:sp>
    </p:spTree>
    <p:extLst>
      <p:ext uri="{BB962C8B-B14F-4D97-AF65-F5344CB8AC3E}">
        <p14:creationId xmlns:p14="http://schemas.microsoft.com/office/powerpoint/2010/main" val="25172557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a:extLst>
              <a:ext uri="{FF2B5EF4-FFF2-40B4-BE49-F238E27FC236}">
                <a16:creationId xmlns:a16="http://schemas.microsoft.com/office/drawing/2014/main" id="{8214B706-5A6D-4134-A76F-1DC8779E1BD9}"/>
              </a:ext>
            </a:extLst>
          </p:cNvPr>
          <p:cNvSpPr>
            <a:spLocks noGrp="1" noChangeArrowheads="1"/>
          </p:cNvSpPr>
          <p:nvPr>
            <p:ph type="sldNum" sz="quarter" idx="5"/>
          </p:nvPr>
        </p:nvSpPr>
        <p:spPr>
          <a:noFill/>
        </p:spPr>
        <p:txBody>
          <a:bodyPr/>
          <a:lstStyle>
            <a:lvl1pPr>
              <a:defRPr sz="2800">
                <a:solidFill>
                  <a:schemeClr val="tx1"/>
                </a:solidFill>
                <a:latin typeface="Times New Roman" panose="02020603050405020304" pitchFamily="18" charset="0"/>
              </a:defRPr>
            </a:lvl1pPr>
            <a:lvl2pPr marL="742950" indent="-285750">
              <a:defRPr sz="2800">
                <a:solidFill>
                  <a:schemeClr val="tx1"/>
                </a:solidFill>
                <a:latin typeface="Times New Roman" panose="02020603050405020304" pitchFamily="18" charset="0"/>
              </a:defRPr>
            </a:lvl2pPr>
            <a:lvl3pPr marL="1143000" indent="-228600">
              <a:defRPr sz="2800">
                <a:solidFill>
                  <a:schemeClr val="tx1"/>
                </a:solidFill>
                <a:latin typeface="Times New Roman" panose="02020603050405020304" pitchFamily="18" charset="0"/>
              </a:defRPr>
            </a:lvl3pPr>
            <a:lvl4pPr marL="1600200" indent="-228600">
              <a:defRPr sz="2800">
                <a:solidFill>
                  <a:schemeClr val="tx1"/>
                </a:solidFill>
                <a:latin typeface="Times New Roman" panose="02020603050405020304" pitchFamily="18" charset="0"/>
              </a:defRPr>
            </a:lvl4pPr>
            <a:lvl5pPr marL="2057400" indent="-228600">
              <a:defRPr sz="28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defRPr>
            </a:lvl9pPr>
          </a:lstStyle>
          <a:p>
            <a:fld id="{CDC581EC-E029-454B-A042-336CF85BC187}" type="slidenum">
              <a:rPr lang="en-GB" altLang="en-US" sz="1200"/>
              <a:pPr/>
              <a:t>11</a:t>
            </a:fld>
            <a:endParaRPr lang="en-GB" altLang="en-US" sz="1200"/>
          </a:p>
        </p:txBody>
      </p:sp>
      <p:sp>
        <p:nvSpPr>
          <p:cNvPr id="23555" name="Rectangle 2">
            <a:extLst>
              <a:ext uri="{FF2B5EF4-FFF2-40B4-BE49-F238E27FC236}">
                <a16:creationId xmlns:a16="http://schemas.microsoft.com/office/drawing/2014/main" id="{59677BC8-5A99-4DB0-BEF5-76A1EA92A6C1}"/>
              </a:ext>
            </a:extLst>
          </p:cNvPr>
          <p:cNvSpPr>
            <a:spLocks noChangeArrowheads="1"/>
          </p:cNvSpPr>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a:solidFill>
                  <a:schemeClr val="tx1"/>
                </a:solidFill>
                <a:latin typeface="Times New Roman" panose="02020603050405020304" pitchFamily="18" charset="0"/>
              </a:defRPr>
            </a:lvl1pPr>
            <a:lvl2pPr marL="742950" indent="-285750">
              <a:defRPr sz="2800">
                <a:solidFill>
                  <a:schemeClr val="tx1"/>
                </a:solidFill>
                <a:latin typeface="Times New Roman" panose="02020603050405020304" pitchFamily="18" charset="0"/>
              </a:defRPr>
            </a:lvl2pPr>
            <a:lvl3pPr marL="1143000" indent="-228600">
              <a:defRPr sz="2800">
                <a:solidFill>
                  <a:schemeClr val="tx1"/>
                </a:solidFill>
                <a:latin typeface="Times New Roman" panose="02020603050405020304" pitchFamily="18" charset="0"/>
              </a:defRPr>
            </a:lvl3pPr>
            <a:lvl4pPr marL="1600200" indent="-228600">
              <a:defRPr sz="2800">
                <a:solidFill>
                  <a:schemeClr val="tx1"/>
                </a:solidFill>
                <a:latin typeface="Times New Roman" panose="02020603050405020304" pitchFamily="18" charset="0"/>
              </a:defRPr>
            </a:lvl4pPr>
            <a:lvl5pPr marL="2057400" indent="-228600">
              <a:defRPr sz="28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defRPr>
            </a:lvl9pPr>
          </a:lstStyle>
          <a:p>
            <a:endParaRPr lang="en-GB" altLang="en-US" noProof="1"/>
          </a:p>
        </p:txBody>
      </p:sp>
      <p:sp>
        <p:nvSpPr>
          <p:cNvPr id="23556" name="Rectangle 3">
            <a:extLst>
              <a:ext uri="{FF2B5EF4-FFF2-40B4-BE49-F238E27FC236}">
                <a16:creationId xmlns:a16="http://schemas.microsoft.com/office/drawing/2014/main" id="{8070A113-8DEA-47C1-BB6F-9078FD391352}"/>
              </a:ext>
            </a:extLst>
          </p:cNvPr>
          <p:cNvSpPr>
            <a:spLocks noChangeArrowheads="1"/>
          </p:cNvSpPr>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0" rIns="19050" bIns="0" anchor="b"/>
          <a:lstStyle>
            <a:lvl1pPr defTabSz="762000">
              <a:defRPr sz="2800">
                <a:solidFill>
                  <a:schemeClr val="tx1"/>
                </a:solidFill>
                <a:latin typeface="Times New Roman" panose="02020603050405020304" pitchFamily="18" charset="0"/>
              </a:defRPr>
            </a:lvl1pPr>
            <a:lvl2pPr marL="742950" indent="-285750" defTabSz="762000">
              <a:defRPr sz="2800">
                <a:solidFill>
                  <a:schemeClr val="tx1"/>
                </a:solidFill>
                <a:latin typeface="Times New Roman" panose="02020603050405020304" pitchFamily="18" charset="0"/>
              </a:defRPr>
            </a:lvl2pPr>
            <a:lvl3pPr marL="1143000" indent="-228600" defTabSz="762000">
              <a:defRPr sz="2800">
                <a:solidFill>
                  <a:schemeClr val="tx1"/>
                </a:solidFill>
                <a:latin typeface="Times New Roman" panose="02020603050405020304" pitchFamily="18" charset="0"/>
              </a:defRPr>
            </a:lvl3pPr>
            <a:lvl4pPr marL="1600200" indent="-228600" defTabSz="762000">
              <a:defRPr sz="2800">
                <a:solidFill>
                  <a:schemeClr val="tx1"/>
                </a:solidFill>
                <a:latin typeface="Times New Roman" panose="02020603050405020304" pitchFamily="18" charset="0"/>
              </a:defRPr>
            </a:lvl4pPr>
            <a:lvl5pPr marL="2057400" indent="-228600" defTabSz="762000">
              <a:defRPr sz="2800">
                <a:solidFill>
                  <a:schemeClr val="tx1"/>
                </a:solidFill>
                <a:latin typeface="Times New Roman" panose="02020603050405020304" pitchFamily="18" charset="0"/>
              </a:defRPr>
            </a:lvl5pPr>
            <a:lvl6pPr marL="2514600" indent="-228600" defTabSz="762000" eaLnBrk="0" fontAlgn="base" hangingPunct="0">
              <a:spcBef>
                <a:spcPct val="0"/>
              </a:spcBef>
              <a:spcAft>
                <a:spcPct val="0"/>
              </a:spcAft>
              <a:defRPr sz="2800">
                <a:solidFill>
                  <a:schemeClr val="tx1"/>
                </a:solidFill>
                <a:latin typeface="Times New Roman" panose="02020603050405020304" pitchFamily="18" charset="0"/>
              </a:defRPr>
            </a:lvl6pPr>
            <a:lvl7pPr marL="2971800" indent="-228600" defTabSz="762000" eaLnBrk="0" fontAlgn="base" hangingPunct="0">
              <a:spcBef>
                <a:spcPct val="0"/>
              </a:spcBef>
              <a:spcAft>
                <a:spcPct val="0"/>
              </a:spcAft>
              <a:defRPr sz="2800">
                <a:solidFill>
                  <a:schemeClr val="tx1"/>
                </a:solidFill>
                <a:latin typeface="Times New Roman" panose="02020603050405020304" pitchFamily="18" charset="0"/>
              </a:defRPr>
            </a:lvl7pPr>
            <a:lvl8pPr marL="3429000" indent="-228600" defTabSz="762000" eaLnBrk="0" fontAlgn="base" hangingPunct="0">
              <a:spcBef>
                <a:spcPct val="0"/>
              </a:spcBef>
              <a:spcAft>
                <a:spcPct val="0"/>
              </a:spcAft>
              <a:defRPr sz="2800">
                <a:solidFill>
                  <a:schemeClr val="tx1"/>
                </a:solidFill>
                <a:latin typeface="Times New Roman" panose="02020603050405020304" pitchFamily="18" charset="0"/>
              </a:defRPr>
            </a:lvl8pPr>
            <a:lvl9pPr marL="3886200" indent="-228600" defTabSz="762000" eaLnBrk="0" fontAlgn="base" hangingPunct="0">
              <a:spcBef>
                <a:spcPct val="0"/>
              </a:spcBef>
              <a:spcAft>
                <a:spcPct val="0"/>
              </a:spcAft>
              <a:defRPr sz="2800">
                <a:solidFill>
                  <a:schemeClr val="tx1"/>
                </a:solidFill>
                <a:latin typeface="Times New Roman" panose="02020603050405020304" pitchFamily="18" charset="0"/>
              </a:defRPr>
            </a:lvl9pPr>
          </a:lstStyle>
          <a:p>
            <a:pPr algn="r"/>
            <a:r>
              <a:rPr lang="en-GB" altLang="en-US" sz="1000" i="1"/>
              <a:t>8</a:t>
            </a:r>
          </a:p>
        </p:txBody>
      </p:sp>
      <p:sp>
        <p:nvSpPr>
          <p:cNvPr id="23557" name="Rectangle 4">
            <a:extLst>
              <a:ext uri="{FF2B5EF4-FFF2-40B4-BE49-F238E27FC236}">
                <a16:creationId xmlns:a16="http://schemas.microsoft.com/office/drawing/2014/main" id="{206F223C-4757-4C74-B827-0D5BCED250FE}"/>
              </a:ext>
            </a:extLst>
          </p:cNvPr>
          <p:cNvSpPr>
            <a:spLocks noChangeArrowheads="1"/>
          </p:cNvSpPr>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a:solidFill>
                  <a:schemeClr val="tx1"/>
                </a:solidFill>
                <a:latin typeface="Times New Roman" panose="02020603050405020304" pitchFamily="18" charset="0"/>
              </a:defRPr>
            </a:lvl1pPr>
            <a:lvl2pPr marL="742950" indent="-285750">
              <a:defRPr sz="2800">
                <a:solidFill>
                  <a:schemeClr val="tx1"/>
                </a:solidFill>
                <a:latin typeface="Times New Roman" panose="02020603050405020304" pitchFamily="18" charset="0"/>
              </a:defRPr>
            </a:lvl2pPr>
            <a:lvl3pPr marL="1143000" indent="-228600">
              <a:defRPr sz="2800">
                <a:solidFill>
                  <a:schemeClr val="tx1"/>
                </a:solidFill>
                <a:latin typeface="Times New Roman" panose="02020603050405020304" pitchFamily="18" charset="0"/>
              </a:defRPr>
            </a:lvl3pPr>
            <a:lvl4pPr marL="1600200" indent="-228600">
              <a:defRPr sz="2800">
                <a:solidFill>
                  <a:schemeClr val="tx1"/>
                </a:solidFill>
                <a:latin typeface="Times New Roman" panose="02020603050405020304" pitchFamily="18" charset="0"/>
              </a:defRPr>
            </a:lvl4pPr>
            <a:lvl5pPr marL="2057400" indent="-228600">
              <a:defRPr sz="28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defRPr>
            </a:lvl9pPr>
          </a:lstStyle>
          <a:p>
            <a:endParaRPr lang="en-GB" altLang="en-US" noProof="1"/>
          </a:p>
        </p:txBody>
      </p:sp>
      <p:sp>
        <p:nvSpPr>
          <p:cNvPr id="23558" name="Rectangle 5">
            <a:extLst>
              <a:ext uri="{FF2B5EF4-FFF2-40B4-BE49-F238E27FC236}">
                <a16:creationId xmlns:a16="http://schemas.microsoft.com/office/drawing/2014/main" id="{C0F030CF-D825-4076-9A4A-C5D729A0BCC8}"/>
              </a:ext>
            </a:extLst>
          </p:cNvPr>
          <p:cNvSpPr>
            <a:spLocks noChangeArrowheads="1"/>
          </p:cNvSpP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a:solidFill>
                  <a:schemeClr val="tx1"/>
                </a:solidFill>
                <a:latin typeface="Times New Roman" panose="02020603050405020304" pitchFamily="18" charset="0"/>
              </a:defRPr>
            </a:lvl1pPr>
            <a:lvl2pPr marL="742950" indent="-285750">
              <a:defRPr sz="2800">
                <a:solidFill>
                  <a:schemeClr val="tx1"/>
                </a:solidFill>
                <a:latin typeface="Times New Roman" panose="02020603050405020304" pitchFamily="18" charset="0"/>
              </a:defRPr>
            </a:lvl2pPr>
            <a:lvl3pPr marL="1143000" indent="-228600">
              <a:defRPr sz="2800">
                <a:solidFill>
                  <a:schemeClr val="tx1"/>
                </a:solidFill>
                <a:latin typeface="Times New Roman" panose="02020603050405020304" pitchFamily="18" charset="0"/>
              </a:defRPr>
            </a:lvl3pPr>
            <a:lvl4pPr marL="1600200" indent="-228600">
              <a:defRPr sz="2800">
                <a:solidFill>
                  <a:schemeClr val="tx1"/>
                </a:solidFill>
                <a:latin typeface="Times New Roman" panose="02020603050405020304" pitchFamily="18" charset="0"/>
              </a:defRPr>
            </a:lvl4pPr>
            <a:lvl5pPr marL="2057400" indent="-228600">
              <a:defRPr sz="28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defRPr>
            </a:lvl9pPr>
          </a:lstStyle>
          <a:p>
            <a:endParaRPr lang="en-GB" altLang="en-US" noProof="1"/>
          </a:p>
        </p:txBody>
      </p:sp>
      <p:sp>
        <p:nvSpPr>
          <p:cNvPr id="23559" name="Rectangle 6">
            <a:extLst>
              <a:ext uri="{FF2B5EF4-FFF2-40B4-BE49-F238E27FC236}">
                <a16:creationId xmlns:a16="http://schemas.microsoft.com/office/drawing/2014/main" id="{518678A2-B7B9-4368-A8F0-C4746F405529}"/>
              </a:ext>
            </a:extLst>
          </p:cNvPr>
          <p:cNvSpPr>
            <a:spLocks noGrp="1" noChangeArrowheads="1"/>
          </p:cNvSpPr>
          <p:nvPr>
            <p:ph type="body" idx="1"/>
          </p:nvPr>
        </p:nvSpPr>
        <p:spPr>
          <a:noFill/>
        </p:spPr>
        <p:txBody>
          <a:bodyPr lIns="92075" tIns="46038" rIns="92075" bIns="46038"/>
          <a:lstStyle/>
          <a:p>
            <a:endParaRPr lang="en-GB" altLang="en-US" noProof="1"/>
          </a:p>
        </p:txBody>
      </p:sp>
      <p:sp>
        <p:nvSpPr>
          <p:cNvPr id="23560" name="Rectangle 7">
            <a:extLst>
              <a:ext uri="{FF2B5EF4-FFF2-40B4-BE49-F238E27FC236}">
                <a16:creationId xmlns:a16="http://schemas.microsoft.com/office/drawing/2014/main" id="{AD07BD6B-F908-431F-8469-776645E1E190}"/>
              </a:ext>
            </a:extLst>
          </p:cNvPr>
          <p:cNvSpPr>
            <a:spLocks noGrp="1" noRot="1" noChangeAspect="1" noChangeArrowheads="1" noTextEdit="1"/>
          </p:cNvSpPr>
          <p:nvPr>
            <p:ph type="sldImg"/>
          </p:nvPr>
        </p:nvSpPr>
        <p:spPr>
          <a:ln w="12700" cap="flat">
            <a:solidFill>
              <a:schemeClr val="tx1"/>
            </a:solidFill>
          </a:ln>
        </p:spPr>
      </p:sp>
    </p:spTree>
    <p:extLst>
      <p:ext uri="{BB962C8B-B14F-4D97-AF65-F5344CB8AC3E}">
        <p14:creationId xmlns:p14="http://schemas.microsoft.com/office/powerpoint/2010/main" val="2119218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1A56070-3299-48E1-94F2-35F04A86126F}"/>
              </a:ext>
            </a:extLst>
          </p:cNvPr>
          <p:cNvSpPr>
            <a:spLocks noGrp="1" noChangeArrowheads="1"/>
          </p:cNvSpPr>
          <p:nvPr>
            <p:ph type="sldNum" sz="quarter" idx="5"/>
          </p:nvPr>
        </p:nvSpPr>
        <p:spPr>
          <a:ln/>
        </p:spPr>
        <p:txBody>
          <a:bodyPr/>
          <a:lstStyle/>
          <a:p>
            <a:fld id="{FE6BBE0F-7C44-458F-954F-32E62FCD64DA}" type="slidenum">
              <a:rPr lang="en-GB" altLang="en-US"/>
              <a:pPr/>
              <a:t>17</a:t>
            </a:fld>
            <a:endParaRPr lang="en-GB" altLang="en-US"/>
          </a:p>
        </p:txBody>
      </p:sp>
      <p:sp>
        <p:nvSpPr>
          <p:cNvPr id="52226" name="Rectangle 7">
            <a:extLst>
              <a:ext uri="{FF2B5EF4-FFF2-40B4-BE49-F238E27FC236}">
                <a16:creationId xmlns:a16="http://schemas.microsoft.com/office/drawing/2014/main" id="{C2ACB315-8B3C-414F-96A0-780DB38556A6}"/>
              </a:ext>
            </a:extLst>
          </p:cNvPr>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r"/>
            <a:fld id="{F466BC91-0965-4FFA-9BB8-DFE1414C91B8}" type="slidenum">
              <a:rPr lang="en-GB" altLang="en-US" sz="1200"/>
              <a:pPr algn="r"/>
              <a:t>17</a:t>
            </a:fld>
            <a:endParaRPr lang="en-GB" altLang="en-US" sz="1200"/>
          </a:p>
        </p:txBody>
      </p:sp>
      <p:sp>
        <p:nvSpPr>
          <p:cNvPr id="52227" name="Rectangle 2">
            <a:extLst>
              <a:ext uri="{FF2B5EF4-FFF2-40B4-BE49-F238E27FC236}">
                <a16:creationId xmlns:a16="http://schemas.microsoft.com/office/drawing/2014/main" id="{09D39C22-2157-4D4F-8353-C29FCC6E3A07}"/>
              </a:ext>
            </a:extLst>
          </p:cNvPr>
          <p:cNvSpPr>
            <a:spLocks noGrp="1" noChangeArrowheads="1"/>
          </p:cNvSpPr>
          <p:nvPr>
            <p:ph type="body" idx="1"/>
          </p:nvPr>
        </p:nvSpPr>
        <p:spPr/>
        <p:txBody>
          <a:bodyPr lIns="92075" tIns="46038" rIns="92075" bIns="46038"/>
          <a:lstStyle/>
          <a:p>
            <a:endParaRPr lang="en-GB" altLang="en-US" noProof="1"/>
          </a:p>
        </p:txBody>
      </p:sp>
      <p:sp>
        <p:nvSpPr>
          <p:cNvPr id="52228" name="Rectangle 3">
            <a:extLst>
              <a:ext uri="{FF2B5EF4-FFF2-40B4-BE49-F238E27FC236}">
                <a16:creationId xmlns:a16="http://schemas.microsoft.com/office/drawing/2014/main" id="{3A6E8DC3-2013-402F-A526-BE4E9B05F5F9}"/>
              </a:ext>
            </a:extLst>
          </p:cNvPr>
          <p:cNvSpPr>
            <a:spLocks noGrp="1" noRot="1" noChangeAspect="1" noChangeArrowheads="1" noTextEdit="1"/>
          </p:cNvSpPr>
          <p:nvPr>
            <p:ph type="sldImg"/>
          </p:nvPr>
        </p:nvSpPr>
        <p:spPr>
          <a:ln w="12700" cap="flat">
            <a:solidFill>
              <a:schemeClr val="tx1"/>
            </a:solidFill>
          </a:ln>
        </p:spPr>
      </p:sp>
    </p:spTree>
    <p:extLst>
      <p:ext uri="{BB962C8B-B14F-4D97-AF65-F5344CB8AC3E}">
        <p14:creationId xmlns:p14="http://schemas.microsoft.com/office/powerpoint/2010/main" val="33232859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a:extLst>
              <a:ext uri="{FF2B5EF4-FFF2-40B4-BE49-F238E27FC236}">
                <a16:creationId xmlns:a16="http://schemas.microsoft.com/office/drawing/2014/main" id="{DCEE3BFD-AD7B-4F6C-B4FB-8979DEE621B4}"/>
              </a:ext>
            </a:extLst>
          </p:cNvPr>
          <p:cNvSpPr>
            <a:spLocks noGrp="1" noChangeArrowheads="1"/>
          </p:cNvSpPr>
          <p:nvPr>
            <p:ph type="sldNum" sz="quarter" idx="5"/>
          </p:nvPr>
        </p:nvSpPr>
        <p:spPr>
          <a:noFill/>
        </p:spPr>
        <p:txBody>
          <a:bodyPr/>
          <a:lstStyle>
            <a:lvl1pPr>
              <a:defRPr sz="2800">
                <a:solidFill>
                  <a:schemeClr val="tx1"/>
                </a:solidFill>
                <a:latin typeface="Times New Roman" panose="02020603050405020304" pitchFamily="18" charset="0"/>
              </a:defRPr>
            </a:lvl1pPr>
            <a:lvl2pPr marL="742950" indent="-285750">
              <a:defRPr sz="2800">
                <a:solidFill>
                  <a:schemeClr val="tx1"/>
                </a:solidFill>
                <a:latin typeface="Times New Roman" panose="02020603050405020304" pitchFamily="18" charset="0"/>
              </a:defRPr>
            </a:lvl2pPr>
            <a:lvl3pPr marL="1143000" indent="-228600">
              <a:defRPr sz="2800">
                <a:solidFill>
                  <a:schemeClr val="tx1"/>
                </a:solidFill>
                <a:latin typeface="Times New Roman" panose="02020603050405020304" pitchFamily="18" charset="0"/>
              </a:defRPr>
            </a:lvl3pPr>
            <a:lvl4pPr marL="1600200" indent="-228600">
              <a:defRPr sz="2800">
                <a:solidFill>
                  <a:schemeClr val="tx1"/>
                </a:solidFill>
                <a:latin typeface="Times New Roman" panose="02020603050405020304" pitchFamily="18" charset="0"/>
              </a:defRPr>
            </a:lvl4pPr>
            <a:lvl5pPr marL="2057400" indent="-228600">
              <a:defRPr sz="28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defRPr>
            </a:lvl9pPr>
          </a:lstStyle>
          <a:p>
            <a:fld id="{B27E9BF9-E723-4494-8C3E-E9EF700EBBC7}" type="slidenum">
              <a:rPr lang="en-GB" altLang="en-US" sz="1200"/>
              <a:pPr/>
              <a:t>23</a:t>
            </a:fld>
            <a:endParaRPr lang="en-GB" altLang="en-US" sz="1200"/>
          </a:p>
        </p:txBody>
      </p:sp>
      <p:sp>
        <p:nvSpPr>
          <p:cNvPr id="15363" name="Rectangle 2">
            <a:extLst>
              <a:ext uri="{FF2B5EF4-FFF2-40B4-BE49-F238E27FC236}">
                <a16:creationId xmlns:a16="http://schemas.microsoft.com/office/drawing/2014/main" id="{6ADBE3B0-D34C-4915-9EE2-91E222CB18BB}"/>
              </a:ext>
            </a:extLst>
          </p:cNvPr>
          <p:cNvSpPr>
            <a:spLocks noChangeArrowheads="1"/>
          </p:cNvSpPr>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a:solidFill>
                  <a:schemeClr val="tx1"/>
                </a:solidFill>
                <a:latin typeface="Times New Roman" panose="02020603050405020304" pitchFamily="18" charset="0"/>
              </a:defRPr>
            </a:lvl1pPr>
            <a:lvl2pPr marL="742950" indent="-285750">
              <a:defRPr sz="2800">
                <a:solidFill>
                  <a:schemeClr val="tx1"/>
                </a:solidFill>
                <a:latin typeface="Times New Roman" panose="02020603050405020304" pitchFamily="18" charset="0"/>
              </a:defRPr>
            </a:lvl2pPr>
            <a:lvl3pPr marL="1143000" indent="-228600">
              <a:defRPr sz="2800">
                <a:solidFill>
                  <a:schemeClr val="tx1"/>
                </a:solidFill>
                <a:latin typeface="Times New Roman" panose="02020603050405020304" pitchFamily="18" charset="0"/>
              </a:defRPr>
            </a:lvl3pPr>
            <a:lvl4pPr marL="1600200" indent="-228600">
              <a:defRPr sz="2800">
                <a:solidFill>
                  <a:schemeClr val="tx1"/>
                </a:solidFill>
                <a:latin typeface="Times New Roman" panose="02020603050405020304" pitchFamily="18" charset="0"/>
              </a:defRPr>
            </a:lvl4pPr>
            <a:lvl5pPr marL="2057400" indent="-228600">
              <a:defRPr sz="28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defRPr>
            </a:lvl9pPr>
          </a:lstStyle>
          <a:p>
            <a:endParaRPr lang="en-GB" altLang="en-US" noProof="1"/>
          </a:p>
        </p:txBody>
      </p:sp>
      <p:sp>
        <p:nvSpPr>
          <p:cNvPr id="15364" name="Rectangle 3">
            <a:extLst>
              <a:ext uri="{FF2B5EF4-FFF2-40B4-BE49-F238E27FC236}">
                <a16:creationId xmlns:a16="http://schemas.microsoft.com/office/drawing/2014/main" id="{BE13F2BD-0EA2-4798-9B58-9FA9FAA5FA34}"/>
              </a:ext>
            </a:extLst>
          </p:cNvPr>
          <p:cNvSpPr>
            <a:spLocks noChangeArrowheads="1"/>
          </p:cNvSpPr>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0" rIns="19050" bIns="0" anchor="b"/>
          <a:lstStyle>
            <a:lvl1pPr defTabSz="762000">
              <a:defRPr sz="2800">
                <a:solidFill>
                  <a:schemeClr val="tx1"/>
                </a:solidFill>
                <a:latin typeface="Times New Roman" panose="02020603050405020304" pitchFamily="18" charset="0"/>
              </a:defRPr>
            </a:lvl1pPr>
            <a:lvl2pPr marL="742950" indent="-285750" defTabSz="762000">
              <a:defRPr sz="2800">
                <a:solidFill>
                  <a:schemeClr val="tx1"/>
                </a:solidFill>
                <a:latin typeface="Times New Roman" panose="02020603050405020304" pitchFamily="18" charset="0"/>
              </a:defRPr>
            </a:lvl2pPr>
            <a:lvl3pPr marL="1143000" indent="-228600" defTabSz="762000">
              <a:defRPr sz="2800">
                <a:solidFill>
                  <a:schemeClr val="tx1"/>
                </a:solidFill>
                <a:latin typeface="Times New Roman" panose="02020603050405020304" pitchFamily="18" charset="0"/>
              </a:defRPr>
            </a:lvl3pPr>
            <a:lvl4pPr marL="1600200" indent="-228600" defTabSz="762000">
              <a:defRPr sz="2800">
                <a:solidFill>
                  <a:schemeClr val="tx1"/>
                </a:solidFill>
                <a:latin typeface="Times New Roman" panose="02020603050405020304" pitchFamily="18" charset="0"/>
              </a:defRPr>
            </a:lvl4pPr>
            <a:lvl5pPr marL="2057400" indent="-228600" defTabSz="762000">
              <a:defRPr sz="2800">
                <a:solidFill>
                  <a:schemeClr val="tx1"/>
                </a:solidFill>
                <a:latin typeface="Times New Roman" panose="02020603050405020304" pitchFamily="18" charset="0"/>
              </a:defRPr>
            </a:lvl5pPr>
            <a:lvl6pPr marL="2514600" indent="-228600" defTabSz="762000" eaLnBrk="0" fontAlgn="base" hangingPunct="0">
              <a:spcBef>
                <a:spcPct val="0"/>
              </a:spcBef>
              <a:spcAft>
                <a:spcPct val="0"/>
              </a:spcAft>
              <a:defRPr sz="2800">
                <a:solidFill>
                  <a:schemeClr val="tx1"/>
                </a:solidFill>
                <a:latin typeface="Times New Roman" panose="02020603050405020304" pitchFamily="18" charset="0"/>
              </a:defRPr>
            </a:lvl6pPr>
            <a:lvl7pPr marL="2971800" indent="-228600" defTabSz="762000" eaLnBrk="0" fontAlgn="base" hangingPunct="0">
              <a:spcBef>
                <a:spcPct val="0"/>
              </a:spcBef>
              <a:spcAft>
                <a:spcPct val="0"/>
              </a:spcAft>
              <a:defRPr sz="2800">
                <a:solidFill>
                  <a:schemeClr val="tx1"/>
                </a:solidFill>
                <a:latin typeface="Times New Roman" panose="02020603050405020304" pitchFamily="18" charset="0"/>
              </a:defRPr>
            </a:lvl7pPr>
            <a:lvl8pPr marL="3429000" indent="-228600" defTabSz="762000" eaLnBrk="0" fontAlgn="base" hangingPunct="0">
              <a:spcBef>
                <a:spcPct val="0"/>
              </a:spcBef>
              <a:spcAft>
                <a:spcPct val="0"/>
              </a:spcAft>
              <a:defRPr sz="2800">
                <a:solidFill>
                  <a:schemeClr val="tx1"/>
                </a:solidFill>
                <a:latin typeface="Times New Roman" panose="02020603050405020304" pitchFamily="18" charset="0"/>
              </a:defRPr>
            </a:lvl8pPr>
            <a:lvl9pPr marL="3886200" indent="-228600" defTabSz="762000" eaLnBrk="0" fontAlgn="base" hangingPunct="0">
              <a:spcBef>
                <a:spcPct val="0"/>
              </a:spcBef>
              <a:spcAft>
                <a:spcPct val="0"/>
              </a:spcAft>
              <a:defRPr sz="2800">
                <a:solidFill>
                  <a:schemeClr val="tx1"/>
                </a:solidFill>
                <a:latin typeface="Times New Roman" panose="02020603050405020304" pitchFamily="18" charset="0"/>
              </a:defRPr>
            </a:lvl9pPr>
          </a:lstStyle>
          <a:p>
            <a:pPr algn="r"/>
            <a:r>
              <a:rPr lang="en-GB" altLang="en-US" sz="1000" i="1"/>
              <a:t>4</a:t>
            </a:r>
          </a:p>
        </p:txBody>
      </p:sp>
      <p:sp>
        <p:nvSpPr>
          <p:cNvPr id="15365" name="Rectangle 4">
            <a:extLst>
              <a:ext uri="{FF2B5EF4-FFF2-40B4-BE49-F238E27FC236}">
                <a16:creationId xmlns:a16="http://schemas.microsoft.com/office/drawing/2014/main" id="{50AB0360-3194-4346-BC2A-9B50B96E82B6}"/>
              </a:ext>
            </a:extLst>
          </p:cNvPr>
          <p:cNvSpPr>
            <a:spLocks noChangeArrowheads="1"/>
          </p:cNvSpPr>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a:solidFill>
                  <a:schemeClr val="tx1"/>
                </a:solidFill>
                <a:latin typeface="Times New Roman" panose="02020603050405020304" pitchFamily="18" charset="0"/>
              </a:defRPr>
            </a:lvl1pPr>
            <a:lvl2pPr marL="742950" indent="-285750">
              <a:defRPr sz="2800">
                <a:solidFill>
                  <a:schemeClr val="tx1"/>
                </a:solidFill>
                <a:latin typeface="Times New Roman" panose="02020603050405020304" pitchFamily="18" charset="0"/>
              </a:defRPr>
            </a:lvl2pPr>
            <a:lvl3pPr marL="1143000" indent="-228600">
              <a:defRPr sz="2800">
                <a:solidFill>
                  <a:schemeClr val="tx1"/>
                </a:solidFill>
                <a:latin typeface="Times New Roman" panose="02020603050405020304" pitchFamily="18" charset="0"/>
              </a:defRPr>
            </a:lvl3pPr>
            <a:lvl4pPr marL="1600200" indent="-228600">
              <a:defRPr sz="2800">
                <a:solidFill>
                  <a:schemeClr val="tx1"/>
                </a:solidFill>
                <a:latin typeface="Times New Roman" panose="02020603050405020304" pitchFamily="18" charset="0"/>
              </a:defRPr>
            </a:lvl4pPr>
            <a:lvl5pPr marL="2057400" indent="-228600">
              <a:defRPr sz="28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defRPr>
            </a:lvl9pPr>
          </a:lstStyle>
          <a:p>
            <a:endParaRPr lang="en-GB" altLang="en-US" noProof="1"/>
          </a:p>
        </p:txBody>
      </p:sp>
      <p:sp>
        <p:nvSpPr>
          <p:cNvPr id="15366" name="Rectangle 5">
            <a:extLst>
              <a:ext uri="{FF2B5EF4-FFF2-40B4-BE49-F238E27FC236}">
                <a16:creationId xmlns:a16="http://schemas.microsoft.com/office/drawing/2014/main" id="{76CB7CE3-37DC-4BBC-B5C7-F5C39AB0F919}"/>
              </a:ext>
            </a:extLst>
          </p:cNvPr>
          <p:cNvSpPr>
            <a:spLocks noChangeArrowheads="1"/>
          </p:cNvSpP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a:solidFill>
                  <a:schemeClr val="tx1"/>
                </a:solidFill>
                <a:latin typeface="Times New Roman" panose="02020603050405020304" pitchFamily="18" charset="0"/>
              </a:defRPr>
            </a:lvl1pPr>
            <a:lvl2pPr marL="742950" indent="-285750">
              <a:defRPr sz="2800">
                <a:solidFill>
                  <a:schemeClr val="tx1"/>
                </a:solidFill>
                <a:latin typeface="Times New Roman" panose="02020603050405020304" pitchFamily="18" charset="0"/>
              </a:defRPr>
            </a:lvl2pPr>
            <a:lvl3pPr marL="1143000" indent="-228600">
              <a:defRPr sz="2800">
                <a:solidFill>
                  <a:schemeClr val="tx1"/>
                </a:solidFill>
                <a:latin typeface="Times New Roman" panose="02020603050405020304" pitchFamily="18" charset="0"/>
              </a:defRPr>
            </a:lvl3pPr>
            <a:lvl4pPr marL="1600200" indent="-228600">
              <a:defRPr sz="2800">
                <a:solidFill>
                  <a:schemeClr val="tx1"/>
                </a:solidFill>
                <a:latin typeface="Times New Roman" panose="02020603050405020304" pitchFamily="18" charset="0"/>
              </a:defRPr>
            </a:lvl4pPr>
            <a:lvl5pPr marL="2057400" indent="-228600">
              <a:defRPr sz="28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defRPr>
            </a:lvl9pPr>
          </a:lstStyle>
          <a:p>
            <a:endParaRPr lang="en-GB" altLang="en-US" noProof="1"/>
          </a:p>
        </p:txBody>
      </p:sp>
      <p:sp>
        <p:nvSpPr>
          <p:cNvPr id="15367" name="Rectangle 6">
            <a:extLst>
              <a:ext uri="{FF2B5EF4-FFF2-40B4-BE49-F238E27FC236}">
                <a16:creationId xmlns:a16="http://schemas.microsoft.com/office/drawing/2014/main" id="{47C991C7-3367-41B4-B296-AA36084472D5}"/>
              </a:ext>
            </a:extLst>
          </p:cNvPr>
          <p:cNvSpPr>
            <a:spLocks noGrp="1" noChangeArrowheads="1"/>
          </p:cNvSpPr>
          <p:nvPr>
            <p:ph type="body" idx="1"/>
          </p:nvPr>
        </p:nvSpPr>
        <p:spPr>
          <a:noFill/>
        </p:spPr>
        <p:txBody>
          <a:bodyPr lIns="92075" tIns="46038" rIns="92075" bIns="46038"/>
          <a:lstStyle/>
          <a:p>
            <a:endParaRPr lang="en-GB" altLang="en-US" noProof="1"/>
          </a:p>
        </p:txBody>
      </p:sp>
      <p:sp>
        <p:nvSpPr>
          <p:cNvPr id="15368" name="Rectangle 7">
            <a:extLst>
              <a:ext uri="{FF2B5EF4-FFF2-40B4-BE49-F238E27FC236}">
                <a16:creationId xmlns:a16="http://schemas.microsoft.com/office/drawing/2014/main" id="{9A8DFC8A-4112-415B-9D5A-6606A55F57AD}"/>
              </a:ext>
            </a:extLst>
          </p:cNvPr>
          <p:cNvSpPr>
            <a:spLocks noGrp="1" noRot="1" noChangeAspect="1" noChangeArrowheads="1" noTextEdit="1"/>
          </p:cNvSpPr>
          <p:nvPr>
            <p:ph type="sldImg"/>
          </p:nvPr>
        </p:nvSpPr>
        <p:spPr>
          <a:ln w="12700" cap="flat">
            <a:solidFill>
              <a:schemeClr val="tx1"/>
            </a:solidFill>
          </a:ln>
        </p:spPr>
      </p:sp>
    </p:spTree>
    <p:extLst>
      <p:ext uri="{BB962C8B-B14F-4D97-AF65-F5344CB8AC3E}">
        <p14:creationId xmlns:p14="http://schemas.microsoft.com/office/powerpoint/2010/main" val="33635281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E07F997-873C-4748-B47E-D3D194425DC1}"/>
              </a:ext>
            </a:extLst>
          </p:cNvPr>
          <p:cNvSpPr>
            <a:spLocks noGrp="1" noChangeArrowheads="1"/>
          </p:cNvSpPr>
          <p:nvPr>
            <p:ph type="sldNum" sz="quarter" idx="5"/>
          </p:nvPr>
        </p:nvSpPr>
        <p:spPr>
          <a:ln/>
        </p:spPr>
        <p:txBody>
          <a:bodyPr/>
          <a:lstStyle/>
          <a:p>
            <a:fld id="{93EFB320-CA54-4B67-8771-A1C525BEEE29}" type="slidenum">
              <a:rPr lang="en-GB" altLang="en-US"/>
              <a:pPr/>
              <a:t>24</a:t>
            </a:fld>
            <a:endParaRPr lang="en-GB" altLang="en-US"/>
          </a:p>
        </p:txBody>
      </p:sp>
      <p:sp>
        <p:nvSpPr>
          <p:cNvPr id="41986" name="Rectangle 7">
            <a:extLst>
              <a:ext uri="{FF2B5EF4-FFF2-40B4-BE49-F238E27FC236}">
                <a16:creationId xmlns:a16="http://schemas.microsoft.com/office/drawing/2014/main" id="{B9C33BD3-5263-4C6D-BC7D-4E980A9BA60A}"/>
              </a:ext>
            </a:extLst>
          </p:cNvPr>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r"/>
            <a:fld id="{59F5294A-3475-4EB7-A671-BE9388F863AE}" type="slidenum">
              <a:rPr lang="en-GB" altLang="en-US" sz="1200"/>
              <a:pPr algn="r"/>
              <a:t>24</a:t>
            </a:fld>
            <a:endParaRPr lang="en-GB" altLang="en-US" sz="1200"/>
          </a:p>
        </p:txBody>
      </p:sp>
      <p:sp>
        <p:nvSpPr>
          <p:cNvPr id="41987" name="Rectangle 2">
            <a:extLst>
              <a:ext uri="{FF2B5EF4-FFF2-40B4-BE49-F238E27FC236}">
                <a16:creationId xmlns:a16="http://schemas.microsoft.com/office/drawing/2014/main" id="{49BAF54E-67B9-4A8D-9D4D-72A26971C3CD}"/>
              </a:ext>
            </a:extLst>
          </p:cNvPr>
          <p:cNvSpPr>
            <a:spLocks noGrp="1" noChangeArrowheads="1"/>
          </p:cNvSpPr>
          <p:nvPr>
            <p:ph type="body" idx="1"/>
          </p:nvPr>
        </p:nvSpPr>
        <p:spPr/>
        <p:txBody>
          <a:bodyPr lIns="92075" tIns="46038" rIns="92075" bIns="46038"/>
          <a:lstStyle/>
          <a:p>
            <a:endParaRPr lang="en-GB" altLang="en-US" noProof="1"/>
          </a:p>
        </p:txBody>
      </p:sp>
      <p:sp>
        <p:nvSpPr>
          <p:cNvPr id="41988" name="Rectangle 3">
            <a:extLst>
              <a:ext uri="{FF2B5EF4-FFF2-40B4-BE49-F238E27FC236}">
                <a16:creationId xmlns:a16="http://schemas.microsoft.com/office/drawing/2014/main" id="{81D861E1-432A-49AE-A8CC-635FF27CE8DC}"/>
              </a:ext>
            </a:extLst>
          </p:cNvPr>
          <p:cNvSpPr>
            <a:spLocks noGrp="1" noRot="1" noChangeAspect="1" noChangeArrowheads="1" noTextEdit="1"/>
          </p:cNvSpPr>
          <p:nvPr>
            <p:ph type="sldImg"/>
          </p:nvPr>
        </p:nvSpPr>
        <p:spPr>
          <a:ln w="12700" cap="flat">
            <a:solidFill>
              <a:schemeClr val="tx1"/>
            </a:solidFill>
          </a:ln>
        </p:spPr>
      </p:sp>
    </p:spTree>
    <p:extLst>
      <p:ext uri="{BB962C8B-B14F-4D97-AF65-F5344CB8AC3E}">
        <p14:creationId xmlns:p14="http://schemas.microsoft.com/office/powerpoint/2010/main" val="10728919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6380254-7C6A-409D-9653-8B0161D10DC3}"/>
              </a:ext>
            </a:extLst>
          </p:cNvPr>
          <p:cNvSpPr>
            <a:spLocks noGrp="1" noChangeArrowheads="1"/>
          </p:cNvSpPr>
          <p:nvPr>
            <p:ph type="sldNum" sz="quarter" idx="5"/>
          </p:nvPr>
        </p:nvSpPr>
        <p:spPr>
          <a:ln/>
        </p:spPr>
        <p:txBody>
          <a:bodyPr/>
          <a:lstStyle/>
          <a:p>
            <a:fld id="{20CE27A2-B39D-4BBF-A4CC-16B139C9AA35}" type="slidenum">
              <a:rPr lang="en-GB" altLang="en-US"/>
              <a:pPr/>
              <a:t>25</a:t>
            </a:fld>
            <a:endParaRPr lang="en-GB" altLang="en-US"/>
          </a:p>
        </p:txBody>
      </p:sp>
      <p:sp>
        <p:nvSpPr>
          <p:cNvPr id="44034" name="Rectangle 7">
            <a:extLst>
              <a:ext uri="{FF2B5EF4-FFF2-40B4-BE49-F238E27FC236}">
                <a16:creationId xmlns:a16="http://schemas.microsoft.com/office/drawing/2014/main" id="{7A424618-1CD3-47B1-AE64-947A79967949}"/>
              </a:ext>
            </a:extLst>
          </p:cNvPr>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r"/>
            <a:fld id="{7AED6ABF-6E87-4FFF-9060-67BA7E6DF436}" type="slidenum">
              <a:rPr lang="en-GB" altLang="en-US" sz="1200"/>
              <a:pPr algn="r"/>
              <a:t>25</a:t>
            </a:fld>
            <a:endParaRPr lang="en-GB" altLang="en-US" sz="1200"/>
          </a:p>
        </p:txBody>
      </p:sp>
      <p:sp>
        <p:nvSpPr>
          <p:cNvPr id="44035" name="Rectangle 2">
            <a:extLst>
              <a:ext uri="{FF2B5EF4-FFF2-40B4-BE49-F238E27FC236}">
                <a16:creationId xmlns:a16="http://schemas.microsoft.com/office/drawing/2014/main" id="{6FAD8722-639B-4850-AB07-D6F359AD4511}"/>
              </a:ext>
            </a:extLst>
          </p:cNvPr>
          <p:cNvSpPr>
            <a:spLocks noGrp="1" noChangeArrowheads="1"/>
          </p:cNvSpPr>
          <p:nvPr>
            <p:ph type="body" idx="1"/>
          </p:nvPr>
        </p:nvSpPr>
        <p:spPr/>
        <p:txBody>
          <a:bodyPr lIns="92075" tIns="46038" rIns="92075" bIns="46038"/>
          <a:lstStyle/>
          <a:p>
            <a:endParaRPr lang="en-GB" altLang="en-US" noProof="1"/>
          </a:p>
        </p:txBody>
      </p:sp>
      <p:sp>
        <p:nvSpPr>
          <p:cNvPr id="44036" name="Rectangle 3">
            <a:extLst>
              <a:ext uri="{FF2B5EF4-FFF2-40B4-BE49-F238E27FC236}">
                <a16:creationId xmlns:a16="http://schemas.microsoft.com/office/drawing/2014/main" id="{38A24B25-BA2D-4AF4-A562-12B8D69D9D7B}"/>
              </a:ext>
            </a:extLst>
          </p:cNvPr>
          <p:cNvSpPr>
            <a:spLocks noGrp="1" noRot="1" noChangeAspect="1" noChangeArrowheads="1" noTextEdit="1"/>
          </p:cNvSpPr>
          <p:nvPr>
            <p:ph type="sldImg"/>
          </p:nvPr>
        </p:nvSpPr>
        <p:spPr>
          <a:ln w="12700" cap="flat">
            <a:solidFill>
              <a:schemeClr val="tx1"/>
            </a:solidFill>
          </a:ln>
        </p:spPr>
      </p:sp>
    </p:spTree>
    <p:extLst>
      <p:ext uri="{BB962C8B-B14F-4D97-AF65-F5344CB8AC3E}">
        <p14:creationId xmlns:p14="http://schemas.microsoft.com/office/powerpoint/2010/main" val="354001947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6380254-7C6A-409D-9653-8B0161D10DC3}"/>
              </a:ext>
            </a:extLst>
          </p:cNvPr>
          <p:cNvSpPr>
            <a:spLocks noGrp="1" noChangeArrowheads="1"/>
          </p:cNvSpPr>
          <p:nvPr>
            <p:ph type="sldNum" sz="quarter" idx="5"/>
          </p:nvPr>
        </p:nvSpPr>
        <p:spPr>
          <a:ln/>
        </p:spPr>
        <p:txBody>
          <a:bodyPr/>
          <a:lstStyle/>
          <a:p>
            <a:fld id="{20CE27A2-B39D-4BBF-A4CC-16B139C9AA35}" type="slidenum">
              <a:rPr lang="en-GB" altLang="en-US"/>
              <a:pPr/>
              <a:t>29</a:t>
            </a:fld>
            <a:endParaRPr lang="en-GB" altLang="en-US"/>
          </a:p>
        </p:txBody>
      </p:sp>
      <p:sp>
        <p:nvSpPr>
          <p:cNvPr id="44034" name="Rectangle 7">
            <a:extLst>
              <a:ext uri="{FF2B5EF4-FFF2-40B4-BE49-F238E27FC236}">
                <a16:creationId xmlns:a16="http://schemas.microsoft.com/office/drawing/2014/main" id="{7A424618-1CD3-47B1-AE64-947A79967949}"/>
              </a:ext>
            </a:extLst>
          </p:cNvPr>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r"/>
            <a:fld id="{7AED6ABF-6E87-4FFF-9060-67BA7E6DF436}" type="slidenum">
              <a:rPr lang="en-GB" altLang="en-US" sz="1200"/>
              <a:pPr algn="r"/>
              <a:t>29</a:t>
            </a:fld>
            <a:endParaRPr lang="en-GB" altLang="en-US" sz="1200"/>
          </a:p>
        </p:txBody>
      </p:sp>
      <p:sp>
        <p:nvSpPr>
          <p:cNvPr id="44035" name="Rectangle 2">
            <a:extLst>
              <a:ext uri="{FF2B5EF4-FFF2-40B4-BE49-F238E27FC236}">
                <a16:creationId xmlns:a16="http://schemas.microsoft.com/office/drawing/2014/main" id="{6FAD8722-639B-4850-AB07-D6F359AD4511}"/>
              </a:ext>
            </a:extLst>
          </p:cNvPr>
          <p:cNvSpPr>
            <a:spLocks noGrp="1" noChangeArrowheads="1"/>
          </p:cNvSpPr>
          <p:nvPr>
            <p:ph type="body" idx="1"/>
          </p:nvPr>
        </p:nvSpPr>
        <p:spPr/>
        <p:txBody>
          <a:bodyPr lIns="92075" tIns="46038" rIns="92075" bIns="46038"/>
          <a:lstStyle/>
          <a:p>
            <a:endParaRPr lang="en-GB" altLang="en-US" noProof="1"/>
          </a:p>
        </p:txBody>
      </p:sp>
      <p:sp>
        <p:nvSpPr>
          <p:cNvPr id="44036" name="Rectangle 3">
            <a:extLst>
              <a:ext uri="{FF2B5EF4-FFF2-40B4-BE49-F238E27FC236}">
                <a16:creationId xmlns:a16="http://schemas.microsoft.com/office/drawing/2014/main" id="{38A24B25-BA2D-4AF4-A562-12B8D69D9D7B}"/>
              </a:ext>
            </a:extLst>
          </p:cNvPr>
          <p:cNvSpPr>
            <a:spLocks noGrp="1" noRot="1" noChangeAspect="1" noChangeArrowheads="1" noTextEdit="1"/>
          </p:cNvSpPr>
          <p:nvPr>
            <p:ph type="sldImg"/>
          </p:nvPr>
        </p:nvSpPr>
        <p:spPr>
          <a:ln w="12700" cap="flat">
            <a:solidFill>
              <a:schemeClr val="tx1"/>
            </a:solidFill>
          </a:ln>
        </p:spPr>
      </p:sp>
    </p:spTree>
    <p:extLst>
      <p:ext uri="{BB962C8B-B14F-4D97-AF65-F5344CB8AC3E}">
        <p14:creationId xmlns:p14="http://schemas.microsoft.com/office/powerpoint/2010/main" val="3493110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7">
            <a:extLst>
              <a:ext uri="{FF2B5EF4-FFF2-40B4-BE49-F238E27FC236}">
                <a16:creationId xmlns:a16="http://schemas.microsoft.com/office/drawing/2014/main" id="{673FF7A2-A9BB-44BB-85E0-B3FAD435357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053AFFEF-0D4A-4CAF-BEE1-557EE55D00F9}" type="slidenum">
              <a:rPr lang="en-GB" altLang="en-US" sz="1200" smtClean="0"/>
              <a:pPr/>
              <a:t>30</a:t>
            </a:fld>
            <a:endParaRPr lang="en-GB" altLang="en-US" sz="1200"/>
          </a:p>
        </p:txBody>
      </p:sp>
      <p:sp>
        <p:nvSpPr>
          <p:cNvPr id="5123" name="Rectangle 2">
            <a:extLst>
              <a:ext uri="{FF2B5EF4-FFF2-40B4-BE49-F238E27FC236}">
                <a16:creationId xmlns:a16="http://schemas.microsoft.com/office/drawing/2014/main" id="{81EC9321-96BA-4907-A42B-C179B9F59984}"/>
              </a:ext>
            </a:extLst>
          </p:cNvPr>
          <p:cNvSpPr>
            <a:spLocks noGrp="1" noRot="1" noChangeAspect="1" noChangeArrowheads="1" noTextEdit="1"/>
          </p:cNvSpPr>
          <p:nvPr>
            <p:ph type="sldImg"/>
          </p:nvPr>
        </p:nvSpPr>
        <p:spPr>
          <a:ln/>
        </p:spPr>
      </p:sp>
      <p:sp>
        <p:nvSpPr>
          <p:cNvPr id="5124" name="Rectangle 3">
            <a:extLst>
              <a:ext uri="{FF2B5EF4-FFF2-40B4-BE49-F238E27FC236}">
                <a16:creationId xmlns:a16="http://schemas.microsoft.com/office/drawing/2014/main" id="{4F1A8497-014C-44ED-AC59-06DC9FBB5A5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281390357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a:extLst>
              <a:ext uri="{FF2B5EF4-FFF2-40B4-BE49-F238E27FC236}">
                <a16:creationId xmlns:a16="http://schemas.microsoft.com/office/drawing/2014/main" id="{BE8E8C9D-96BB-4301-86D9-DC8FFBDAF8E4}"/>
              </a:ext>
            </a:extLst>
          </p:cNvPr>
          <p:cNvSpPr>
            <a:spLocks noGrp="1" noChangeArrowheads="1"/>
          </p:cNvSpPr>
          <p:nvPr>
            <p:ph type="sldNum" sz="quarter" idx="5"/>
          </p:nvPr>
        </p:nvSpPr>
        <p:spPr>
          <a:noFill/>
        </p:spPr>
        <p:txBody>
          <a:bodyPr/>
          <a:lstStyle>
            <a:lvl1pPr>
              <a:defRPr sz="2800">
                <a:solidFill>
                  <a:schemeClr val="tx1"/>
                </a:solidFill>
                <a:latin typeface="Times New Roman" panose="02020603050405020304" pitchFamily="18" charset="0"/>
              </a:defRPr>
            </a:lvl1pPr>
            <a:lvl2pPr marL="742950" indent="-285750">
              <a:defRPr sz="2800">
                <a:solidFill>
                  <a:schemeClr val="tx1"/>
                </a:solidFill>
                <a:latin typeface="Times New Roman" panose="02020603050405020304" pitchFamily="18" charset="0"/>
              </a:defRPr>
            </a:lvl2pPr>
            <a:lvl3pPr marL="1143000" indent="-228600">
              <a:defRPr sz="2800">
                <a:solidFill>
                  <a:schemeClr val="tx1"/>
                </a:solidFill>
                <a:latin typeface="Times New Roman" panose="02020603050405020304" pitchFamily="18" charset="0"/>
              </a:defRPr>
            </a:lvl3pPr>
            <a:lvl4pPr marL="1600200" indent="-228600">
              <a:defRPr sz="2800">
                <a:solidFill>
                  <a:schemeClr val="tx1"/>
                </a:solidFill>
                <a:latin typeface="Times New Roman" panose="02020603050405020304" pitchFamily="18" charset="0"/>
              </a:defRPr>
            </a:lvl4pPr>
            <a:lvl5pPr marL="2057400" indent="-228600">
              <a:defRPr sz="28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defRPr>
            </a:lvl9pPr>
          </a:lstStyle>
          <a:p>
            <a:fld id="{88882CED-9FE6-4D0F-B785-FD6C3613B0DF}" type="slidenum">
              <a:rPr lang="en-GB" altLang="en-US" sz="1200"/>
              <a:pPr/>
              <a:t>31</a:t>
            </a:fld>
            <a:endParaRPr lang="en-GB" altLang="en-US" sz="1200"/>
          </a:p>
        </p:txBody>
      </p:sp>
      <p:sp>
        <p:nvSpPr>
          <p:cNvPr id="48131" name="Rectangle 2">
            <a:extLst>
              <a:ext uri="{FF2B5EF4-FFF2-40B4-BE49-F238E27FC236}">
                <a16:creationId xmlns:a16="http://schemas.microsoft.com/office/drawing/2014/main" id="{6CEFCAD1-AD37-410D-8E88-992C7FC69581}"/>
              </a:ext>
            </a:extLst>
          </p:cNvPr>
          <p:cNvSpPr>
            <a:spLocks noChangeArrowheads="1"/>
          </p:cNvSpPr>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a:solidFill>
                  <a:schemeClr val="tx1"/>
                </a:solidFill>
                <a:latin typeface="Times New Roman" panose="02020603050405020304" pitchFamily="18" charset="0"/>
              </a:defRPr>
            </a:lvl1pPr>
            <a:lvl2pPr marL="742950" indent="-285750">
              <a:defRPr sz="2800">
                <a:solidFill>
                  <a:schemeClr val="tx1"/>
                </a:solidFill>
                <a:latin typeface="Times New Roman" panose="02020603050405020304" pitchFamily="18" charset="0"/>
              </a:defRPr>
            </a:lvl2pPr>
            <a:lvl3pPr marL="1143000" indent="-228600">
              <a:defRPr sz="2800">
                <a:solidFill>
                  <a:schemeClr val="tx1"/>
                </a:solidFill>
                <a:latin typeface="Times New Roman" panose="02020603050405020304" pitchFamily="18" charset="0"/>
              </a:defRPr>
            </a:lvl3pPr>
            <a:lvl4pPr marL="1600200" indent="-228600">
              <a:defRPr sz="2800">
                <a:solidFill>
                  <a:schemeClr val="tx1"/>
                </a:solidFill>
                <a:latin typeface="Times New Roman" panose="02020603050405020304" pitchFamily="18" charset="0"/>
              </a:defRPr>
            </a:lvl4pPr>
            <a:lvl5pPr marL="2057400" indent="-228600">
              <a:defRPr sz="28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defRPr>
            </a:lvl9pPr>
          </a:lstStyle>
          <a:p>
            <a:endParaRPr lang="en-GB" altLang="en-US" noProof="1"/>
          </a:p>
        </p:txBody>
      </p:sp>
      <p:sp>
        <p:nvSpPr>
          <p:cNvPr id="48132" name="Rectangle 3">
            <a:extLst>
              <a:ext uri="{FF2B5EF4-FFF2-40B4-BE49-F238E27FC236}">
                <a16:creationId xmlns:a16="http://schemas.microsoft.com/office/drawing/2014/main" id="{2735D2FC-3D80-4D80-B8C5-6BAF12A8707A}"/>
              </a:ext>
            </a:extLst>
          </p:cNvPr>
          <p:cNvSpPr>
            <a:spLocks noChangeArrowheads="1"/>
          </p:cNvSpPr>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0" rIns="19050" bIns="0" anchor="b"/>
          <a:lstStyle>
            <a:lvl1pPr defTabSz="762000">
              <a:defRPr sz="2800">
                <a:solidFill>
                  <a:schemeClr val="tx1"/>
                </a:solidFill>
                <a:latin typeface="Times New Roman" panose="02020603050405020304" pitchFamily="18" charset="0"/>
              </a:defRPr>
            </a:lvl1pPr>
            <a:lvl2pPr marL="742950" indent="-285750" defTabSz="762000">
              <a:defRPr sz="2800">
                <a:solidFill>
                  <a:schemeClr val="tx1"/>
                </a:solidFill>
                <a:latin typeface="Times New Roman" panose="02020603050405020304" pitchFamily="18" charset="0"/>
              </a:defRPr>
            </a:lvl2pPr>
            <a:lvl3pPr marL="1143000" indent="-228600" defTabSz="762000">
              <a:defRPr sz="2800">
                <a:solidFill>
                  <a:schemeClr val="tx1"/>
                </a:solidFill>
                <a:latin typeface="Times New Roman" panose="02020603050405020304" pitchFamily="18" charset="0"/>
              </a:defRPr>
            </a:lvl3pPr>
            <a:lvl4pPr marL="1600200" indent="-228600" defTabSz="762000">
              <a:defRPr sz="2800">
                <a:solidFill>
                  <a:schemeClr val="tx1"/>
                </a:solidFill>
                <a:latin typeface="Times New Roman" panose="02020603050405020304" pitchFamily="18" charset="0"/>
              </a:defRPr>
            </a:lvl4pPr>
            <a:lvl5pPr marL="2057400" indent="-228600" defTabSz="762000">
              <a:defRPr sz="2800">
                <a:solidFill>
                  <a:schemeClr val="tx1"/>
                </a:solidFill>
                <a:latin typeface="Times New Roman" panose="02020603050405020304" pitchFamily="18" charset="0"/>
              </a:defRPr>
            </a:lvl5pPr>
            <a:lvl6pPr marL="2514600" indent="-228600" defTabSz="762000" eaLnBrk="0" fontAlgn="base" hangingPunct="0">
              <a:spcBef>
                <a:spcPct val="0"/>
              </a:spcBef>
              <a:spcAft>
                <a:spcPct val="0"/>
              </a:spcAft>
              <a:defRPr sz="2800">
                <a:solidFill>
                  <a:schemeClr val="tx1"/>
                </a:solidFill>
                <a:latin typeface="Times New Roman" panose="02020603050405020304" pitchFamily="18" charset="0"/>
              </a:defRPr>
            </a:lvl6pPr>
            <a:lvl7pPr marL="2971800" indent="-228600" defTabSz="762000" eaLnBrk="0" fontAlgn="base" hangingPunct="0">
              <a:spcBef>
                <a:spcPct val="0"/>
              </a:spcBef>
              <a:spcAft>
                <a:spcPct val="0"/>
              </a:spcAft>
              <a:defRPr sz="2800">
                <a:solidFill>
                  <a:schemeClr val="tx1"/>
                </a:solidFill>
                <a:latin typeface="Times New Roman" panose="02020603050405020304" pitchFamily="18" charset="0"/>
              </a:defRPr>
            </a:lvl7pPr>
            <a:lvl8pPr marL="3429000" indent="-228600" defTabSz="762000" eaLnBrk="0" fontAlgn="base" hangingPunct="0">
              <a:spcBef>
                <a:spcPct val="0"/>
              </a:spcBef>
              <a:spcAft>
                <a:spcPct val="0"/>
              </a:spcAft>
              <a:defRPr sz="2800">
                <a:solidFill>
                  <a:schemeClr val="tx1"/>
                </a:solidFill>
                <a:latin typeface="Times New Roman" panose="02020603050405020304" pitchFamily="18" charset="0"/>
              </a:defRPr>
            </a:lvl8pPr>
            <a:lvl9pPr marL="3886200" indent="-228600" defTabSz="762000" eaLnBrk="0" fontAlgn="base" hangingPunct="0">
              <a:spcBef>
                <a:spcPct val="0"/>
              </a:spcBef>
              <a:spcAft>
                <a:spcPct val="0"/>
              </a:spcAft>
              <a:defRPr sz="2800">
                <a:solidFill>
                  <a:schemeClr val="tx1"/>
                </a:solidFill>
                <a:latin typeface="Times New Roman" panose="02020603050405020304" pitchFamily="18" charset="0"/>
              </a:defRPr>
            </a:lvl9pPr>
          </a:lstStyle>
          <a:p>
            <a:pPr algn="r"/>
            <a:r>
              <a:rPr lang="en-GB" altLang="en-US" sz="1000" i="1"/>
              <a:t>8</a:t>
            </a:r>
          </a:p>
        </p:txBody>
      </p:sp>
      <p:sp>
        <p:nvSpPr>
          <p:cNvPr id="48133" name="Rectangle 4">
            <a:extLst>
              <a:ext uri="{FF2B5EF4-FFF2-40B4-BE49-F238E27FC236}">
                <a16:creationId xmlns:a16="http://schemas.microsoft.com/office/drawing/2014/main" id="{FAD0D3F6-8798-47C8-AF36-AE08AA1364CC}"/>
              </a:ext>
            </a:extLst>
          </p:cNvPr>
          <p:cNvSpPr>
            <a:spLocks noChangeArrowheads="1"/>
          </p:cNvSpPr>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a:solidFill>
                  <a:schemeClr val="tx1"/>
                </a:solidFill>
                <a:latin typeface="Times New Roman" panose="02020603050405020304" pitchFamily="18" charset="0"/>
              </a:defRPr>
            </a:lvl1pPr>
            <a:lvl2pPr marL="742950" indent="-285750">
              <a:defRPr sz="2800">
                <a:solidFill>
                  <a:schemeClr val="tx1"/>
                </a:solidFill>
                <a:latin typeface="Times New Roman" panose="02020603050405020304" pitchFamily="18" charset="0"/>
              </a:defRPr>
            </a:lvl2pPr>
            <a:lvl3pPr marL="1143000" indent="-228600">
              <a:defRPr sz="2800">
                <a:solidFill>
                  <a:schemeClr val="tx1"/>
                </a:solidFill>
                <a:latin typeface="Times New Roman" panose="02020603050405020304" pitchFamily="18" charset="0"/>
              </a:defRPr>
            </a:lvl3pPr>
            <a:lvl4pPr marL="1600200" indent="-228600">
              <a:defRPr sz="2800">
                <a:solidFill>
                  <a:schemeClr val="tx1"/>
                </a:solidFill>
                <a:latin typeface="Times New Roman" panose="02020603050405020304" pitchFamily="18" charset="0"/>
              </a:defRPr>
            </a:lvl4pPr>
            <a:lvl5pPr marL="2057400" indent="-228600">
              <a:defRPr sz="28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defRPr>
            </a:lvl9pPr>
          </a:lstStyle>
          <a:p>
            <a:endParaRPr lang="en-GB" altLang="en-US" noProof="1"/>
          </a:p>
        </p:txBody>
      </p:sp>
      <p:sp>
        <p:nvSpPr>
          <p:cNvPr id="48134" name="Rectangle 5">
            <a:extLst>
              <a:ext uri="{FF2B5EF4-FFF2-40B4-BE49-F238E27FC236}">
                <a16:creationId xmlns:a16="http://schemas.microsoft.com/office/drawing/2014/main" id="{C8AAF0E9-37B1-4FD0-8521-7066ADFE76B6}"/>
              </a:ext>
            </a:extLst>
          </p:cNvPr>
          <p:cNvSpPr>
            <a:spLocks noChangeArrowheads="1"/>
          </p:cNvSpP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a:solidFill>
                  <a:schemeClr val="tx1"/>
                </a:solidFill>
                <a:latin typeface="Times New Roman" panose="02020603050405020304" pitchFamily="18" charset="0"/>
              </a:defRPr>
            </a:lvl1pPr>
            <a:lvl2pPr marL="742950" indent="-285750">
              <a:defRPr sz="2800">
                <a:solidFill>
                  <a:schemeClr val="tx1"/>
                </a:solidFill>
                <a:latin typeface="Times New Roman" panose="02020603050405020304" pitchFamily="18" charset="0"/>
              </a:defRPr>
            </a:lvl2pPr>
            <a:lvl3pPr marL="1143000" indent="-228600">
              <a:defRPr sz="2800">
                <a:solidFill>
                  <a:schemeClr val="tx1"/>
                </a:solidFill>
                <a:latin typeface="Times New Roman" panose="02020603050405020304" pitchFamily="18" charset="0"/>
              </a:defRPr>
            </a:lvl3pPr>
            <a:lvl4pPr marL="1600200" indent="-228600">
              <a:defRPr sz="2800">
                <a:solidFill>
                  <a:schemeClr val="tx1"/>
                </a:solidFill>
                <a:latin typeface="Times New Roman" panose="02020603050405020304" pitchFamily="18" charset="0"/>
              </a:defRPr>
            </a:lvl4pPr>
            <a:lvl5pPr marL="2057400" indent="-228600">
              <a:defRPr sz="28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defRPr>
            </a:lvl9pPr>
          </a:lstStyle>
          <a:p>
            <a:endParaRPr lang="en-GB" altLang="en-US" noProof="1"/>
          </a:p>
        </p:txBody>
      </p:sp>
      <p:sp>
        <p:nvSpPr>
          <p:cNvPr id="48135" name="Rectangle 6">
            <a:extLst>
              <a:ext uri="{FF2B5EF4-FFF2-40B4-BE49-F238E27FC236}">
                <a16:creationId xmlns:a16="http://schemas.microsoft.com/office/drawing/2014/main" id="{10BF393E-6E4B-4F81-B080-57D2ED08E746}"/>
              </a:ext>
            </a:extLst>
          </p:cNvPr>
          <p:cNvSpPr>
            <a:spLocks noGrp="1" noChangeArrowheads="1"/>
          </p:cNvSpPr>
          <p:nvPr>
            <p:ph type="body" idx="1"/>
          </p:nvPr>
        </p:nvSpPr>
        <p:spPr>
          <a:noFill/>
        </p:spPr>
        <p:txBody>
          <a:bodyPr lIns="92075" tIns="46038" rIns="92075" bIns="46038"/>
          <a:lstStyle/>
          <a:p>
            <a:endParaRPr lang="en-GB" altLang="en-US" noProof="1"/>
          </a:p>
        </p:txBody>
      </p:sp>
      <p:sp>
        <p:nvSpPr>
          <p:cNvPr id="48136" name="Rectangle 7">
            <a:extLst>
              <a:ext uri="{FF2B5EF4-FFF2-40B4-BE49-F238E27FC236}">
                <a16:creationId xmlns:a16="http://schemas.microsoft.com/office/drawing/2014/main" id="{11400A0A-5C0D-446F-89FC-5A7EB0396AAB}"/>
              </a:ext>
            </a:extLst>
          </p:cNvPr>
          <p:cNvSpPr>
            <a:spLocks noGrp="1" noRot="1" noChangeAspect="1" noChangeArrowheads="1" noTextEdit="1"/>
          </p:cNvSpPr>
          <p:nvPr>
            <p:ph type="sldImg"/>
          </p:nvPr>
        </p:nvSpPr>
        <p:spPr>
          <a:ln w="12700" cap="flat">
            <a:solidFill>
              <a:schemeClr val="tx1"/>
            </a:solidFill>
          </a:ln>
        </p:spPr>
      </p:sp>
    </p:spTree>
    <p:extLst>
      <p:ext uri="{BB962C8B-B14F-4D97-AF65-F5344CB8AC3E}">
        <p14:creationId xmlns:p14="http://schemas.microsoft.com/office/powerpoint/2010/main" val="267346409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a:extLst>
              <a:ext uri="{FF2B5EF4-FFF2-40B4-BE49-F238E27FC236}">
                <a16:creationId xmlns:a16="http://schemas.microsoft.com/office/drawing/2014/main" id="{BE8E8C9D-96BB-4301-86D9-DC8FFBDAF8E4}"/>
              </a:ext>
            </a:extLst>
          </p:cNvPr>
          <p:cNvSpPr>
            <a:spLocks noGrp="1" noChangeArrowheads="1"/>
          </p:cNvSpPr>
          <p:nvPr>
            <p:ph type="sldNum" sz="quarter" idx="5"/>
          </p:nvPr>
        </p:nvSpPr>
        <p:spPr>
          <a:noFill/>
        </p:spPr>
        <p:txBody>
          <a:bodyPr/>
          <a:lstStyle>
            <a:lvl1pPr>
              <a:defRPr sz="2800">
                <a:solidFill>
                  <a:schemeClr val="tx1"/>
                </a:solidFill>
                <a:latin typeface="Times New Roman" panose="02020603050405020304" pitchFamily="18" charset="0"/>
              </a:defRPr>
            </a:lvl1pPr>
            <a:lvl2pPr marL="742950" indent="-285750">
              <a:defRPr sz="2800">
                <a:solidFill>
                  <a:schemeClr val="tx1"/>
                </a:solidFill>
                <a:latin typeface="Times New Roman" panose="02020603050405020304" pitchFamily="18" charset="0"/>
              </a:defRPr>
            </a:lvl2pPr>
            <a:lvl3pPr marL="1143000" indent="-228600">
              <a:defRPr sz="2800">
                <a:solidFill>
                  <a:schemeClr val="tx1"/>
                </a:solidFill>
                <a:latin typeface="Times New Roman" panose="02020603050405020304" pitchFamily="18" charset="0"/>
              </a:defRPr>
            </a:lvl3pPr>
            <a:lvl4pPr marL="1600200" indent="-228600">
              <a:defRPr sz="2800">
                <a:solidFill>
                  <a:schemeClr val="tx1"/>
                </a:solidFill>
                <a:latin typeface="Times New Roman" panose="02020603050405020304" pitchFamily="18" charset="0"/>
              </a:defRPr>
            </a:lvl4pPr>
            <a:lvl5pPr marL="2057400" indent="-228600">
              <a:defRPr sz="28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defRPr>
            </a:lvl9pPr>
          </a:lstStyle>
          <a:p>
            <a:fld id="{88882CED-9FE6-4D0F-B785-FD6C3613B0DF}" type="slidenum">
              <a:rPr lang="en-GB" altLang="en-US" sz="1200"/>
              <a:pPr/>
              <a:t>32</a:t>
            </a:fld>
            <a:endParaRPr lang="en-GB" altLang="en-US" sz="1200"/>
          </a:p>
        </p:txBody>
      </p:sp>
      <p:sp>
        <p:nvSpPr>
          <p:cNvPr id="48131" name="Rectangle 2">
            <a:extLst>
              <a:ext uri="{FF2B5EF4-FFF2-40B4-BE49-F238E27FC236}">
                <a16:creationId xmlns:a16="http://schemas.microsoft.com/office/drawing/2014/main" id="{6CEFCAD1-AD37-410D-8E88-992C7FC69581}"/>
              </a:ext>
            </a:extLst>
          </p:cNvPr>
          <p:cNvSpPr>
            <a:spLocks noChangeArrowheads="1"/>
          </p:cNvSpPr>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a:solidFill>
                  <a:schemeClr val="tx1"/>
                </a:solidFill>
                <a:latin typeface="Times New Roman" panose="02020603050405020304" pitchFamily="18" charset="0"/>
              </a:defRPr>
            </a:lvl1pPr>
            <a:lvl2pPr marL="742950" indent="-285750">
              <a:defRPr sz="2800">
                <a:solidFill>
                  <a:schemeClr val="tx1"/>
                </a:solidFill>
                <a:latin typeface="Times New Roman" panose="02020603050405020304" pitchFamily="18" charset="0"/>
              </a:defRPr>
            </a:lvl2pPr>
            <a:lvl3pPr marL="1143000" indent="-228600">
              <a:defRPr sz="2800">
                <a:solidFill>
                  <a:schemeClr val="tx1"/>
                </a:solidFill>
                <a:latin typeface="Times New Roman" panose="02020603050405020304" pitchFamily="18" charset="0"/>
              </a:defRPr>
            </a:lvl3pPr>
            <a:lvl4pPr marL="1600200" indent="-228600">
              <a:defRPr sz="2800">
                <a:solidFill>
                  <a:schemeClr val="tx1"/>
                </a:solidFill>
                <a:latin typeface="Times New Roman" panose="02020603050405020304" pitchFamily="18" charset="0"/>
              </a:defRPr>
            </a:lvl4pPr>
            <a:lvl5pPr marL="2057400" indent="-228600">
              <a:defRPr sz="28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defRPr>
            </a:lvl9pPr>
          </a:lstStyle>
          <a:p>
            <a:endParaRPr lang="en-GB" altLang="en-US" noProof="1"/>
          </a:p>
        </p:txBody>
      </p:sp>
      <p:sp>
        <p:nvSpPr>
          <p:cNvPr id="48132" name="Rectangle 3">
            <a:extLst>
              <a:ext uri="{FF2B5EF4-FFF2-40B4-BE49-F238E27FC236}">
                <a16:creationId xmlns:a16="http://schemas.microsoft.com/office/drawing/2014/main" id="{2735D2FC-3D80-4D80-B8C5-6BAF12A8707A}"/>
              </a:ext>
            </a:extLst>
          </p:cNvPr>
          <p:cNvSpPr>
            <a:spLocks noChangeArrowheads="1"/>
          </p:cNvSpPr>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0" rIns="19050" bIns="0" anchor="b"/>
          <a:lstStyle>
            <a:lvl1pPr defTabSz="762000">
              <a:defRPr sz="2800">
                <a:solidFill>
                  <a:schemeClr val="tx1"/>
                </a:solidFill>
                <a:latin typeface="Times New Roman" panose="02020603050405020304" pitchFamily="18" charset="0"/>
              </a:defRPr>
            </a:lvl1pPr>
            <a:lvl2pPr marL="742950" indent="-285750" defTabSz="762000">
              <a:defRPr sz="2800">
                <a:solidFill>
                  <a:schemeClr val="tx1"/>
                </a:solidFill>
                <a:latin typeface="Times New Roman" panose="02020603050405020304" pitchFamily="18" charset="0"/>
              </a:defRPr>
            </a:lvl2pPr>
            <a:lvl3pPr marL="1143000" indent="-228600" defTabSz="762000">
              <a:defRPr sz="2800">
                <a:solidFill>
                  <a:schemeClr val="tx1"/>
                </a:solidFill>
                <a:latin typeface="Times New Roman" panose="02020603050405020304" pitchFamily="18" charset="0"/>
              </a:defRPr>
            </a:lvl3pPr>
            <a:lvl4pPr marL="1600200" indent="-228600" defTabSz="762000">
              <a:defRPr sz="2800">
                <a:solidFill>
                  <a:schemeClr val="tx1"/>
                </a:solidFill>
                <a:latin typeface="Times New Roman" panose="02020603050405020304" pitchFamily="18" charset="0"/>
              </a:defRPr>
            </a:lvl4pPr>
            <a:lvl5pPr marL="2057400" indent="-228600" defTabSz="762000">
              <a:defRPr sz="2800">
                <a:solidFill>
                  <a:schemeClr val="tx1"/>
                </a:solidFill>
                <a:latin typeface="Times New Roman" panose="02020603050405020304" pitchFamily="18" charset="0"/>
              </a:defRPr>
            </a:lvl5pPr>
            <a:lvl6pPr marL="2514600" indent="-228600" defTabSz="762000" eaLnBrk="0" fontAlgn="base" hangingPunct="0">
              <a:spcBef>
                <a:spcPct val="0"/>
              </a:spcBef>
              <a:spcAft>
                <a:spcPct val="0"/>
              </a:spcAft>
              <a:defRPr sz="2800">
                <a:solidFill>
                  <a:schemeClr val="tx1"/>
                </a:solidFill>
                <a:latin typeface="Times New Roman" panose="02020603050405020304" pitchFamily="18" charset="0"/>
              </a:defRPr>
            </a:lvl6pPr>
            <a:lvl7pPr marL="2971800" indent="-228600" defTabSz="762000" eaLnBrk="0" fontAlgn="base" hangingPunct="0">
              <a:spcBef>
                <a:spcPct val="0"/>
              </a:spcBef>
              <a:spcAft>
                <a:spcPct val="0"/>
              </a:spcAft>
              <a:defRPr sz="2800">
                <a:solidFill>
                  <a:schemeClr val="tx1"/>
                </a:solidFill>
                <a:latin typeface="Times New Roman" panose="02020603050405020304" pitchFamily="18" charset="0"/>
              </a:defRPr>
            </a:lvl7pPr>
            <a:lvl8pPr marL="3429000" indent="-228600" defTabSz="762000" eaLnBrk="0" fontAlgn="base" hangingPunct="0">
              <a:spcBef>
                <a:spcPct val="0"/>
              </a:spcBef>
              <a:spcAft>
                <a:spcPct val="0"/>
              </a:spcAft>
              <a:defRPr sz="2800">
                <a:solidFill>
                  <a:schemeClr val="tx1"/>
                </a:solidFill>
                <a:latin typeface="Times New Roman" panose="02020603050405020304" pitchFamily="18" charset="0"/>
              </a:defRPr>
            </a:lvl8pPr>
            <a:lvl9pPr marL="3886200" indent="-228600" defTabSz="762000" eaLnBrk="0" fontAlgn="base" hangingPunct="0">
              <a:spcBef>
                <a:spcPct val="0"/>
              </a:spcBef>
              <a:spcAft>
                <a:spcPct val="0"/>
              </a:spcAft>
              <a:defRPr sz="2800">
                <a:solidFill>
                  <a:schemeClr val="tx1"/>
                </a:solidFill>
                <a:latin typeface="Times New Roman" panose="02020603050405020304" pitchFamily="18" charset="0"/>
              </a:defRPr>
            </a:lvl9pPr>
          </a:lstStyle>
          <a:p>
            <a:pPr algn="r"/>
            <a:r>
              <a:rPr lang="en-GB" altLang="en-US" sz="1000" i="1"/>
              <a:t>8</a:t>
            </a:r>
          </a:p>
        </p:txBody>
      </p:sp>
      <p:sp>
        <p:nvSpPr>
          <p:cNvPr id="48133" name="Rectangle 4">
            <a:extLst>
              <a:ext uri="{FF2B5EF4-FFF2-40B4-BE49-F238E27FC236}">
                <a16:creationId xmlns:a16="http://schemas.microsoft.com/office/drawing/2014/main" id="{FAD0D3F6-8798-47C8-AF36-AE08AA1364CC}"/>
              </a:ext>
            </a:extLst>
          </p:cNvPr>
          <p:cNvSpPr>
            <a:spLocks noChangeArrowheads="1"/>
          </p:cNvSpPr>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a:solidFill>
                  <a:schemeClr val="tx1"/>
                </a:solidFill>
                <a:latin typeface="Times New Roman" panose="02020603050405020304" pitchFamily="18" charset="0"/>
              </a:defRPr>
            </a:lvl1pPr>
            <a:lvl2pPr marL="742950" indent="-285750">
              <a:defRPr sz="2800">
                <a:solidFill>
                  <a:schemeClr val="tx1"/>
                </a:solidFill>
                <a:latin typeface="Times New Roman" panose="02020603050405020304" pitchFamily="18" charset="0"/>
              </a:defRPr>
            </a:lvl2pPr>
            <a:lvl3pPr marL="1143000" indent="-228600">
              <a:defRPr sz="2800">
                <a:solidFill>
                  <a:schemeClr val="tx1"/>
                </a:solidFill>
                <a:latin typeface="Times New Roman" panose="02020603050405020304" pitchFamily="18" charset="0"/>
              </a:defRPr>
            </a:lvl3pPr>
            <a:lvl4pPr marL="1600200" indent="-228600">
              <a:defRPr sz="2800">
                <a:solidFill>
                  <a:schemeClr val="tx1"/>
                </a:solidFill>
                <a:latin typeface="Times New Roman" panose="02020603050405020304" pitchFamily="18" charset="0"/>
              </a:defRPr>
            </a:lvl4pPr>
            <a:lvl5pPr marL="2057400" indent="-228600">
              <a:defRPr sz="28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defRPr>
            </a:lvl9pPr>
          </a:lstStyle>
          <a:p>
            <a:endParaRPr lang="en-GB" altLang="en-US" noProof="1"/>
          </a:p>
        </p:txBody>
      </p:sp>
      <p:sp>
        <p:nvSpPr>
          <p:cNvPr id="48134" name="Rectangle 5">
            <a:extLst>
              <a:ext uri="{FF2B5EF4-FFF2-40B4-BE49-F238E27FC236}">
                <a16:creationId xmlns:a16="http://schemas.microsoft.com/office/drawing/2014/main" id="{C8AAF0E9-37B1-4FD0-8521-7066ADFE76B6}"/>
              </a:ext>
            </a:extLst>
          </p:cNvPr>
          <p:cNvSpPr>
            <a:spLocks noChangeArrowheads="1"/>
          </p:cNvSpP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a:solidFill>
                  <a:schemeClr val="tx1"/>
                </a:solidFill>
                <a:latin typeface="Times New Roman" panose="02020603050405020304" pitchFamily="18" charset="0"/>
              </a:defRPr>
            </a:lvl1pPr>
            <a:lvl2pPr marL="742950" indent="-285750">
              <a:defRPr sz="2800">
                <a:solidFill>
                  <a:schemeClr val="tx1"/>
                </a:solidFill>
                <a:latin typeface="Times New Roman" panose="02020603050405020304" pitchFamily="18" charset="0"/>
              </a:defRPr>
            </a:lvl2pPr>
            <a:lvl3pPr marL="1143000" indent="-228600">
              <a:defRPr sz="2800">
                <a:solidFill>
                  <a:schemeClr val="tx1"/>
                </a:solidFill>
                <a:latin typeface="Times New Roman" panose="02020603050405020304" pitchFamily="18" charset="0"/>
              </a:defRPr>
            </a:lvl3pPr>
            <a:lvl4pPr marL="1600200" indent="-228600">
              <a:defRPr sz="2800">
                <a:solidFill>
                  <a:schemeClr val="tx1"/>
                </a:solidFill>
                <a:latin typeface="Times New Roman" panose="02020603050405020304" pitchFamily="18" charset="0"/>
              </a:defRPr>
            </a:lvl4pPr>
            <a:lvl5pPr marL="2057400" indent="-228600">
              <a:defRPr sz="28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defRPr>
            </a:lvl9pPr>
          </a:lstStyle>
          <a:p>
            <a:endParaRPr lang="en-GB" altLang="en-US" noProof="1"/>
          </a:p>
        </p:txBody>
      </p:sp>
      <p:sp>
        <p:nvSpPr>
          <p:cNvPr id="48135" name="Rectangle 6">
            <a:extLst>
              <a:ext uri="{FF2B5EF4-FFF2-40B4-BE49-F238E27FC236}">
                <a16:creationId xmlns:a16="http://schemas.microsoft.com/office/drawing/2014/main" id="{10BF393E-6E4B-4F81-B080-57D2ED08E746}"/>
              </a:ext>
            </a:extLst>
          </p:cNvPr>
          <p:cNvSpPr>
            <a:spLocks noGrp="1" noChangeArrowheads="1"/>
          </p:cNvSpPr>
          <p:nvPr>
            <p:ph type="body" idx="1"/>
          </p:nvPr>
        </p:nvSpPr>
        <p:spPr>
          <a:noFill/>
        </p:spPr>
        <p:txBody>
          <a:bodyPr lIns="92075" tIns="46038" rIns="92075" bIns="46038"/>
          <a:lstStyle/>
          <a:p>
            <a:endParaRPr lang="en-GB" altLang="en-US" noProof="1"/>
          </a:p>
        </p:txBody>
      </p:sp>
      <p:sp>
        <p:nvSpPr>
          <p:cNvPr id="48136" name="Rectangle 7">
            <a:extLst>
              <a:ext uri="{FF2B5EF4-FFF2-40B4-BE49-F238E27FC236}">
                <a16:creationId xmlns:a16="http://schemas.microsoft.com/office/drawing/2014/main" id="{11400A0A-5C0D-446F-89FC-5A7EB0396AAB}"/>
              </a:ext>
            </a:extLst>
          </p:cNvPr>
          <p:cNvSpPr>
            <a:spLocks noGrp="1" noRot="1" noChangeAspect="1" noChangeArrowheads="1" noTextEdit="1"/>
          </p:cNvSpPr>
          <p:nvPr>
            <p:ph type="sldImg"/>
          </p:nvPr>
        </p:nvSpPr>
        <p:spPr>
          <a:ln w="12700" cap="flat">
            <a:solidFill>
              <a:schemeClr val="tx1"/>
            </a:solidFill>
          </a:ln>
        </p:spPr>
      </p:sp>
    </p:spTree>
    <p:extLst>
      <p:ext uri="{BB962C8B-B14F-4D97-AF65-F5344CB8AC3E}">
        <p14:creationId xmlns:p14="http://schemas.microsoft.com/office/powerpoint/2010/main" val="195497589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DE1F24-37E8-987D-2A9F-78359E44C509}"/>
            </a:ext>
          </a:extLst>
        </p:cNvPr>
        <p:cNvGrpSpPr/>
        <p:nvPr/>
      </p:nvGrpSpPr>
      <p:grpSpPr>
        <a:xfrm>
          <a:off x="0" y="0"/>
          <a:ext cx="0" cy="0"/>
          <a:chOff x="0" y="0"/>
          <a:chExt cx="0" cy="0"/>
        </a:xfrm>
      </p:grpSpPr>
      <p:sp>
        <p:nvSpPr>
          <p:cNvPr id="48130" name="Rectangle 7">
            <a:extLst>
              <a:ext uri="{FF2B5EF4-FFF2-40B4-BE49-F238E27FC236}">
                <a16:creationId xmlns:a16="http://schemas.microsoft.com/office/drawing/2014/main" id="{8C8D6EDE-A88D-7DB6-143B-E3A4C38479CC}"/>
              </a:ext>
            </a:extLst>
          </p:cNvPr>
          <p:cNvSpPr>
            <a:spLocks noGrp="1" noChangeArrowheads="1"/>
          </p:cNvSpPr>
          <p:nvPr>
            <p:ph type="sldNum" sz="quarter" idx="5"/>
          </p:nvPr>
        </p:nvSpPr>
        <p:spPr>
          <a:noFill/>
        </p:spPr>
        <p:txBody>
          <a:bodyPr/>
          <a:lstStyle>
            <a:lvl1pPr>
              <a:defRPr sz="2800">
                <a:solidFill>
                  <a:schemeClr val="tx1"/>
                </a:solidFill>
                <a:latin typeface="Times New Roman" panose="02020603050405020304" pitchFamily="18" charset="0"/>
              </a:defRPr>
            </a:lvl1pPr>
            <a:lvl2pPr marL="742950" indent="-285750">
              <a:defRPr sz="2800">
                <a:solidFill>
                  <a:schemeClr val="tx1"/>
                </a:solidFill>
                <a:latin typeface="Times New Roman" panose="02020603050405020304" pitchFamily="18" charset="0"/>
              </a:defRPr>
            </a:lvl2pPr>
            <a:lvl3pPr marL="1143000" indent="-228600">
              <a:defRPr sz="2800">
                <a:solidFill>
                  <a:schemeClr val="tx1"/>
                </a:solidFill>
                <a:latin typeface="Times New Roman" panose="02020603050405020304" pitchFamily="18" charset="0"/>
              </a:defRPr>
            </a:lvl3pPr>
            <a:lvl4pPr marL="1600200" indent="-228600">
              <a:defRPr sz="2800">
                <a:solidFill>
                  <a:schemeClr val="tx1"/>
                </a:solidFill>
                <a:latin typeface="Times New Roman" panose="02020603050405020304" pitchFamily="18" charset="0"/>
              </a:defRPr>
            </a:lvl4pPr>
            <a:lvl5pPr marL="2057400" indent="-228600">
              <a:defRPr sz="28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defRPr>
            </a:lvl9pPr>
          </a:lstStyle>
          <a:p>
            <a:fld id="{88882CED-9FE6-4D0F-B785-FD6C3613B0DF}" type="slidenum">
              <a:rPr lang="en-GB" altLang="en-US" sz="1200"/>
              <a:pPr/>
              <a:t>33</a:t>
            </a:fld>
            <a:endParaRPr lang="en-GB" altLang="en-US" sz="1200"/>
          </a:p>
        </p:txBody>
      </p:sp>
      <p:sp>
        <p:nvSpPr>
          <p:cNvPr id="48131" name="Rectangle 2">
            <a:extLst>
              <a:ext uri="{FF2B5EF4-FFF2-40B4-BE49-F238E27FC236}">
                <a16:creationId xmlns:a16="http://schemas.microsoft.com/office/drawing/2014/main" id="{B182ECFF-2528-9269-1571-969CB3B53129}"/>
              </a:ext>
            </a:extLst>
          </p:cNvPr>
          <p:cNvSpPr>
            <a:spLocks noChangeArrowheads="1"/>
          </p:cNvSpPr>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a:solidFill>
                  <a:schemeClr val="tx1"/>
                </a:solidFill>
                <a:latin typeface="Times New Roman" panose="02020603050405020304" pitchFamily="18" charset="0"/>
              </a:defRPr>
            </a:lvl1pPr>
            <a:lvl2pPr marL="742950" indent="-285750">
              <a:defRPr sz="2800">
                <a:solidFill>
                  <a:schemeClr val="tx1"/>
                </a:solidFill>
                <a:latin typeface="Times New Roman" panose="02020603050405020304" pitchFamily="18" charset="0"/>
              </a:defRPr>
            </a:lvl2pPr>
            <a:lvl3pPr marL="1143000" indent="-228600">
              <a:defRPr sz="2800">
                <a:solidFill>
                  <a:schemeClr val="tx1"/>
                </a:solidFill>
                <a:latin typeface="Times New Roman" panose="02020603050405020304" pitchFamily="18" charset="0"/>
              </a:defRPr>
            </a:lvl3pPr>
            <a:lvl4pPr marL="1600200" indent="-228600">
              <a:defRPr sz="2800">
                <a:solidFill>
                  <a:schemeClr val="tx1"/>
                </a:solidFill>
                <a:latin typeface="Times New Roman" panose="02020603050405020304" pitchFamily="18" charset="0"/>
              </a:defRPr>
            </a:lvl4pPr>
            <a:lvl5pPr marL="2057400" indent="-228600">
              <a:defRPr sz="28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defRPr>
            </a:lvl9pPr>
          </a:lstStyle>
          <a:p>
            <a:endParaRPr lang="en-GB" altLang="en-US" noProof="1"/>
          </a:p>
        </p:txBody>
      </p:sp>
      <p:sp>
        <p:nvSpPr>
          <p:cNvPr id="48132" name="Rectangle 3">
            <a:extLst>
              <a:ext uri="{FF2B5EF4-FFF2-40B4-BE49-F238E27FC236}">
                <a16:creationId xmlns:a16="http://schemas.microsoft.com/office/drawing/2014/main" id="{A56012A7-208F-ED6D-8EAF-3F2AAA7AA015}"/>
              </a:ext>
            </a:extLst>
          </p:cNvPr>
          <p:cNvSpPr>
            <a:spLocks noChangeArrowheads="1"/>
          </p:cNvSpPr>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0" rIns="19050" bIns="0" anchor="b"/>
          <a:lstStyle>
            <a:lvl1pPr defTabSz="762000">
              <a:defRPr sz="2800">
                <a:solidFill>
                  <a:schemeClr val="tx1"/>
                </a:solidFill>
                <a:latin typeface="Times New Roman" panose="02020603050405020304" pitchFamily="18" charset="0"/>
              </a:defRPr>
            </a:lvl1pPr>
            <a:lvl2pPr marL="742950" indent="-285750" defTabSz="762000">
              <a:defRPr sz="2800">
                <a:solidFill>
                  <a:schemeClr val="tx1"/>
                </a:solidFill>
                <a:latin typeface="Times New Roman" panose="02020603050405020304" pitchFamily="18" charset="0"/>
              </a:defRPr>
            </a:lvl2pPr>
            <a:lvl3pPr marL="1143000" indent="-228600" defTabSz="762000">
              <a:defRPr sz="2800">
                <a:solidFill>
                  <a:schemeClr val="tx1"/>
                </a:solidFill>
                <a:latin typeface="Times New Roman" panose="02020603050405020304" pitchFamily="18" charset="0"/>
              </a:defRPr>
            </a:lvl3pPr>
            <a:lvl4pPr marL="1600200" indent="-228600" defTabSz="762000">
              <a:defRPr sz="2800">
                <a:solidFill>
                  <a:schemeClr val="tx1"/>
                </a:solidFill>
                <a:latin typeface="Times New Roman" panose="02020603050405020304" pitchFamily="18" charset="0"/>
              </a:defRPr>
            </a:lvl4pPr>
            <a:lvl5pPr marL="2057400" indent="-228600" defTabSz="762000">
              <a:defRPr sz="2800">
                <a:solidFill>
                  <a:schemeClr val="tx1"/>
                </a:solidFill>
                <a:latin typeface="Times New Roman" panose="02020603050405020304" pitchFamily="18" charset="0"/>
              </a:defRPr>
            </a:lvl5pPr>
            <a:lvl6pPr marL="2514600" indent="-228600" defTabSz="762000" eaLnBrk="0" fontAlgn="base" hangingPunct="0">
              <a:spcBef>
                <a:spcPct val="0"/>
              </a:spcBef>
              <a:spcAft>
                <a:spcPct val="0"/>
              </a:spcAft>
              <a:defRPr sz="2800">
                <a:solidFill>
                  <a:schemeClr val="tx1"/>
                </a:solidFill>
                <a:latin typeface="Times New Roman" panose="02020603050405020304" pitchFamily="18" charset="0"/>
              </a:defRPr>
            </a:lvl6pPr>
            <a:lvl7pPr marL="2971800" indent="-228600" defTabSz="762000" eaLnBrk="0" fontAlgn="base" hangingPunct="0">
              <a:spcBef>
                <a:spcPct val="0"/>
              </a:spcBef>
              <a:spcAft>
                <a:spcPct val="0"/>
              </a:spcAft>
              <a:defRPr sz="2800">
                <a:solidFill>
                  <a:schemeClr val="tx1"/>
                </a:solidFill>
                <a:latin typeface="Times New Roman" panose="02020603050405020304" pitchFamily="18" charset="0"/>
              </a:defRPr>
            </a:lvl7pPr>
            <a:lvl8pPr marL="3429000" indent="-228600" defTabSz="762000" eaLnBrk="0" fontAlgn="base" hangingPunct="0">
              <a:spcBef>
                <a:spcPct val="0"/>
              </a:spcBef>
              <a:spcAft>
                <a:spcPct val="0"/>
              </a:spcAft>
              <a:defRPr sz="2800">
                <a:solidFill>
                  <a:schemeClr val="tx1"/>
                </a:solidFill>
                <a:latin typeface="Times New Roman" panose="02020603050405020304" pitchFamily="18" charset="0"/>
              </a:defRPr>
            </a:lvl8pPr>
            <a:lvl9pPr marL="3886200" indent="-228600" defTabSz="762000" eaLnBrk="0" fontAlgn="base" hangingPunct="0">
              <a:spcBef>
                <a:spcPct val="0"/>
              </a:spcBef>
              <a:spcAft>
                <a:spcPct val="0"/>
              </a:spcAft>
              <a:defRPr sz="2800">
                <a:solidFill>
                  <a:schemeClr val="tx1"/>
                </a:solidFill>
                <a:latin typeface="Times New Roman" panose="02020603050405020304" pitchFamily="18" charset="0"/>
              </a:defRPr>
            </a:lvl9pPr>
          </a:lstStyle>
          <a:p>
            <a:pPr algn="r"/>
            <a:r>
              <a:rPr lang="en-GB" altLang="en-US" sz="1000" i="1"/>
              <a:t>8</a:t>
            </a:r>
          </a:p>
        </p:txBody>
      </p:sp>
      <p:sp>
        <p:nvSpPr>
          <p:cNvPr id="48133" name="Rectangle 4">
            <a:extLst>
              <a:ext uri="{FF2B5EF4-FFF2-40B4-BE49-F238E27FC236}">
                <a16:creationId xmlns:a16="http://schemas.microsoft.com/office/drawing/2014/main" id="{8FE5848F-B499-E416-8893-17FA0E540320}"/>
              </a:ext>
            </a:extLst>
          </p:cNvPr>
          <p:cNvSpPr>
            <a:spLocks noChangeArrowheads="1"/>
          </p:cNvSpPr>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a:solidFill>
                  <a:schemeClr val="tx1"/>
                </a:solidFill>
                <a:latin typeface="Times New Roman" panose="02020603050405020304" pitchFamily="18" charset="0"/>
              </a:defRPr>
            </a:lvl1pPr>
            <a:lvl2pPr marL="742950" indent="-285750">
              <a:defRPr sz="2800">
                <a:solidFill>
                  <a:schemeClr val="tx1"/>
                </a:solidFill>
                <a:latin typeface="Times New Roman" panose="02020603050405020304" pitchFamily="18" charset="0"/>
              </a:defRPr>
            </a:lvl2pPr>
            <a:lvl3pPr marL="1143000" indent="-228600">
              <a:defRPr sz="2800">
                <a:solidFill>
                  <a:schemeClr val="tx1"/>
                </a:solidFill>
                <a:latin typeface="Times New Roman" panose="02020603050405020304" pitchFamily="18" charset="0"/>
              </a:defRPr>
            </a:lvl3pPr>
            <a:lvl4pPr marL="1600200" indent="-228600">
              <a:defRPr sz="2800">
                <a:solidFill>
                  <a:schemeClr val="tx1"/>
                </a:solidFill>
                <a:latin typeface="Times New Roman" panose="02020603050405020304" pitchFamily="18" charset="0"/>
              </a:defRPr>
            </a:lvl4pPr>
            <a:lvl5pPr marL="2057400" indent="-228600">
              <a:defRPr sz="28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defRPr>
            </a:lvl9pPr>
          </a:lstStyle>
          <a:p>
            <a:endParaRPr lang="en-GB" altLang="en-US" noProof="1"/>
          </a:p>
        </p:txBody>
      </p:sp>
      <p:sp>
        <p:nvSpPr>
          <p:cNvPr id="48134" name="Rectangle 5">
            <a:extLst>
              <a:ext uri="{FF2B5EF4-FFF2-40B4-BE49-F238E27FC236}">
                <a16:creationId xmlns:a16="http://schemas.microsoft.com/office/drawing/2014/main" id="{F70BBF99-CA67-8D5F-EB7F-0CCF0F31E874}"/>
              </a:ext>
            </a:extLst>
          </p:cNvPr>
          <p:cNvSpPr>
            <a:spLocks noChangeArrowheads="1"/>
          </p:cNvSpP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a:solidFill>
                  <a:schemeClr val="tx1"/>
                </a:solidFill>
                <a:latin typeface="Times New Roman" panose="02020603050405020304" pitchFamily="18" charset="0"/>
              </a:defRPr>
            </a:lvl1pPr>
            <a:lvl2pPr marL="742950" indent="-285750">
              <a:defRPr sz="2800">
                <a:solidFill>
                  <a:schemeClr val="tx1"/>
                </a:solidFill>
                <a:latin typeface="Times New Roman" panose="02020603050405020304" pitchFamily="18" charset="0"/>
              </a:defRPr>
            </a:lvl2pPr>
            <a:lvl3pPr marL="1143000" indent="-228600">
              <a:defRPr sz="2800">
                <a:solidFill>
                  <a:schemeClr val="tx1"/>
                </a:solidFill>
                <a:latin typeface="Times New Roman" panose="02020603050405020304" pitchFamily="18" charset="0"/>
              </a:defRPr>
            </a:lvl3pPr>
            <a:lvl4pPr marL="1600200" indent="-228600">
              <a:defRPr sz="2800">
                <a:solidFill>
                  <a:schemeClr val="tx1"/>
                </a:solidFill>
                <a:latin typeface="Times New Roman" panose="02020603050405020304" pitchFamily="18" charset="0"/>
              </a:defRPr>
            </a:lvl4pPr>
            <a:lvl5pPr marL="2057400" indent="-228600">
              <a:defRPr sz="28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defRPr>
            </a:lvl9pPr>
          </a:lstStyle>
          <a:p>
            <a:endParaRPr lang="en-GB" altLang="en-US" noProof="1"/>
          </a:p>
        </p:txBody>
      </p:sp>
      <p:sp>
        <p:nvSpPr>
          <p:cNvPr id="48135" name="Rectangle 6">
            <a:extLst>
              <a:ext uri="{FF2B5EF4-FFF2-40B4-BE49-F238E27FC236}">
                <a16:creationId xmlns:a16="http://schemas.microsoft.com/office/drawing/2014/main" id="{254FF847-0F00-BF94-00F7-F8906F439992}"/>
              </a:ext>
            </a:extLst>
          </p:cNvPr>
          <p:cNvSpPr>
            <a:spLocks noGrp="1" noChangeArrowheads="1"/>
          </p:cNvSpPr>
          <p:nvPr>
            <p:ph type="body" idx="1"/>
          </p:nvPr>
        </p:nvSpPr>
        <p:spPr>
          <a:noFill/>
        </p:spPr>
        <p:txBody>
          <a:bodyPr lIns="92075" tIns="46038" rIns="92075" bIns="46038"/>
          <a:lstStyle/>
          <a:p>
            <a:endParaRPr lang="en-GB" altLang="en-US" noProof="1"/>
          </a:p>
        </p:txBody>
      </p:sp>
      <p:sp>
        <p:nvSpPr>
          <p:cNvPr id="48136" name="Rectangle 7">
            <a:extLst>
              <a:ext uri="{FF2B5EF4-FFF2-40B4-BE49-F238E27FC236}">
                <a16:creationId xmlns:a16="http://schemas.microsoft.com/office/drawing/2014/main" id="{C5D75EB7-F238-A56B-A917-ABCF320F96F1}"/>
              </a:ext>
            </a:extLst>
          </p:cNvPr>
          <p:cNvSpPr>
            <a:spLocks noGrp="1" noRot="1" noChangeAspect="1" noChangeArrowheads="1" noTextEdit="1"/>
          </p:cNvSpPr>
          <p:nvPr>
            <p:ph type="sldImg"/>
          </p:nvPr>
        </p:nvSpPr>
        <p:spPr>
          <a:ln w="12700" cap="flat">
            <a:solidFill>
              <a:schemeClr val="tx1"/>
            </a:solidFill>
          </a:ln>
        </p:spPr>
      </p:sp>
    </p:spTree>
    <p:extLst>
      <p:ext uri="{BB962C8B-B14F-4D97-AF65-F5344CB8AC3E}">
        <p14:creationId xmlns:p14="http://schemas.microsoft.com/office/powerpoint/2010/main" val="377306202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a:extLst>
              <a:ext uri="{FF2B5EF4-FFF2-40B4-BE49-F238E27FC236}">
                <a16:creationId xmlns:a16="http://schemas.microsoft.com/office/drawing/2014/main" id="{BE8E8C9D-96BB-4301-86D9-DC8FFBDAF8E4}"/>
              </a:ext>
            </a:extLst>
          </p:cNvPr>
          <p:cNvSpPr>
            <a:spLocks noGrp="1" noChangeArrowheads="1"/>
          </p:cNvSpPr>
          <p:nvPr>
            <p:ph type="sldNum" sz="quarter" idx="5"/>
          </p:nvPr>
        </p:nvSpPr>
        <p:spPr>
          <a:noFill/>
        </p:spPr>
        <p:txBody>
          <a:bodyPr/>
          <a:lstStyle>
            <a:lvl1pPr>
              <a:defRPr sz="2800">
                <a:solidFill>
                  <a:schemeClr val="tx1"/>
                </a:solidFill>
                <a:latin typeface="Times New Roman" panose="02020603050405020304" pitchFamily="18" charset="0"/>
              </a:defRPr>
            </a:lvl1pPr>
            <a:lvl2pPr marL="742950" indent="-285750">
              <a:defRPr sz="2800">
                <a:solidFill>
                  <a:schemeClr val="tx1"/>
                </a:solidFill>
                <a:latin typeface="Times New Roman" panose="02020603050405020304" pitchFamily="18" charset="0"/>
              </a:defRPr>
            </a:lvl2pPr>
            <a:lvl3pPr marL="1143000" indent="-228600">
              <a:defRPr sz="2800">
                <a:solidFill>
                  <a:schemeClr val="tx1"/>
                </a:solidFill>
                <a:latin typeface="Times New Roman" panose="02020603050405020304" pitchFamily="18" charset="0"/>
              </a:defRPr>
            </a:lvl3pPr>
            <a:lvl4pPr marL="1600200" indent="-228600">
              <a:defRPr sz="2800">
                <a:solidFill>
                  <a:schemeClr val="tx1"/>
                </a:solidFill>
                <a:latin typeface="Times New Roman" panose="02020603050405020304" pitchFamily="18" charset="0"/>
              </a:defRPr>
            </a:lvl4pPr>
            <a:lvl5pPr marL="2057400" indent="-228600">
              <a:defRPr sz="28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defRPr>
            </a:lvl9pPr>
          </a:lstStyle>
          <a:p>
            <a:fld id="{88882CED-9FE6-4D0F-B785-FD6C3613B0DF}" type="slidenum">
              <a:rPr lang="en-GB" altLang="en-US" sz="1200"/>
              <a:pPr/>
              <a:t>34</a:t>
            </a:fld>
            <a:endParaRPr lang="en-GB" altLang="en-US" sz="1200"/>
          </a:p>
        </p:txBody>
      </p:sp>
      <p:sp>
        <p:nvSpPr>
          <p:cNvPr id="48131" name="Rectangle 2">
            <a:extLst>
              <a:ext uri="{FF2B5EF4-FFF2-40B4-BE49-F238E27FC236}">
                <a16:creationId xmlns:a16="http://schemas.microsoft.com/office/drawing/2014/main" id="{6CEFCAD1-AD37-410D-8E88-992C7FC69581}"/>
              </a:ext>
            </a:extLst>
          </p:cNvPr>
          <p:cNvSpPr>
            <a:spLocks noChangeArrowheads="1"/>
          </p:cNvSpPr>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a:solidFill>
                  <a:schemeClr val="tx1"/>
                </a:solidFill>
                <a:latin typeface="Times New Roman" panose="02020603050405020304" pitchFamily="18" charset="0"/>
              </a:defRPr>
            </a:lvl1pPr>
            <a:lvl2pPr marL="742950" indent="-285750">
              <a:defRPr sz="2800">
                <a:solidFill>
                  <a:schemeClr val="tx1"/>
                </a:solidFill>
                <a:latin typeface="Times New Roman" panose="02020603050405020304" pitchFamily="18" charset="0"/>
              </a:defRPr>
            </a:lvl2pPr>
            <a:lvl3pPr marL="1143000" indent="-228600">
              <a:defRPr sz="2800">
                <a:solidFill>
                  <a:schemeClr val="tx1"/>
                </a:solidFill>
                <a:latin typeface="Times New Roman" panose="02020603050405020304" pitchFamily="18" charset="0"/>
              </a:defRPr>
            </a:lvl3pPr>
            <a:lvl4pPr marL="1600200" indent="-228600">
              <a:defRPr sz="2800">
                <a:solidFill>
                  <a:schemeClr val="tx1"/>
                </a:solidFill>
                <a:latin typeface="Times New Roman" panose="02020603050405020304" pitchFamily="18" charset="0"/>
              </a:defRPr>
            </a:lvl4pPr>
            <a:lvl5pPr marL="2057400" indent="-228600">
              <a:defRPr sz="28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defRPr>
            </a:lvl9pPr>
          </a:lstStyle>
          <a:p>
            <a:endParaRPr lang="en-GB" altLang="en-US" noProof="1"/>
          </a:p>
        </p:txBody>
      </p:sp>
      <p:sp>
        <p:nvSpPr>
          <p:cNvPr id="48132" name="Rectangle 3">
            <a:extLst>
              <a:ext uri="{FF2B5EF4-FFF2-40B4-BE49-F238E27FC236}">
                <a16:creationId xmlns:a16="http://schemas.microsoft.com/office/drawing/2014/main" id="{2735D2FC-3D80-4D80-B8C5-6BAF12A8707A}"/>
              </a:ext>
            </a:extLst>
          </p:cNvPr>
          <p:cNvSpPr>
            <a:spLocks noChangeArrowheads="1"/>
          </p:cNvSpPr>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0" rIns="19050" bIns="0" anchor="b"/>
          <a:lstStyle>
            <a:lvl1pPr defTabSz="762000">
              <a:defRPr sz="2800">
                <a:solidFill>
                  <a:schemeClr val="tx1"/>
                </a:solidFill>
                <a:latin typeface="Times New Roman" panose="02020603050405020304" pitchFamily="18" charset="0"/>
              </a:defRPr>
            </a:lvl1pPr>
            <a:lvl2pPr marL="742950" indent="-285750" defTabSz="762000">
              <a:defRPr sz="2800">
                <a:solidFill>
                  <a:schemeClr val="tx1"/>
                </a:solidFill>
                <a:latin typeface="Times New Roman" panose="02020603050405020304" pitchFamily="18" charset="0"/>
              </a:defRPr>
            </a:lvl2pPr>
            <a:lvl3pPr marL="1143000" indent="-228600" defTabSz="762000">
              <a:defRPr sz="2800">
                <a:solidFill>
                  <a:schemeClr val="tx1"/>
                </a:solidFill>
                <a:latin typeface="Times New Roman" panose="02020603050405020304" pitchFamily="18" charset="0"/>
              </a:defRPr>
            </a:lvl3pPr>
            <a:lvl4pPr marL="1600200" indent="-228600" defTabSz="762000">
              <a:defRPr sz="2800">
                <a:solidFill>
                  <a:schemeClr val="tx1"/>
                </a:solidFill>
                <a:latin typeface="Times New Roman" panose="02020603050405020304" pitchFamily="18" charset="0"/>
              </a:defRPr>
            </a:lvl4pPr>
            <a:lvl5pPr marL="2057400" indent="-228600" defTabSz="762000">
              <a:defRPr sz="2800">
                <a:solidFill>
                  <a:schemeClr val="tx1"/>
                </a:solidFill>
                <a:latin typeface="Times New Roman" panose="02020603050405020304" pitchFamily="18" charset="0"/>
              </a:defRPr>
            </a:lvl5pPr>
            <a:lvl6pPr marL="2514600" indent="-228600" defTabSz="762000" eaLnBrk="0" fontAlgn="base" hangingPunct="0">
              <a:spcBef>
                <a:spcPct val="0"/>
              </a:spcBef>
              <a:spcAft>
                <a:spcPct val="0"/>
              </a:spcAft>
              <a:defRPr sz="2800">
                <a:solidFill>
                  <a:schemeClr val="tx1"/>
                </a:solidFill>
                <a:latin typeface="Times New Roman" panose="02020603050405020304" pitchFamily="18" charset="0"/>
              </a:defRPr>
            </a:lvl6pPr>
            <a:lvl7pPr marL="2971800" indent="-228600" defTabSz="762000" eaLnBrk="0" fontAlgn="base" hangingPunct="0">
              <a:spcBef>
                <a:spcPct val="0"/>
              </a:spcBef>
              <a:spcAft>
                <a:spcPct val="0"/>
              </a:spcAft>
              <a:defRPr sz="2800">
                <a:solidFill>
                  <a:schemeClr val="tx1"/>
                </a:solidFill>
                <a:latin typeface="Times New Roman" panose="02020603050405020304" pitchFamily="18" charset="0"/>
              </a:defRPr>
            </a:lvl7pPr>
            <a:lvl8pPr marL="3429000" indent="-228600" defTabSz="762000" eaLnBrk="0" fontAlgn="base" hangingPunct="0">
              <a:spcBef>
                <a:spcPct val="0"/>
              </a:spcBef>
              <a:spcAft>
                <a:spcPct val="0"/>
              </a:spcAft>
              <a:defRPr sz="2800">
                <a:solidFill>
                  <a:schemeClr val="tx1"/>
                </a:solidFill>
                <a:latin typeface="Times New Roman" panose="02020603050405020304" pitchFamily="18" charset="0"/>
              </a:defRPr>
            </a:lvl8pPr>
            <a:lvl9pPr marL="3886200" indent="-228600" defTabSz="762000" eaLnBrk="0" fontAlgn="base" hangingPunct="0">
              <a:spcBef>
                <a:spcPct val="0"/>
              </a:spcBef>
              <a:spcAft>
                <a:spcPct val="0"/>
              </a:spcAft>
              <a:defRPr sz="2800">
                <a:solidFill>
                  <a:schemeClr val="tx1"/>
                </a:solidFill>
                <a:latin typeface="Times New Roman" panose="02020603050405020304" pitchFamily="18" charset="0"/>
              </a:defRPr>
            </a:lvl9pPr>
          </a:lstStyle>
          <a:p>
            <a:pPr algn="r"/>
            <a:r>
              <a:rPr lang="en-GB" altLang="en-US" sz="1000" i="1"/>
              <a:t>8</a:t>
            </a:r>
          </a:p>
        </p:txBody>
      </p:sp>
      <p:sp>
        <p:nvSpPr>
          <p:cNvPr id="48133" name="Rectangle 4">
            <a:extLst>
              <a:ext uri="{FF2B5EF4-FFF2-40B4-BE49-F238E27FC236}">
                <a16:creationId xmlns:a16="http://schemas.microsoft.com/office/drawing/2014/main" id="{FAD0D3F6-8798-47C8-AF36-AE08AA1364CC}"/>
              </a:ext>
            </a:extLst>
          </p:cNvPr>
          <p:cNvSpPr>
            <a:spLocks noChangeArrowheads="1"/>
          </p:cNvSpPr>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a:solidFill>
                  <a:schemeClr val="tx1"/>
                </a:solidFill>
                <a:latin typeface="Times New Roman" panose="02020603050405020304" pitchFamily="18" charset="0"/>
              </a:defRPr>
            </a:lvl1pPr>
            <a:lvl2pPr marL="742950" indent="-285750">
              <a:defRPr sz="2800">
                <a:solidFill>
                  <a:schemeClr val="tx1"/>
                </a:solidFill>
                <a:latin typeface="Times New Roman" panose="02020603050405020304" pitchFamily="18" charset="0"/>
              </a:defRPr>
            </a:lvl2pPr>
            <a:lvl3pPr marL="1143000" indent="-228600">
              <a:defRPr sz="2800">
                <a:solidFill>
                  <a:schemeClr val="tx1"/>
                </a:solidFill>
                <a:latin typeface="Times New Roman" panose="02020603050405020304" pitchFamily="18" charset="0"/>
              </a:defRPr>
            </a:lvl3pPr>
            <a:lvl4pPr marL="1600200" indent="-228600">
              <a:defRPr sz="2800">
                <a:solidFill>
                  <a:schemeClr val="tx1"/>
                </a:solidFill>
                <a:latin typeface="Times New Roman" panose="02020603050405020304" pitchFamily="18" charset="0"/>
              </a:defRPr>
            </a:lvl4pPr>
            <a:lvl5pPr marL="2057400" indent="-228600">
              <a:defRPr sz="28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defRPr>
            </a:lvl9pPr>
          </a:lstStyle>
          <a:p>
            <a:endParaRPr lang="en-GB" altLang="en-US" noProof="1"/>
          </a:p>
        </p:txBody>
      </p:sp>
      <p:sp>
        <p:nvSpPr>
          <p:cNvPr id="48134" name="Rectangle 5">
            <a:extLst>
              <a:ext uri="{FF2B5EF4-FFF2-40B4-BE49-F238E27FC236}">
                <a16:creationId xmlns:a16="http://schemas.microsoft.com/office/drawing/2014/main" id="{C8AAF0E9-37B1-4FD0-8521-7066ADFE76B6}"/>
              </a:ext>
            </a:extLst>
          </p:cNvPr>
          <p:cNvSpPr>
            <a:spLocks noChangeArrowheads="1"/>
          </p:cNvSpP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a:solidFill>
                  <a:schemeClr val="tx1"/>
                </a:solidFill>
                <a:latin typeface="Times New Roman" panose="02020603050405020304" pitchFamily="18" charset="0"/>
              </a:defRPr>
            </a:lvl1pPr>
            <a:lvl2pPr marL="742950" indent="-285750">
              <a:defRPr sz="2800">
                <a:solidFill>
                  <a:schemeClr val="tx1"/>
                </a:solidFill>
                <a:latin typeface="Times New Roman" panose="02020603050405020304" pitchFamily="18" charset="0"/>
              </a:defRPr>
            </a:lvl2pPr>
            <a:lvl3pPr marL="1143000" indent="-228600">
              <a:defRPr sz="2800">
                <a:solidFill>
                  <a:schemeClr val="tx1"/>
                </a:solidFill>
                <a:latin typeface="Times New Roman" panose="02020603050405020304" pitchFamily="18" charset="0"/>
              </a:defRPr>
            </a:lvl3pPr>
            <a:lvl4pPr marL="1600200" indent="-228600">
              <a:defRPr sz="2800">
                <a:solidFill>
                  <a:schemeClr val="tx1"/>
                </a:solidFill>
                <a:latin typeface="Times New Roman" panose="02020603050405020304" pitchFamily="18" charset="0"/>
              </a:defRPr>
            </a:lvl4pPr>
            <a:lvl5pPr marL="2057400" indent="-228600">
              <a:defRPr sz="28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defRPr>
            </a:lvl9pPr>
          </a:lstStyle>
          <a:p>
            <a:endParaRPr lang="en-GB" altLang="en-US" noProof="1"/>
          </a:p>
        </p:txBody>
      </p:sp>
      <p:sp>
        <p:nvSpPr>
          <p:cNvPr id="48135" name="Rectangle 6">
            <a:extLst>
              <a:ext uri="{FF2B5EF4-FFF2-40B4-BE49-F238E27FC236}">
                <a16:creationId xmlns:a16="http://schemas.microsoft.com/office/drawing/2014/main" id="{10BF393E-6E4B-4F81-B080-57D2ED08E746}"/>
              </a:ext>
            </a:extLst>
          </p:cNvPr>
          <p:cNvSpPr>
            <a:spLocks noGrp="1" noChangeArrowheads="1"/>
          </p:cNvSpPr>
          <p:nvPr>
            <p:ph type="body" idx="1"/>
          </p:nvPr>
        </p:nvSpPr>
        <p:spPr>
          <a:noFill/>
        </p:spPr>
        <p:txBody>
          <a:bodyPr lIns="92075" tIns="46038" rIns="92075" bIns="46038"/>
          <a:lstStyle/>
          <a:p>
            <a:endParaRPr lang="en-GB" altLang="en-US" noProof="1"/>
          </a:p>
        </p:txBody>
      </p:sp>
      <p:sp>
        <p:nvSpPr>
          <p:cNvPr id="48136" name="Rectangle 7">
            <a:extLst>
              <a:ext uri="{FF2B5EF4-FFF2-40B4-BE49-F238E27FC236}">
                <a16:creationId xmlns:a16="http://schemas.microsoft.com/office/drawing/2014/main" id="{11400A0A-5C0D-446F-89FC-5A7EB0396AAB}"/>
              </a:ext>
            </a:extLst>
          </p:cNvPr>
          <p:cNvSpPr>
            <a:spLocks noGrp="1" noRot="1" noChangeAspect="1" noChangeArrowheads="1" noTextEdit="1"/>
          </p:cNvSpPr>
          <p:nvPr>
            <p:ph type="sldImg"/>
          </p:nvPr>
        </p:nvSpPr>
        <p:spPr>
          <a:ln w="12700" cap="flat">
            <a:solidFill>
              <a:schemeClr val="tx1"/>
            </a:solidFill>
          </a:ln>
        </p:spPr>
      </p:sp>
    </p:spTree>
    <p:extLst>
      <p:ext uri="{BB962C8B-B14F-4D97-AF65-F5344CB8AC3E}">
        <p14:creationId xmlns:p14="http://schemas.microsoft.com/office/powerpoint/2010/main" val="235971280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a:extLst>
              <a:ext uri="{FF2B5EF4-FFF2-40B4-BE49-F238E27FC236}">
                <a16:creationId xmlns:a16="http://schemas.microsoft.com/office/drawing/2014/main" id="{AC2FA95E-1292-4724-9202-1F7EECADB1B6}"/>
              </a:ext>
            </a:extLst>
          </p:cNvPr>
          <p:cNvSpPr>
            <a:spLocks noGrp="1" noChangeArrowheads="1"/>
          </p:cNvSpPr>
          <p:nvPr>
            <p:ph type="sldNum" sz="quarter" idx="5"/>
          </p:nvPr>
        </p:nvSpPr>
        <p:spPr>
          <a:noFill/>
        </p:spPr>
        <p:txBody>
          <a:bodyPr/>
          <a:lstStyle>
            <a:lvl1pPr>
              <a:defRPr sz="2800">
                <a:solidFill>
                  <a:schemeClr val="tx1"/>
                </a:solidFill>
                <a:latin typeface="Times New Roman" panose="02020603050405020304" pitchFamily="18" charset="0"/>
              </a:defRPr>
            </a:lvl1pPr>
            <a:lvl2pPr marL="742950" indent="-285750">
              <a:defRPr sz="2800">
                <a:solidFill>
                  <a:schemeClr val="tx1"/>
                </a:solidFill>
                <a:latin typeface="Times New Roman" panose="02020603050405020304" pitchFamily="18" charset="0"/>
              </a:defRPr>
            </a:lvl2pPr>
            <a:lvl3pPr marL="1143000" indent="-228600">
              <a:defRPr sz="2800">
                <a:solidFill>
                  <a:schemeClr val="tx1"/>
                </a:solidFill>
                <a:latin typeface="Times New Roman" panose="02020603050405020304" pitchFamily="18" charset="0"/>
              </a:defRPr>
            </a:lvl3pPr>
            <a:lvl4pPr marL="1600200" indent="-228600">
              <a:defRPr sz="2800">
                <a:solidFill>
                  <a:schemeClr val="tx1"/>
                </a:solidFill>
                <a:latin typeface="Times New Roman" panose="02020603050405020304" pitchFamily="18" charset="0"/>
              </a:defRPr>
            </a:lvl4pPr>
            <a:lvl5pPr marL="2057400" indent="-228600">
              <a:defRPr sz="28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defRPr>
            </a:lvl9pPr>
          </a:lstStyle>
          <a:p>
            <a:fld id="{F903EF2D-D0EC-4081-A652-1B851A0510C1}" type="slidenum">
              <a:rPr lang="en-GB" altLang="en-US" sz="1200"/>
              <a:pPr/>
              <a:t>35</a:t>
            </a:fld>
            <a:endParaRPr lang="en-GB" altLang="en-US" sz="1200"/>
          </a:p>
        </p:txBody>
      </p:sp>
      <p:sp>
        <p:nvSpPr>
          <p:cNvPr id="50179" name="Rectangle 2">
            <a:extLst>
              <a:ext uri="{FF2B5EF4-FFF2-40B4-BE49-F238E27FC236}">
                <a16:creationId xmlns:a16="http://schemas.microsoft.com/office/drawing/2014/main" id="{69BD6109-4534-4F70-BF4F-4B764D1951C3}"/>
              </a:ext>
            </a:extLst>
          </p:cNvPr>
          <p:cNvSpPr>
            <a:spLocks noChangeArrowheads="1"/>
          </p:cNvSpPr>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a:solidFill>
                  <a:schemeClr val="tx1"/>
                </a:solidFill>
                <a:latin typeface="Times New Roman" panose="02020603050405020304" pitchFamily="18" charset="0"/>
              </a:defRPr>
            </a:lvl1pPr>
            <a:lvl2pPr marL="742950" indent="-285750">
              <a:defRPr sz="2800">
                <a:solidFill>
                  <a:schemeClr val="tx1"/>
                </a:solidFill>
                <a:latin typeface="Times New Roman" panose="02020603050405020304" pitchFamily="18" charset="0"/>
              </a:defRPr>
            </a:lvl2pPr>
            <a:lvl3pPr marL="1143000" indent="-228600">
              <a:defRPr sz="2800">
                <a:solidFill>
                  <a:schemeClr val="tx1"/>
                </a:solidFill>
                <a:latin typeface="Times New Roman" panose="02020603050405020304" pitchFamily="18" charset="0"/>
              </a:defRPr>
            </a:lvl3pPr>
            <a:lvl4pPr marL="1600200" indent="-228600">
              <a:defRPr sz="2800">
                <a:solidFill>
                  <a:schemeClr val="tx1"/>
                </a:solidFill>
                <a:latin typeface="Times New Roman" panose="02020603050405020304" pitchFamily="18" charset="0"/>
              </a:defRPr>
            </a:lvl4pPr>
            <a:lvl5pPr marL="2057400" indent="-228600">
              <a:defRPr sz="28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defRPr>
            </a:lvl9pPr>
          </a:lstStyle>
          <a:p>
            <a:endParaRPr lang="en-GB" altLang="en-US" noProof="1"/>
          </a:p>
        </p:txBody>
      </p:sp>
      <p:sp>
        <p:nvSpPr>
          <p:cNvPr id="50180" name="Rectangle 3">
            <a:extLst>
              <a:ext uri="{FF2B5EF4-FFF2-40B4-BE49-F238E27FC236}">
                <a16:creationId xmlns:a16="http://schemas.microsoft.com/office/drawing/2014/main" id="{C7C72E66-5D15-4E45-9F89-C6988257F480}"/>
              </a:ext>
            </a:extLst>
          </p:cNvPr>
          <p:cNvSpPr>
            <a:spLocks noChangeArrowheads="1"/>
          </p:cNvSpPr>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0" rIns="19050" bIns="0" anchor="b"/>
          <a:lstStyle>
            <a:lvl1pPr defTabSz="762000">
              <a:defRPr sz="2800">
                <a:solidFill>
                  <a:schemeClr val="tx1"/>
                </a:solidFill>
                <a:latin typeface="Times New Roman" panose="02020603050405020304" pitchFamily="18" charset="0"/>
              </a:defRPr>
            </a:lvl1pPr>
            <a:lvl2pPr marL="742950" indent="-285750" defTabSz="762000">
              <a:defRPr sz="2800">
                <a:solidFill>
                  <a:schemeClr val="tx1"/>
                </a:solidFill>
                <a:latin typeface="Times New Roman" panose="02020603050405020304" pitchFamily="18" charset="0"/>
              </a:defRPr>
            </a:lvl2pPr>
            <a:lvl3pPr marL="1143000" indent="-228600" defTabSz="762000">
              <a:defRPr sz="2800">
                <a:solidFill>
                  <a:schemeClr val="tx1"/>
                </a:solidFill>
                <a:latin typeface="Times New Roman" panose="02020603050405020304" pitchFamily="18" charset="0"/>
              </a:defRPr>
            </a:lvl3pPr>
            <a:lvl4pPr marL="1600200" indent="-228600" defTabSz="762000">
              <a:defRPr sz="2800">
                <a:solidFill>
                  <a:schemeClr val="tx1"/>
                </a:solidFill>
                <a:latin typeface="Times New Roman" panose="02020603050405020304" pitchFamily="18" charset="0"/>
              </a:defRPr>
            </a:lvl4pPr>
            <a:lvl5pPr marL="2057400" indent="-228600" defTabSz="762000">
              <a:defRPr sz="2800">
                <a:solidFill>
                  <a:schemeClr val="tx1"/>
                </a:solidFill>
                <a:latin typeface="Times New Roman" panose="02020603050405020304" pitchFamily="18" charset="0"/>
              </a:defRPr>
            </a:lvl5pPr>
            <a:lvl6pPr marL="2514600" indent="-228600" defTabSz="762000" eaLnBrk="0" fontAlgn="base" hangingPunct="0">
              <a:spcBef>
                <a:spcPct val="0"/>
              </a:spcBef>
              <a:spcAft>
                <a:spcPct val="0"/>
              </a:spcAft>
              <a:defRPr sz="2800">
                <a:solidFill>
                  <a:schemeClr val="tx1"/>
                </a:solidFill>
                <a:latin typeface="Times New Roman" panose="02020603050405020304" pitchFamily="18" charset="0"/>
              </a:defRPr>
            </a:lvl6pPr>
            <a:lvl7pPr marL="2971800" indent="-228600" defTabSz="762000" eaLnBrk="0" fontAlgn="base" hangingPunct="0">
              <a:spcBef>
                <a:spcPct val="0"/>
              </a:spcBef>
              <a:spcAft>
                <a:spcPct val="0"/>
              </a:spcAft>
              <a:defRPr sz="2800">
                <a:solidFill>
                  <a:schemeClr val="tx1"/>
                </a:solidFill>
                <a:latin typeface="Times New Roman" panose="02020603050405020304" pitchFamily="18" charset="0"/>
              </a:defRPr>
            </a:lvl7pPr>
            <a:lvl8pPr marL="3429000" indent="-228600" defTabSz="762000" eaLnBrk="0" fontAlgn="base" hangingPunct="0">
              <a:spcBef>
                <a:spcPct val="0"/>
              </a:spcBef>
              <a:spcAft>
                <a:spcPct val="0"/>
              </a:spcAft>
              <a:defRPr sz="2800">
                <a:solidFill>
                  <a:schemeClr val="tx1"/>
                </a:solidFill>
                <a:latin typeface="Times New Roman" panose="02020603050405020304" pitchFamily="18" charset="0"/>
              </a:defRPr>
            </a:lvl8pPr>
            <a:lvl9pPr marL="3886200" indent="-228600" defTabSz="762000" eaLnBrk="0" fontAlgn="base" hangingPunct="0">
              <a:spcBef>
                <a:spcPct val="0"/>
              </a:spcBef>
              <a:spcAft>
                <a:spcPct val="0"/>
              </a:spcAft>
              <a:defRPr sz="2800">
                <a:solidFill>
                  <a:schemeClr val="tx1"/>
                </a:solidFill>
                <a:latin typeface="Times New Roman" panose="02020603050405020304" pitchFamily="18" charset="0"/>
              </a:defRPr>
            </a:lvl9pPr>
          </a:lstStyle>
          <a:p>
            <a:pPr algn="r"/>
            <a:r>
              <a:rPr lang="en-GB" altLang="en-US" sz="1000" i="1"/>
              <a:t>9</a:t>
            </a:r>
          </a:p>
        </p:txBody>
      </p:sp>
      <p:sp>
        <p:nvSpPr>
          <p:cNvPr id="50181" name="Rectangle 4">
            <a:extLst>
              <a:ext uri="{FF2B5EF4-FFF2-40B4-BE49-F238E27FC236}">
                <a16:creationId xmlns:a16="http://schemas.microsoft.com/office/drawing/2014/main" id="{127A82D9-D74A-4117-B70C-71EC0A9F5A15}"/>
              </a:ext>
            </a:extLst>
          </p:cNvPr>
          <p:cNvSpPr>
            <a:spLocks noChangeArrowheads="1"/>
          </p:cNvSpPr>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a:solidFill>
                  <a:schemeClr val="tx1"/>
                </a:solidFill>
                <a:latin typeface="Times New Roman" panose="02020603050405020304" pitchFamily="18" charset="0"/>
              </a:defRPr>
            </a:lvl1pPr>
            <a:lvl2pPr marL="742950" indent="-285750">
              <a:defRPr sz="2800">
                <a:solidFill>
                  <a:schemeClr val="tx1"/>
                </a:solidFill>
                <a:latin typeface="Times New Roman" panose="02020603050405020304" pitchFamily="18" charset="0"/>
              </a:defRPr>
            </a:lvl2pPr>
            <a:lvl3pPr marL="1143000" indent="-228600">
              <a:defRPr sz="2800">
                <a:solidFill>
                  <a:schemeClr val="tx1"/>
                </a:solidFill>
                <a:latin typeface="Times New Roman" panose="02020603050405020304" pitchFamily="18" charset="0"/>
              </a:defRPr>
            </a:lvl3pPr>
            <a:lvl4pPr marL="1600200" indent="-228600">
              <a:defRPr sz="2800">
                <a:solidFill>
                  <a:schemeClr val="tx1"/>
                </a:solidFill>
                <a:latin typeface="Times New Roman" panose="02020603050405020304" pitchFamily="18" charset="0"/>
              </a:defRPr>
            </a:lvl4pPr>
            <a:lvl5pPr marL="2057400" indent="-228600">
              <a:defRPr sz="28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defRPr>
            </a:lvl9pPr>
          </a:lstStyle>
          <a:p>
            <a:endParaRPr lang="en-GB" altLang="en-US" noProof="1"/>
          </a:p>
        </p:txBody>
      </p:sp>
      <p:sp>
        <p:nvSpPr>
          <p:cNvPr id="50182" name="Rectangle 5">
            <a:extLst>
              <a:ext uri="{FF2B5EF4-FFF2-40B4-BE49-F238E27FC236}">
                <a16:creationId xmlns:a16="http://schemas.microsoft.com/office/drawing/2014/main" id="{28FD88A6-D159-4222-96E9-AF72D4803491}"/>
              </a:ext>
            </a:extLst>
          </p:cNvPr>
          <p:cNvSpPr>
            <a:spLocks noChangeArrowheads="1"/>
          </p:cNvSpP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a:solidFill>
                  <a:schemeClr val="tx1"/>
                </a:solidFill>
                <a:latin typeface="Times New Roman" panose="02020603050405020304" pitchFamily="18" charset="0"/>
              </a:defRPr>
            </a:lvl1pPr>
            <a:lvl2pPr marL="742950" indent="-285750">
              <a:defRPr sz="2800">
                <a:solidFill>
                  <a:schemeClr val="tx1"/>
                </a:solidFill>
                <a:latin typeface="Times New Roman" panose="02020603050405020304" pitchFamily="18" charset="0"/>
              </a:defRPr>
            </a:lvl2pPr>
            <a:lvl3pPr marL="1143000" indent="-228600">
              <a:defRPr sz="2800">
                <a:solidFill>
                  <a:schemeClr val="tx1"/>
                </a:solidFill>
                <a:latin typeface="Times New Roman" panose="02020603050405020304" pitchFamily="18" charset="0"/>
              </a:defRPr>
            </a:lvl3pPr>
            <a:lvl4pPr marL="1600200" indent="-228600">
              <a:defRPr sz="2800">
                <a:solidFill>
                  <a:schemeClr val="tx1"/>
                </a:solidFill>
                <a:latin typeface="Times New Roman" panose="02020603050405020304" pitchFamily="18" charset="0"/>
              </a:defRPr>
            </a:lvl4pPr>
            <a:lvl5pPr marL="2057400" indent="-228600">
              <a:defRPr sz="28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defRPr>
            </a:lvl9pPr>
          </a:lstStyle>
          <a:p>
            <a:endParaRPr lang="en-GB" altLang="en-US" noProof="1"/>
          </a:p>
        </p:txBody>
      </p:sp>
      <p:sp>
        <p:nvSpPr>
          <p:cNvPr id="50183" name="Rectangle 6">
            <a:extLst>
              <a:ext uri="{FF2B5EF4-FFF2-40B4-BE49-F238E27FC236}">
                <a16:creationId xmlns:a16="http://schemas.microsoft.com/office/drawing/2014/main" id="{63DF3AB2-3560-4560-A3DB-9D862925AEAA}"/>
              </a:ext>
            </a:extLst>
          </p:cNvPr>
          <p:cNvSpPr>
            <a:spLocks noGrp="1" noChangeArrowheads="1"/>
          </p:cNvSpPr>
          <p:nvPr>
            <p:ph type="body" idx="1"/>
          </p:nvPr>
        </p:nvSpPr>
        <p:spPr>
          <a:noFill/>
        </p:spPr>
        <p:txBody>
          <a:bodyPr lIns="92075" tIns="46038" rIns="92075" bIns="46038"/>
          <a:lstStyle/>
          <a:p>
            <a:endParaRPr lang="en-GB" altLang="en-US" noProof="1"/>
          </a:p>
        </p:txBody>
      </p:sp>
      <p:sp>
        <p:nvSpPr>
          <p:cNvPr id="50184" name="Rectangle 7">
            <a:extLst>
              <a:ext uri="{FF2B5EF4-FFF2-40B4-BE49-F238E27FC236}">
                <a16:creationId xmlns:a16="http://schemas.microsoft.com/office/drawing/2014/main" id="{72EDB301-B9EE-4CD5-BCD2-4091A8D2B488}"/>
              </a:ext>
            </a:extLst>
          </p:cNvPr>
          <p:cNvSpPr>
            <a:spLocks noGrp="1" noRot="1" noChangeAspect="1" noChangeArrowheads="1" noTextEdit="1"/>
          </p:cNvSpPr>
          <p:nvPr>
            <p:ph type="sldImg"/>
          </p:nvPr>
        </p:nvSpPr>
        <p:spPr>
          <a:ln w="12700" cap="flat">
            <a:solidFill>
              <a:schemeClr val="tx1"/>
            </a:solidFill>
          </a:ln>
        </p:spPr>
      </p:sp>
    </p:spTree>
    <p:extLst>
      <p:ext uri="{BB962C8B-B14F-4D97-AF65-F5344CB8AC3E}">
        <p14:creationId xmlns:p14="http://schemas.microsoft.com/office/powerpoint/2010/main" val="371783611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a:extLst>
              <a:ext uri="{FF2B5EF4-FFF2-40B4-BE49-F238E27FC236}">
                <a16:creationId xmlns:a16="http://schemas.microsoft.com/office/drawing/2014/main" id="{BEEC8F54-2534-4086-8AF5-53A25616C7A8}"/>
              </a:ext>
            </a:extLst>
          </p:cNvPr>
          <p:cNvSpPr>
            <a:spLocks noGrp="1" noChangeArrowheads="1"/>
          </p:cNvSpPr>
          <p:nvPr>
            <p:ph type="sldNum" sz="quarter" idx="5"/>
          </p:nvPr>
        </p:nvSpPr>
        <p:spPr>
          <a:noFill/>
        </p:spPr>
        <p:txBody>
          <a:bodyPr/>
          <a:lstStyle>
            <a:lvl1pPr>
              <a:defRPr sz="2800">
                <a:solidFill>
                  <a:schemeClr val="tx1"/>
                </a:solidFill>
                <a:latin typeface="Times New Roman" panose="02020603050405020304" pitchFamily="18" charset="0"/>
              </a:defRPr>
            </a:lvl1pPr>
            <a:lvl2pPr marL="742950" indent="-285750">
              <a:defRPr sz="2800">
                <a:solidFill>
                  <a:schemeClr val="tx1"/>
                </a:solidFill>
                <a:latin typeface="Times New Roman" panose="02020603050405020304" pitchFamily="18" charset="0"/>
              </a:defRPr>
            </a:lvl2pPr>
            <a:lvl3pPr marL="1143000" indent="-228600">
              <a:defRPr sz="2800">
                <a:solidFill>
                  <a:schemeClr val="tx1"/>
                </a:solidFill>
                <a:latin typeface="Times New Roman" panose="02020603050405020304" pitchFamily="18" charset="0"/>
              </a:defRPr>
            </a:lvl3pPr>
            <a:lvl4pPr marL="1600200" indent="-228600">
              <a:defRPr sz="2800">
                <a:solidFill>
                  <a:schemeClr val="tx1"/>
                </a:solidFill>
                <a:latin typeface="Times New Roman" panose="02020603050405020304" pitchFamily="18" charset="0"/>
              </a:defRPr>
            </a:lvl4pPr>
            <a:lvl5pPr marL="2057400" indent="-228600">
              <a:defRPr sz="28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defRPr>
            </a:lvl9pPr>
          </a:lstStyle>
          <a:p>
            <a:fld id="{F9E1381B-CD23-4587-A6BD-56B39AE50910}" type="slidenum">
              <a:rPr lang="en-GB" altLang="en-US" sz="1200"/>
              <a:pPr/>
              <a:t>37</a:t>
            </a:fld>
            <a:endParaRPr lang="en-GB" altLang="en-US" sz="1200"/>
          </a:p>
        </p:txBody>
      </p:sp>
      <p:sp>
        <p:nvSpPr>
          <p:cNvPr id="35843" name="Rectangle 2">
            <a:extLst>
              <a:ext uri="{FF2B5EF4-FFF2-40B4-BE49-F238E27FC236}">
                <a16:creationId xmlns:a16="http://schemas.microsoft.com/office/drawing/2014/main" id="{A5A6F197-7368-49C4-8860-3A00E716F44C}"/>
              </a:ext>
            </a:extLst>
          </p:cNvPr>
          <p:cNvSpPr>
            <a:spLocks noChangeArrowheads="1"/>
          </p:cNvSpPr>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a:solidFill>
                  <a:schemeClr val="tx1"/>
                </a:solidFill>
                <a:latin typeface="Times New Roman" panose="02020603050405020304" pitchFamily="18" charset="0"/>
              </a:defRPr>
            </a:lvl1pPr>
            <a:lvl2pPr marL="742950" indent="-285750">
              <a:defRPr sz="2800">
                <a:solidFill>
                  <a:schemeClr val="tx1"/>
                </a:solidFill>
                <a:latin typeface="Times New Roman" panose="02020603050405020304" pitchFamily="18" charset="0"/>
              </a:defRPr>
            </a:lvl2pPr>
            <a:lvl3pPr marL="1143000" indent="-228600">
              <a:defRPr sz="2800">
                <a:solidFill>
                  <a:schemeClr val="tx1"/>
                </a:solidFill>
                <a:latin typeface="Times New Roman" panose="02020603050405020304" pitchFamily="18" charset="0"/>
              </a:defRPr>
            </a:lvl3pPr>
            <a:lvl4pPr marL="1600200" indent="-228600">
              <a:defRPr sz="2800">
                <a:solidFill>
                  <a:schemeClr val="tx1"/>
                </a:solidFill>
                <a:latin typeface="Times New Roman" panose="02020603050405020304" pitchFamily="18" charset="0"/>
              </a:defRPr>
            </a:lvl4pPr>
            <a:lvl5pPr marL="2057400" indent="-228600">
              <a:defRPr sz="28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defRPr>
            </a:lvl9pPr>
          </a:lstStyle>
          <a:p>
            <a:endParaRPr lang="en-GB" altLang="en-US" noProof="1"/>
          </a:p>
        </p:txBody>
      </p:sp>
      <p:sp>
        <p:nvSpPr>
          <p:cNvPr id="35844" name="Rectangle 3">
            <a:extLst>
              <a:ext uri="{FF2B5EF4-FFF2-40B4-BE49-F238E27FC236}">
                <a16:creationId xmlns:a16="http://schemas.microsoft.com/office/drawing/2014/main" id="{8F39D329-B174-44A8-9352-4C977E6BA3A8}"/>
              </a:ext>
            </a:extLst>
          </p:cNvPr>
          <p:cNvSpPr>
            <a:spLocks noChangeArrowheads="1"/>
          </p:cNvSpPr>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0" rIns="19050" bIns="0" anchor="b"/>
          <a:lstStyle>
            <a:lvl1pPr defTabSz="762000">
              <a:defRPr sz="2800">
                <a:solidFill>
                  <a:schemeClr val="tx1"/>
                </a:solidFill>
                <a:latin typeface="Times New Roman" panose="02020603050405020304" pitchFamily="18" charset="0"/>
              </a:defRPr>
            </a:lvl1pPr>
            <a:lvl2pPr marL="742950" indent="-285750" defTabSz="762000">
              <a:defRPr sz="2800">
                <a:solidFill>
                  <a:schemeClr val="tx1"/>
                </a:solidFill>
                <a:latin typeface="Times New Roman" panose="02020603050405020304" pitchFamily="18" charset="0"/>
              </a:defRPr>
            </a:lvl2pPr>
            <a:lvl3pPr marL="1143000" indent="-228600" defTabSz="762000">
              <a:defRPr sz="2800">
                <a:solidFill>
                  <a:schemeClr val="tx1"/>
                </a:solidFill>
                <a:latin typeface="Times New Roman" panose="02020603050405020304" pitchFamily="18" charset="0"/>
              </a:defRPr>
            </a:lvl3pPr>
            <a:lvl4pPr marL="1600200" indent="-228600" defTabSz="762000">
              <a:defRPr sz="2800">
                <a:solidFill>
                  <a:schemeClr val="tx1"/>
                </a:solidFill>
                <a:latin typeface="Times New Roman" panose="02020603050405020304" pitchFamily="18" charset="0"/>
              </a:defRPr>
            </a:lvl4pPr>
            <a:lvl5pPr marL="2057400" indent="-228600" defTabSz="762000">
              <a:defRPr sz="2800">
                <a:solidFill>
                  <a:schemeClr val="tx1"/>
                </a:solidFill>
                <a:latin typeface="Times New Roman" panose="02020603050405020304" pitchFamily="18" charset="0"/>
              </a:defRPr>
            </a:lvl5pPr>
            <a:lvl6pPr marL="2514600" indent="-228600" defTabSz="762000" eaLnBrk="0" fontAlgn="base" hangingPunct="0">
              <a:spcBef>
                <a:spcPct val="0"/>
              </a:spcBef>
              <a:spcAft>
                <a:spcPct val="0"/>
              </a:spcAft>
              <a:defRPr sz="2800">
                <a:solidFill>
                  <a:schemeClr val="tx1"/>
                </a:solidFill>
                <a:latin typeface="Times New Roman" panose="02020603050405020304" pitchFamily="18" charset="0"/>
              </a:defRPr>
            </a:lvl6pPr>
            <a:lvl7pPr marL="2971800" indent="-228600" defTabSz="762000" eaLnBrk="0" fontAlgn="base" hangingPunct="0">
              <a:spcBef>
                <a:spcPct val="0"/>
              </a:spcBef>
              <a:spcAft>
                <a:spcPct val="0"/>
              </a:spcAft>
              <a:defRPr sz="2800">
                <a:solidFill>
                  <a:schemeClr val="tx1"/>
                </a:solidFill>
                <a:latin typeface="Times New Roman" panose="02020603050405020304" pitchFamily="18" charset="0"/>
              </a:defRPr>
            </a:lvl7pPr>
            <a:lvl8pPr marL="3429000" indent="-228600" defTabSz="762000" eaLnBrk="0" fontAlgn="base" hangingPunct="0">
              <a:spcBef>
                <a:spcPct val="0"/>
              </a:spcBef>
              <a:spcAft>
                <a:spcPct val="0"/>
              </a:spcAft>
              <a:defRPr sz="2800">
                <a:solidFill>
                  <a:schemeClr val="tx1"/>
                </a:solidFill>
                <a:latin typeface="Times New Roman" panose="02020603050405020304" pitchFamily="18" charset="0"/>
              </a:defRPr>
            </a:lvl8pPr>
            <a:lvl9pPr marL="3886200" indent="-228600" defTabSz="762000" eaLnBrk="0" fontAlgn="base" hangingPunct="0">
              <a:spcBef>
                <a:spcPct val="0"/>
              </a:spcBef>
              <a:spcAft>
                <a:spcPct val="0"/>
              </a:spcAft>
              <a:defRPr sz="2800">
                <a:solidFill>
                  <a:schemeClr val="tx1"/>
                </a:solidFill>
                <a:latin typeface="Times New Roman" panose="02020603050405020304" pitchFamily="18" charset="0"/>
              </a:defRPr>
            </a:lvl9pPr>
          </a:lstStyle>
          <a:p>
            <a:pPr algn="r"/>
            <a:r>
              <a:rPr lang="en-GB" altLang="en-US" sz="1000" i="1"/>
              <a:t>13</a:t>
            </a:r>
          </a:p>
        </p:txBody>
      </p:sp>
      <p:sp>
        <p:nvSpPr>
          <p:cNvPr id="35845" name="Rectangle 4">
            <a:extLst>
              <a:ext uri="{FF2B5EF4-FFF2-40B4-BE49-F238E27FC236}">
                <a16:creationId xmlns:a16="http://schemas.microsoft.com/office/drawing/2014/main" id="{FA26FB82-9C5D-424D-90E0-6468FE79A7F0}"/>
              </a:ext>
            </a:extLst>
          </p:cNvPr>
          <p:cNvSpPr>
            <a:spLocks noChangeArrowheads="1"/>
          </p:cNvSpPr>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a:solidFill>
                  <a:schemeClr val="tx1"/>
                </a:solidFill>
                <a:latin typeface="Times New Roman" panose="02020603050405020304" pitchFamily="18" charset="0"/>
              </a:defRPr>
            </a:lvl1pPr>
            <a:lvl2pPr marL="742950" indent="-285750">
              <a:defRPr sz="2800">
                <a:solidFill>
                  <a:schemeClr val="tx1"/>
                </a:solidFill>
                <a:latin typeface="Times New Roman" panose="02020603050405020304" pitchFamily="18" charset="0"/>
              </a:defRPr>
            </a:lvl2pPr>
            <a:lvl3pPr marL="1143000" indent="-228600">
              <a:defRPr sz="2800">
                <a:solidFill>
                  <a:schemeClr val="tx1"/>
                </a:solidFill>
                <a:latin typeface="Times New Roman" panose="02020603050405020304" pitchFamily="18" charset="0"/>
              </a:defRPr>
            </a:lvl3pPr>
            <a:lvl4pPr marL="1600200" indent="-228600">
              <a:defRPr sz="2800">
                <a:solidFill>
                  <a:schemeClr val="tx1"/>
                </a:solidFill>
                <a:latin typeface="Times New Roman" panose="02020603050405020304" pitchFamily="18" charset="0"/>
              </a:defRPr>
            </a:lvl4pPr>
            <a:lvl5pPr marL="2057400" indent="-228600">
              <a:defRPr sz="28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defRPr>
            </a:lvl9pPr>
          </a:lstStyle>
          <a:p>
            <a:endParaRPr lang="en-GB" altLang="en-US" noProof="1"/>
          </a:p>
        </p:txBody>
      </p:sp>
      <p:sp>
        <p:nvSpPr>
          <p:cNvPr id="35846" name="Rectangle 5">
            <a:extLst>
              <a:ext uri="{FF2B5EF4-FFF2-40B4-BE49-F238E27FC236}">
                <a16:creationId xmlns:a16="http://schemas.microsoft.com/office/drawing/2014/main" id="{71C829EB-88D8-45F2-AEE8-4A56AFB65FFB}"/>
              </a:ext>
            </a:extLst>
          </p:cNvPr>
          <p:cNvSpPr>
            <a:spLocks noChangeArrowheads="1"/>
          </p:cNvSpP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a:solidFill>
                  <a:schemeClr val="tx1"/>
                </a:solidFill>
                <a:latin typeface="Times New Roman" panose="02020603050405020304" pitchFamily="18" charset="0"/>
              </a:defRPr>
            </a:lvl1pPr>
            <a:lvl2pPr marL="742950" indent="-285750">
              <a:defRPr sz="2800">
                <a:solidFill>
                  <a:schemeClr val="tx1"/>
                </a:solidFill>
                <a:latin typeface="Times New Roman" panose="02020603050405020304" pitchFamily="18" charset="0"/>
              </a:defRPr>
            </a:lvl2pPr>
            <a:lvl3pPr marL="1143000" indent="-228600">
              <a:defRPr sz="2800">
                <a:solidFill>
                  <a:schemeClr val="tx1"/>
                </a:solidFill>
                <a:latin typeface="Times New Roman" panose="02020603050405020304" pitchFamily="18" charset="0"/>
              </a:defRPr>
            </a:lvl3pPr>
            <a:lvl4pPr marL="1600200" indent="-228600">
              <a:defRPr sz="2800">
                <a:solidFill>
                  <a:schemeClr val="tx1"/>
                </a:solidFill>
                <a:latin typeface="Times New Roman" panose="02020603050405020304" pitchFamily="18" charset="0"/>
              </a:defRPr>
            </a:lvl4pPr>
            <a:lvl5pPr marL="2057400" indent="-228600">
              <a:defRPr sz="28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defRPr>
            </a:lvl9pPr>
          </a:lstStyle>
          <a:p>
            <a:endParaRPr lang="en-GB" altLang="en-US" noProof="1"/>
          </a:p>
        </p:txBody>
      </p:sp>
      <p:sp>
        <p:nvSpPr>
          <p:cNvPr id="35847" name="Rectangle 6">
            <a:extLst>
              <a:ext uri="{FF2B5EF4-FFF2-40B4-BE49-F238E27FC236}">
                <a16:creationId xmlns:a16="http://schemas.microsoft.com/office/drawing/2014/main" id="{E76AC3C2-ED97-4CA7-A8F6-5FC3C32389BA}"/>
              </a:ext>
            </a:extLst>
          </p:cNvPr>
          <p:cNvSpPr>
            <a:spLocks noGrp="1" noChangeArrowheads="1"/>
          </p:cNvSpPr>
          <p:nvPr>
            <p:ph type="body" idx="1"/>
          </p:nvPr>
        </p:nvSpPr>
        <p:spPr>
          <a:noFill/>
        </p:spPr>
        <p:txBody>
          <a:bodyPr lIns="92075" tIns="46038" rIns="92075" bIns="46038"/>
          <a:lstStyle/>
          <a:p>
            <a:pPr defTabSz="762000"/>
            <a:endParaRPr lang="en-GB" altLang="en-US" noProof="1"/>
          </a:p>
        </p:txBody>
      </p:sp>
      <p:sp>
        <p:nvSpPr>
          <p:cNvPr id="35848" name="Rectangle 7">
            <a:extLst>
              <a:ext uri="{FF2B5EF4-FFF2-40B4-BE49-F238E27FC236}">
                <a16:creationId xmlns:a16="http://schemas.microsoft.com/office/drawing/2014/main" id="{26511429-27F0-4072-988D-ADF0DFA11587}"/>
              </a:ext>
            </a:extLst>
          </p:cNvPr>
          <p:cNvSpPr>
            <a:spLocks noGrp="1" noRot="1" noChangeAspect="1" noChangeArrowheads="1" noTextEdit="1"/>
          </p:cNvSpPr>
          <p:nvPr>
            <p:ph type="sldImg"/>
          </p:nvPr>
        </p:nvSpPr>
        <p:spPr>
          <a:ln w="12700" cap="flat">
            <a:solidFill>
              <a:schemeClr val="tx1"/>
            </a:solidFill>
          </a:ln>
        </p:spPr>
      </p:sp>
    </p:spTree>
    <p:extLst>
      <p:ext uri="{BB962C8B-B14F-4D97-AF65-F5344CB8AC3E}">
        <p14:creationId xmlns:p14="http://schemas.microsoft.com/office/powerpoint/2010/main" val="285402735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7">
            <a:extLst>
              <a:ext uri="{FF2B5EF4-FFF2-40B4-BE49-F238E27FC236}">
                <a16:creationId xmlns:a16="http://schemas.microsoft.com/office/drawing/2014/main" id="{C7FBE9EB-B294-4B1D-ABFE-7CEBFA6CAF82}"/>
              </a:ext>
            </a:extLst>
          </p:cNvPr>
          <p:cNvSpPr>
            <a:spLocks noGrp="1" noChangeArrowheads="1"/>
          </p:cNvSpPr>
          <p:nvPr>
            <p:ph type="sldNum" sz="quarter" idx="5"/>
          </p:nvPr>
        </p:nvSpPr>
        <p:spPr>
          <a:noFill/>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2B32510C-45FC-41D3-97FF-880172B74E4F}" type="slidenum">
              <a:rPr lang="en-GB" altLang="en-US" sz="1200" smtClean="0"/>
              <a:pPr/>
              <a:t>38</a:t>
            </a:fld>
            <a:endParaRPr lang="en-GB" altLang="en-US" sz="1200"/>
          </a:p>
        </p:txBody>
      </p:sp>
      <p:sp>
        <p:nvSpPr>
          <p:cNvPr id="4099" name="Rectangle 2">
            <a:extLst>
              <a:ext uri="{FF2B5EF4-FFF2-40B4-BE49-F238E27FC236}">
                <a16:creationId xmlns:a16="http://schemas.microsoft.com/office/drawing/2014/main" id="{F6B80F47-8413-4F7F-AC82-372FC238C267}"/>
              </a:ext>
            </a:extLst>
          </p:cNvPr>
          <p:cNvSpPr>
            <a:spLocks noGrp="1" noChangeArrowheads="1"/>
          </p:cNvSpPr>
          <p:nvPr>
            <p:ph type="body" idx="1"/>
          </p:nvPr>
        </p:nvSpPr>
        <p:spPr>
          <a:noFill/>
        </p:spPr>
        <p:txBody>
          <a:bodyPr lIns="92075" tIns="46038" rIns="92075" bIns="46038"/>
          <a:lstStyle/>
          <a:p>
            <a:endParaRPr lang="en-GB" altLang="en-US" noProof="1"/>
          </a:p>
        </p:txBody>
      </p:sp>
      <p:sp>
        <p:nvSpPr>
          <p:cNvPr id="4100" name="Rectangle 3">
            <a:extLst>
              <a:ext uri="{FF2B5EF4-FFF2-40B4-BE49-F238E27FC236}">
                <a16:creationId xmlns:a16="http://schemas.microsoft.com/office/drawing/2014/main" id="{55C18DA1-2F6E-450F-83CB-BFFDA0524B18}"/>
              </a:ext>
            </a:extLst>
          </p:cNvPr>
          <p:cNvSpPr>
            <a:spLocks noGrp="1" noRot="1" noChangeAspect="1" noChangeArrowheads="1" noTextEdit="1"/>
          </p:cNvSpPr>
          <p:nvPr>
            <p:ph type="sldImg"/>
          </p:nvPr>
        </p:nvSpPr>
        <p:spPr>
          <a:xfrm>
            <a:off x="381000" y="685800"/>
            <a:ext cx="6096000" cy="3429000"/>
          </a:xfrm>
          <a:ln w="12700" cap="flat">
            <a:solidFill>
              <a:schemeClr val="tx1"/>
            </a:solidFill>
          </a:ln>
        </p:spPr>
      </p:sp>
    </p:spTree>
    <p:extLst>
      <p:ext uri="{BB962C8B-B14F-4D97-AF65-F5344CB8AC3E}">
        <p14:creationId xmlns:p14="http://schemas.microsoft.com/office/powerpoint/2010/main" val="122444817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4098">
            <a:extLst>
              <a:ext uri="{FF2B5EF4-FFF2-40B4-BE49-F238E27FC236}">
                <a16:creationId xmlns:a16="http://schemas.microsoft.com/office/drawing/2014/main" id="{348401F2-A0CA-42B7-9E5D-1ED6CC119889}"/>
              </a:ext>
            </a:extLst>
          </p:cNvPr>
          <p:cNvSpPr>
            <a:spLocks noGrp="1" noRot="1" noChangeAspect="1" noTextEdit="1"/>
          </p:cNvSpPr>
          <p:nvPr>
            <p:ph type="sldImg"/>
          </p:nvPr>
        </p:nvSpPr>
        <p:spPr>
          <a:ln/>
        </p:spPr>
      </p:sp>
      <p:sp>
        <p:nvSpPr>
          <p:cNvPr id="103427" name="Rectangle 4099">
            <a:extLst>
              <a:ext uri="{FF2B5EF4-FFF2-40B4-BE49-F238E27FC236}">
                <a16:creationId xmlns:a16="http://schemas.microsoft.com/office/drawing/2014/main" id="{ED72E125-64F1-4B60-B178-4B1B20186CB1}"/>
              </a:ext>
            </a:extLst>
          </p:cNvPr>
          <p:cNvSpPr>
            <a:spLocks noGrp="1"/>
          </p:cNvSpPr>
          <p:nvPr>
            <p:ph type="body" idx="1"/>
          </p:nvPr>
        </p:nvSpPr>
        <p:spPr>
          <a:xfrm>
            <a:off x="685800" y="4343400"/>
            <a:ext cx="54864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0"/>
              </a:spcBef>
            </a:pPr>
            <a:endParaRPr lang="en-GB" altLang="en-US" sz="1800" noProof="1">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2440075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7">
            <a:extLst>
              <a:ext uri="{FF2B5EF4-FFF2-40B4-BE49-F238E27FC236}">
                <a16:creationId xmlns:a16="http://schemas.microsoft.com/office/drawing/2014/main" id="{C7FBE9EB-B294-4B1D-ABFE-7CEBFA6CAF82}"/>
              </a:ext>
            </a:extLst>
          </p:cNvPr>
          <p:cNvSpPr>
            <a:spLocks noGrp="1" noChangeArrowheads="1"/>
          </p:cNvSpPr>
          <p:nvPr>
            <p:ph type="sldNum" sz="quarter" idx="5"/>
          </p:nvPr>
        </p:nvSpPr>
        <p:spPr>
          <a:noFill/>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2B32510C-45FC-41D3-97FF-880172B74E4F}" type="slidenum">
              <a:rPr lang="en-GB" altLang="en-US" sz="1200" smtClean="0"/>
              <a:pPr/>
              <a:t>40</a:t>
            </a:fld>
            <a:endParaRPr lang="en-GB" altLang="en-US" sz="1200"/>
          </a:p>
        </p:txBody>
      </p:sp>
      <p:sp>
        <p:nvSpPr>
          <p:cNvPr id="4099" name="Rectangle 2">
            <a:extLst>
              <a:ext uri="{FF2B5EF4-FFF2-40B4-BE49-F238E27FC236}">
                <a16:creationId xmlns:a16="http://schemas.microsoft.com/office/drawing/2014/main" id="{F6B80F47-8413-4F7F-AC82-372FC238C267}"/>
              </a:ext>
            </a:extLst>
          </p:cNvPr>
          <p:cNvSpPr>
            <a:spLocks noGrp="1" noChangeArrowheads="1"/>
          </p:cNvSpPr>
          <p:nvPr>
            <p:ph type="body" idx="1"/>
          </p:nvPr>
        </p:nvSpPr>
        <p:spPr>
          <a:noFill/>
        </p:spPr>
        <p:txBody>
          <a:bodyPr lIns="92075" tIns="46038" rIns="92075" bIns="46038"/>
          <a:lstStyle/>
          <a:p>
            <a:endParaRPr lang="en-GB" altLang="en-US" noProof="1"/>
          </a:p>
        </p:txBody>
      </p:sp>
      <p:sp>
        <p:nvSpPr>
          <p:cNvPr id="4100" name="Rectangle 3">
            <a:extLst>
              <a:ext uri="{FF2B5EF4-FFF2-40B4-BE49-F238E27FC236}">
                <a16:creationId xmlns:a16="http://schemas.microsoft.com/office/drawing/2014/main" id="{55C18DA1-2F6E-450F-83CB-BFFDA0524B18}"/>
              </a:ext>
            </a:extLst>
          </p:cNvPr>
          <p:cNvSpPr>
            <a:spLocks noGrp="1" noRot="1" noChangeAspect="1" noChangeArrowheads="1" noTextEdit="1"/>
          </p:cNvSpPr>
          <p:nvPr>
            <p:ph type="sldImg"/>
          </p:nvPr>
        </p:nvSpPr>
        <p:spPr>
          <a:xfrm>
            <a:off x="381000" y="685800"/>
            <a:ext cx="6096000" cy="3429000"/>
          </a:xfrm>
          <a:ln w="12700" cap="flat">
            <a:solidFill>
              <a:schemeClr val="tx1"/>
            </a:solidFill>
          </a:ln>
        </p:spPr>
      </p:sp>
    </p:spTree>
    <p:extLst>
      <p:ext uri="{BB962C8B-B14F-4D97-AF65-F5344CB8AC3E}">
        <p14:creationId xmlns:p14="http://schemas.microsoft.com/office/powerpoint/2010/main" val="36951856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7">
            <a:extLst>
              <a:ext uri="{FF2B5EF4-FFF2-40B4-BE49-F238E27FC236}">
                <a16:creationId xmlns:a16="http://schemas.microsoft.com/office/drawing/2014/main" id="{C7FBE9EB-B294-4B1D-ABFE-7CEBFA6CAF82}"/>
              </a:ext>
            </a:extLst>
          </p:cNvPr>
          <p:cNvSpPr>
            <a:spLocks noGrp="1" noChangeArrowheads="1"/>
          </p:cNvSpPr>
          <p:nvPr>
            <p:ph type="sldNum" sz="quarter" idx="5"/>
          </p:nvPr>
        </p:nvSpPr>
        <p:spPr>
          <a:noFill/>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2B32510C-45FC-41D3-97FF-880172B74E4F}" type="slidenum">
              <a:rPr lang="en-GB" altLang="en-US" sz="1200" smtClean="0"/>
              <a:pPr/>
              <a:t>41</a:t>
            </a:fld>
            <a:endParaRPr lang="en-GB" altLang="en-US" sz="1200"/>
          </a:p>
        </p:txBody>
      </p:sp>
      <p:sp>
        <p:nvSpPr>
          <p:cNvPr id="4099" name="Rectangle 2">
            <a:extLst>
              <a:ext uri="{FF2B5EF4-FFF2-40B4-BE49-F238E27FC236}">
                <a16:creationId xmlns:a16="http://schemas.microsoft.com/office/drawing/2014/main" id="{F6B80F47-8413-4F7F-AC82-372FC238C267}"/>
              </a:ext>
            </a:extLst>
          </p:cNvPr>
          <p:cNvSpPr>
            <a:spLocks noGrp="1" noChangeArrowheads="1"/>
          </p:cNvSpPr>
          <p:nvPr>
            <p:ph type="body" idx="1"/>
          </p:nvPr>
        </p:nvSpPr>
        <p:spPr>
          <a:noFill/>
        </p:spPr>
        <p:txBody>
          <a:bodyPr lIns="92075" tIns="46038" rIns="92075" bIns="46038"/>
          <a:lstStyle/>
          <a:p>
            <a:endParaRPr lang="en-GB" altLang="en-US" noProof="1"/>
          </a:p>
        </p:txBody>
      </p:sp>
      <p:sp>
        <p:nvSpPr>
          <p:cNvPr id="4100" name="Rectangle 3">
            <a:extLst>
              <a:ext uri="{FF2B5EF4-FFF2-40B4-BE49-F238E27FC236}">
                <a16:creationId xmlns:a16="http://schemas.microsoft.com/office/drawing/2014/main" id="{55C18DA1-2F6E-450F-83CB-BFFDA0524B18}"/>
              </a:ext>
            </a:extLst>
          </p:cNvPr>
          <p:cNvSpPr>
            <a:spLocks noGrp="1" noRot="1" noChangeAspect="1" noChangeArrowheads="1" noTextEdit="1"/>
          </p:cNvSpPr>
          <p:nvPr>
            <p:ph type="sldImg"/>
          </p:nvPr>
        </p:nvSpPr>
        <p:spPr>
          <a:xfrm>
            <a:off x="381000" y="685800"/>
            <a:ext cx="6096000" cy="3429000"/>
          </a:xfrm>
          <a:ln w="12700" cap="flat">
            <a:solidFill>
              <a:schemeClr val="tx1"/>
            </a:solidFill>
          </a:ln>
        </p:spPr>
      </p:sp>
    </p:spTree>
    <p:extLst>
      <p:ext uri="{BB962C8B-B14F-4D97-AF65-F5344CB8AC3E}">
        <p14:creationId xmlns:p14="http://schemas.microsoft.com/office/powerpoint/2010/main" val="52432363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a:extLst>
              <a:ext uri="{FF2B5EF4-FFF2-40B4-BE49-F238E27FC236}">
                <a16:creationId xmlns:a16="http://schemas.microsoft.com/office/drawing/2014/main" id="{74190EC6-4E69-448D-8E46-8A53AA17E9AC}"/>
              </a:ext>
            </a:extLst>
          </p:cNvPr>
          <p:cNvSpPr>
            <a:spLocks noGrp="1" noChangeArrowheads="1"/>
          </p:cNvSpPr>
          <p:nvPr>
            <p:ph type="sldNum" sz="quarter" idx="5"/>
          </p:nvPr>
        </p:nvSpPr>
        <p:spPr>
          <a:noFill/>
        </p:spPr>
        <p:txBody>
          <a:bodyPr/>
          <a:lstStyle>
            <a:lvl1pPr>
              <a:defRPr sz="2800">
                <a:solidFill>
                  <a:schemeClr val="tx1"/>
                </a:solidFill>
                <a:latin typeface="Times New Roman" panose="02020603050405020304" pitchFamily="18" charset="0"/>
              </a:defRPr>
            </a:lvl1pPr>
            <a:lvl2pPr marL="742950" indent="-285750">
              <a:defRPr sz="2800">
                <a:solidFill>
                  <a:schemeClr val="tx1"/>
                </a:solidFill>
                <a:latin typeface="Times New Roman" panose="02020603050405020304" pitchFamily="18" charset="0"/>
              </a:defRPr>
            </a:lvl2pPr>
            <a:lvl3pPr marL="1143000" indent="-228600">
              <a:defRPr sz="2800">
                <a:solidFill>
                  <a:schemeClr val="tx1"/>
                </a:solidFill>
                <a:latin typeface="Times New Roman" panose="02020603050405020304" pitchFamily="18" charset="0"/>
              </a:defRPr>
            </a:lvl3pPr>
            <a:lvl4pPr marL="1600200" indent="-228600">
              <a:defRPr sz="2800">
                <a:solidFill>
                  <a:schemeClr val="tx1"/>
                </a:solidFill>
                <a:latin typeface="Times New Roman" panose="02020603050405020304" pitchFamily="18" charset="0"/>
              </a:defRPr>
            </a:lvl4pPr>
            <a:lvl5pPr marL="2057400" indent="-228600">
              <a:defRPr sz="28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defRPr>
            </a:lvl9pPr>
          </a:lstStyle>
          <a:p>
            <a:fld id="{D410C2E0-C3F4-43A7-896B-87158FB5325D}" type="slidenum">
              <a:rPr lang="en-GB" altLang="en-US" sz="1200"/>
              <a:pPr/>
              <a:t>42</a:t>
            </a:fld>
            <a:endParaRPr lang="en-GB" altLang="en-US" sz="1200"/>
          </a:p>
        </p:txBody>
      </p:sp>
      <p:sp>
        <p:nvSpPr>
          <p:cNvPr id="39939" name="Rectangle 2">
            <a:extLst>
              <a:ext uri="{FF2B5EF4-FFF2-40B4-BE49-F238E27FC236}">
                <a16:creationId xmlns:a16="http://schemas.microsoft.com/office/drawing/2014/main" id="{8B2B0B5A-9517-4DB5-8FD3-FE8E543CED2B}"/>
              </a:ext>
            </a:extLst>
          </p:cNvPr>
          <p:cNvSpPr>
            <a:spLocks noChangeArrowheads="1"/>
          </p:cNvSpPr>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a:solidFill>
                  <a:schemeClr val="tx1"/>
                </a:solidFill>
                <a:latin typeface="Times New Roman" panose="02020603050405020304" pitchFamily="18" charset="0"/>
              </a:defRPr>
            </a:lvl1pPr>
            <a:lvl2pPr marL="742950" indent="-285750">
              <a:defRPr sz="2800">
                <a:solidFill>
                  <a:schemeClr val="tx1"/>
                </a:solidFill>
                <a:latin typeface="Times New Roman" panose="02020603050405020304" pitchFamily="18" charset="0"/>
              </a:defRPr>
            </a:lvl2pPr>
            <a:lvl3pPr marL="1143000" indent="-228600">
              <a:defRPr sz="2800">
                <a:solidFill>
                  <a:schemeClr val="tx1"/>
                </a:solidFill>
                <a:latin typeface="Times New Roman" panose="02020603050405020304" pitchFamily="18" charset="0"/>
              </a:defRPr>
            </a:lvl3pPr>
            <a:lvl4pPr marL="1600200" indent="-228600">
              <a:defRPr sz="2800">
                <a:solidFill>
                  <a:schemeClr val="tx1"/>
                </a:solidFill>
                <a:latin typeface="Times New Roman" panose="02020603050405020304" pitchFamily="18" charset="0"/>
              </a:defRPr>
            </a:lvl4pPr>
            <a:lvl5pPr marL="2057400" indent="-228600">
              <a:defRPr sz="28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defRPr>
            </a:lvl9pPr>
          </a:lstStyle>
          <a:p>
            <a:endParaRPr lang="en-GB" altLang="en-US" noProof="1"/>
          </a:p>
        </p:txBody>
      </p:sp>
      <p:sp>
        <p:nvSpPr>
          <p:cNvPr id="39940" name="Rectangle 3">
            <a:extLst>
              <a:ext uri="{FF2B5EF4-FFF2-40B4-BE49-F238E27FC236}">
                <a16:creationId xmlns:a16="http://schemas.microsoft.com/office/drawing/2014/main" id="{8FC43AD9-A27A-44FE-A01A-9D476242A7BC}"/>
              </a:ext>
            </a:extLst>
          </p:cNvPr>
          <p:cNvSpPr>
            <a:spLocks noChangeArrowheads="1"/>
          </p:cNvSpPr>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0" rIns="19050" bIns="0" anchor="b"/>
          <a:lstStyle>
            <a:lvl1pPr defTabSz="762000">
              <a:defRPr sz="2800">
                <a:solidFill>
                  <a:schemeClr val="tx1"/>
                </a:solidFill>
                <a:latin typeface="Times New Roman" panose="02020603050405020304" pitchFamily="18" charset="0"/>
              </a:defRPr>
            </a:lvl1pPr>
            <a:lvl2pPr marL="742950" indent="-285750" defTabSz="762000">
              <a:defRPr sz="2800">
                <a:solidFill>
                  <a:schemeClr val="tx1"/>
                </a:solidFill>
                <a:latin typeface="Times New Roman" panose="02020603050405020304" pitchFamily="18" charset="0"/>
              </a:defRPr>
            </a:lvl2pPr>
            <a:lvl3pPr marL="1143000" indent="-228600" defTabSz="762000">
              <a:defRPr sz="2800">
                <a:solidFill>
                  <a:schemeClr val="tx1"/>
                </a:solidFill>
                <a:latin typeface="Times New Roman" panose="02020603050405020304" pitchFamily="18" charset="0"/>
              </a:defRPr>
            </a:lvl3pPr>
            <a:lvl4pPr marL="1600200" indent="-228600" defTabSz="762000">
              <a:defRPr sz="2800">
                <a:solidFill>
                  <a:schemeClr val="tx1"/>
                </a:solidFill>
                <a:latin typeface="Times New Roman" panose="02020603050405020304" pitchFamily="18" charset="0"/>
              </a:defRPr>
            </a:lvl4pPr>
            <a:lvl5pPr marL="2057400" indent="-228600" defTabSz="762000">
              <a:defRPr sz="2800">
                <a:solidFill>
                  <a:schemeClr val="tx1"/>
                </a:solidFill>
                <a:latin typeface="Times New Roman" panose="02020603050405020304" pitchFamily="18" charset="0"/>
              </a:defRPr>
            </a:lvl5pPr>
            <a:lvl6pPr marL="2514600" indent="-228600" defTabSz="762000" eaLnBrk="0" fontAlgn="base" hangingPunct="0">
              <a:spcBef>
                <a:spcPct val="0"/>
              </a:spcBef>
              <a:spcAft>
                <a:spcPct val="0"/>
              </a:spcAft>
              <a:defRPr sz="2800">
                <a:solidFill>
                  <a:schemeClr val="tx1"/>
                </a:solidFill>
                <a:latin typeface="Times New Roman" panose="02020603050405020304" pitchFamily="18" charset="0"/>
              </a:defRPr>
            </a:lvl6pPr>
            <a:lvl7pPr marL="2971800" indent="-228600" defTabSz="762000" eaLnBrk="0" fontAlgn="base" hangingPunct="0">
              <a:spcBef>
                <a:spcPct val="0"/>
              </a:spcBef>
              <a:spcAft>
                <a:spcPct val="0"/>
              </a:spcAft>
              <a:defRPr sz="2800">
                <a:solidFill>
                  <a:schemeClr val="tx1"/>
                </a:solidFill>
                <a:latin typeface="Times New Roman" panose="02020603050405020304" pitchFamily="18" charset="0"/>
              </a:defRPr>
            </a:lvl7pPr>
            <a:lvl8pPr marL="3429000" indent="-228600" defTabSz="762000" eaLnBrk="0" fontAlgn="base" hangingPunct="0">
              <a:spcBef>
                <a:spcPct val="0"/>
              </a:spcBef>
              <a:spcAft>
                <a:spcPct val="0"/>
              </a:spcAft>
              <a:defRPr sz="2800">
                <a:solidFill>
                  <a:schemeClr val="tx1"/>
                </a:solidFill>
                <a:latin typeface="Times New Roman" panose="02020603050405020304" pitchFamily="18" charset="0"/>
              </a:defRPr>
            </a:lvl8pPr>
            <a:lvl9pPr marL="3886200" indent="-228600" defTabSz="762000" eaLnBrk="0" fontAlgn="base" hangingPunct="0">
              <a:spcBef>
                <a:spcPct val="0"/>
              </a:spcBef>
              <a:spcAft>
                <a:spcPct val="0"/>
              </a:spcAft>
              <a:defRPr sz="2800">
                <a:solidFill>
                  <a:schemeClr val="tx1"/>
                </a:solidFill>
                <a:latin typeface="Times New Roman" panose="02020603050405020304" pitchFamily="18" charset="0"/>
              </a:defRPr>
            </a:lvl9pPr>
          </a:lstStyle>
          <a:p>
            <a:pPr algn="r"/>
            <a:r>
              <a:rPr lang="en-GB" altLang="en-US" sz="1000" i="1"/>
              <a:t>14</a:t>
            </a:r>
          </a:p>
        </p:txBody>
      </p:sp>
      <p:sp>
        <p:nvSpPr>
          <p:cNvPr id="39941" name="Rectangle 4">
            <a:extLst>
              <a:ext uri="{FF2B5EF4-FFF2-40B4-BE49-F238E27FC236}">
                <a16:creationId xmlns:a16="http://schemas.microsoft.com/office/drawing/2014/main" id="{6090BCFB-90A8-4F93-9A72-888624390800}"/>
              </a:ext>
            </a:extLst>
          </p:cNvPr>
          <p:cNvSpPr>
            <a:spLocks noChangeArrowheads="1"/>
          </p:cNvSpPr>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a:solidFill>
                  <a:schemeClr val="tx1"/>
                </a:solidFill>
                <a:latin typeface="Times New Roman" panose="02020603050405020304" pitchFamily="18" charset="0"/>
              </a:defRPr>
            </a:lvl1pPr>
            <a:lvl2pPr marL="742950" indent="-285750">
              <a:defRPr sz="2800">
                <a:solidFill>
                  <a:schemeClr val="tx1"/>
                </a:solidFill>
                <a:latin typeface="Times New Roman" panose="02020603050405020304" pitchFamily="18" charset="0"/>
              </a:defRPr>
            </a:lvl2pPr>
            <a:lvl3pPr marL="1143000" indent="-228600">
              <a:defRPr sz="2800">
                <a:solidFill>
                  <a:schemeClr val="tx1"/>
                </a:solidFill>
                <a:latin typeface="Times New Roman" panose="02020603050405020304" pitchFamily="18" charset="0"/>
              </a:defRPr>
            </a:lvl3pPr>
            <a:lvl4pPr marL="1600200" indent="-228600">
              <a:defRPr sz="2800">
                <a:solidFill>
                  <a:schemeClr val="tx1"/>
                </a:solidFill>
                <a:latin typeface="Times New Roman" panose="02020603050405020304" pitchFamily="18" charset="0"/>
              </a:defRPr>
            </a:lvl4pPr>
            <a:lvl5pPr marL="2057400" indent="-228600">
              <a:defRPr sz="28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defRPr>
            </a:lvl9pPr>
          </a:lstStyle>
          <a:p>
            <a:endParaRPr lang="en-GB" altLang="en-US" noProof="1"/>
          </a:p>
        </p:txBody>
      </p:sp>
      <p:sp>
        <p:nvSpPr>
          <p:cNvPr id="39942" name="Rectangle 5">
            <a:extLst>
              <a:ext uri="{FF2B5EF4-FFF2-40B4-BE49-F238E27FC236}">
                <a16:creationId xmlns:a16="http://schemas.microsoft.com/office/drawing/2014/main" id="{871A52BE-E9BD-4630-9F47-7CCB6583332E}"/>
              </a:ext>
            </a:extLst>
          </p:cNvPr>
          <p:cNvSpPr>
            <a:spLocks noChangeArrowheads="1"/>
          </p:cNvSpP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a:solidFill>
                  <a:schemeClr val="tx1"/>
                </a:solidFill>
                <a:latin typeface="Times New Roman" panose="02020603050405020304" pitchFamily="18" charset="0"/>
              </a:defRPr>
            </a:lvl1pPr>
            <a:lvl2pPr marL="742950" indent="-285750">
              <a:defRPr sz="2800">
                <a:solidFill>
                  <a:schemeClr val="tx1"/>
                </a:solidFill>
                <a:latin typeface="Times New Roman" panose="02020603050405020304" pitchFamily="18" charset="0"/>
              </a:defRPr>
            </a:lvl2pPr>
            <a:lvl3pPr marL="1143000" indent="-228600">
              <a:defRPr sz="2800">
                <a:solidFill>
                  <a:schemeClr val="tx1"/>
                </a:solidFill>
                <a:latin typeface="Times New Roman" panose="02020603050405020304" pitchFamily="18" charset="0"/>
              </a:defRPr>
            </a:lvl3pPr>
            <a:lvl4pPr marL="1600200" indent="-228600">
              <a:defRPr sz="2800">
                <a:solidFill>
                  <a:schemeClr val="tx1"/>
                </a:solidFill>
                <a:latin typeface="Times New Roman" panose="02020603050405020304" pitchFamily="18" charset="0"/>
              </a:defRPr>
            </a:lvl4pPr>
            <a:lvl5pPr marL="2057400" indent="-228600">
              <a:defRPr sz="28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defRPr>
            </a:lvl9pPr>
          </a:lstStyle>
          <a:p>
            <a:endParaRPr lang="en-GB" altLang="en-US" noProof="1"/>
          </a:p>
        </p:txBody>
      </p:sp>
      <p:sp>
        <p:nvSpPr>
          <p:cNvPr id="39943" name="Rectangle 6">
            <a:extLst>
              <a:ext uri="{FF2B5EF4-FFF2-40B4-BE49-F238E27FC236}">
                <a16:creationId xmlns:a16="http://schemas.microsoft.com/office/drawing/2014/main" id="{AAC08842-0204-4C1A-BD9E-91FE04D32267}"/>
              </a:ext>
            </a:extLst>
          </p:cNvPr>
          <p:cNvSpPr>
            <a:spLocks noGrp="1" noChangeArrowheads="1"/>
          </p:cNvSpPr>
          <p:nvPr>
            <p:ph type="body" idx="1"/>
          </p:nvPr>
        </p:nvSpPr>
        <p:spPr>
          <a:noFill/>
        </p:spPr>
        <p:txBody>
          <a:bodyPr lIns="92075" tIns="46038" rIns="92075" bIns="46038"/>
          <a:lstStyle/>
          <a:p>
            <a:endParaRPr lang="en-GB" altLang="en-US" noProof="1"/>
          </a:p>
        </p:txBody>
      </p:sp>
      <p:sp>
        <p:nvSpPr>
          <p:cNvPr id="39944" name="Rectangle 7">
            <a:extLst>
              <a:ext uri="{FF2B5EF4-FFF2-40B4-BE49-F238E27FC236}">
                <a16:creationId xmlns:a16="http://schemas.microsoft.com/office/drawing/2014/main" id="{598DA73F-F46C-4BF7-A822-7E8A1F9C4CED}"/>
              </a:ext>
            </a:extLst>
          </p:cNvPr>
          <p:cNvSpPr>
            <a:spLocks noGrp="1" noRot="1" noChangeAspect="1" noChangeArrowheads="1" noTextEdit="1"/>
          </p:cNvSpPr>
          <p:nvPr>
            <p:ph type="sldImg"/>
          </p:nvPr>
        </p:nvSpPr>
        <p:spPr>
          <a:ln w="12700" cap="flat">
            <a:solidFill>
              <a:schemeClr val="tx1"/>
            </a:solidFill>
          </a:ln>
        </p:spPr>
      </p:sp>
    </p:spTree>
    <p:extLst>
      <p:ext uri="{BB962C8B-B14F-4D97-AF65-F5344CB8AC3E}">
        <p14:creationId xmlns:p14="http://schemas.microsoft.com/office/powerpoint/2010/main" val="11878046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2">
            <a:extLst>
              <a:ext uri="{FF2B5EF4-FFF2-40B4-BE49-F238E27FC236}">
                <a16:creationId xmlns:a16="http://schemas.microsoft.com/office/drawing/2014/main" id="{685CA9F6-C14B-4833-8604-AD29054F625D}"/>
              </a:ext>
            </a:extLst>
          </p:cNvPr>
          <p:cNvSpPr>
            <a:spLocks noGrp="1" noRot="1" noChangeAspect="1" noChangeArrowheads="1" noTextEdit="1"/>
          </p:cNvSpPr>
          <p:nvPr>
            <p:ph type="sldImg"/>
          </p:nvPr>
        </p:nvSpPr>
        <p:spPr>
          <a:xfrm>
            <a:off x="393700" y="692150"/>
            <a:ext cx="6070600" cy="3416300"/>
          </a:xfrm>
          <a:ln/>
        </p:spPr>
      </p:sp>
      <p:sp>
        <p:nvSpPr>
          <p:cNvPr id="147459" name="Rectangle 3">
            <a:extLst>
              <a:ext uri="{FF2B5EF4-FFF2-40B4-BE49-F238E27FC236}">
                <a16:creationId xmlns:a16="http://schemas.microsoft.com/office/drawing/2014/main" id="{74C9242D-73A9-4BA4-8E8D-516D7F1C1FA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pPr algn="ctr" defTabSz="762000">
              <a:spcBef>
                <a:spcPct val="0"/>
              </a:spcBef>
            </a:pPr>
            <a:endParaRPr lang="en-US" altLang="en-US" sz="3800">
              <a:solidFill>
                <a:srgbClr val="6E853F"/>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507509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C0C025BB-020E-46EA-BFC1-D795CA8277A4}"/>
              </a:ext>
            </a:extLst>
          </p:cNvPr>
          <p:cNvSpPr>
            <a:spLocks noGrp="1" noChangeArrowheads="1"/>
          </p:cNvSpPr>
          <p:nvPr>
            <p:ph type="sldNum" sz="quarter" idx="5"/>
          </p:nvPr>
        </p:nvSpPr>
        <p:spPr>
          <a:ln/>
        </p:spPr>
        <p:txBody>
          <a:bodyPr/>
          <a:lstStyle/>
          <a:p>
            <a:fld id="{4B4630A6-1BB9-462C-A556-7098E0B3633B}" type="slidenum">
              <a:rPr lang="en-GB" altLang="en-US"/>
              <a:pPr/>
              <a:t>44</a:t>
            </a:fld>
            <a:endParaRPr lang="en-GB" altLang="en-US"/>
          </a:p>
        </p:txBody>
      </p:sp>
      <p:sp>
        <p:nvSpPr>
          <p:cNvPr id="41986" name="Rectangle 7">
            <a:extLst>
              <a:ext uri="{FF2B5EF4-FFF2-40B4-BE49-F238E27FC236}">
                <a16:creationId xmlns:a16="http://schemas.microsoft.com/office/drawing/2014/main" id="{97825E20-9871-4DE6-A4A9-4551A6F18F0A}"/>
              </a:ext>
            </a:extLst>
          </p:cNvPr>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r"/>
            <a:fld id="{A850FFAA-4E45-4686-9B09-009B2DA12D58}" type="slidenum">
              <a:rPr lang="en-GB" altLang="en-US" sz="1200"/>
              <a:pPr algn="r"/>
              <a:t>44</a:t>
            </a:fld>
            <a:endParaRPr lang="en-GB" altLang="en-US" sz="1200"/>
          </a:p>
        </p:txBody>
      </p:sp>
      <p:sp>
        <p:nvSpPr>
          <p:cNvPr id="41987" name="Rectangle 2">
            <a:extLst>
              <a:ext uri="{FF2B5EF4-FFF2-40B4-BE49-F238E27FC236}">
                <a16:creationId xmlns:a16="http://schemas.microsoft.com/office/drawing/2014/main" id="{050283E7-D362-4E14-B813-F5C6BE023787}"/>
              </a:ext>
            </a:extLst>
          </p:cNvPr>
          <p:cNvSpPr>
            <a:spLocks noGrp="1" noChangeArrowheads="1"/>
          </p:cNvSpPr>
          <p:nvPr>
            <p:ph type="body" idx="1"/>
          </p:nvPr>
        </p:nvSpPr>
        <p:spPr/>
        <p:txBody>
          <a:bodyPr lIns="92075" tIns="46038" rIns="92075" bIns="46038"/>
          <a:lstStyle/>
          <a:p>
            <a:endParaRPr lang="en-GB" altLang="en-US" noProof="1"/>
          </a:p>
        </p:txBody>
      </p:sp>
      <p:sp>
        <p:nvSpPr>
          <p:cNvPr id="41988" name="Rectangle 3">
            <a:extLst>
              <a:ext uri="{FF2B5EF4-FFF2-40B4-BE49-F238E27FC236}">
                <a16:creationId xmlns:a16="http://schemas.microsoft.com/office/drawing/2014/main" id="{C26C34A3-53A7-4B3F-8795-D8D5A4E52EEE}"/>
              </a:ext>
            </a:extLst>
          </p:cNvPr>
          <p:cNvSpPr>
            <a:spLocks noGrp="1" noRot="1" noChangeAspect="1" noChangeArrowheads="1" noTextEdit="1"/>
          </p:cNvSpPr>
          <p:nvPr>
            <p:ph type="sldImg"/>
          </p:nvPr>
        </p:nvSpPr>
        <p:spPr>
          <a:ln w="12700" cap="flat">
            <a:solidFill>
              <a:schemeClr val="tx1"/>
            </a:solidFill>
          </a:ln>
        </p:spPr>
      </p:sp>
    </p:spTree>
    <p:extLst>
      <p:ext uri="{BB962C8B-B14F-4D97-AF65-F5344CB8AC3E}">
        <p14:creationId xmlns:p14="http://schemas.microsoft.com/office/powerpoint/2010/main" val="424799651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405C728-8871-485A-BE2F-81C1BD0A3507}"/>
              </a:ext>
            </a:extLst>
          </p:cNvPr>
          <p:cNvSpPr>
            <a:spLocks noGrp="1" noChangeArrowheads="1"/>
          </p:cNvSpPr>
          <p:nvPr>
            <p:ph type="sldNum" sz="quarter" idx="5"/>
          </p:nvPr>
        </p:nvSpPr>
        <p:spPr>
          <a:ln/>
        </p:spPr>
        <p:txBody>
          <a:bodyPr/>
          <a:lstStyle/>
          <a:p>
            <a:fld id="{6078B395-EB8C-4756-9CED-16A13C38AB86}" type="slidenum">
              <a:rPr lang="en-GB" altLang="en-US"/>
              <a:pPr/>
              <a:t>45</a:t>
            </a:fld>
            <a:endParaRPr lang="en-GB" altLang="en-US"/>
          </a:p>
        </p:txBody>
      </p:sp>
      <p:sp>
        <p:nvSpPr>
          <p:cNvPr id="46082" name="Rectangle 7">
            <a:extLst>
              <a:ext uri="{FF2B5EF4-FFF2-40B4-BE49-F238E27FC236}">
                <a16:creationId xmlns:a16="http://schemas.microsoft.com/office/drawing/2014/main" id="{67AF1E8F-647D-4269-BF38-66BAC8D4D9B1}"/>
              </a:ext>
            </a:extLst>
          </p:cNvPr>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r"/>
            <a:fld id="{9CB76759-1411-466A-81F4-F1DBB4BE8859}" type="slidenum">
              <a:rPr lang="en-GB" altLang="en-US" sz="1200"/>
              <a:pPr algn="r"/>
              <a:t>45</a:t>
            </a:fld>
            <a:endParaRPr lang="en-GB" altLang="en-US" sz="1200"/>
          </a:p>
        </p:txBody>
      </p:sp>
      <p:sp>
        <p:nvSpPr>
          <p:cNvPr id="46083" name="Rectangle 2">
            <a:extLst>
              <a:ext uri="{FF2B5EF4-FFF2-40B4-BE49-F238E27FC236}">
                <a16:creationId xmlns:a16="http://schemas.microsoft.com/office/drawing/2014/main" id="{728B0E9F-B3B2-47AC-BBA9-903217AD50F0}"/>
              </a:ext>
            </a:extLst>
          </p:cNvPr>
          <p:cNvSpPr>
            <a:spLocks noGrp="1" noChangeArrowheads="1"/>
          </p:cNvSpPr>
          <p:nvPr>
            <p:ph type="body" idx="1"/>
          </p:nvPr>
        </p:nvSpPr>
        <p:spPr/>
        <p:txBody>
          <a:bodyPr lIns="92075" tIns="46038" rIns="92075" bIns="46038"/>
          <a:lstStyle/>
          <a:p>
            <a:endParaRPr lang="en-GB" altLang="en-US" noProof="1"/>
          </a:p>
        </p:txBody>
      </p:sp>
      <p:sp>
        <p:nvSpPr>
          <p:cNvPr id="46084" name="Rectangle 3">
            <a:extLst>
              <a:ext uri="{FF2B5EF4-FFF2-40B4-BE49-F238E27FC236}">
                <a16:creationId xmlns:a16="http://schemas.microsoft.com/office/drawing/2014/main" id="{E9003D7D-D494-4DEA-9C13-358D42CD6695}"/>
              </a:ext>
            </a:extLst>
          </p:cNvPr>
          <p:cNvSpPr>
            <a:spLocks noGrp="1" noRot="1" noChangeAspect="1" noChangeArrowheads="1" noTextEdit="1"/>
          </p:cNvSpPr>
          <p:nvPr>
            <p:ph type="sldImg"/>
          </p:nvPr>
        </p:nvSpPr>
        <p:spPr>
          <a:ln w="12700" cap="flat">
            <a:solidFill>
              <a:schemeClr val="tx1"/>
            </a:solidFill>
          </a:ln>
        </p:spPr>
      </p:sp>
    </p:spTree>
    <p:extLst>
      <p:ext uri="{BB962C8B-B14F-4D97-AF65-F5344CB8AC3E}">
        <p14:creationId xmlns:p14="http://schemas.microsoft.com/office/powerpoint/2010/main" val="169424625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3E646F8-400B-4523-AEDC-9BA6C8B5BA55}"/>
              </a:ext>
            </a:extLst>
          </p:cNvPr>
          <p:cNvSpPr>
            <a:spLocks noGrp="1" noChangeArrowheads="1"/>
          </p:cNvSpPr>
          <p:nvPr>
            <p:ph type="sldNum" sz="quarter" idx="5"/>
          </p:nvPr>
        </p:nvSpPr>
        <p:spPr>
          <a:ln/>
        </p:spPr>
        <p:txBody>
          <a:bodyPr/>
          <a:lstStyle/>
          <a:p>
            <a:fld id="{FA8E62AC-FD65-4CD3-9F01-7CDAF684B1E1}" type="slidenum">
              <a:rPr lang="en-GB" altLang="en-US"/>
              <a:pPr/>
              <a:t>46</a:t>
            </a:fld>
            <a:endParaRPr lang="en-GB" altLang="en-US"/>
          </a:p>
        </p:txBody>
      </p:sp>
      <p:sp>
        <p:nvSpPr>
          <p:cNvPr id="52226" name="Rectangle 7">
            <a:extLst>
              <a:ext uri="{FF2B5EF4-FFF2-40B4-BE49-F238E27FC236}">
                <a16:creationId xmlns:a16="http://schemas.microsoft.com/office/drawing/2014/main" id="{3E3E3172-FCF8-46F5-AA5A-4001676F40C0}"/>
              </a:ext>
            </a:extLst>
          </p:cNvPr>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r"/>
            <a:fld id="{48EC2720-F061-4846-B937-E612D326560A}" type="slidenum">
              <a:rPr lang="en-GB" altLang="en-US" sz="1200"/>
              <a:pPr algn="r"/>
              <a:t>46</a:t>
            </a:fld>
            <a:endParaRPr lang="en-GB" altLang="en-US" sz="1200"/>
          </a:p>
        </p:txBody>
      </p:sp>
      <p:sp>
        <p:nvSpPr>
          <p:cNvPr id="52227" name="Rectangle 2">
            <a:extLst>
              <a:ext uri="{FF2B5EF4-FFF2-40B4-BE49-F238E27FC236}">
                <a16:creationId xmlns:a16="http://schemas.microsoft.com/office/drawing/2014/main" id="{D0D313F7-BDF7-44F1-B691-67D812EDDEA6}"/>
              </a:ext>
            </a:extLst>
          </p:cNvPr>
          <p:cNvSpPr>
            <a:spLocks noGrp="1" noChangeArrowheads="1"/>
          </p:cNvSpPr>
          <p:nvPr>
            <p:ph type="body" idx="1"/>
          </p:nvPr>
        </p:nvSpPr>
        <p:spPr/>
        <p:txBody>
          <a:bodyPr lIns="92075" tIns="46038" rIns="92075" bIns="46038"/>
          <a:lstStyle/>
          <a:p>
            <a:endParaRPr lang="en-GB" altLang="en-US" noProof="1"/>
          </a:p>
        </p:txBody>
      </p:sp>
      <p:sp>
        <p:nvSpPr>
          <p:cNvPr id="52228" name="Rectangle 3">
            <a:extLst>
              <a:ext uri="{FF2B5EF4-FFF2-40B4-BE49-F238E27FC236}">
                <a16:creationId xmlns:a16="http://schemas.microsoft.com/office/drawing/2014/main" id="{79CE4E75-4A70-4843-B4AE-CCAA9D6FB342}"/>
              </a:ext>
            </a:extLst>
          </p:cNvPr>
          <p:cNvSpPr>
            <a:spLocks noGrp="1" noRot="1" noChangeAspect="1" noChangeArrowheads="1" noTextEdit="1"/>
          </p:cNvSpPr>
          <p:nvPr>
            <p:ph type="sldImg"/>
          </p:nvPr>
        </p:nvSpPr>
        <p:spPr>
          <a:ln w="12700" cap="flat">
            <a:solidFill>
              <a:schemeClr val="tx1"/>
            </a:solidFill>
          </a:ln>
        </p:spPr>
      </p:sp>
    </p:spTree>
    <p:extLst>
      <p:ext uri="{BB962C8B-B14F-4D97-AF65-F5344CB8AC3E}">
        <p14:creationId xmlns:p14="http://schemas.microsoft.com/office/powerpoint/2010/main" val="234826488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07D805-AE47-DCEF-D236-89775966CC4E}"/>
            </a:ext>
          </a:extLst>
        </p:cNvPr>
        <p:cNvGrpSpPr/>
        <p:nvPr/>
      </p:nvGrpSpPr>
      <p:grpSpPr>
        <a:xfrm>
          <a:off x="0" y="0"/>
          <a:ext cx="0" cy="0"/>
          <a:chOff x="0" y="0"/>
          <a:chExt cx="0" cy="0"/>
        </a:xfrm>
      </p:grpSpPr>
      <p:sp>
        <p:nvSpPr>
          <p:cNvPr id="147458" name="Rectangle 2">
            <a:extLst>
              <a:ext uri="{FF2B5EF4-FFF2-40B4-BE49-F238E27FC236}">
                <a16:creationId xmlns:a16="http://schemas.microsoft.com/office/drawing/2014/main" id="{A9C026BC-4C2B-C501-872E-4F55B2C6C099}"/>
              </a:ext>
            </a:extLst>
          </p:cNvPr>
          <p:cNvSpPr>
            <a:spLocks noGrp="1" noRot="1" noChangeAspect="1" noChangeArrowheads="1" noTextEdit="1"/>
          </p:cNvSpPr>
          <p:nvPr>
            <p:ph type="sldImg"/>
          </p:nvPr>
        </p:nvSpPr>
        <p:spPr>
          <a:xfrm>
            <a:off x="393700" y="692150"/>
            <a:ext cx="6070600" cy="3416300"/>
          </a:xfrm>
          <a:ln/>
        </p:spPr>
      </p:sp>
      <p:sp>
        <p:nvSpPr>
          <p:cNvPr id="147459" name="Rectangle 3">
            <a:extLst>
              <a:ext uri="{FF2B5EF4-FFF2-40B4-BE49-F238E27FC236}">
                <a16:creationId xmlns:a16="http://schemas.microsoft.com/office/drawing/2014/main" id="{A3A4696A-01FE-8916-D392-B85EB5E9202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pPr algn="ctr" defTabSz="762000">
              <a:spcBef>
                <a:spcPct val="0"/>
              </a:spcBef>
            </a:pPr>
            <a:endParaRPr lang="en-US" altLang="en-US" sz="3800">
              <a:solidFill>
                <a:srgbClr val="6E853F"/>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4502127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348A7A-5044-92D6-B96C-B2C5E1653936}"/>
            </a:ext>
          </a:extLst>
        </p:cNvPr>
        <p:cNvGrpSpPr/>
        <p:nvPr/>
      </p:nvGrpSpPr>
      <p:grpSpPr>
        <a:xfrm>
          <a:off x="0" y="0"/>
          <a:ext cx="0" cy="0"/>
          <a:chOff x="0" y="0"/>
          <a:chExt cx="0" cy="0"/>
        </a:xfrm>
      </p:grpSpPr>
      <p:sp>
        <p:nvSpPr>
          <p:cNvPr id="15362" name="Rectangle 7">
            <a:extLst>
              <a:ext uri="{FF2B5EF4-FFF2-40B4-BE49-F238E27FC236}">
                <a16:creationId xmlns:a16="http://schemas.microsoft.com/office/drawing/2014/main" id="{59406D9A-CA63-A55D-CE2C-84AE57976C5D}"/>
              </a:ext>
            </a:extLst>
          </p:cNvPr>
          <p:cNvSpPr>
            <a:spLocks noGrp="1" noChangeArrowheads="1"/>
          </p:cNvSpPr>
          <p:nvPr>
            <p:ph type="sldNum" sz="quarter" idx="5"/>
          </p:nvPr>
        </p:nvSpPr>
        <p:spPr>
          <a:noFill/>
        </p:spPr>
        <p:txBody>
          <a:bodyPr/>
          <a:lstStyle>
            <a:lvl1pPr>
              <a:defRPr sz="2800">
                <a:solidFill>
                  <a:schemeClr val="tx1"/>
                </a:solidFill>
                <a:latin typeface="Times New Roman" panose="02020603050405020304" pitchFamily="18" charset="0"/>
              </a:defRPr>
            </a:lvl1pPr>
            <a:lvl2pPr marL="742950" indent="-285750">
              <a:defRPr sz="2800">
                <a:solidFill>
                  <a:schemeClr val="tx1"/>
                </a:solidFill>
                <a:latin typeface="Times New Roman" panose="02020603050405020304" pitchFamily="18" charset="0"/>
              </a:defRPr>
            </a:lvl2pPr>
            <a:lvl3pPr marL="1143000" indent="-228600">
              <a:defRPr sz="2800">
                <a:solidFill>
                  <a:schemeClr val="tx1"/>
                </a:solidFill>
                <a:latin typeface="Times New Roman" panose="02020603050405020304" pitchFamily="18" charset="0"/>
              </a:defRPr>
            </a:lvl3pPr>
            <a:lvl4pPr marL="1600200" indent="-228600">
              <a:defRPr sz="2800">
                <a:solidFill>
                  <a:schemeClr val="tx1"/>
                </a:solidFill>
                <a:latin typeface="Times New Roman" panose="02020603050405020304" pitchFamily="18" charset="0"/>
              </a:defRPr>
            </a:lvl4pPr>
            <a:lvl5pPr marL="2057400" indent="-228600">
              <a:defRPr sz="28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defRPr>
            </a:lvl9pPr>
          </a:lstStyle>
          <a:p>
            <a:fld id="{B27E9BF9-E723-4494-8C3E-E9EF700EBBC7}" type="slidenum">
              <a:rPr lang="en-GB" altLang="en-US" sz="1200"/>
              <a:pPr/>
              <a:t>48</a:t>
            </a:fld>
            <a:endParaRPr lang="en-GB" altLang="en-US" sz="1200"/>
          </a:p>
        </p:txBody>
      </p:sp>
      <p:sp>
        <p:nvSpPr>
          <p:cNvPr id="15363" name="Rectangle 2">
            <a:extLst>
              <a:ext uri="{FF2B5EF4-FFF2-40B4-BE49-F238E27FC236}">
                <a16:creationId xmlns:a16="http://schemas.microsoft.com/office/drawing/2014/main" id="{8BAAA054-4F76-2B9E-42F0-BF7232C685F2}"/>
              </a:ext>
            </a:extLst>
          </p:cNvPr>
          <p:cNvSpPr>
            <a:spLocks noChangeArrowheads="1"/>
          </p:cNvSpPr>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a:solidFill>
                  <a:schemeClr val="tx1"/>
                </a:solidFill>
                <a:latin typeface="Times New Roman" panose="02020603050405020304" pitchFamily="18" charset="0"/>
              </a:defRPr>
            </a:lvl1pPr>
            <a:lvl2pPr marL="742950" indent="-285750">
              <a:defRPr sz="2800">
                <a:solidFill>
                  <a:schemeClr val="tx1"/>
                </a:solidFill>
                <a:latin typeface="Times New Roman" panose="02020603050405020304" pitchFamily="18" charset="0"/>
              </a:defRPr>
            </a:lvl2pPr>
            <a:lvl3pPr marL="1143000" indent="-228600">
              <a:defRPr sz="2800">
                <a:solidFill>
                  <a:schemeClr val="tx1"/>
                </a:solidFill>
                <a:latin typeface="Times New Roman" panose="02020603050405020304" pitchFamily="18" charset="0"/>
              </a:defRPr>
            </a:lvl3pPr>
            <a:lvl4pPr marL="1600200" indent="-228600">
              <a:defRPr sz="2800">
                <a:solidFill>
                  <a:schemeClr val="tx1"/>
                </a:solidFill>
                <a:latin typeface="Times New Roman" panose="02020603050405020304" pitchFamily="18" charset="0"/>
              </a:defRPr>
            </a:lvl4pPr>
            <a:lvl5pPr marL="2057400" indent="-228600">
              <a:defRPr sz="28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defRPr>
            </a:lvl9pPr>
          </a:lstStyle>
          <a:p>
            <a:endParaRPr lang="en-GB" altLang="en-US" noProof="1"/>
          </a:p>
        </p:txBody>
      </p:sp>
      <p:sp>
        <p:nvSpPr>
          <p:cNvPr id="15364" name="Rectangle 3">
            <a:extLst>
              <a:ext uri="{FF2B5EF4-FFF2-40B4-BE49-F238E27FC236}">
                <a16:creationId xmlns:a16="http://schemas.microsoft.com/office/drawing/2014/main" id="{EAFE4230-0119-0989-506E-A27102699F47}"/>
              </a:ext>
            </a:extLst>
          </p:cNvPr>
          <p:cNvSpPr>
            <a:spLocks noChangeArrowheads="1"/>
          </p:cNvSpPr>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0" rIns="19050" bIns="0" anchor="b"/>
          <a:lstStyle>
            <a:lvl1pPr defTabSz="762000">
              <a:defRPr sz="2800">
                <a:solidFill>
                  <a:schemeClr val="tx1"/>
                </a:solidFill>
                <a:latin typeface="Times New Roman" panose="02020603050405020304" pitchFamily="18" charset="0"/>
              </a:defRPr>
            </a:lvl1pPr>
            <a:lvl2pPr marL="742950" indent="-285750" defTabSz="762000">
              <a:defRPr sz="2800">
                <a:solidFill>
                  <a:schemeClr val="tx1"/>
                </a:solidFill>
                <a:latin typeface="Times New Roman" panose="02020603050405020304" pitchFamily="18" charset="0"/>
              </a:defRPr>
            </a:lvl2pPr>
            <a:lvl3pPr marL="1143000" indent="-228600" defTabSz="762000">
              <a:defRPr sz="2800">
                <a:solidFill>
                  <a:schemeClr val="tx1"/>
                </a:solidFill>
                <a:latin typeface="Times New Roman" panose="02020603050405020304" pitchFamily="18" charset="0"/>
              </a:defRPr>
            </a:lvl3pPr>
            <a:lvl4pPr marL="1600200" indent="-228600" defTabSz="762000">
              <a:defRPr sz="2800">
                <a:solidFill>
                  <a:schemeClr val="tx1"/>
                </a:solidFill>
                <a:latin typeface="Times New Roman" panose="02020603050405020304" pitchFamily="18" charset="0"/>
              </a:defRPr>
            </a:lvl4pPr>
            <a:lvl5pPr marL="2057400" indent="-228600" defTabSz="762000">
              <a:defRPr sz="2800">
                <a:solidFill>
                  <a:schemeClr val="tx1"/>
                </a:solidFill>
                <a:latin typeface="Times New Roman" panose="02020603050405020304" pitchFamily="18" charset="0"/>
              </a:defRPr>
            </a:lvl5pPr>
            <a:lvl6pPr marL="2514600" indent="-228600" defTabSz="762000" eaLnBrk="0" fontAlgn="base" hangingPunct="0">
              <a:spcBef>
                <a:spcPct val="0"/>
              </a:spcBef>
              <a:spcAft>
                <a:spcPct val="0"/>
              </a:spcAft>
              <a:defRPr sz="2800">
                <a:solidFill>
                  <a:schemeClr val="tx1"/>
                </a:solidFill>
                <a:latin typeface="Times New Roman" panose="02020603050405020304" pitchFamily="18" charset="0"/>
              </a:defRPr>
            </a:lvl6pPr>
            <a:lvl7pPr marL="2971800" indent="-228600" defTabSz="762000" eaLnBrk="0" fontAlgn="base" hangingPunct="0">
              <a:spcBef>
                <a:spcPct val="0"/>
              </a:spcBef>
              <a:spcAft>
                <a:spcPct val="0"/>
              </a:spcAft>
              <a:defRPr sz="2800">
                <a:solidFill>
                  <a:schemeClr val="tx1"/>
                </a:solidFill>
                <a:latin typeface="Times New Roman" panose="02020603050405020304" pitchFamily="18" charset="0"/>
              </a:defRPr>
            </a:lvl7pPr>
            <a:lvl8pPr marL="3429000" indent="-228600" defTabSz="762000" eaLnBrk="0" fontAlgn="base" hangingPunct="0">
              <a:spcBef>
                <a:spcPct val="0"/>
              </a:spcBef>
              <a:spcAft>
                <a:spcPct val="0"/>
              </a:spcAft>
              <a:defRPr sz="2800">
                <a:solidFill>
                  <a:schemeClr val="tx1"/>
                </a:solidFill>
                <a:latin typeface="Times New Roman" panose="02020603050405020304" pitchFamily="18" charset="0"/>
              </a:defRPr>
            </a:lvl8pPr>
            <a:lvl9pPr marL="3886200" indent="-228600" defTabSz="762000" eaLnBrk="0" fontAlgn="base" hangingPunct="0">
              <a:spcBef>
                <a:spcPct val="0"/>
              </a:spcBef>
              <a:spcAft>
                <a:spcPct val="0"/>
              </a:spcAft>
              <a:defRPr sz="2800">
                <a:solidFill>
                  <a:schemeClr val="tx1"/>
                </a:solidFill>
                <a:latin typeface="Times New Roman" panose="02020603050405020304" pitchFamily="18" charset="0"/>
              </a:defRPr>
            </a:lvl9pPr>
          </a:lstStyle>
          <a:p>
            <a:pPr algn="r"/>
            <a:r>
              <a:rPr lang="en-GB" altLang="en-US" sz="1000" i="1"/>
              <a:t>4</a:t>
            </a:r>
          </a:p>
        </p:txBody>
      </p:sp>
      <p:sp>
        <p:nvSpPr>
          <p:cNvPr id="15365" name="Rectangle 4">
            <a:extLst>
              <a:ext uri="{FF2B5EF4-FFF2-40B4-BE49-F238E27FC236}">
                <a16:creationId xmlns:a16="http://schemas.microsoft.com/office/drawing/2014/main" id="{3475A8B9-FC0F-C3BF-332D-192E100B7EF3}"/>
              </a:ext>
            </a:extLst>
          </p:cNvPr>
          <p:cNvSpPr>
            <a:spLocks noChangeArrowheads="1"/>
          </p:cNvSpPr>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a:solidFill>
                  <a:schemeClr val="tx1"/>
                </a:solidFill>
                <a:latin typeface="Times New Roman" panose="02020603050405020304" pitchFamily="18" charset="0"/>
              </a:defRPr>
            </a:lvl1pPr>
            <a:lvl2pPr marL="742950" indent="-285750">
              <a:defRPr sz="2800">
                <a:solidFill>
                  <a:schemeClr val="tx1"/>
                </a:solidFill>
                <a:latin typeface="Times New Roman" panose="02020603050405020304" pitchFamily="18" charset="0"/>
              </a:defRPr>
            </a:lvl2pPr>
            <a:lvl3pPr marL="1143000" indent="-228600">
              <a:defRPr sz="2800">
                <a:solidFill>
                  <a:schemeClr val="tx1"/>
                </a:solidFill>
                <a:latin typeface="Times New Roman" panose="02020603050405020304" pitchFamily="18" charset="0"/>
              </a:defRPr>
            </a:lvl3pPr>
            <a:lvl4pPr marL="1600200" indent="-228600">
              <a:defRPr sz="2800">
                <a:solidFill>
                  <a:schemeClr val="tx1"/>
                </a:solidFill>
                <a:latin typeface="Times New Roman" panose="02020603050405020304" pitchFamily="18" charset="0"/>
              </a:defRPr>
            </a:lvl4pPr>
            <a:lvl5pPr marL="2057400" indent="-228600">
              <a:defRPr sz="28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defRPr>
            </a:lvl9pPr>
          </a:lstStyle>
          <a:p>
            <a:endParaRPr lang="en-GB" altLang="en-US" noProof="1"/>
          </a:p>
        </p:txBody>
      </p:sp>
      <p:sp>
        <p:nvSpPr>
          <p:cNvPr id="15366" name="Rectangle 5">
            <a:extLst>
              <a:ext uri="{FF2B5EF4-FFF2-40B4-BE49-F238E27FC236}">
                <a16:creationId xmlns:a16="http://schemas.microsoft.com/office/drawing/2014/main" id="{3F6C6CE6-8E5D-3037-B197-C71EA89BD2F9}"/>
              </a:ext>
            </a:extLst>
          </p:cNvPr>
          <p:cNvSpPr>
            <a:spLocks noChangeArrowheads="1"/>
          </p:cNvSpP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a:solidFill>
                  <a:schemeClr val="tx1"/>
                </a:solidFill>
                <a:latin typeface="Times New Roman" panose="02020603050405020304" pitchFamily="18" charset="0"/>
              </a:defRPr>
            </a:lvl1pPr>
            <a:lvl2pPr marL="742950" indent="-285750">
              <a:defRPr sz="2800">
                <a:solidFill>
                  <a:schemeClr val="tx1"/>
                </a:solidFill>
                <a:latin typeface="Times New Roman" panose="02020603050405020304" pitchFamily="18" charset="0"/>
              </a:defRPr>
            </a:lvl2pPr>
            <a:lvl3pPr marL="1143000" indent="-228600">
              <a:defRPr sz="2800">
                <a:solidFill>
                  <a:schemeClr val="tx1"/>
                </a:solidFill>
                <a:latin typeface="Times New Roman" panose="02020603050405020304" pitchFamily="18" charset="0"/>
              </a:defRPr>
            </a:lvl3pPr>
            <a:lvl4pPr marL="1600200" indent="-228600">
              <a:defRPr sz="2800">
                <a:solidFill>
                  <a:schemeClr val="tx1"/>
                </a:solidFill>
                <a:latin typeface="Times New Roman" panose="02020603050405020304" pitchFamily="18" charset="0"/>
              </a:defRPr>
            </a:lvl4pPr>
            <a:lvl5pPr marL="2057400" indent="-228600">
              <a:defRPr sz="28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defRPr>
            </a:lvl9pPr>
          </a:lstStyle>
          <a:p>
            <a:endParaRPr lang="en-GB" altLang="en-US" noProof="1"/>
          </a:p>
        </p:txBody>
      </p:sp>
      <p:sp>
        <p:nvSpPr>
          <p:cNvPr id="15367" name="Rectangle 6">
            <a:extLst>
              <a:ext uri="{FF2B5EF4-FFF2-40B4-BE49-F238E27FC236}">
                <a16:creationId xmlns:a16="http://schemas.microsoft.com/office/drawing/2014/main" id="{C8F17503-BED8-D1BD-50F9-521EC128AD78}"/>
              </a:ext>
            </a:extLst>
          </p:cNvPr>
          <p:cNvSpPr>
            <a:spLocks noGrp="1" noChangeArrowheads="1"/>
          </p:cNvSpPr>
          <p:nvPr>
            <p:ph type="body" idx="1"/>
          </p:nvPr>
        </p:nvSpPr>
        <p:spPr>
          <a:noFill/>
        </p:spPr>
        <p:txBody>
          <a:bodyPr lIns="92075" tIns="46038" rIns="92075" bIns="46038"/>
          <a:lstStyle/>
          <a:p>
            <a:endParaRPr lang="en-GB" altLang="en-US" noProof="1"/>
          </a:p>
        </p:txBody>
      </p:sp>
      <p:sp>
        <p:nvSpPr>
          <p:cNvPr id="15368" name="Rectangle 7">
            <a:extLst>
              <a:ext uri="{FF2B5EF4-FFF2-40B4-BE49-F238E27FC236}">
                <a16:creationId xmlns:a16="http://schemas.microsoft.com/office/drawing/2014/main" id="{E9028EB0-EBFC-0645-37E1-A838B040C0F9}"/>
              </a:ext>
            </a:extLst>
          </p:cNvPr>
          <p:cNvSpPr>
            <a:spLocks noGrp="1" noRot="1" noChangeAspect="1" noChangeArrowheads="1" noTextEdit="1"/>
          </p:cNvSpPr>
          <p:nvPr>
            <p:ph type="sldImg"/>
          </p:nvPr>
        </p:nvSpPr>
        <p:spPr>
          <a:ln w="12700" cap="flat">
            <a:solidFill>
              <a:schemeClr val="tx1"/>
            </a:solidFill>
          </a:ln>
        </p:spPr>
      </p:sp>
    </p:spTree>
    <p:extLst>
      <p:ext uri="{BB962C8B-B14F-4D97-AF65-F5344CB8AC3E}">
        <p14:creationId xmlns:p14="http://schemas.microsoft.com/office/powerpoint/2010/main" val="113465863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a:extLst>
              <a:ext uri="{FF2B5EF4-FFF2-40B4-BE49-F238E27FC236}">
                <a16:creationId xmlns:a16="http://schemas.microsoft.com/office/drawing/2014/main" id="{B69EF821-9573-4B75-9150-CEA03FC1A71B}"/>
              </a:ext>
            </a:extLst>
          </p:cNvPr>
          <p:cNvSpPr>
            <a:spLocks noGrp="1" noChangeArrowheads="1"/>
          </p:cNvSpPr>
          <p:nvPr>
            <p:ph type="sldNum" sz="quarter" idx="5"/>
          </p:nvPr>
        </p:nvSpPr>
        <p:spPr>
          <a:ln/>
        </p:spPr>
        <p:txBody>
          <a:bodyPr/>
          <a:lstStyle/>
          <a:p>
            <a:fld id="{3FEE139C-4EFC-4298-9F16-2099D5FC259F}" type="slidenum">
              <a:rPr lang="en-GB" altLang="en-US"/>
              <a:pPr/>
              <a:t>49</a:t>
            </a:fld>
            <a:endParaRPr lang="en-GB" altLang="en-US"/>
          </a:p>
        </p:txBody>
      </p:sp>
      <p:sp>
        <p:nvSpPr>
          <p:cNvPr id="17410" name="Rectangle 2">
            <a:extLst>
              <a:ext uri="{FF2B5EF4-FFF2-40B4-BE49-F238E27FC236}">
                <a16:creationId xmlns:a16="http://schemas.microsoft.com/office/drawing/2014/main" id="{9F9D584C-D449-4191-AB02-603503120AA0}"/>
              </a:ext>
            </a:extLst>
          </p:cNvPr>
          <p:cNvSpPr>
            <a:spLocks noGrp="1" noChangeArrowheads="1"/>
          </p:cNvSpPr>
          <p:nvPr>
            <p:ph type="body" idx="1"/>
          </p:nvPr>
        </p:nvSpPr>
        <p:spPr>
          <a:ln/>
        </p:spPr>
        <p:txBody>
          <a:bodyPr/>
          <a:lstStyle/>
          <a:p>
            <a:endParaRPr lang="en-GB" altLang="en-US" noProof="1"/>
          </a:p>
        </p:txBody>
      </p:sp>
      <p:sp>
        <p:nvSpPr>
          <p:cNvPr id="17411" name="Rectangle 3">
            <a:extLst>
              <a:ext uri="{FF2B5EF4-FFF2-40B4-BE49-F238E27FC236}">
                <a16:creationId xmlns:a16="http://schemas.microsoft.com/office/drawing/2014/main" id="{D31918B9-E0A1-435F-B191-6A90DFDB230D}"/>
              </a:ext>
            </a:extLst>
          </p:cNvPr>
          <p:cNvSpPr>
            <a:spLocks noGrp="1" noRot="1" noChangeAspect="1" noChangeArrowheads="1" noTextEdit="1"/>
          </p:cNvSpPr>
          <p:nvPr>
            <p:ph type="sldImg"/>
          </p:nvPr>
        </p:nvSpPr>
        <p:spPr>
          <a:xfrm>
            <a:off x="393700" y="692150"/>
            <a:ext cx="6070600" cy="3416300"/>
          </a:xfrm>
          <a:ln cap="flat"/>
        </p:spPr>
      </p:sp>
    </p:spTree>
    <p:extLst>
      <p:ext uri="{BB962C8B-B14F-4D97-AF65-F5344CB8AC3E}">
        <p14:creationId xmlns:p14="http://schemas.microsoft.com/office/powerpoint/2010/main" val="123064803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97B5FA90-E697-465E-BAF0-95F24C90951F}"/>
              </a:ext>
            </a:extLst>
          </p:cNvPr>
          <p:cNvSpPr>
            <a:spLocks noGrp="1" noChangeArrowheads="1"/>
          </p:cNvSpPr>
          <p:nvPr>
            <p:ph type="sldNum" sz="quarter" idx="5"/>
          </p:nvPr>
        </p:nvSpPr>
        <p:spPr>
          <a:ln/>
        </p:spPr>
        <p:txBody>
          <a:bodyPr/>
          <a:lstStyle/>
          <a:p>
            <a:fld id="{FBB4AE30-3D23-4C2C-B82B-C643C8ACF6A3}" type="slidenum">
              <a:rPr lang="en-GB" altLang="en-US"/>
              <a:pPr/>
              <a:t>52</a:t>
            </a:fld>
            <a:endParaRPr lang="en-GB" altLang="en-US"/>
          </a:p>
        </p:txBody>
      </p:sp>
      <p:sp>
        <p:nvSpPr>
          <p:cNvPr id="471042" name="Rectangle 2">
            <a:extLst>
              <a:ext uri="{FF2B5EF4-FFF2-40B4-BE49-F238E27FC236}">
                <a16:creationId xmlns:a16="http://schemas.microsoft.com/office/drawing/2014/main" id="{E841D69A-5A2F-4ABD-84EE-E70A79BFFCDF}"/>
              </a:ext>
            </a:extLst>
          </p:cNvPr>
          <p:cNvSpPr>
            <a:spLocks noGrp="1" noRot="1" noChangeAspect="1" noChangeArrowheads="1" noTextEdit="1"/>
          </p:cNvSpPr>
          <p:nvPr>
            <p:ph type="sldImg"/>
          </p:nvPr>
        </p:nvSpPr>
        <p:spPr>
          <a:ln/>
        </p:spPr>
      </p:sp>
      <p:sp>
        <p:nvSpPr>
          <p:cNvPr id="471043" name="Rectangle 3">
            <a:extLst>
              <a:ext uri="{FF2B5EF4-FFF2-40B4-BE49-F238E27FC236}">
                <a16:creationId xmlns:a16="http://schemas.microsoft.com/office/drawing/2014/main" id="{DE437EE4-4E9B-46C3-B1E4-A3D0B49C6008}"/>
              </a:ext>
            </a:extLst>
          </p:cNvPr>
          <p:cNvSpPr>
            <a:spLocks noGrp="1" noChangeArrowheads="1"/>
          </p:cNvSpPr>
          <p:nvPr>
            <p:ph type="body" idx="1"/>
          </p:nvPr>
        </p:nvSpPr>
        <p:spPr/>
        <p:txBody>
          <a:bodyPr/>
          <a:lstStyle/>
          <a:p>
            <a:pPr>
              <a:spcBef>
                <a:spcPct val="0"/>
              </a:spcBef>
            </a:pPr>
            <a:endParaRPr lang="en-GB" altLang="en-US" sz="2400" noProof="1"/>
          </a:p>
        </p:txBody>
      </p:sp>
    </p:spTree>
    <p:extLst>
      <p:ext uri="{BB962C8B-B14F-4D97-AF65-F5344CB8AC3E}">
        <p14:creationId xmlns:p14="http://schemas.microsoft.com/office/powerpoint/2010/main" val="363371129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F62B14B8-4401-4054-9CFC-A6191206AA4B}"/>
              </a:ext>
            </a:extLst>
          </p:cNvPr>
          <p:cNvSpPr>
            <a:spLocks noGrp="1" noChangeArrowheads="1"/>
          </p:cNvSpPr>
          <p:nvPr>
            <p:ph type="sldNum" sz="quarter" idx="5"/>
          </p:nvPr>
        </p:nvSpPr>
        <p:spPr>
          <a:ln/>
        </p:spPr>
        <p:txBody>
          <a:bodyPr/>
          <a:lstStyle/>
          <a:p>
            <a:fld id="{A6234E87-0D7D-404D-A39E-DC37C557C0C5}" type="slidenum">
              <a:rPr lang="en-GB" altLang="en-US"/>
              <a:pPr/>
              <a:t>53</a:t>
            </a:fld>
            <a:endParaRPr lang="en-GB" altLang="en-US"/>
          </a:p>
        </p:txBody>
      </p:sp>
      <p:sp>
        <p:nvSpPr>
          <p:cNvPr id="41986" name="Rectangle 2">
            <a:extLst>
              <a:ext uri="{FF2B5EF4-FFF2-40B4-BE49-F238E27FC236}">
                <a16:creationId xmlns:a16="http://schemas.microsoft.com/office/drawing/2014/main" id="{9A4C0FCB-2598-4D43-BBCC-59BCD8919E89}"/>
              </a:ext>
            </a:extLst>
          </p:cNvPr>
          <p:cNvSpPr>
            <a:spLocks noGrp="1" noChangeArrowheads="1"/>
          </p:cNvSpPr>
          <p:nvPr>
            <p:ph type="body" idx="1"/>
          </p:nvPr>
        </p:nvSpPr>
        <p:spPr>
          <a:ln/>
        </p:spPr>
        <p:txBody>
          <a:bodyPr lIns="92075" tIns="46038" rIns="92075" bIns="46038"/>
          <a:lstStyle/>
          <a:p>
            <a:endParaRPr lang="en-GB" altLang="en-US" noProof="1"/>
          </a:p>
        </p:txBody>
      </p:sp>
      <p:sp>
        <p:nvSpPr>
          <p:cNvPr id="41987" name="Rectangle 3">
            <a:extLst>
              <a:ext uri="{FF2B5EF4-FFF2-40B4-BE49-F238E27FC236}">
                <a16:creationId xmlns:a16="http://schemas.microsoft.com/office/drawing/2014/main" id="{31A34153-01C0-40B5-B9A3-D53A88703EF6}"/>
              </a:ext>
            </a:extLst>
          </p:cNvPr>
          <p:cNvSpPr>
            <a:spLocks noGrp="1" noRot="1" noChangeAspect="1" noChangeArrowheads="1" noTextEdit="1"/>
          </p:cNvSpPr>
          <p:nvPr>
            <p:ph type="sldImg"/>
          </p:nvPr>
        </p:nvSpPr>
        <p:spPr>
          <a:ln w="12700" cap="flat">
            <a:solidFill>
              <a:schemeClr val="tx1"/>
            </a:solidFill>
          </a:ln>
          <a:extLst>
            <a:ext uri="{909E8E84-426E-40DD-AFC4-6F175D3DCCD1}">
              <a14:hiddenFill xmlns:a14="http://schemas.microsoft.com/office/drawing/2010/main">
                <a:noFill/>
              </a14:hiddenFill>
            </a:ext>
          </a:extLst>
        </p:spPr>
      </p:sp>
    </p:spTree>
    <p:extLst>
      <p:ext uri="{BB962C8B-B14F-4D97-AF65-F5344CB8AC3E}">
        <p14:creationId xmlns:p14="http://schemas.microsoft.com/office/powerpoint/2010/main" val="427137454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4C3982DE-ECD2-405E-8DFE-F6B1083AF3AF}"/>
              </a:ext>
            </a:extLst>
          </p:cNvPr>
          <p:cNvSpPr>
            <a:spLocks noGrp="1" noChangeArrowheads="1"/>
          </p:cNvSpPr>
          <p:nvPr>
            <p:ph type="sldNum" sz="quarter" idx="5"/>
          </p:nvPr>
        </p:nvSpPr>
        <p:spPr>
          <a:ln/>
        </p:spPr>
        <p:txBody>
          <a:bodyPr/>
          <a:lstStyle/>
          <a:p>
            <a:fld id="{9068D40D-4B13-4F9F-9625-406EA7C97FA6}" type="slidenum">
              <a:rPr lang="en-GB" altLang="en-US"/>
              <a:pPr/>
              <a:t>54</a:t>
            </a:fld>
            <a:endParaRPr lang="en-GB" altLang="en-US"/>
          </a:p>
        </p:txBody>
      </p:sp>
      <p:sp>
        <p:nvSpPr>
          <p:cNvPr id="473090" name="Rectangle 2">
            <a:extLst>
              <a:ext uri="{FF2B5EF4-FFF2-40B4-BE49-F238E27FC236}">
                <a16:creationId xmlns:a16="http://schemas.microsoft.com/office/drawing/2014/main" id="{BF2832CA-12B5-4C62-8F2A-4E7EEE57D13E}"/>
              </a:ext>
            </a:extLst>
          </p:cNvPr>
          <p:cNvSpPr>
            <a:spLocks noGrp="1" noRot="1" noChangeAspect="1" noChangeArrowheads="1" noTextEdit="1"/>
          </p:cNvSpPr>
          <p:nvPr>
            <p:ph type="sldImg"/>
          </p:nvPr>
        </p:nvSpPr>
        <p:spPr>
          <a:ln/>
        </p:spPr>
      </p:sp>
      <p:sp>
        <p:nvSpPr>
          <p:cNvPr id="473091" name="Rectangle 3">
            <a:extLst>
              <a:ext uri="{FF2B5EF4-FFF2-40B4-BE49-F238E27FC236}">
                <a16:creationId xmlns:a16="http://schemas.microsoft.com/office/drawing/2014/main" id="{4371D737-5D09-40B9-9C8E-DBD035EF0006}"/>
              </a:ext>
            </a:extLst>
          </p:cNvPr>
          <p:cNvSpPr>
            <a:spLocks noGrp="1" noChangeArrowheads="1"/>
          </p:cNvSpPr>
          <p:nvPr>
            <p:ph type="body" idx="1"/>
          </p:nvPr>
        </p:nvSpPr>
        <p:spPr/>
        <p:txBody>
          <a:bodyPr/>
          <a:lstStyle/>
          <a:p>
            <a:pPr>
              <a:spcBef>
                <a:spcPct val="0"/>
              </a:spcBef>
            </a:pPr>
            <a:endParaRPr lang="en-GB" altLang="en-US" sz="2400" noProof="1"/>
          </a:p>
        </p:txBody>
      </p:sp>
    </p:spTree>
    <p:extLst>
      <p:ext uri="{BB962C8B-B14F-4D97-AF65-F5344CB8AC3E}">
        <p14:creationId xmlns:p14="http://schemas.microsoft.com/office/powerpoint/2010/main" val="379842643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E688DB-969A-27BB-6677-A440FB6E14C2}"/>
            </a:ext>
          </a:extLst>
        </p:cNvPr>
        <p:cNvGrpSpPr/>
        <p:nvPr/>
      </p:nvGrpSpPr>
      <p:grpSpPr>
        <a:xfrm>
          <a:off x="0" y="0"/>
          <a:ext cx="0" cy="0"/>
          <a:chOff x="0" y="0"/>
          <a:chExt cx="0" cy="0"/>
        </a:xfrm>
      </p:grpSpPr>
      <p:sp>
        <p:nvSpPr>
          <p:cNvPr id="7" name="Rectangle 7">
            <a:extLst>
              <a:ext uri="{FF2B5EF4-FFF2-40B4-BE49-F238E27FC236}">
                <a16:creationId xmlns:a16="http://schemas.microsoft.com/office/drawing/2014/main" id="{0E922446-F5EA-43CC-6A78-1B08397515A6}"/>
              </a:ext>
            </a:extLst>
          </p:cNvPr>
          <p:cNvSpPr>
            <a:spLocks noGrp="1" noChangeArrowheads="1"/>
          </p:cNvSpPr>
          <p:nvPr>
            <p:ph type="sldNum" sz="quarter" idx="5"/>
          </p:nvPr>
        </p:nvSpPr>
        <p:spPr>
          <a:ln/>
        </p:spPr>
        <p:txBody>
          <a:bodyPr/>
          <a:lstStyle/>
          <a:p>
            <a:fld id="{9068D40D-4B13-4F9F-9625-406EA7C97FA6}" type="slidenum">
              <a:rPr lang="en-GB" altLang="en-US"/>
              <a:pPr/>
              <a:t>55</a:t>
            </a:fld>
            <a:endParaRPr lang="en-GB" altLang="en-US"/>
          </a:p>
        </p:txBody>
      </p:sp>
      <p:sp>
        <p:nvSpPr>
          <p:cNvPr id="473090" name="Rectangle 2">
            <a:extLst>
              <a:ext uri="{FF2B5EF4-FFF2-40B4-BE49-F238E27FC236}">
                <a16:creationId xmlns:a16="http://schemas.microsoft.com/office/drawing/2014/main" id="{2181050C-5A81-4179-C849-4A39F001F612}"/>
              </a:ext>
            </a:extLst>
          </p:cNvPr>
          <p:cNvSpPr>
            <a:spLocks noGrp="1" noRot="1" noChangeAspect="1" noChangeArrowheads="1" noTextEdit="1"/>
          </p:cNvSpPr>
          <p:nvPr>
            <p:ph type="sldImg"/>
          </p:nvPr>
        </p:nvSpPr>
        <p:spPr>
          <a:ln/>
        </p:spPr>
      </p:sp>
      <p:sp>
        <p:nvSpPr>
          <p:cNvPr id="473091" name="Rectangle 3">
            <a:extLst>
              <a:ext uri="{FF2B5EF4-FFF2-40B4-BE49-F238E27FC236}">
                <a16:creationId xmlns:a16="http://schemas.microsoft.com/office/drawing/2014/main" id="{1AAE0D5D-98E8-A9C7-0E3F-FED4500BBEA6}"/>
              </a:ext>
            </a:extLst>
          </p:cNvPr>
          <p:cNvSpPr>
            <a:spLocks noGrp="1" noChangeArrowheads="1"/>
          </p:cNvSpPr>
          <p:nvPr>
            <p:ph type="body" idx="1"/>
          </p:nvPr>
        </p:nvSpPr>
        <p:spPr/>
        <p:txBody>
          <a:bodyPr/>
          <a:lstStyle/>
          <a:p>
            <a:pPr>
              <a:spcBef>
                <a:spcPct val="0"/>
              </a:spcBef>
            </a:pPr>
            <a:endParaRPr lang="en-GB" altLang="en-US" sz="2400" noProof="1"/>
          </a:p>
        </p:txBody>
      </p:sp>
    </p:spTree>
    <p:extLst>
      <p:ext uri="{BB962C8B-B14F-4D97-AF65-F5344CB8AC3E}">
        <p14:creationId xmlns:p14="http://schemas.microsoft.com/office/powerpoint/2010/main" val="142738539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4C3982DE-ECD2-405E-8DFE-F6B1083AF3AF}"/>
              </a:ext>
            </a:extLst>
          </p:cNvPr>
          <p:cNvSpPr>
            <a:spLocks noGrp="1" noChangeArrowheads="1"/>
          </p:cNvSpPr>
          <p:nvPr>
            <p:ph type="sldNum" sz="quarter" idx="5"/>
          </p:nvPr>
        </p:nvSpPr>
        <p:spPr>
          <a:ln/>
        </p:spPr>
        <p:txBody>
          <a:bodyPr/>
          <a:lstStyle/>
          <a:p>
            <a:fld id="{9068D40D-4B13-4F9F-9625-406EA7C97FA6}" type="slidenum">
              <a:rPr lang="en-GB" altLang="en-US"/>
              <a:pPr/>
              <a:t>56</a:t>
            </a:fld>
            <a:endParaRPr lang="en-GB" altLang="en-US"/>
          </a:p>
        </p:txBody>
      </p:sp>
      <p:sp>
        <p:nvSpPr>
          <p:cNvPr id="473090" name="Rectangle 2">
            <a:extLst>
              <a:ext uri="{FF2B5EF4-FFF2-40B4-BE49-F238E27FC236}">
                <a16:creationId xmlns:a16="http://schemas.microsoft.com/office/drawing/2014/main" id="{BF2832CA-12B5-4C62-8F2A-4E7EEE57D13E}"/>
              </a:ext>
            </a:extLst>
          </p:cNvPr>
          <p:cNvSpPr>
            <a:spLocks noGrp="1" noRot="1" noChangeAspect="1" noChangeArrowheads="1" noTextEdit="1"/>
          </p:cNvSpPr>
          <p:nvPr>
            <p:ph type="sldImg"/>
          </p:nvPr>
        </p:nvSpPr>
        <p:spPr>
          <a:ln/>
        </p:spPr>
      </p:sp>
      <p:sp>
        <p:nvSpPr>
          <p:cNvPr id="473091" name="Rectangle 3">
            <a:extLst>
              <a:ext uri="{FF2B5EF4-FFF2-40B4-BE49-F238E27FC236}">
                <a16:creationId xmlns:a16="http://schemas.microsoft.com/office/drawing/2014/main" id="{4371D737-5D09-40B9-9C8E-DBD035EF0006}"/>
              </a:ext>
            </a:extLst>
          </p:cNvPr>
          <p:cNvSpPr>
            <a:spLocks noGrp="1" noChangeArrowheads="1"/>
          </p:cNvSpPr>
          <p:nvPr>
            <p:ph type="body" idx="1"/>
          </p:nvPr>
        </p:nvSpPr>
        <p:spPr/>
        <p:txBody>
          <a:bodyPr/>
          <a:lstStyle/>
          <a:p>
            <a:pPr>
              <a:spcBef>
                <a:spcPct val="0"/>
              </a:spcBef>
            </a:pPr>
            <a:endParaRPr lang="en-GB" altLang="en-US" sz="2400" noProof="1"/>
          </a:p>
        </p:txBody>
      </p:sp>
    </p:spTree>
    <p:extLst>
      <p:ext uri="{BB962C8B-B14F-4D97-AF65-F5344CB8AC3E}">
        <p14:creationId xmlns:p14="http://schemas.microsoft.com/office/powerpoint/2010/main" val="379995842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0930" name="Rectangle 2">
            <a:extLst>
              <a:ext uri="{FF2B5EF4-FFF2-40B4-BE49-F238E27FC236}">
                <a16:creationId xmlns:a16="http://schemas.microsoft.com/office/drawing/2014/main" id="{3BEE1B1A-E0CE-4196-911E-92B445754F39}"/>
              </a:ext>
            </a:extLst>
          </p:cNvPr>
          <p:cNvSpPr>
            <a:spLocks noGrp="1" noRot="1" noChangeAspect="1" noChangeArrowheads="1" noTextEdit="1"/>
          </p:cNvSpPr>
          <p:nvPr>
            <p:ph type="sldImg"/>
          </p:nvPr>
        </p:nvSpPr>
        <p:spPr>
          <a:xfrm>
            <a:off x="381000" y="685800"/>
            <a:ext cx="6096000" cy="3429000"/>
          </a:xfrm>
          <a:ln/>
        </p:spPr>
      </p:sp>
      <p:sp>
        <p:nvSpPr>
          <p:cNvPr id="380931" name="Rectangle 3">
            <a:extLst>
              <a:ext uri="{FF2B5EF4-FFF2-40B4-BE49-F238E27FC236}">
                <a16:creationId xmlns:a16="http://schemas.microsoft.com/office/drawing/2014/main" id="{34A21624-F580-436C-9D7F-BAB48A8B547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noProof="1">
              <a:latin typeface="Times New Roman" panose="02020603050405020304" pitchFamily="18" charset="0"/>
            </a:endParaRPr>
          </a:p>
        </p:txBody>
      </p:sp>
    </p:spTree>
    <p:extLst>
      <p:ext uri="{BB962C8B-B14F-4D97-AF65-F5344CB8AC3E}">
        <p14:creationId xmlns:p14="http://schemas.microsoft.com/office/powerpoint/2010/main" val="154062796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4C3982DE-ECD2-405E-8DFE-F6B1083AF3AF}"/>
              </a:ext>
            </a:extLst>
          </p:cNvPr>
          <p:cNvSpPr>
            <a:spLocks noGrp="1" noChangeArrowheads="1"/>
          </p:cNvSpPr>
          <p:nvPr>
            <p:ph type="sldNum" sz="quarter" idx="5"/>
          </p:nvPr>
        </p:nvSpPr>
        <p:spPr>
          <a:ln/>
        </p:spPr>
        <p:txBody>
          <a:bodyPr/>
          <a:lstStyle/>
          <a:p>
            <a:fld id="{9068D40D-4B13-4F9F-9625-406EA7C97FA6}" type="slidenum">
              <a:rPr lang="en-GB" altLang="en-US"/>
              <a:pPr/>
              <a:t>58</a:t>
            </a:fld>
            <a:endParaRPr lang="en-GB" altLang="en-US"/>
          </a:p>
        </p:txBody>
      </p:sp>
      <p:sp>
        <p:nvSpPr>
          <p:cNvPr id="473090" name="Rectangle 2">
            <a:extLst>
              <a:ext uri="{FF2B5EF4-FFF2-40B4-BE49-F238E27FC236}">
                <a16:creationId xmlns:a16="http://schemas.microsoft.com/office/drawing/2014/main" id="{BF2832CA-12B5-4C62-8F2A-4E7EEE57D13E}"/>
              </a:ext>
            </a:extLst>
          </p:cNvPr>
          <p:cNvSpPr>
            <a:spLocks noGrp="1" noRot="1" noChangeAspect="1" noChangeArrowheads="1" noTextEdit="1"/>
          </p:cNvSpPr>
          <p:nvPr>
            <p:ph type="sldImg"/>
          </p:nvPr>
        </p:nvSpPr>
        <p:spPr>
          <a:ln/>
        </p:spPr>
      </p:sp>
      <p:sp>
        <p:nvSpPr>
          <p:cNvPr id="473091" name="Rectangle 3">
            <a:extLst>
              <a:ext uri="{FF2B5EF4-FFF2-40B4-BE49-F238E27FC236}">
                <a16:creationId xmlns:a16="http://schemas.microsoft.com/office/drawing/2014/main" id="{4371D737-5D09-40B9-9C8E-DBD035EF0006}"/>
              </a:ext>
            </a:extLst>
          </p:cNvPr>
          <p:cNvSpPr>
            <a:spLocks noGrp="1" noChangeArrowheads="1"/>
          </p:cNvSpPr>
          <p:nvPr>
            <p:ph type="body" idx="1"/>
          </p:nvPr>
        </p:nvSpPr>
        <p:spPr/>
        <p:txBody>
          <a:bodyPr/>
          <a:lstStyle/>
          <a:p>
            <a:pPr>
              <a:spcBef>
                <a:spcPct val="0"/>
              </a:spcBef>
            </a:pPr>
            <a:endParaRPr lang="en-GB" altLang="en-US" sz="2400" noProof="1"/>
          </a:p>
        </p:txBody>
      </p:sp>
    </p:spTree>
    <p:extLst>
      <p:ext uri="{BB962C8B-B14F-4D97-AF65-F5344CB8AC3E}">
        <p14:creationId xmlns:p14="http://schemas.microsoft.com/office/powerpoint/2010/main" val="354426492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6834" name="Rectangle 2">
            <a:extLst>
              <a:ext uri="{FF2B5EF4-FFF2-40B4-BE49-F238E27FC236}">
                <a16:creationId xmlns:a16="http://schemas.microsoft.com/office/drawing/2014/main" id="{0BA8FFB1-C3F5-4510-9543-BCF45BD8DE22}"/>
              </a:ext>
            </a:extLst>
          </p:cNvPr>
          <p:cNvSpPr>
            <a:spLocks noGrp="1" noRot="1" noChangeAspect="1" noChangeArrowheads="1" noTextEdit="1"/>
          </p:cNvSpPr>
          <p:nvPr>
            <p:ph type="sldImg"/>
          </p:nvPr>
        </p:nvSpPr>
        <p:spPr>
          <a:xfrm>
            <a:off x="381000" y="685800"/>
            <a:ext cx="6096000" cy="3429000"/>
          </a:xfrm>
          <a:ln/>
        </p:spPr>
      </p:sp>
      <p:sp>
        <p:nvSpPr>
          <p:cNvPr id="376835" name="Rectangle 3">
            <a:extLst>
              <a:ext uri="{FF2B5EF4-FFF2-40B4-BE49-F238E27FC236}">
                <a16:creationId xmlns:a16="http://schemas.microsoft.com/office/drawing/2014/main" id="{0F7A8D07-881D-40C3-855C-49004738728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noProof="1">
              <a:latin typeface="Times New Roman" panose="02020603050405020304" pitchFamily="18" charset="0"/>
            </a:endParaRPr>
          </a:p>
        </p:txBody>
      </p:sp>
    </p:spTree>
    <p:extLst>
      <p:ext uri="{BB962C8B-B14F-4D97-AF65-F5344CB8AC3E}">
        <p14:creationId xmlns:p14="http://schemas.microsoft.com/office/powerpoint/2010/main" val="9945040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80AC40-BA68-2446-8065-C4B79F003CB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B779B30-55ED-B44F-A01B-A0C9E151AAC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24164311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4F18BB-AB41-CF4E-BE7D-2DD51299C5C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94475A2-6400-C94D-AF33-EC725F83C9CF}"/>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392784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1876FB-4B5F-634E-A817-234B9CC26B3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A2F7B0B-5E73-3045-8584-B6E7C8D295A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Tree>
    <p:extLst>
      <p:ext uri="{BB962C8B-B14F-4D97-AF65-F5344CB8AC3E}">
        <p14:creationId xmlns:p14="http://schemas.microsoft.com/office/powerpoint/2010/main" val="2282880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9E2C3C-1703-5C48-AAF3-7F65689B1BF4}"/>
              </a:ext>
            </a:extLst>
          </p:cNvPr>
          <p:cNvSpPr>
            <a:spLocks noGrp="1"/>
          </p:cNvSpPr>
          <p:nvPr>
            <p:ph type="title"/>
          </p:nvPr>
        </p:nvSpPr>
        <p:spPr>
          <a:xfrm>
            <a:off x="839788" y="365126"/>
            <a:ext cx="10515600" cy="1070568"/>
          </a:xfrm>
        </p:spPr>
        <p:txBody>
          <a:bodyPr/>
          <a:lstStyle/>
          <a:p>
            <a:r>
              <a:rPr lang="en-US"/>
              <a:t>Click to edit Master title style</a:t>
            </a:r>
          </a:p>
        </p:txBody>
      </p:sp>
      <p:sp>
        <p:nvSpPr>
          <p:cNvPr id="3" name="Text Placeholder 2">
            <a:extLst>
              <a:ext uri="{FF2B5EF4-FFF2-40B4-BE49-F238E27FC236}">
                <a16:creationId xmlns:a16="http://schemas.microsoft.com/office/drawing/2014/main" id="{9E9DF8FB-2DB8-2446-AF08-6B3559EA637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765F26F5-FD62-8E49-A8EC-D082BC3939F3}"/>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EF6C83F-17BE-EC41-8744-B17CBAEB2DE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0EFF3977-3FA6-8643-BA95-D15C0754FED0}"/>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817078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6164558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80AC40-BA68-2446-8065-C4B79F003CB5}"/>
              </a:ext>
            </a:extLst>
          </p:cNvPr>
          <p:cNvSpPr>
            <a:spLocks noGrp="1"/>
          </p:cNvSpPr>
          <p:nvPr>
            <p:ph type="ctrTitle"/>
          </p:nvPr>
        </p:nvSpPr>
        <p:spPr>
          <a:xfrm>
            <a:off x="1524000" y="1122363"/>
            <a:ext cx="9144000" cy="2387600"/>
          </a:xfrm>
        </p:spPr>
        <p:txBody>
          <a:bodyPr anchor="b">
            <a:normAutofit/>
          </a:bodyPr>
          <a:lstStyle>
            <a:lvl1pPr algn="ctr">
              <a:defRPr sz="5400"/>
            </a:lvl1pPr>
          </a:lstStyle>
          <a:p>
            <a:r>
              <a:rPr lang="en-US"/>
              <a:t>Click to edit Master title style</a:t>
            </a:r>
          </a:p>
        </p:txBody>
      </p:sp>
      <p:sp>
        <p:nvSpPr>
          <p:cNvPr id="3" name="Subtitle 2">
            <a:extLst>
              <a:ext uri="{FF2B5EF4-FFF2-40B4-BE49-F238E27FC236}">
                <a16:creationId xmlns:a16="http://schemas.microsoft.com/office/drawing/2014/main" id="{3B779B30-55ED-B44F-A01B-A0C9E151AAC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27439638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4F18BB-AB41-CF4E-BE7D-2DD51299C5C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94475A2-6400-C94D-AF33-EC725F83C9CF}"/>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a:extLst>
              <a:ext uri="{FF2B5EF4-FFF2-40B4-BE49-F238E27FC236}">
                <a16:creationId xmlns:a16="http://schemas.microsoft.com/office/drawing/2014/main" id="{57CBE933-92D8-8187-B5F9-67501F4DABDA}"/>
              </a:ext>
            </a:extLst>
          </p:cNvPr>
          <p:cNvSpPr>
            <a:spLocks noGrp="1"/>
          </p:cNvSpPr>
          <p:nvPr>
            <p:ph type="dt" sz="half" idx="2"/>
          </p:nvPr>
        </p:nvSpPr>
        <p:spPr>
          <a:xfrm>
            <a:off x="402771" y="6356350"/>
            <a:ext cx="2743200" cy="365125"/>
          </a:xfrm>
          <a:prstGeom prst="rect">
            <a:avLst/>
          </a:prstGeom>
        </p:spPr>
        <p:txBody>
          <a:bodyPr vert="horz" lIns="91440" tIns="45720" rIns="91440" bIns="45720" rtlCol="0" anchor="ctr"/>
          <a:lstStyle>
            <a:lvl1pPr algn="l">
              <a:defRPr sz="1200" i="1">
                <a:solidFill>
                  <a:schemeClr val="tx1"/>
                </a:solidFill>
              </a:defRPr>
            </a:lvl1pPr>
          </a:lstStyle>
          <a:p>
            <a:r>
              <a:rPr lang="en-US"/>
              <a:t>©copyright, Heriot-Watt University, 2024</a:t>
            </a:r>
          </a:p>
        </p:txBody>
      </p:sp>
    </p:spTree>
    <p:extLst>
      <p:ext uri="{BB962C8B-B14F-4D97-AF65-F5344CB8AC3E}">
        <p14:creationId xmlns:p14="http://schemas.microsoft.com/office/powerpoint/2010/main" val="14529484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1876FB-4B5F-634E-A817-234B9CC26B3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A2F7B0B-5E73-3045-8584-B6E7C8D295A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Tree>
    <p:extLst>
      <p:ext uri="{BB962C8B-B14F-4D97-AF65-F5344CB8AC3E}">
        <p14:creationId xmlns:p14="http://schemas.microsoft.com/office/powerpoint/2010/main" val="8237749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9E2C3C-1703-5C48-AAF3-7F65689B1BF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E9DF8FB-2DB8-2446-AF08-6B3559EA637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765F26F5-FD62-8E49-A8EC-D082BC3939F3}"/>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EF6C83F-17BE-EC41-8744-B17CBAEB2DE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0EFF3977-3FA6-8643-BA95-D15C0754FED0}"/>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291168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7033919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E764CB-A011-BB4E-9F6C-914C4FEB965C}"/>
              </a:ext>
            </a:extLst>
          </p:cNvPr>
          <p:cNvSpPr>
            <a:spLocks noGrp="1"/>
          </p:cNvSpPr>
          <p:nvPr>
            <p:ph type="ctrTitle"/>
          </p:nvPr>
        </p:nvSpPr>
        <p:spPr>
          <a:xfrm>
            <a:off x="1524000" y="1122363"/>
            <a:ext cx="9144000" cy="2387600"/>
          </a:xfrm>
        </p:spPr>
        <p:txBody>
          <a:bodyPr anchor="b">
            <a:normAutofit/>
          </a:bodyPr>
          <a:lstStyle>
            <a:lvl1pPr algn="ctr">
              <a:defRPr sz="5400"/>
            </a:lvl1pPr>
          </a:lstStyle>
          <a:p>
            <a:r>
              <a:rPr lang="en-US"/>
              <a:t>Click to edit Master title style</a:t>
            </a:r>
          </a:p>
        </p:txBody>
      </p:sp>
      <p:sp>
        <p:nvSpPr>
          <p:cNvPr id="3" name="Subtitle 2">
            <a:extLst>
              <a:ext uri="{FF2B5EF4-FFF2-40B4-BE49-F238E27FC236}">
                <a16:creationId xmlns:a16="http://schemas.microsoft.com/office/drawing/2014/main" id="{10297D51-BA3E-B940-A518-23EA6AD407D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392311544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E2A1F4-A4C2-7746-A4BF-73A35FF1A33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9C5A778-AE0A-FF45-8919-78FC7BFCEA61}"/>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5677969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E3ED18-C36D-6942-A17C-A640DD97E8A8}"/>
              </a:ext>
            </a:extLst>
          </p:cNvPr>
          <p:cNvSpPr>
            <a:spLocks noGrp="1"/>
          </p:cNvSpPr>
          <p:nvPr>
            <p:ph type="title"/>
          </p:nvPr>
        </p:nvSpPr>
        <p:spPr>
          <a:xfrm>
            <a:off x="831850" y="1709738"/>
            <a:ext cx="10515600" cy="2852737"/>
          </a:xfrm>
        </p:spPr>
        <p:txBody>
          <a:bodyPr anchor="b">
            <a:normAutofit/>
          </a:bodyPr>
          <a:lstStyle>
            <a:lvl1pPr>
              <a:defRPr sz="5400"/>
            </a:lvl1pPr>
          </a:lstStyle>
          <a:p>
            <a:r>
              <a:rPr lang="en-US"/>
              <a:t>Click to edit Master title style</a:t>
            </a:r>
          </a:p>
        </p:txBody>
      </p:sp>
      <p:sp>
        <p:nvSpPr>
          <p:cNvPr id="3" name="Text Placeholder 2">
            <a:extLst>
              <a:ext uri="{FF2B5EF4-FFF2-40B4-BE49-F238E27FC236}">
                <a16:creationId xmlns:a16="http://schemas.microsoft.com/office/drawing/2014/main" id="{C2AFA3DE-F5C3-6B44-BEDF-E8C5A755196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Tree>
    <p:extLst>
      <p:ext uri="{BB962C8B-B14F-4D97-AF65-F5344CB8AC3E}">
        <p14:creationId xmlns:p14="http://schemas.microsoft.com/office/powerpoint/2010/main" val="162207657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D98AE-10F7-9747-A17A-DCA5FF53492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DE8C8FD-9F20-0F49-BD8A-24F481F0EE50}"/>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9EBF451-64DA-6B4F-9C75-D38937F059F2}"/>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0268350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27439787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21AC21-992D-934E-A395-299418D9A9B1}"/>
              </a:ext>
            </a:extLst>
          </p:cNvPr>
          <p:cNvSpPr>
            <a:spLocks noGrp="1"/>
          </p:cNvSpPr>
          <p:nvPr>
            <p:ph type="ctrTitle"/>
          </p:nvPr>
        </p:nvSpPr>
        <p:spPr>
          <a:xfrm>
            <a:off x="1524000" y="1122363"/>
            <a:ext cx="9144000" cy="2387600"/>
          </a:xfrm>
        </p:spPr>
        <p:txBody>
          <a:bodyPr anchor="b">
            <a:normAutofit/>
          </a:bodyPr>
          <a:lstStyle>
            <a:lvl1pPr algn="ctr">
              <a:defRPr sz="5400"/>
            </a:lvl1pPr>
          </a:lstStyle>
          <a:p>
            <a:r>
              <a:rPr lang="en-US"/>
              <a:t>Click to edit Master title style</a:t>
            </a:r>
          </a:p>
        </p:txBody>
      </p:sp>
      <p:sp>
        <p:nvSpPr>
          <p:cNvPr id="3" name="Subtitle 2">
            <a:extLst>
              <a:ext uri="{FF2B5EF4-FFF2-40B4-BE49-F238E27FC236}">
                <a16:creationId xmlns:a16="http://schemas.microsoft.com/office/drawing/2014/main" id="{31634E5D-5859-DF46-8BF2-B091BBA88D0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8" name="Footer Placeholder 9">
            <a:extLst>
              <a:ext uri="{FF2B5EF4-FFF2-40B4-BE49-F238E27FC236}">
                <a16:creationId xmlns:a16="http://schemas.microsoft.com/office/drawing/2014/main" id="{AABCDC2F-C97E-C150-697A-55C9546E1D9A}"/>
              </a:ext>
            </a:extLst>
          </p:cNvPr>
          <p:cNvSpPr>
            <a:spLocks noGrp="1"/>
          </p:cNvSpPr>
          <p:nvPr>
            <p:ph type="ftr" sz="quarter" idx="3"/>
          </p:nvPr>
        </p:nvSpPr>
        <p:spPr>
          <a:xfrm>
            <a:off x="435429" y="6396280"/>
            <a:ext cx="4114800" cy="365125"/>
          </a:xfrm>
          <a:prstGeom prst="rect">
            <a:avLst/>
          </a:prstGeom>
        </p:spPr>
        <p:txBody>
          <a:bodyPr vert="horz" lIns="91440" tIns="45720" rIns="91440" bIns="45720" rtlCol="0" anchor="ctr"/>
          <a:lstStyle>
            <a:lvl1pPr algn="l">
              <a:defRPr sz="1200" i="1">
                <a:solidFill>
                  <a:schemeClr val="tx1">
                    <a:tint val="82000"/>
                  </a:schemeClr>
                </a:solidFill>
              </a:defRPr>
            </a:lvl1pPr>
          </a:lstStyle>
          <a:p>
            <a:r>
              <a:rPr lang="en-US"/>
              <a:t>©copyright, Heriot-Watt University, 2024</a:t>
            </a:r>
          </a:p>
        </p:txBody>
      </p:sp>
    </p:spTree>
    <p:extLst>
      <p:ext uri="{BB962C8B-B14F-4D97-AF65-F5344CB8AC3E}">
        <p14:creationId xmlns:p14="http://schemas.microsoft.com/office/powerpoint/2010/main" val="121925882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84A340-280C-084B-869C-FA8A87E3FAD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3682A7A-DF09-0C4B-AE3F-E747D86E8402}"/>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er Placeholder 9">
            <a:extLst>
              <a:ext uri="{FF2B5EF4-FFF2-40B4-BE49-F238E27FC236}">
                <a16:creationId xmlns:a16="http://schemas.microsoft.com/office/drawing/2014/main" id="{B939D61E-F5BD-0A95-A8D7-B362178ECF4C}"/>
              </a:ext>
            </a:extLst>
          </p:cNvPr>
          <p:cNvSpPr>
            <a:spLocks noGrp="1"/>
          </p:cNvSpPr>
          <p:nvPr>
            <p:ph type="ftr" sz="quarter" idx="3"/>
          </p:nvPr>
        </p:nvSpPr>
        <p:spPr>
          <a:xfrm>
            <a:off x="435429" y="6396280"/>
            <a:ext cx="4114800" cy="365125"/>
          </a:xfrm>
          <a:prstGeom prst="rect">
            <a:avLst/>
          </a:prstGeom>
        </p:spPr>
        <p:txBody>
          <a:bodyPr vert="horz" lIns="91440" tIns="45720" rIns="91440" bIns="45720" rtlCol="0" anchor="ctr"/>
          <a:lstStyle>
            <a:lvl1pPr algn="l">
              <a:defRPr sz="1200" i="1">
                <a:solidFill>
                  <a:schemeClr val="tx1">
                    <a:tint val="82000"/>
                  </a:schemeClr>
                </a:solidFill>
              </a:defRPr>
            </a:lvl1pPr>
          </a:lstStyle>
          <a:p>
            <a:r>
              <a:rPr lang="en-US"/>
              <a:t>©copyright, Heriot-Watt University, 2024</a:t>
            </a:r>
          </a:p>
        </p:txBody>
      </p:sp>
    </p:spTree>
    <p:extLst>
      <p:ext uri="{BB962C8B-B14F-4D97-AF65-F5344CB8AC3E}">
        <p14:creationId xmlns:p14="http://schemas.microsoft.com/office/powerpoint/2010/main" val="20521932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62B2C5-8AEF-3A4E-9A56-6BDA129090CB}"/>
              </a:ext>
            </a:extLst>
          </p:cNvPr>
          <p:cNvSpPr>
            <a:spLocks noGrp="1"/>
          </p:cNvSpPr>
          <p:nvPr>
            <p:ph type="title"/>
          </p:nvPr>
        </p:nvSpPr>
        <p:spPr>
          <a:xfrm>
            <a:off x="831850" y="1709738"/>
            <a:ext cx="10515600" cy="2852737"/>
          </a:xfrm>
        </p:spPr>
        <p:txBody>
          <a:bodyPr anchor="b">
            <a:normAutofit/>
          </a:bodyPr>
          <a:lstStyle>
            <a:lvl1pPr>
              <a:defRPr sz="5400"/>
            </a:lvl1pPr>
          </a:lstStyle>
          <a:p>
            <a:r>
              <a:rPr lang="en-US"/>
              <a:t>Click to edit Master title style</a:t>
            </a:r>
          </a:p>
        </p:txBody>
      </p:sp>
      <p:sp>
        <p:nvSpPr>
          <p:cNvPr id="3" name="Text Placeholder 2">
            <a:extLst>
              <a:ext uri="{FF2B5EF4-FFF2-40B4-BE49-F238E27FC236}">
                <a16:creationId xmlns:a16="http://schemas.microsoft.com/office/drawing/2014/main" id="{C8C5CE0C-DD89-1148-9CAC-647F409A2C1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7" name="Footer Placeholder 9">
            <a:extLst>
              <a:ext uri="{FF2B5EF4-FFF2-40B4-BE49-F238E27FC236}">
                <a16:creationId xmlns:a16="http://schemas.microsoft.com/office/drawing/2014/main" id="{87E77B97-0FDA-734C-97AA-6B7382C08EB9}"/>
              </a:ext>
            </a:extLst>
          </p:cNvPr>
          <p:cNvSpPr>
            <a:spLocks noGrp="1"/>
          </p:cNvSpPr>
          <p:nvPr>
            <p:ph type="ftr" sz="quarter" idx="3"/>
          </p:nvPr>
        </p:nvSpPr>
        <p:spPr>
          <a:xfrm>
            <a:off x="435429" y="6396280"/>
            <a:ext cx="4114800" cy="365125"/>
          </a:xfrm>
          <a:prstGeom prst="rect">
            <a:avLst/>
          </a:prstGeom>
        </p:spPr>
        <p:txBody>
          <a:bodyPr vert="horz" lIns="91440" tIns="45720" rIns="91440" bIns="45720" rtlCol="0" anchor="ctr"/>
          <a:lstStyle>
            <a:lvl1pPr algn="l">
              <a:defRPr sz="1200" i="1">
                <a:solidFill>
                  <a:schemeClr val="tx1">
                    <a:tint val="82000"/>
                  </a:schemeClr>
                </a:solidFill>
              </a:defRPr>
            </a:lvl1pPr>
          </a:lstStyle>
          <a:p>
            <a:r>
              <a:rPr lang="en-US"/>
              <a:t>©copyright, Heriot-Watt University, 2024</a:t>
            </a:r>
          </a:p>
        </p:txBody>
      </p:sp>
    </p:spTree>
    <p:extLst>
      <p:ext uri="{BB962C8B-B14F-4D97-AF65-F5344CB8AC3E}">
        <p14:creationId xmlns:p14="http://schemas.microsoft.com/office/powerpoint/2010/main" val="115598373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92D8A6-E22C-DA4F-99B7-A0CB8B0671C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CE80796-FCBB-A246-B504-11F9263C0443}"/>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D7FD022-296F-8249-999A-CDB3A04FB087}"/>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9">
            <a:extLst>
              <a:ext uri="{FF2B5EF4-FFF2-40B4-BE49-F238E27FC236}">
                <a16:creationId xmlns:a16="http://schemas.microsoft.com/office/drawing/2014/main" id="{7DA158A6-B130-9DFD-E616-112696FAD7B4}"/>
              </a:ext>
            </a:extLst>
          </p:cNvPr>
          <p:cNvSpPr>
            <a:spLocks noGrp="1"/>
          </p:cNvSpPr>
          <p:nvPr>
            <p:ph type="ftr" sz="quarter" idx="3"/>
          </p:nvPr>
        </p:nvSpPr>
        <p:spPr>
          <a:xfrm>
            <a:off x="435429" y="6396280"/>
            <a:ext cx="4114800" cy="365125"/>
          </a:xfrm>
          <a:prstGeom prst="rect">
            <a:avLst/>
          </a:prstGeom>
        </p:spPr>
        <p:txBody>
          <a:bodyPr vert="horz" lIns="91440" tIns="45720" rIns="91440" bIns="45720" rtlCol="0" anchor="ctr"/>
          <a:lstStyle>
            <a:lvl1pPr algn="l">
              <a:defRPr sz="1200" i="1">
                <a:solidFill>
                  <a:schemeClr val="tx1">
                    <a:tint val="82000"/>
                  </a:schemeClr>
                </a:solidFill>
              </a:defRPr>
            </a:lvl1pPr>
          </a:lstStyle>
          <a:p>
            <a:r>
              <a:rPr lang="en-US"/>
              <a:t>©copyright, Heriot-Watt University, 2024</a:t>
            </a:r>
          </a:p>
        </p:txBody>
      </p:sp>
    </p:spTree>
    <p:extLst>
      <p:ext uri="{BB962C8B-B14F-4D97-AF65-F5344CB8AC3E}">
        <p14:creationId xmlns:p14="http://schemas.microsoft.com/office/powerpoint/2010/main" val="136159186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Footer Placeholder 9">
            <a:extLst>
              <a:ext uri="{FF2B5EF4-FFF2-40B4-BE49-F238E27FC236}">
                <a16:creationId xmlns:a16="http://schemas.microsoft.com/office/drawing/2014/main" id="{49A75C75-4D93-8CEE-C5EB-A2102F4CAE4F}"/>
              </a:ext>
            </a:extLst>
          </p:cNvPr>
          <p:cNvSpPr>
            <a:spLocks noGrp="1"/>
          </p:cNvSpPr>
          <p:nvPr>
            <p:ph type="ftr" sz="quarter" idx="3"/>
          </p:nvPr>
        </p:nvSpPr>
        <p:spPr>
          <a:xfrm>
            <a:off x="435429" y="6396280"/>
            <a:ext cx="4114800" cy="365125"/>
          </a:xfrm>
          <a:prstGeom prst="rect">
            <a:avLst/>
          </a:prstGeom>
        </p:spPr>
        <p:txBody>
          <a:bodyPr vert="horz" lIns="91440" tIns="45720" rIns="91440" bIns="45720" rtlCol="0" anchor="ctr"/>
          <a:lstStyle>
            <a:lvl1pPr algn="l">
              <a:defRPr sz="1200" i="1">
                <a:solidFill>
                  <a:schemeClr val="tx1">
                    <a:tint val="82000"/>
                  </a:schemeClr>
                </a:solidFill>
              </a:defRPr>
            </a:lvl1pPr>
          </a:lstStyle>
          <a:p>
            <a:r>
              <a:rPr lang="en-US"/>
              <a:t>©copyright, Heriot-Watt University, 2024</a:t>
            </a:r>
          </a:p>
        </p:txBody>
      </p:sp>
    </p:spTree>
    <p:extLst>
      <p:ext uri="{BB962C8B-B14F-4D97-AF65-F5344CB8AC3E}">
        <p14:creationId xmlns:p14="http://schemas.microsoft.com/office/powerpoint/2010/main" val="255768912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21AC21-992D-934E-A395-299418D9A9B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1634E5D-5859-DF46-8BF2-B091BBA88D0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404140758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84A340-280C-084B-869C-FA8A87E3FAD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3682A7A-DF09-0C4B-AE3F-E747D86E8402}"/>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3370260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62B2C5-8AEF-3A4E-9A56-6BDA129090CB}"/>
              </a:ext>
            </a:extLst>
          </p:cNvPr>
          <p:cNvSpPr>
            <a:spLocks noGrp="1"/>
          </p:cNvSpPr>
          <p:nvPr>
            <p:ph type="title"/>
          </p:nvPr>
        </p:nvSpPr>
        <p:spPr>
          <a:xfrm>
            <a:off x="831850" y="1709738"/>
            <a:ext cx="10515600" cy="2852737"/>
          </a:xfrm>
        </p:spPr>
        <p:txBody>
          <a:bodyPr anchor="b">
            <a:normAutofit/>
          </a:bodyPr>
          <a:lstStyle>
            <a:lvl1pPr>
              <a:defRPr sz="5400"/>
            </a:lvl1pPr>
          </a:lstStyle>
          <a:p>
            <a:r>
              <a:rPr lang="en-US"/>
              <a:t>Click to edit Master title style</a:t>
            </a:r>
          </a:p>
        </p:txBody>
      </p:sp>
      <p:sp>
        <p:nvSpPr>
          <p:cNvPr id="3" name="Text Placeholder 2">
            <a:extLst>
              <a:ext uri="{FF2B5EF4-FFF2-40B4-BE49-F238E27FC236}">
                <a16:creationId xmlns:a16="http://schemas.microsoft.com/office/drawing/2014/main" id="{C8C5CE0C-DD89-1148-9CAC-647F409A2C1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Tree>
    <p:extLst>
      <p:ext uri="{BB962C8B-B14F-4D97-AF65-F5344CB8AC3E}">
        <p14:creationId xmlns:p14="http://schemas.microsoft.com/office/powerpoint/2010/main" val="238601310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92D8A6-E22C-DA4F-99B7-A0CB8B0671C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CE80796-FCBB-A246-B504-11F9263C0443}"/>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D7FD022-296F-8249-999A-CDB3A04FB087}"/>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7816356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60323392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0D151C-A25C-40DC-9FB7-A0F1FC10D28D}"/>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275166017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84A340-280C-084B-869C-FA8A87E3FAD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3682A7A-DF09-0C4B-AE3F-E747D86E8402}"/>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4040128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92D8A6-E22C-DA4F-99B7-A0CB8B0671C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CE80796-FCBB-A246-B504-11F9263C0443}"/>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D7FD022-296F-8249-999A-CDB3A04FB087}"/>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1354645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15932445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emf"/><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theme" Target="../theme/theme2.xml"/><Relationship Id="rId5" Type="http://schemas.openxmlformats.org/officeDocument/2006/relationships/slideLayout" Target="../slideLayouts/slideLayout10.xml"/><Relationship Id="rId4" Type="http://schemas.openxmlformats.org/officeDocument/2006/relationships/slideLayout" Target="../slideLayouts/slideLayout9.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theme" Target="../theme/theme3.xml"/><Relationship Id="rId5" Type="http://schemas.openxmlformats.org/officeDocument/2006/relationships/slideLayout" Target="../slideLayouts/slideLayout15.xml"/><Relationship Id="rId4" Type="http://schemas.openxmlformats.org/officeDocument/2006/relationships/slideLayout" Target="../slideLayouts/slideLayout14.xml"/></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18.xml"/><Relationship Id="rId7" Type="http://schemas.openxmlformats.org/officeDocument/2006/relationships/image" Target="../media/image2.emf"/><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theme" Target="../theme/theme4.xml"/><Relationship Id="rId5" Type="http://schemas.openxmlformats.org/officeDocument/2006/relationships/slideLayout" Target="../slideLayouts/slideLayout20.xml"/><Relationship Id="rId4" Type="http://schemas.openxmlformats.org/officeDocument/2006/relationships/slideLayout" Target="../slideLayouts/slideLayout19.xml"/></Relationships>
</file>

<file path=ppt/slideMasters/_rels/slideMaster5.xml.rels><?xml version="1.0" encoding="UTF-8" standalone="yes"?>
<Relationships xmlns="http://schemas.openxmlformats.org/package/2006/relationships"><Relationship Id="rId3" Type="http://schemas.openxmlformats.org/officeDocument/2006/relationships/slideLayout" Target="../slideLayouts/slideLayout23.xml"/><Relationship Id="rId7" Type="http://schemas.openxmlformats.org/officeDocument/2006/relationships/theme" Target="../theme/theme5.xml"/><Relationship Id="rId2" Type="http://schemas.openxmlformats.org/officeDocument/2006/relationships/slideLayout" Target="../slideLayouts/slideLayout22.xml"/><Relationship Id="rId1" Type="http://schemas.openxmlformats.org/officeDocument/2006/relationships/slideLayout" Target="../slideLayouts/slideLayout21.xml"/><Relationship Id="rId6" Type="http://schemas.openxmlformats.org/officeDocument/2006/relationships/slideLayout" Target="../slideLayouts/slideLayout26.xml"/><Relationship Id="rId5" Type="http://schemas.openxmlformats.org/officeDocument/2006/relationships/slideLayout" Target="../slideLayouts/slideLayout25.xml"/><Relationship Id="rId4" Type="http://schemas.openxmlformats.org/officeDocument/2006/relationships/slideLayout" Target="../slideLayouts/slideLayout24.xml"/></Relationships>
</file>

<file path=ppt/slideMasters/_rels/slideMaster6.xml.rels><?xml version="1.0" encoding="UTF-8" standalone="yes"?>
<Relationships xmlns="http://schemas.openxmlformats.org/package/2006/relationships"><Relationship Id="rId3" Type="http://schemas.openxmlformats.org/officeDocument/2006/relationships/slideLayout" Target="../slideLayouts/slideLayout29.xml"/><Relationship Id="rId2" Type="http://schemas.openxmlformats.org/officeDocument/2006/relationships/slideLayout" Target="../slideLayouts/slideLayout28.xml"/><Relationship Id="rId1" Type="http://schemas.openxmlformats.org/officeDocument/2006/relationships/slideLayout" Target="../slideLayouts/slideLayout27.xml"/><Relationship Id="rId4" Type="http://schemas.openxmlformats.org/officeDocument/2006/relationships/theme" Target="../theme/theme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8655F09-F7D9-634B-89AA-9C189BC4E667}"/>
              </a:ext>
            </a:extLst>
          </p:cNvPr>
          <p:cNvSpPr/>
          <p:nvPr userDrawn="1"/>
        </p:nvSpPr>
        <p:spPr>
          <a:xfrm>
            <a:off x="435429" y="365125"/>
            <a:ext cx="11353800" cy="5991225"/>
          </a:xfrm>
          <a:prstGeom prst="rect">
            <a:avLst/>
          </a:prstGeom>
          <a:solidFill>
            <a:srgbClr val="0014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a:extLst>
              <a:ext uri="{FF2B5EF4-FFF2-40B4-BE49-F238E27FC236}">
                <a16:creationId xmlns:a16="http://schemas.microsoft.com/office/drawing/2014/main" id="{C77A534A-6AD3-C445-868C-830A3404D938}"/>
              </a:ext>
            </a:extLst>
          </p:cNvPr>
          <p:cNvSpPr>
            <a:spLocks noGrp="1"/>
          </p:cNvSpPr>
          <p:nvPr>
            <p:ph type="title"/>
          </p:nvPr>
        </p:nvSpPr>
        <p:spPr>
          <a:xfrm>
            <a:off x="838200" y="365126"/>
            <a:ext cx="10515600" cy="1010748"/>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81DB116-2729-2749-A09B-29BC03CD1BB8}"/>
              </a:ext>
            </a:extLst>
          </p:cNvPr>
          <p:cNvSpPr>
            <a:spLocks noGrp="1"/>
          </p:cNvSpPr>
          <p:nvPr>
            <p:ph type="body" idx="1"/>
          </p:nvPr>
        </p:nvSpPr>
        <p:spPr>
          <a:xfrm>
            <a:off x="838200" y="1623701"/>
            <a:ext cx="10515600" cy="4553262"/>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Rectangle 8">
            <a:extLst>
              <a:ext uri="{FF2B5EF4-FFF2-40B4-BE49-F238E27FC236}">
                <a16:creationId xmlns:a16="http://schemas.microsoft.com/office/drawing/2014/main" id="{E7EE7C59-90E2-CC45-A617-64A4BC29B368}"/>
              </a:ext>
            </a:extLst>
          </p:cNvPr>
          <p:cNvSpPr/>
          <p:nvPr userDrawn="1"/>
        </p:nvSpPr>
        <p:spPr>
          <a:xfrm>
            <a:off x="435429" y="6209960"/>
            <a:ext cx="11353800" cy="157389"/>
          </a:xfrm>
          <a:prstGeom prst="rect">
            <a:avLst/>
          </a:prstGeom>
          <a:solidFill>
            <a:srgbClr val="A8BF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8E8F45BF-3121-0394-1C27-D888D2346F04}"/>
              </a:ext>
            </a:extLst>
          </p:cNvPr>
          <p:cNvPicPr>
            <a:picLocks noChangeAspect="1"/>
          </p:cNvPicPr>
          <p:nvPr userDrawn="1"/>
        </p:nvPicPr>
        <p:blipFill>
          <a:blip r:embed="rId7"/>
          <a:stretch>
            <a:fillRect/>
          </a:stretch>
        </p:blipFill>
        <p:spPr>
          <a:xfrm>
            <a:off x="8474696" y="5403214"/>
            <a:ext cx="2879104" cy="646423"/>
          </a:xfrm>
          <a:prstGeom prst="rect">
            <a:avLst/>
          </a:prstGeom>
        </p:spPr>
      </p:pic>
      <p:sp>
        <p:nvSpPr>
          <p:cNvPr id="11" name="Footer Placeholder 9">
            <a:extLst>
              <a:ext uri="{FF2B5EF4-FFF2-40B4-BE49-F238E27FC236}">
                <a16:creationId xmlns:a16="http://schemas.microsoft.com/office/drawing/2014/main" id="{AE900FD1-EA9A-60B4-0DBA-00D96C5CA6AA}"/>
              </a:ext>
            </a:extLst>
          </p:cNvPr>
          <p:cNvSpPr txBox="1">
            <a:spLocks/>
          </p:cNvSpPr>
          <p:nvPr userDrawn="1"/>
        </p:nvSpPr>
        <p:spPr>
          <a:xfrm>
            <a:off x="435429" y="6396280"/>
            <a:ext cx="4114800" cy="365125"/>
          </a:xfrm>
          <a:prstGeom prst="rect">
            <a:avLst/>
          </a:prstGeom>
        </p:spPr>
        <p:txBody>
          <a:bodyPr vert="horz" lIns="91440" tIns="45720" rIns="91440" bIns="45720" rtlCol="0" anchor="ctr"/>
          <a:lstStyle>
            <a:defPPr>
              <a:defRPr lang="en-US"/>
            </a:defPPr>
            <a:lvl1pPr marL="0" algn="l" defTabSz="914400" rtl="0" eaLnBrk="1" latinLnBrk="0" hangingPunct="1">
              <a:defRPr sz="1200" i="1"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©copyright, Heriot-Watt University, 2024</a:t>
            </a:r>
          </a:p>
        </p:txBody>
      </p:sp>
    </p:spTree>
    <p:extLst>
      <p:ext uri="{BB962C8B-B14F-4D97-AF65-F5344CB8AC3E}">
        <p14:creationId xmlns:p14="http://schemas.microsoft.com/office/powerpoint/2010/main" val="394963358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5" r:id="rId4"/>
    <p:sldLayoutId id="2147483667" r:id="rId5"/>
  </p:sldLayoutIdLst>
  <p:txStyles>
    <p:titleStyle>
      <a:lvl1pPr algn="l" defTabSz="914400" rtl="0" eaLnBrk="1" latinLnBrk="0" hangingPunct="1">
        <a:lnSpc>
          <a:spcPct val="90000"/>
        </a:lnSpc>
        <a:spcBef>
          <a:spcPct val="0"/>
        </a:spcBef>
        <a:buNone/>
        <a:defRPr lang="en-US" sz="4000" b="1" i="0" kern="1200" dirty="0" smtClean="0">
          <a:solidFill>
            <a:srgbClr val="A8BF33"/>
          </a:solidFill>
          <a:latin typeface="Helvetica" pitchFamily="2"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b="0" i="0" kern="1200">
          <a:solidFill>
            <a:schemeClr val="bg1"/>
          </a:solidFill>
          <a:latin typeface="Helvetica"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b="0" i="0" kern="1200">
          <a:solidFill>
            <a:schemeClr val="bg1"/>
          </a:solidFill>
          <a:latin typeface="Helvetica"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Helvetica"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b="0" i="0" kern="1200">
          <a:solidFill>
            <a:schemeClr val="bg1"/>
          </a:solidFill>
          <a:latin typeface="Helvetica"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b="0" i="0" kern="1200">
          <a:solidFill>
            <a:schemeClr val="bg1"/>
          </a:solidFill>
          <a:latin typeface="Helvetica"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8655F09-F7D9-634B-89AA-9C189BC4E667}"/>
              </a:ext>
            </a:extLst>
          </p:cNvPr>
          <p:cNvSpPr/>
          <p:nvPr userDrawn="1"/>
        </p:nvSpPr>
        <p:spPr>
          <a:xfrm>
            <a:off x="435429" y="365125"/>
            <a:ext cx="11353800" cy="5991225"/>
          </a:xfrm>
          <a:prstGeom prst="rect">
            <a:avLst/>
          </a:prstGeom>
          <a:solidFill>
            <a:srgbClr val="0014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a:extLst>
              <a:ext uri="{FF2B5EF4-FFF2-40B4-BE49-F238E27FC236}">
                <a16:creationId xmlns:a16="http://schemas.microsoft.com/office/drawing/2014/main" id="{C77A534A-6AD3-C445-868C-830A3404D938}"/>
              </a:ext>
            </a:extLst>
          </p:cNvPr>
          <p:cNvSpPr>
            <a:spLocks noGrp="1"/>
          </p:cNvSpPr>
          <p:nvPr>
            <p:ph type="title"/>
          </p:nvPr>
        </p:nvSpPr>
        <p:spPr>
          <a:xfrm>
            <a:off x="838200" y="365126"/>
            <a:ext cx="10515600" cy="92529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81DB116-2729-2749-A09B-29BC03CD1BB8}"/>
              </a:ext>
            </a:extLst>
          </p:cNvPr>
          <p:cNvSpPr>
            <a:spLocks noGrp="1"/>
          </p:cNvSpPr>
          <p:nvPr>
            <p:ph type="body" idx="1"/>
          </p:nvPr>
        </p:nvSpPr>
        <p:spPr>
          <a:xfrm>
            <a:off x="838200" y="1546789"/>
            <a:ext cx="10515600" cy="4630174"/>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Rectangle 8">
            <a:extLst>
              <a:ext uri="{FF2B5EF4-FFF2-40B4-BE49-F238E27FC236}">
                <a16:creationId xmlns:a16="http://schemas.microsoft.com/office/drawing/2014/main" id="{E7EE7C59-90E2-CC45-A617-64A4BC29B368}"/>
              </a:ext>
            </a:extLst>
          </p:cNvPr>
          <p:cNvSpPr/>
          <p:nvPr userDrawn="1"/>
        </p:nvSpPr>
        <p:spPr>
          <a:xfrm>
            <a:off x="435429" y="6209960"/>
            <a:ext cx="11353800" cy="157389"/>
          </a:xfrm>
          <a:prstGeom prst="rect">
            <a:avLst/>
          </a:prstGeom>
          <a:solidFill>
            <a:srgbClr val="A8BF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ooter Placeholder 9">
            <a:extLst>
              <a:ext uri="{FF2B5EF4-FFF2-40B4-BE49-F238E27FC236}">
                <a16:creationId xmlns:a16="http://schemas.microsoft.com/office/drawing/2014/main" id="{A15CB55C-526A-98CB-3EA0-6FC8897ABB93}"/>
              </a:ext>
            </a:extLst>
          </p:cNvPr>
          <p:cNvSpPr txBox="1">
            <a:spLocks/>
          </p:cNvSpPr>
          <p:nvPr userDrawn="1"/>
        </p:nvSpPr>
        <p:spPr>
          <a:xfrm>
            <a:off x="435429" y="6396280"/>
            <a:ext cx="4114800" cy="365125"/>
          </a:xfrm>
          <a:prstGeom prst="rect">
            <a:avLst/>
          </a:prstGeom>
        </p:spPr>
        <p:txBody>
          <a:bodyPr vert="horz" lIns="91440" tIns="45720" rIns="91440" bIns="45720" rtlCol="0" anchor="ctr"/>
          <a:lstStyle>
            <a:defPPr>
              <a:defRPr lang="en-US"/>
            </a:defPPr>
            <a:lvl1pPr marL="0" algn="l" defTabSz="914400" rtl="0" eaLnBrk="1" latinLnBrk="0" hangingPunct="1">
              <a:defRPr sz="1200" i="1"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©copyright, Heriot-Watt University, 2024</a:t>
            </a:r>
          </a:p>
        </p:txBody>
      </p:sp>
    </p:spTree>
    <p:extLst>
      <p:ext uri="{BB962C8B-B14F-4D97-AF65-F5344CB8AC3E}">
        <p14:creationId xmlns:p14="http://schemas.microsoft.com/office/powerpoint/2010/main" val="292248411"/>
      </p:ext>
    </p:extLst>
  </p:cSld>
  <p:clrMap bg1="lt1" tx1="dk1" bg2="lt2" tx2="dk2" accent1="accent1" accent2="accent2" accent3="accent3" accent4="accent4" accent5="accent5" accent6="accent6" hlink="hlink" folHlink="folHlink"/>
  <p:sldLayoutIdLst>
    <p:sldLayoutId id="2147483713" r:id="rId1"/>
    <p:sldLayoutId id="2147483714" r:id="rId2"/>
    <p:sldLayoutId id="2147483715" r:id="rId3"/>
    <p:sldLayoutId id="2147483716" r:id="rId4"/>
    <p:sldLayoutId id="2147483717" r:id="rId5"/>
  </p:sldLayoutIdLst>
  <p:txStyles>
    <p:titleStyle>
      <a:lvl1pPr algn="l" defTabSz="914400" rtl="0" eaLnBrk="1" latinLnBrk="0" hangingPunct="1">
        <a:lnSpc>
          <a:spcPct val="90000"/>
        </a:lnSpc>
        <a:spcBef>
          <a:spcPct val="0"/>
        </a:spcBef>
        <a:buNone/>
        <a:defRPr lang="en-US" sz="4000" b="1" i="0" kern="1200" dirty="0" smtClean="0">
          <a:solidFill>
            <a:srgbClr val="A8BF33"/>
          </a:solidFill>
          <a:latin typeface="Helvetica" pitchFamily="2"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b="0" i="0" kern="1200">
          <a:solidFill>
            <a:schemeClr val="bg1"/>
          </a:solidFill>
          <a:latin typeface="Helvetica"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b="0" i="0" kern="1200">
          <a:solidFill>
            <a:schemeClr val="bg1"/>
          </a:solidFill>
          <a:latin typeface="Helvetica"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Helvetica"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b="0" i="0" kern="1200">
          <a:solidFill>
            <a:schemeClr val="bg1"/>
          </a:solidFill>
          <a:latin typeface="Helvetica"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b="0" i="0" kern="1200">
          <a:solidFill>
            <a:schemeClr val="bg1"/>
          </a:solidFill>
          <a:latin typeface="Helvetica"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F5936A0-BFBD-1049-B7F0-A1533BACDDA5}"/>
              </a:ext>
            </a:extLst>
          </p:cNvPr>
          <p:cNvSpPr/>
          <p:nvPr userDrawn="1"/>
        </p:nvSpPr>
        <p:spPr>
          <a:xfrm>
            <a:off x="435429" y="365125"/>
            <a:ext cx="11353800" cy="5991225"/>
          </a:xfrm>
          <a:prstGeom prst="rect">
            <a:avLst/>
          </a:prstGeom>
          <a:solidFill>
            <a:srgbClr val="E2F3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a:extLst>
              <a:ext uri="{FF2B5EF4-FFF2-40B4-BE49-F238E27FC236}">
                <a16:creationId xmlns:a16="http://schemas.microsoft.com/office/drawing/2014/main" id="{1AC8945B-ADB6-1249-9092-50CEDEA401E8}"/>
              </a:ext>
            </a:extLst>
          </p:cNvPr>
          <p:cNvSpPr>
            <a:spLocks noGrp="1"/>
          </p:cNvSpPr>
          <p:nvPr>
            <p:ph type="title"/>
          </p:nvPr>
        </p:nvSpPr>
        <p:spPr>
          <a:xfrm>
            <a:off x="838200" y="365126"/>
            <a:ext cx="10515600" cy="933836"/>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0284F7C-51EC-8A40-9E2F-D9D9128C9AD8}"/>
              </a:ext>
            </a:extLst>
          </p:cNvPr>
          <p:cNvSpPr>
            <a:spLocks noGrp="1"/>
          </p:cNvSpPr>
          <p:nvPr>
            <p:ph type="body" idx="1"/>
          </p:nvPr>
        </p:nvSpPr>
        <p:spPr>
          <a:xfrm>
            <a:off x="838200" y="1512606"/>
            <a:ext cx="10515600" cy="4664357"/>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Rectangle 9">
            <a:extLst>
              <a:ext uri="{FF2B5EF4-FFF2-40B4-BE49-F238E27FC236}">
                <a16:creationId xmlns:a16="http://schemas.microsoft.com/office/drawing/2014/main" id="{A846A84D-B7D0-F045-A6B0-868A1238B952}"/>
              </a:ext>
            </a:extLst>
          </p:cNvPr>
          <p:cNvSpPr/>
          <p:nvPr userDrawn="1"/>
        </p:nvSpPr>
        <p:spPr>
          <a:xfrm>
            <a:off x="435429" y="6209960"/>
            <a:ext cx="11353800" cy="157389"/>
          </a:xfrm>
          <a:prstGeom prst="rect">
            <a:avLst/>
          </a:prstGeom>
          <a:solidFill>
            <a:srgbClr val="A8BF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ooter Placeholder 9">
            <a:extLst>
              <a:ext uri="{FF2B5EF4-FFF2-40B4-BE49-F238E27FC236}">
                <a16:creationId xmlns:a16="http://schemas.microsoft.com/office/drawing/2014/main" id="{25E85631-C1F0-6AB5-6808-AE8E3687F028}"/>
              </a:ext>
            </a:extLst>
          </p:cNvPr>
          <p:cNvSpPr txBox="1">
            <a:spLocks/>
          </p:cNvSpPr>
          <p:nvPr userDrawn="1"/>
        </p:nvSpPr>
        <p:spPr>
          <a:xfrm>
            <a:off x="435429" y="6396280"/>
            <a:ext cx="4114800" cy="365125"/>
          </a:xfrm>
          <a:prstGeom prst="rect">
            <a:avLst/>
          </a:prstGeom>
        </p:spPr>
        <p:txBody>
          <a:bodyPr vert="horz" lIns="91440" tIns="45720" rIns="91440" bIns="45720" rtlCol="0" anchor="ctr"/>
          <a:lstStyle>
            <a:defPPr>
              <a:defRPr lang="en-US"/>
            </a:defPPr>
            <a:lvl1pPr marL="0" algn="l" defTabSz="914400" rtl="0" eaLnBrk="1" latinLnBrk="0" hangingPunct="1">
              <a:defRPr sz="1200" i="1"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©copyright, Heriot-Watt University, 2024</a:t>
            </a:r>
          </a:p>
        </p:txBody>
      </p:sp>
    </p:spTree>
    <p:extLst>
      <p:ext uri="{BB962C8B-B14F-4D97-AF65-F5344CB8AC3E}">
        <p14:creationId xmlns:p14="http://schemas.microsoft.com/office/powerpoint/2010/main" val="1136352026"/>
      </p:ext>
    </p:extLst>
  </p:cSld>
  <p:clrMap bg1="lt1" tx1="dk1" bg2="lt2" tx2="dk2" accent1="accent1" accent2="accent2" accent3="accent3" accent4="accent4" accent5="accent5" accent6="accent6" hlink="hlink" folHlink="folHlink"/>
  <p:sldLayoutIdLst>
    <p:sldLayoutId id="2147483701" r:id="rId1"/>
    <p:sldLayoutId id="2147483702" r:id="rId2"/>
    <p:sldLayoutId id="2147483703" r:id="rId3"/>
    <p:sldLayoutId id="2147483704" r:id="rId4"/>
    <p:sldLayoutId id="2147483705" r:id="rId5"/>
  </p:sldLayoutIdLst>
  <p:txStyles>
    <p:titleStyle>
      <a:lvl1pPr algn="l" defTabSz="914400" rtl="0" eaLnBrk="1" latinLnBrk="0" hangingPunct="1">
        <a:lnSpc>
          <a:spcPct val="90000"/>
        </a:lnSpc>
        <a:spcBef>
          <a:spcPct val="0"/>
        </a:spcBef>
        <a:buNone/>
        <a:defRPr sz="4000" b="1" i="0" kern="1200">
          <a:solidFill>
            <a:srgbClr val="003554"/>
          </a:solidFill>
          <a:latin typeface="Helvetica" pitchFamily="2"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b="0" i="0" kern="1200">
          <a:solidFill>
            <a:srgbClr val="003554"/>
          </a:solidFill>
          <a:latin typeface="Helvetica"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b="0" i="0" kern="1200">
          <a:solidFill>
            <a:srgbClr val="003554"/>
          </a:solidFill>
          <a:latin typeface="Helvetica"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b="0" i="0" kern="1200">
          <a:solidFill>
            <a:srgbClr val="003554"/>
          </a:solidFill>
          <a:latin typeface="Helvetica"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b="0" i="0" kern="1200">
          <a:solidFill>
            <a:srgbClr val="003554"/>
          </a:solidFill>
          <a:latin typeface="Helvetica"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b="0" i="0" kern="1200">
          <a:solidFill>
            <a:srgbClr val="003554"/>
          </a:solidFill>
          <a:latin typeface="Helvetica"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BAFB79C-5835-3543-8381-8734D27052A7}"/>
              </a:ext>
            </a:extLst>
          </p:cNvPr>
          <p:cNvSpPr>
            <a:spLocks noGrp="1"/>
          </p:cNvSpPr>
          <p:nvPr>
            <p:ph type="title"/>
          </p:nvPr>
        </p:nvSpPr>
        <p:spPr>
          <a:xfrm>
            <a:off x="838200" y="365126"/>
            <a:ext cx="10515600" cy="86172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5ACF438-A80D-BE47-84AD-E72B7C69338B}"/>
              </a:ext>
            </a:extLst>
          </p:cNvPr>
          <p:cNvSpPr>
            <a:spLocks noGrp="1"/>
          </p:cNvSpPr>
          <p:nvPr>
            <p:ph type="body" idx="1"/>
          </p:nvPr>
        </p:nvSpPr>
        <p:spPr>
          <a:xfrm>
            <a:off x="838200" y="1452786"/>
            <a:ext cx="10515600" cy="472417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Rectangle 7">
            <a:extLst>
              <a:ext uri="{FF2B5EF4-FFF2-40B4-BE49-F238E27FC236}">
                <a16:creationId xmlns:a16="http://schemas.microsoft.com/office/drawing/2014/main" id="{4B072A16-2AE9-5940-935E-05B1B4DF81F7}"/>
              </a:ext>
            </a:extLst>
          </p:cNvPr>
          <p:cNvSpPr/>
          <p:nvPr userDrawn="1"/>
        </p:nvSpPr>
        <p:spPr>
          <a:xfrm>
            <a:off x="435429" y="6209960"/>
            <a:ext cx="11353800" cy="157389"/>
          </a:xfrm>
          <a:prstGeom prst="rect">
            <a:avLst/>
          </a:prstGeom>
          <a:solidFill>
            <a:srgbClr val="A8BF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F0B49433-1A9F-8E1D-5118-64124EE451F1}"/>
              </a:ext>
            </a:extLst>
          </p:cNvPr>
          <p:cNvPicPr>
            <a:picLocks noChangeAspect="1"/>
          </p:cNvPicPr>
          <p:nvPr userDrawn="1"/>
        </p:nvPicPr>
        <p:blipFill>
          <a:blip r:embed="rId7"/>
          <a:stretch>
            <a:fillRect/>
          </a:stretch>
        </p:blipFill>
        <p:spPr>
          <a:xfrm>
            <a:off x="8474696" y="5403214"/>
            <a:ext cx="2879104" cy="646423"/>
          </a:xfrm>
          <a:prstGeom prst="rect">
            <a:avLst/>
          </a:prstGeom>
        </p:spPr>
      </p:pic>
      <p:sp>
        <p:nvSpPr>
          <p:cNvPr id="10" name="Footer Placeholder 9">
            <a:extLst>
              <a:ext uri="{FF2B5EF4-FFF2-40B4-BE49-F238E27FC236}">
                <a16:creationId xmlns:a16="http://schemas.microsoft.com/office/drawing/2014/main" id="{4AF306E5-725E-82E6-45E7-7A66599A9EDC}"/>
              </a:ext>
            </a:extLst>
          </p:cNvPr>
          <p:cNvSpPr>
            <a:spLocks noGrp="1"/>
          </p:cNvSpPr>
          <p:nvPr>
            <p:ph type="ftr" sz="quarter" idx="3"/>
          </p:nvPr>
        </p:nvSpPr>
        <p:spPr>
          <a:xfrm>
            <a:off x="435429" y="6396280"/>
            <a:ext cx="4114800" cy="365125"/>
          </a:xfrm>
          <a:prstGeom prst="rect">
            <a:avLst/>
          </a:prstGeom>
        </p:spPr>
        <p:txBody>
          <a:bodyPr vert="horz" lIns="91440" tIns="45720" rIns="91440" bIns="45720" rtlCol="0" anchor="ctr"/>
          <a:lstStyle>
            <a:lvl1pPr algn="l">
              <a:defRPr sz="1200" i="1">
                <a:solidFill>
                  <a:schemeClr val="tx1">
                    <a:tint val="82000"/>
                  </a:schemeClr>
                </a:solidFill>
              </a:defRPr>
            </a:lvl1pPr>
          </a:lstStyle>
          <a:p>
            <a:r>
              <a:rPr lang="en-US"/>
              <a:t>©copyright, Heriot-Watt University, 2024</a:t>
            </a:r>
          </a:p>
        </p:txBody>
      </p:sp>
    </p:spTree>
    <p:extLst>
      <p:ext uri="{BB962C8B-B14F-4D97-AF65-F5344CB8AC3E}">
        <p14:creationId xmlns:p14="http://schemas.microsoft.com/office/powerpoint/2010/main" val="976642351"/>
      </p:ext>
    </p:extLst>
  </p:cSld>
  <p:clrMap bg1="lt1" tx1="dk1" bg2="lt2" tx2="dk2" accent1="accent1" accent2="accent2" accent3="accent3" accent4="accent4" accent5="accent5" accent6="accent6" hlink="hlink" folHlink="folHlink"/>
  <p:sldLayoutIdLst>
    <p:sldLayoutId id="2147483693" r:id="rId1"/>
    <p:sldLayoutId id="2147483694" r:id="rId2"/>
    <p:sldLayoutId id="2147483695" r:id="rId3"/>
    <p:sldLayoutId id="2147483696" r:id="rId4"/>
    <p:sldLayoutId id="2147483699" r:id="rId5"/>
  </p:sldLayoutIdLst>
  <p:txStyles>
    <p:titleStyle>
      <a:lvl1pPr algn="l" defTabSz="914400" rtl="0" eaLnBrk="1" latinLnBrk="0" hangingPunct="1">
        <a:lnSpc>
          <a:spcPct val="90000"/>
        </a:lnSpc>
        <a:spcBef>
          <a:spcPct val="0"/>
        </a:spcBef>
        <a:buNone/>
        <a:defRPr sz="4000" b="1" i="0" kern="1200">
          <a:solidFill>
            <a:schemeClr val="tx1"/>
          </a:solidFill>
          <a:latin typeface="Helvetica" pitchFamily="2"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b="0" i="0" kern="1200">
          <a:solidFill>
            <a:schemeClr val="tx1"/>
          </a:solidFill>
          <a:latin typeface="Helvetica"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Helvetica"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Helvetica"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solidFill>
          <a:latin typeface="Helvetica"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solidFill>
          <a:latin typeface="Helvetica"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BAFB79C-5835-3543-8381-8734D27052A7}"/>
              </a:ext>
            </a:extLst>
          </p:cNvPr>
          <p:cNvSpPr>
            <a:spLocks noGrp="1"/>
          </p:cNvSpPr>
          <p:nvPr>
            <p:ph type="title"/>
          </p:nvPr>
        </p:nvSpPr>
        <p:spPr>
          <a:xfrm>
            <a:off x="838200" y="365126"/>
            <a:ext cx="10515600" cy="908198"/>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5ACF438-A80D-BE47-84AD-E72B7C69338B}"/>
              </a:ext>
            </a:extLst>
          </p:cNvPr>
          <p:cNvSpPr>
            <a:spLocks noGrp="1"/>
          </p:cNvSpPr>
          <p:nvPr>
            <p:ph type="body" idx="1"/>
          </p:nvPr>
        </p:nvSpPr>
        <p:spPr>
          <a:xfrm>
            <a:off x="838200" y="1555335"/>
            <a:ext cx="10515600" cy="462162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Rectangle 7">
            <a:extLst>
              <a:ext uri="{FF2B5EF4-FFF2-40B4-BE49-F238E27FC236}">
                <a16:creationId xmlns:a16="http://schemas.microsoft.com/office/drawing/2014/main" id="{4B072A16-2AE9-5940-935E-05B1B4DF81F7}"/>
              </a:ext>
            </a:extLst>
          </p:cNvPr>
          <p:cNvSpPr/>
          <p:nvPr userDrawn="1"/>
        </p:nvSpPr>
        <p:spPr>
          <a:xfrm>
            <a:off x="435429" y="6209960"/>
            <a:ext cx="11353800" cy="157389"/>
          </a:xfrm>
          <a:prstGeom prst="rect">
            <a:avLst/>
          </a:prstGeom>
          <a:solidFill>
            <a:srgbClr val="A8BF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Footer Placeholder 9">
            <a:extLst>
              <a:ext uri="{FF2B5EF4-FFF2-40B4-BE49-F238E27FC236}">
                <a16:creationId xmlns:a16="http://schemas.microsoft.com/office/drawing/2014/main" id="{E97C69A4-4F15-CC92-27AF-8510A81068D3}"/>
              </a:ext>
            </a:extLst>
          </p:cNvPr>
          <p:cNvSpPr txBox="1">
            <a:spLocks/>
          </p:cNvSpPr>
          <p:nvPr userDrawn="1"/>
        </p:nvSpPr>
        <p:spPr>
          <a:xfrm>
            <a:off x="435429" y="6396280"/>
            <a:ext cx="4114800" cy="365125"/>
          </a:xfrm>
          <a:prstGeom prst="rect">
            <a:avLst/>
          </a:prstGeom>
        </p:spPr>
        <p:txBody>
          <a:bodyPr vert="horz" lIns="91440" tIns="45720" rIns="91440" bIns="45720" rtlCol="0" anchor="ctr"/>
          <a:lstStyle>
            <a:defPPr>
              <a:defRPr lang="en-US"/>
            </a:defPPr>
            <a:lvl1pPr marL="0" algn="l" defTabSz="914400" rtl="0" eaLnBrk="1" latinLnBrk="0" hangingPunct="1">
              <a:defRPr sz="1200" i="1"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©copyright, Heriot-Watt University, 2024</a:t>
            </a:r>
          </a:p>
        </p:txBody>
      </p:sp>
    </p:spTree>
    <p:extLst>
      <p:ext uri="{BB962C8B-B14F-4D97-AF65-F5344CB8AC3E}">
        <p14:creationId xmlns:p14="http://schemas.microsoft.com/office/powerpoint/2010/main" val="3835521297"/>
      </p:ext>
    </p:extLst>
  </p:cSld>
  <p:clrMap bg1="lt1" tx1="dk1" bg2="lt2" tx2="dk2" accent1="accent1" accent2="accent2" accent3="accent3" accent4="accent4" accent5="accent5" accent6="accent6" hlink="hlink" folHlink="folHlink"/>
  <p:sldLayoutIdLst>
    <p:sldLayoutId id="2147483707" r:id="rId1"/>
    <p:sldLayoutId id="2147483708" r:id="rId2"/>
    <p:sldLayoutId id="2147483709" r:id="rId3"/>
    <p:sldLayoutId id="2147483710" r:id="rId4"/>
    <p:sldLayoutId id="2147483711" r:id="rId5"/>
    <p:sldLayoutId id="2147483722" r:id="rId6"/>
  </p:sldLayoutIdLst>
  <p:txStyles>
    <p:titleStyle>
      <a:lvl1pPr algn="l" defTabSz="914400" rtl="0" eaLnBrk="1" latinLnBrk="0" hangingPunct="1">
        <a:lnSpc>
          <a:spcPct val="90000"/>
        </a:lnSpc>
        <a:spcBef>
          <a:spcPct val="0"/>
        </a:spcBef>
        <a:buNone/>
        <a:defRPr sz="4000" b="1" i="0" kern="1200">
          <a:solidFill>
            <a:schemeClr val="tx1"/>
          </a:solidFill>
          <a:latin typeface="Helvetica" pitchFamily="2"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b="0" i="0" kern="1200">
          <a:solidFill>
            <a:schemeClr val="tx1"/>
          </a:solidFill>
          <a:latin typeface="Helvetica"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Helvetica"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Helvetica"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solidFill>
          <a:latin typeface="Helvetica"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solidFill>
          <a:latin typeface="Helvetica"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BAFB79C-5835-3543-8381-8734D27052A7}"/>
              </a:ext>
            </a:extLst>
          </p:cNvPr>
          <p:cNvSpPr>
            <a:spLocks noGrp="1"/>
          </p:cNvSpPr>
          <p:nvPr>
            <p:ph type="title"/>
          </p:nvPr>
        </p:nvSpPr>
        <p:spPr>
          <a:xfrm>
            <a:off x="838200" y="365126"/>
            <a:ext cx="10515600" cy="908198"/>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5ACF438-A80D-BE47-84AD-E72B7C69338B}"/>
              </a:ext>
            </a:extLst>
          </p:cNvPr>
          <p:cNvSpPr>
            <a:spLocks noGrp="1"/>
          </p:cNvSpPr>
          <p:nvPr>
            <p:ph type="body" idx="1"/>
          </p:nvPr>
        </p:nvSpPr>
        <p:spPr>
          <a:xfrm>
            <a:off x="838200" y="1555335"/>
            <a:ext cx="10515600" cy="462162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9">
            <a:extLst>
              <a:ext uri="{FF2B5EF4-FFF2-40B4-BE49-F238E27FC236}">
                <a16:creationId xmlns:a16="http://schemas.microsoft.com/office/drawing/2014/main" id="{E97C69A4-4F15-CC92-27AF-8510A81068D3}"/>
              </a:ext>
            </a:extLst>
          </p:cNvPr>
          <p:cNvSpPr txBox="1">
            <a:spLocks/>
          </p:cNvSpPr>
          <p:nvPr userDrawn="1"/>
        </p:nvSpPr>
        <p:spPr>
          <a:xfrm>
            <a:off x="435429" y="6396280"/>
            <a:ext cx="4114800" cy="365125"/>
          </a:xfrm>
          <a:prstGeom prst="rect">
            <a:avLst/>
          </a:prstGeom>
        </p:spPr>
        <p:txBody>
          <a:bodyPr vert="horz" lIns="91440" tIns="45720" rIns="91440" bIns="45720" rtlCol="0" anchor="ctr"/>
          <a:lstStyle>
            <a:defPPr>
              <a:defRPr lang="en-US"/>
            </a:defPPr>
            <a:lvl1pPr marL="0" algn="l" defTabSz="914400" rtl="0" eaLnBrk="1" latinLnBrk="0" hangingPunct="1">
              <a:defRPr sz="1200" i="1"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©copyright, Heriot-Watt University, 2024</a:t>
            </a:r>
          </a:p>
        </p:txBody>
      </p:sp>
    </p:spTree>
    <p:extLst>
      <p:ext uri="{BB962C8B-B14F-4D97-AF65-F5344CB8AC3E}">
        <p14:creationId xmlns:p14="http://schemas.microsoft.com/office/powerpoint/2010/main" val="2983495326"/>
      </p:ext>
    </p:extLst>
  </p:cSld>
  <p:clrMap bg1="lt1" tx1="dk1" bg2="lt2" tx2="dk2" accent1="accent1" accent2="accent2" accent3="accent3" accent4="accent4" accent5="accent5" accent6="accent6" hlink="hlink" folHlink="folHlink"/>
  <p:sldLayoutIdLst>
    <p:sldLayoutId id="2147483719" r:id="rId1"/>
    <p:sldLayoutId id="2147483720" r:id="rId2"/>
    <p:sldLayoutId id="2147483721" r:id="rId3"/>
  </p:sldLayoutIdLst>
  <p:txStyles>
    <p:titleStyle>
      <a:lvl1pPr algn="l" defTabSz="914400" rtl="0" eaLnBrk="1" latinLnBrk="0" hangingPunct="1">
        <a:lnSpc>
          <a:spcPct val="90000"/>
        </a:lnSpc>
        <a:spcBef>
          <a:spcPct val="0"/>
        </a:spcBef>
        <a:buNone/>
        <a:defRPr sz="4000" b="1" i="0" kern="1200">
          <a:solidFill>
            <a:schemeClr val="tx1"/>
          </a:solidFill>
          <a:latin typeface="Helvetica" pitchFamily="2"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b="0" i="0" kern="1200">
          <a:solidFill>
            <a:schemeClr val="tx1"/>
          </a:solidFill>
          <a:latin typeface="Helvetica"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Helvetica"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Helvetica"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solidFill>
          <a:latin typeface="Helvetica"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solidFill>
          <a:latin typeface="Helvetica"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5.xml.rels><?xml version="1.0" encoding="UTF-8" standalone="yes"?>
<Relationships xmlns="http://schemas.openxmlformats.org/package/2006/relationships"><Relationship Id="rId2" Type="http://schemas.openxmlformats.org/officeDocument/2006/relationships/slide" Target="slide51.xml"/><Relationship Id="rId1" Type="http://schemas.openxmlformats.org/officeDocument/2006/relationships/slideLayout" Target="../slideLayouts/slideLayout2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8.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0.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2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2.xml"/></Relationships>
</file>

<file path=ppt/slides/_rels/slide13.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2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21.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2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5.xml"/></Relationships>
</file>

<file path=ppt/slides/_rels/slide30.xml.rels><?xml version="1.0" encoding="UTF-8" standalone="yes"?>
<Relationships xmlns="http://schemas.openxmlformats.org/package/2006/relationships"><Relationship Id="rId3" Type="http://schemas.openxmlformats.org/officeDocument/2006/relationships/hyperlink" Target="http://ec.europa.eu/economy_finance/ameco/user/serie/SelectSerie.cfm" TargetMode="External"/><Relationship Id="rId2" Type="http://schemas.openxmlformats.org/officeDocument/2006/relationships/notesSlide" Target="../notesSlides/notesSlide7.xml"/><Relationship Id="rId1" Type="http://schemas.openxmlformats.org/officeDocument/2006/relationships/slideLayout" Target="../slideLayouts/slideLayout25.xml"/><Relationship Id="rId4" Type="http://schemas.openxmlformats.org/officeDocument/2006/relationships/chart" Target="../charts/chart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2.xml"/></Relationships>
</file>

<file path=ppt/slides/_rels/slide32.xml.rels><?xml version="1.0" encoding="UTF-8" standalone="yes"?>
<Relationships xmlns="http://schemas.openxmlformats.org/package/2006/relationships"><Relationship Id="rId3" Type="http://schemas.openxmlformats.org/officeDocument/2006/relationships/oleObject" Target="../embeddings/oleObject1.bin"/><Relationship Id="rId7" Type="http://schemas.openxmlformats.org/officeDocument/2006/relationships/image" Target="../media/image5.wmf"/><Relationship Id="rId2" Type="http://schemas.openxmlformats.org/officeDocument/2006/relationships/notesSlide" Target="../notesSlides/notesSlide9.xml"/><Relationship Id="rId1" Type="http://schemas.openxmlformats.org/officeDocument/2006/relationships/slideLayout" Target="../slideLayouts/slideLayout22.xml"/><Relationship Id="rId6" Type="http://schemas.openxmlformats.org/officeDocument/2006/relationships/oleObject" Target="../embeddings/oleObject2.bin"/><Relationship Id="rId5" Type="http://schemas.openxmlformats.org/officeDocument/2006/relationships/image" Target="../media/image4.jpeg"/><Relationship Id="rId4" Type="http://schemas.openxmlformats.org/officeDocument/2006/relationships/image" Target="../media/image3.wmf"/></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2.xml"/></Relationships>
</file>

<file path=ppt/slides/_rels/slide34.xml.rels><?xml version="1.0" encoding="UTF-8" standalone="yes"?>
<Relationships xmlns="http://schemas.openxmlformats.org/package/2006/relationships"><Relationship Id="rId3" Type="http://schemas.openxmlformats.org/officeDocument/2006/relationships/image" Target="../media/image4.jpeg"/><Relationship Id="rId7" Type="http://schemas.openxmlformats.org/officeDocument/2006/relationships/image" Target="../media/image5.wmf"/><Relationship Id="rId2" Type="http://schemas.openxmlformats.org/officeDocument/2006/relationships/notesSlide" Target="../notesSlides/notesSlide11.xml"/><Relationship Id="rId1" Type="http://schemas.openxmlformats.org/officeDocument/2006/relationships/slideLayout" Target="../slideLayouts/slideLayout22.xml"/><Relationship Id="rId6" Type="http://schemas.openxmlformats.org/officeDocument/2006/relationships/oleObject" Target="../embeddings/oleObject2.bin"/><Relationship Id="rId5" Type="http://schemas.openxmlformats.org/officeDocument/2006/relationships/image" Target="../media/image3.wmf"/><Relationship Id="rId4" Type="http://schemas.openxmlformats.org/officeDocument/2006/relationships/oleObject" Target="../embeddings/oleObject1.bin"/></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6.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6.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6.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5.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5.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5.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6.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2.xml"/></Relationships>
</file>

<file path=ppt/slides/_rels/slide53.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notesSlide" Target="../notesSlides/notesSlide27.xml"/><Relationship Id="rId1" Type="http://schemas.openxmlformats.org/officeDocument/2006/relationships/slideLayout" Target="../slideLayouts/slideLayout26.xml"/><Relationship Id="rId6" Type="http://schemas.openxmlformats.org/officeDocument/2006/relationships/image" Target="../media/image5.wmf"/><Relationship Id="rId5" Type="http://schemas.openxmlformats.org/officeDocument/2006/relationships/oleObject" Target="../embeddings/oleObject4.bin"/><Relationship Id="rId4" Type="http://schemas.openxmlformats.org/officeDocument/2006/relationships/image" Target="../media/image3.wmf"/></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2.xml"/></Relationships>
</file>

<file path=ppt/slides/_rels/slide57.xml.rels><?xml version="1.0" encoding="UTF-8" standalone="yes"?>
<Relationships xmlns="http://schemas.openxmlformats.org/package/2006/relationships"><Relationship Id="rId3" Type="http://schemas.openxmlformats.org/officeDocument/2006/relationships/package" Target="../embeddings/Microsoft_Word_Document.docx"/><Relationship Id="rId2" Type="http://schemas.openxmlformats.org/officeDocument/2006/relationships/notesSlide" Target="../notesSlides/notesSlide31.xml"/><Relationship Id="rId1" Type="http://schemas.openxmlformats.org/officeDocument/2006/relationships/slideLayout" Target="../slideLayouts/slideLayout22.xml"/><Relationship Id="rId5" Type="http://schemas.openxmlformats.org/officeDocument/2006/relationships/hyperlink" Target="https://www.ons.gov.uk/economy/grossdomesticproductgdp/datasets/unitedkingdomeconomicaccounts" TargetMode="External"/><Relationship Id="rId4" Type="http://schemas.openxmlformats.org/officeDocument/2006/relationships/image" Target="../media/image6.emf"/></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2.xml"/></Relationships>
</file>

<file path=ppt/slides/_rels/slide59.xml.rels><?xml version="1.0" encoding="UTF-8" standalone="yes"?>
<Relationships xmlns="http://schemas.openxmlformats.org/package/2006/relationships"><Relationship Id="rId3" Type="http://schemas.openxmlformats.org/officeDocument/2006/relationships/package" Target="../embeddings/Microsoft_Word_Document5.docx"/><Relationship Id="rId2" Type="http://schemas.openxmlformats.org/officeDocument/2006/relationships/notesSlide" Target="../notesSlides/notesSlide33.xml"/><Relationship Id="rId1" Type="http://schemas.openxmlformats.org/officeDocument/2006/relationships/slideLayout" Target="../slideLayouts/slideLayout22.xml"/><Relationship Id="rId5" Type="http://schemas.openxmlformats.org/officeDocument/2006/relationships/hyperlink" Target="https://www.ons.gov.uk/economy/grossdomesticproductgdp/datasets/unitedkingdomeconomicaccounts" TargetMode="External"/><Relationship Id="rId4" Type="http://schemas.openxmlformats.org/officeDocument/2006/relationships/image" Target="../media/image7.w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2BCAE0-399B-84E2-6473-4B4AD7203AF1}"/>
              </a:ext>
            </a:extLst>
          </p:cNvPr>
          <p:cNvSpPr>
            <a:spLocks noGrp="1"/>
          </p:cNvSpPr>
          <p:nvPr>
            <p:ph type="ctrTitle"/>
          </p:nvPr>
        </p:nvSpPr>
        <p:spPr/>
        <p:txBody>
          <a:bodyPr>
            <a:normAutofit/>
          </a:bodyPr>
          <a:lstStyle/>
          <a:p>
            <a:r>
              <a:rPr lang="en-GB" sz="5000" dirty="0"/>
              <a:t>C29PE Economics for Professionals</a:t>
            </a:r>
          </a:p>
        </p:txBody>
      </p:sp>
      <p:sp>
        <p:nvSpPr>
          <p:cNvPr id="3" name="Subtitle 2">
            <a:extLst>
              <a:ext uri="{FF2B5EF4-FFF2-40B4-BE49-F238E27FC236}">
                <a16:creationId xmlns:a16="http://schemas.microsoft.com/office/drawing/2014/main" id="{492700F6-CF37-8E0A-DA52-38A84466492D}"/>
              </a:ext>
            </a:extLst>
          </p:cNvPr>
          <p:cNvSpPr>
            <a:spLocks noGrp="1"/>
          </p:cNvSpPr>
          <p:nvPr>
            <p:ph type="subTitle" idx="1"/>
          </p:nvPr>
        </p:nvSpPr>
        <p:spPr/>
        <p:txBody>
          <a:bodyPr/>
          <a:lstStyle/>
          <a:p>
            <a:r>
              <a:rPr lang="en-GB" altLang="en-US" sz="2400" dirty="0"/>
              <a:t>Week 8 – </a:t>
            </a:r>
            <a:r>
              <a:rPr lang="en-GB" altLang="en-US" dirty="0"/>
              <a:t>The Economy as a System</a:t>
            </a:r>
            <a:endParaRPr lang="en-GB" altLang="en-US" sz="2400" dirty="0"/>
          </a:p>
          <a:p>
            <a:r>
              <a:rPr lang="en-GB" altLang="en-US" sz="2000" dirty="0"/>
              <a:t>Sloman </a:t>
            </a:r>
            <a:r>
              <a:rPr lang="en-GB" altLang="en-US" sz="2000" i="1" dirty="0"/>
              <a:t>et al</a:t>
            </a:r>
            <a:r>
              <a:rPr lang="en-GB" altLang="en-US" sz="2000" dirty="0"/>
              <a:t>., 2023, Chapter 29 </a:t>
            </a:r>
            <a:endParaRPr lang="en-GB" dirty="0"/>
          </a:p>
        </p:txBody>
      </p:sp>
    </p:spTree>
    <p:extLst>
      <p:ext uri="{BB962C8B-B14F-4D97-AF65-F5344CB8AC3E}">
        <p14:creationId xmlns:p14="http://schemas.microsoft.com/office/powerpoint/2010/main" val="15562097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CD469A-482A-6AA1-B654-2A0291684685}"/>
              </a:ext>
            </a:extLst>
          </p:cNvPr>
          <p:cNvSpPr>
            <a:spLocks noGrp="1"/>
          </p:cNvSpPr>
          <p:nvPr>
            <p:ph type="title"/>
          </p:nvPr>
        </p:nvSpPr>
        <p:spPr/>
        <p:txBody>
          <a:bodyPr/>
          <a:lstStyle/>
          <a:p>
            <a:endParaRPr lang="en-MY" dirty="0"/>
          </a:p>
        </p:txBody>
      </p:sp>
      <p:sp>
        <p:nvSpPr>
          <p:cNvPr id="3" name="Content Placeholder 2">
            <a:extLst>
              <a:ext uri="{FF2B5EF4-FFF2-40B4-BE49-F238E27FC236}">
                <a16:creationId xmlns:a16="http://schemas.microsoft.com/office/drawing/2014/main" id="{26068D52-6276-4F36-8569-8B0B87E697B9}"/>
              </a:ext>
            </a:extLst>
          </p:cNvPr>
          <p:cNvSpPr>
            <a:spLocks noGrp="1"/>
          </p:cNvSpPr>
          <p:nvPr>
            <p:ph idx="1"/>
          </p:nvPr>
        </p:nvSpPr>
        <p:spPr/>
        <p:txBody>
          <a:bodyPr/>
          <a:lstStyle/>
          <a:p>
            <a:pPr marL="0" indent="0">
              <a:buNone/>
            </a:pPr>
            <a:r>
              <a:rPr lang="en-MY" dirty="0"/>
              <a:t>Session Aims</a:t>
            </a:r>
            <a:endParaRPr lang="en-MY" sz="2000" dirty="0"/>
          </a:p>
          <a:p>
            <a:r>
              <a:rPr lang="en-MY" sz="2000" dirty="0"/>
              <a:t>To introduce key concepts and concerns in macroeconomics including economic growth, inflation, unemployment and business cycles</a:t>
            </a:r>
          </a:p>
          <a:p>
            <a:r>
              <a:rPr lang="en-MY" sz="2000" dirty="0"/>
              <a:t>To introduce the concept of national income as a method of measuring aggregate economic activity</a:t>
            </a:r>
          </a:p>
          <a:p>
            <a:r>
              <a:rPr lang="en-MY" sz="2000" dirty="0"/>
              <a:t>To identify the key macroeconomic policy objectives of the government</a:t>
            </a:r>
          </a:p>
          <a:p>
            <a:r>
              <a:rPr lang="en-MY" sz="2000" dirty="0"/>
              <a:t>To discuss and apply two macroeconomic frameworks, namely the circular flow of income and the aggregate demand-aggregate supply (AD-AS) model</a:t>
            </a:r>
          </a:p>
          <a:p>
            <a:pPr lvl="1"/>
            <a:endParaRPr lang="en-MY" dirty="0"/>
          </a:p>
          <a:p>
            <a:endParaRPr lang="en-MY" dirty="0"/>
          </a:p>
        </p:txBody>
      </p:sp>
    </p:spTree>
    <p:extLst>
      <p:ext uri="{BB962C8B-B14F-4D97-AF65-F5344CB8AC3E}">
        <p14:creationId xmlns:p14="http://schemas.microsoft.com/office/powerpoint/2010/main" val="20433690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CE8526-D4E2-3B02-226F-AC762A5C77FF}"/>
              </a:ext>
            </a:extLst>
          </p:cNvPr>
          <p:cNvSpPr>
            <a:spLocks noGrp="1"/>
          </p:cNvSpPr>
          <p:nvPr>
            <p:ph type="title"/>
          </p:nvPr>
        </p:nvSpPr>
        <p:spPr/>
        <p:txBody>
          <a:bodyPr/>
          <a:lstStyle/>
          <a:p>
            <a:r>
              <a:rPr lang="en-MY" dirty="0"/>
              <a:t>References</a:t>
            </a:r>
          </a:p>
        </p:txBody>
      </p:sp>
      <p:sp>
        <p:nvSpPr>
          <p:cNvPr id="3" name="Content Placeholder 2">
            <a:extLst>
              <a:ext uri="{FF2B5EF4-FFF2-40B4-BE49-F238E27FC236}">
                <a16:creationId xmlns:a16="http://schemas.microsoft.com/office/drawing/2014/main" id="{DEEFEBE0-DBF2-29D7-C4C6-F701E2695E99}"/>
              </a:ext>
            </a:extLst>
          </p:cNvPr>
          <p:cNvSpPr>
            <a:spLocks noGrp="1"/>
          </p:cNvSpPr>
          <p:nvPr>
            <p:ph idx="1"/>
          </p:nvPr>
        </p:nvSpPr>
        <p:spPr/>
        <p:txBody>
          <a:bodyPr>
            <a:normAutofit/>
          </a:bodyPr>
          <a:lstStyle/>
          <a:p>
            <a:r>
              <a:rPr lang="en-MY" dirty="0">
                <a:latin typeface="+mn-lt"/>
              </a:rPr>
              <a:t>Sloman et al (2023) </a:t>
            </a:r>
          </a:p>
          <a:p>
            <a:pPr lvl="1"/>
            <a:r>
              <a:rPr lang="en-MY" dirty="0">
                <a:latin typeface="+mn-lt"/>
              </a:rPr>
              <a:t>Chapter 29.1 – 29.5 </a:t>
            </a:r>
          </a:p>
          <a:p>
            <a:pPr lvl="1"/>
            <a:r>
              <a:rPr lang="en-MY" dirty="0">
                <a:latin typeface="+mn-lt"/>
              </a:rPr>
              <a:t>Box 29.1 	</a:t>
            </a:r>
          </a:p>
          <a:p>
            <a:pPr lvl="1"/>
            <a:endParaRPr lang="en-MY" dirty="0">
              <a:latin typeface="+mn-lt"/>
            </a:endParaRPr>
          </a:p>
          <a:p>
            <a:r>
              <a:rPr lang="en-MY" dirty="0">
                <a:highlight>
                  <a:srgbClr val="FFFF00"/>
                </a:highlight>
                <a:latin typeface="+mn-lt"/>
              </a:rPr>
              <a:t>Important!</a:t>
            </a:r>
          </a:p>
          <a:p>
            <a:pPr lvl="1"/>
            <a:r>
              <a:rPr lang="en-MY" dirty="0">
                <a:highlight>
                  <a:srgbClr val="FFFF00"/>
                </a:highlight>
                <a:latin typeface="+mn-lt"/>
              </a:rPr>
              <a:t>The PowerPoint slide deck for Week 8 lecture provides a guideline of the topics you need to know. However, the materials in the slide deck are insufficient if you wish to excel in the course</a:t>
            </a:r>
          </a:p>
          <a:p>
            <a:pPr lvl="1"/>
            <a:r>
              <a:rPr lang="en-MY" dirty="0">
                <a:highlight>
                  <a:srgbClr val="FFFF00"/>
                </a:highlight>
                <a:latin typeface="+mn-lt"/>
              </a:rPr>
              <a:t>To do well, please do not forget to read the relevant sections of the core textbook</a:t>
            </a:r>
          </a:p>
          <a:p>
            <a:pPr lvl="1"/>
            <a:r>
              <a:rPr lang="en-MY" dirty="0">
                <a:highlight>
                  <a:srgbClr val="FFFF00"/>
                </a:highlight>
                <a:latin typeface="+mn-lt"/>
              </a:rPr>
              <a:t>Please also ensure that you follow economics news regularly as these sources could be used as examples to supplement your answers during assessments</a:t>
            </a:r>
          </a:p>
          <a:p>
            <a:pPr marL="457200" lvl="1" indent="0">
              <a:buNone/>
            </a:pPr>
            <a:endParaRPr lang="en-MY" dirty="0"/>
          </a:p>
          <a:p>
            <a:pPr lvl="1"/>
            <a:endParaRPr lang="en-MY" dirty="0"/>
          </a:p>
        </p:txBody>
      </p:sp>
    </p:spTree>
    <p:extLst>
      <p:ext uri="{BB962C8B-B14F-4D97-AF65-F5344CB8AC3E}">
        <p14:creationId xmlns:p14="http://schemas.microsoft.com/office/powerpoint/2010/main" val="33073043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891A8E-D237-F233-ED71-F3C156E821B2}"/>
              </a:ext>
            </a:extLst>
          </p:cNvPr>
          <p:cNvSpPr>
            <a:spLocks noGrp="1"/>
          </p:cNvSpPr>
          <p:nvPr>
            <p:ph type="title"/>
          </p:nvPr>
        </p:nvSpPr>
        <p:spPr/>
        <p:txBody>
          <a:bodyPr/>
          <a:lstStyle/>
          <a:p>
            <a:pPr>
              <a:lnSpc>
                <a:spcPct val="95000"/>
              </a:lnSpc>
              <a:spcBef>
                <a:spcPts val="1000"/>
              </a:spcBef>
            </a:pPr>
            <a:r>
              <a:rPr lang="en-GB" altLang="en-US" sz="4000" dirty="0"/>
              <a:t>Macroeconomic policy objectives</a:t>
            </a:r>
          </a:p>
        </p:txBody>
      </p:sp>
      <p:sp>
        <p:nvSpPr>
          <p:cNvPr id="3" name="Content Placeholder 2">
            <a:extLst>
              <a:ext uri="{FF2B5EF4-FFF2-40B4-BE49-F238E27FC236}">
                <a16:creationId xmlns:a16="http://schemas.microsoft.com/office/drawing/2014/main" id="{CB5D0AC4-E7ED-5794-90AA-0268CEBC4465}"/>
              </a:ext>
            </a:extLst>
          </p:cNvPr>
          <p:cNvSpPr>
            <a:spLocks noGrp="1"/>
          </p:cNvSpPr>
          <p:nvPr>
            <p:ph idx="1"/>
          </p:nvPr>
        </p:nvSpPr>
        <p:spPr/>
        <p:txBody>
          <a:bodyPr>
            <a:normAutofit lnSpcReduction="10000"/>
          </a:bodyPr>
          <a:lstStyle/>
          <a:p>
            <a:pPr>
              <a:buFont typeface="Arial" panose="020B0604020202020204" pitchFamily="34" charset="0"/>
              <a:buChar char="•"/>
            </a:pPr>
            <a:r>
              <a:rPr lang="en-GB" sz="2600" dirty="0">
                <a:latin typeface="+mn-lt"/>
              </a:rPr>
              <a:t>High and stable economic </a:t>
            </a:r>
            <a:r>
              <a:rPr lang="en-GB" sz="2600" b="1" dirty="0">
                <a:latin typeface="+mn-lt"/>
              </a:rPr>
              <a:t>growth</a:t>
            </a:r>
            <a:r>
              <a:rPr lang="en-GB" sz="2600" dirty="0">
                <a:latin typeface="+mn-lt"/>
              </a:rPr>
              <a:t>. </a:t>
            </a:r>
          </a:p>
          <a:p>
            <a:pPr>
              <a:buFont typeface="Arial" panose="020B0604020202020204" pitchFamily="34" charset="0"/>
              <a:buChar char="•"/>
            </a:pPr>
            <a:r>
              <a:rPr lang="en-GB" sz="2600" dirty="0">
                <a:latin typeface="+mn-lt"/>
              </a:rPr>
              <a:t>Low </a:t>
            </a:r>
            <a:r>
              <a:rPr lang="en-GB" sz="2600" b="1" dirty="0">
                <a:latin typeface="+mn-lt"/>
              </a:rPr>
              <a:t>unemployment</a:t>
            </a:r>
            <a:r>
              <a:rPr lang="en-GB" sz="2600" dirty="0">
                <a:latin typeface="+mn-lt"/>
              </a:rPr>
              <a:t>. </a:t>
            </a:r>
          </a:p>
          <a:p>
            <a:pPr>
              <a:buFont typeface="Arial" panose="020B0604020202020204" pitchFamily="34" charset="0"/>
              <a:buChar char="•"/>
            </a:pPr>
            <a:r>
              <a:rPr lang="en-GB" sz="2600" dirty="0">
                <a:latin typeface="+mn-lt"/>
              </a:rPr>
              <a:t>Low rates of </a:t>
            </a:r>
            <a:r>
              <a:rPr lang="en-GB" sz="2600" b="1" dirty="0">
                <a:latin typeface="+mn-lt"/>
              </a:rPr>
              <a:t>inflation</a:t>
            </a:r>
            <a:r>
              <a:rPr lang="en-GB" sz="2600" dirty="0">
                <a:latin typeface="+mn-lt"/>
              </a:rPr>
              <a:t>. </a:t>
            </a:r>
          </a:p>
          <a:p>
            <a:pPr>
              <a:buFont typeface="Arial" panose="020B0604020202020204" pitchFamily="34" charset="0"/>
              <a:buChar char="•"/>
            </a:pPr>
            <a:r>
              <a:rPr lang="en-GB" sz="2600" dirty="0">
                <a:latin typeface="+mn-lt"/>
              </a:rPr>
              <a:t>The avoidance of </a:t>
            </a:r>
            <a:r>
              <a:rPr lang="en-GB" sz="2600" b="1" dirty="0">
                <a:latin typeface="+mn-lt"/>
              </a:rPr>
              <a:t>balance of payments </a:t>
            </a:r>
            <a:r>
              <a:rPr lang="en-GB" sz="2600" dirty="0">
                <a:latin typeface="+mn-lt"/>
              </a:rPr>
              <a:t>deficits and excessive exchange rate fluctuations (Week 11 lecture). </a:t>
            </a:r>
          </a:p>
          <a:p>
            <a:pPr>
              <a:buFont typeface="Arial" panose="020B0604020202020204" pitchFamily="34" charset="0"/>
              <a:buChar char="•"/>
            </a:pPr>
            <a:r>
              <a:rPr lang="en-GB" sz="2600" dirty="0">
                <a:latin typeface="+mn-lt"/>
              </a:rPr>
              <a:t>A stable </a:t>
            </a:r>
            <a:r>
              <a:rPr lang="en-GB" sz="2600" b="1" dirty="0">
                <a:latin typeface="+mn-lt"/>
              </a:rPr>
              <a:t>financial</a:t>
            </a:r>
            <a:r>
              <a:rPr lang="en-GB" sz="2600" dirty="0">
                <a:latin typeface="+mn-lt"/>
              </a:rPr>
              <a:t> system (Week 9 lecture). </a:t>
            </a:r>
          </a:p>
          <a:p>
            <a:r>
              <a:rPr lang="en-GB" sz="2600" dirty="0">
                <a:latin typeface="+mn-lt"/>
              </a:rPr>
              <a:t>The avoidance of excessively financially distressed sectors of the economy, including government (Week 9 lecture). </a:t>
            </a:r>
          </a:p>
          <a:p>
            <a:pPr>
              <a:buFont typeface="Arial" panose="020B0604020202020204" pitchFamily="34" charset="0"/>
              <a:buChar char="•"/>
            </a:pPr>
            <a:endParaRPr lang="en-GB" sz="2600" dirty="0">
              <a:latin typeface="+mn-lt"/>
            </a:endParaRPr>
          </a:p>
          <a:p>
            <a:pPr>
              <a:lnSpc>
                <a:spcPct val="95000"/>
              </a:lnSpc>
            </a:pPr>
            <a:r>
              <a:rPr lang="en-GB" sz="3000" b="1" dirty="0">
                <a:latin typeface="+mn-lt"/>
              </a:rPr>
              <a:t>Often objectives in conflict</a:t>
            </a:r>
          </a:p>
          <a:p>
            <a:endParaRPr lang="en-US" dirty="0"/>
          </a:p>
        </p:txBody>
      </p:sp>
    </p:spTree>
    <p:extLst>
      <p:ext uri="{BB962C8B-B14F-4D97-AF65-F5344CB8AC3E}">
        <p14:creationId xmlns:p14="http://schemas.microsoft.com/office/powerpoint/2010/main" val="11593083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176E4A-4510-574A-2319-33FB627813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D8E7C0-17B1-50D6-CA5C-61AA9DF6BBA8}"/>
              </a:ext>
            </a:extLst>
          </p:cNvPr>
          <p:cNvSpPr>
            <a:spLocks noGrp="1"/>
          </p:cNvSpPr>
          <p:nvPr>
            <p:ph type="title"/>
          </p:nvPr>
        </p:nvSpPr>
        <p:spPr/>
        <p:txBody>
          <a:bodyPr/>
          <a:lstStyle/>
          <a:p>
            <a:r>
              <a:rPr lang="en-GB" altLang="en-US" dirty="0"/>
              <a:t>Economic growth</a:t>
            </a:r>
            <a:endParaRPr lang="en-US" dirty="0"/>
          </a:p>
        </p:txBody>
      </p:sp>
      <p:sp>
        <p:nvSpPr>
          <p:cNvPr id="3" name="Content Placeholder 2">
            <a:extLst>
              <a:ext uri="{FF2B5EF4-FFF2-40B4-BE49-F238E27FC236}">
                <a16:creationId xmlns:a16="http://schemas.microsoft.com/office/drawing/2014/main" id="{ECB84FA2-8F5B-95DE-4A7F-51E8612FC4AF}"/>
              </a:ext>
            </a:extLst>
          </p:cNvPr>
          <p:cNvSpPr>
            <a:spLocks noGrp="1"/>
          </p:cNvSpPr>
          <p:nvPr>
            <p:ph idx="1"/>
          </p:nvPr>
        </p:nvSpPr>
        <p:spPr/>
        <p:txBody>
          <a:bodyPr>
            <a:normAutofit fontScale="92500" lnSpcReduction="10000"/>
          </a:bodyPr>
          <a:lstStyle/>
          <a:p>
            <a:pPr>
              <a:spcBef>
                <a:spcPts val="1200"/>
              </a:spcBef>
              <a:spcAft>
                <a:spcPts val="0"/>
              </a:spcAft>
            </a:pPr>
            <a:r>
              <a:rPr lang="en-GB" altLang="en-US" sz="2700" b="1" dirty="0">
                <a:latin typeface="+mn-lt"/>
              </a:rPr>
              <a:t>Economic growth </a:t>
            </a:r>
            <a:r>
              <a:rPr lang="en-GB" altLang="en-US" sz="2700" dirty="0">
                <a:latin typeface="+mn-lt"/>
              </a:rPr>
              <a:t>describes the rate of change in the level of an economy’s output from period to period (percentage change)</a:t>
            </a:r>
          </a:p>
          <a:p>
            <a:pPr>
              <a:spcBef>
                <a:spcPts val="1200"/>
              </a:spcBef>
              <a:spcAft>
                <a:spcPts val="0"/>
              </a:spcAft>
            </a:pPr>
            <a:endParaRPr lang="en-GB" altLang="en-US" sz="2700" dirty="0">
              <a:latin typeface="+mn-lt"/>
            </a:endParaRPr>
          </a:p>
          <a:p>
            <a:pPr>
              <a:spcBef>
                <a:spcPts val="1200"/>
              </a:spcBef>
              <a:spcAft>
                <a:spcPts val="0"/>
              </a:spcAft>
            </a:pPr>
            <a:r>
              <a:rPr lang="en-GB" altLang="en-US" sz="2700" dirty="0">
                <a:latin typeface="+mn-lt"/>
              </a:rPr>
              <a:t>Usually measured over short periods, such as </a:t>
            </a:r>
            <a:r>
              <a:rPr lang="en-GB" altLang="en-US" sz="2700" b="1" dirty="0">
                <a:latin typeface="+mn-lt"/>
              </a:rPr>
              <a:t>12 months or 3 months </a:t>
            </a:r>
          </a:p>
          <a:p>
            <a:pPr>
              <a:spcBef>
                <a:spcPts val="1200"/>
              </a:spcBef>
              <a:spcAft>
                <a:spcPts val="0"/>
              </a:spcAft>
            </a:pPr>
            <a:endParaRPr lang="en-GB" sz="2700" b="1" dirty="0">
              <a:effectLst/>
              <a:latin typeface="+mn-lt"/>
            </a:endParaRPr>
          </a:p>
          <a:p>
            <a:pPr>
              <a:spcBef>
                <a:spcPts val="1200"/>
              </a:spcBef>
              <a:spcAft>
                <a:spcPts val="0"/>
              </a:spcAft>
            </a:pPr>
            <a:r>
              <a:rPr lang="en-GB" sz="2700" dirty="0">
                <a:latin typeface="+mn-lt"/>
              </a:rPr>
              <a:t>How do we measure the value of a nation’s output? With the gross domestic product (</a:t>
            </a:r>
            <a:r>
              <a:rPr lang="en-GB" sz="2700" b="1" dirty="0">
                <a:latin typeface="+mn-lt"/>
              </a:rPr>
              <a:t>GDP</a:t>
            </a:r>
            <a:r>
              <a:rPr lang="en-GB" sz="2700" dirty="0">
                <a:latin typeface="+mn-lt"/>
              </a:rPr>
              <a:t>) (see section on ‘</a:t>
            </a:r>
            <a:r>
              <a:rPr lang="en-GB" sz="2700" dirty="0">
                <a:latin typeface="+mn-lt"/>
                <a:hlinkClick r:id="rId2" action="ppaction://hlinksldjump"/>
              </a:rPr>
              <a:t>Additional reading</a:t>
            </a:r>
            <a:r>
              <a:rPr lang="en-GB" sz="2700" dirty="0">
                <a:latin typeface="+mn-lt"/>
              </a:rPr>
              <a:t>’ on how to calculate GDP)</a:t>
            </a:r>
          </a:p>
          <a:p>
            <a:pPr>
              <a:spcBef>
                <a:spcPts val="1200"/>
              </a:spcBef>
              <a:spcAft>
                <a:spcPts val="0"/>
              </a:spcAft>
            </a:pPr>
            <a:endParaRPr lang="en-GB" sz="2700" dirty="0">
              <a:latin typeface="+mn-lt"/>
            </a:endParaRPr>
          </a:p>
          <a:p>
            <a:pPr>
              <a:spcBef>
                <a:spcPts val="1200"/>
              </a:spcBef>
              <a:spcAft>
                <a:spcPts val="0"/>
              </a:spcAft>
            </a:pPr>
            <a:r>
              <a:rPr lang="en-GB" sz="2700" dirty="0">
                <a:latin typeface="+mn-lt"/>
              </a:rPr>
              <a:t>To be able to compare changes in output from one period to the next we must eliminate those changes in GDP that result from changes in prices: we use </a:t>
            </a:r>
            <a:r>
              <a:rPr lang="en-GB" sz="2700" b="1" dirty="0">
                <a:latin typeface="+mn-lt"/>
              </a:rPr>
              <a:t>real GDP</a:t>
            </a:r>
          </a:p>
          <a:p>
            <a:endParaRPr lang="en-US" dirty="0"/>
          </a:p>
        </p:txBody>
      </p:sp>
    </p:spTree>
    <p:extLst>
      <p:ext uri="{BB962C8B-B14F-4D97-AF65-F5344CB8AC3E}">
        <p14:creationId xmlns:p14="http://schemas.microsoft.com/office/powerpoint/2010/main" val="1201891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1615E8-92EA-50AB-5C09-8B2B656B23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389694-AECB-5199-869D-D7C77FC45E20}"/>
              </a:ext>
            </a:extLst>
          </p:cNvPr>
          <p:cNvSpPr>
            <a:spLocks noGrp="1"/>
          </p:cNvSpPr>
          <p:nvPr>
            <p:ph type="title"/>
          </p:nvPr>
        </p:nvSpPr>
        <p:spPr/>
        <p:txBody>
          <a:bodyPr/>
          <a:lstStyle/>
          <a:p>
            <a:r>
              <a:rPr lang="en-GB" altLang="en-US" dirty="0"/>
              <a:t>Nominal vs real GDP</a:t>
            </a:r>
            <a:endParaRPr lang="en-US" dirty="0"/>
          </a:p>
        </p:txBody>
      </p:sp>
      <p:sp>
        <p:nvSpPr>
          <p:cNvPr id="3" name="Content Placeholder 2">
            <a:extLst>
              <a:ext uri="{FF2B5EF4-FFF2-40B4-BE49-F238E27FC236}">
                <a16:creationId xmlns:a16="http://schemas.microsoft.com/office/drawing/2014/main" id="{D1D16CAB-C2CC-7155-7FB4-FED8EEEC0721}"/>
              </a:ext>
            </a:extLst>
          </p:cNvPr>
          <p:cNvSpPr>
            <a:spLocks noGrp="1"/>
          </p:cNvSpPr>
          <p:nvPr>
            <p:ph idx="1"/>
          </p:nvPr>
        </p:nvSpPr>
        <p:spPr/>
        <p:txBody>
          <a:bodyPr>
            <a:normAutofit/>
          </a:bodyPr>
          <a:lstStyle/>
          <a:p>
            <a:pPr>
              <a:spcBef>
                <a:spcPts val="1200"/>
              </a:spcBef>
              <a:spcAft>
                <a:spcPts val="0"/>
              </a:spcAft>
            </a:pPr>
            <a:r>
              <a:rPr lang="en-GB" altLang="en-US" sz="2700" b="1" dirty="0">
                <a:latin typeface="+mn-lt"/>
                <a:cs typeface="Helvetica"/>
              </a:rPr>
              <a:t>Nominal GDP </a:t>
            </a:r>
            <a:r>
              <a:rPr lang="en-GB" altLang="en-US" sz="2700" dirty="0">
                <a:latin typeface="+mn-lt"/>
                <a:cs typeface="Helvetica"/>
              </a:rPr>
              <a:t>measures GDP in the prices of the time (also known as ‘current prices’). So, UK’s nominal GDP in 2024 is the value of the UK’s output at 2024 prices. </a:t>
            </a:r>
          </a:p>
          <a:p>
            <a:pPr lvl="1">
              <a:spcBef>
                <a:spcPts val="1200"/>
              </a:spcBef>
            </a:pPr>
            <a:r>
              <a:rPr lang="en-GB" altLang="en-US" sz="2300" dirty="0">
                <a:latin typeface="+mn-lt"/>
                <a:cs typeface="Helvetica"/>
              </a:rPr>
              <a:t>No account is made for the effect of inflation</a:t>
            </a:r>
          </a:p>
          <a:p>
            <a:pPr marL="457200" lvl="1" indent="0">
              <a:spcBef>
                <a:spcPts val="1200"/>
              </a:spcBef>
              <a:buNone/>
            </a:pPr>
            <a:endParaRPr lang="en-GB" altLang="en-US" sz="2300" dirty="0">
              <a:latin typeface="+mn-lt"/>
              <a:cs typeface="Helvetica"/>
            </a:endParaRPr>
          </a:p>
          <a:p>
            <a:pPr>
              <a:spcBef>
                <a:spcPts val="1200"/>
              </a:spcBef>
              <a:spcAft>
                <a:spcPts val="0"/>
              </a:spcAft>
            </a:pPr>
            <a:r>
              <a:rPr lang="en-GB" altLang="en-US" sz="2700" b="1" dirty="0">
                <a:latin typeface="+mn-lt"/>
                <a:cs typeface="Helvetica"/>
              </a:rPr>
              <a:t>Real GDP </a:t>
            </a:r>
            <a:r>
              <a:rPr lang="en-GB" altLang="en-US" sz="2700" dirty="0">
                <a:latin typeface="+mn-lt"/>
                <a:cs typeface="Helvetica"/>
              </a:rPr>
              <a:t>is adjusted for inflation. GDP is measured in the prices that ruled in some particular year – the </a:t>
            </a:r>
            <a:r>
              <a:rPr lang="en-GB" altLang="en-US" sz="2700" b="1" dirty="0">
                <a:latin typeface="+mn-lt"/>
                <a:cs typeface="Helvetica"/>
              </a:rPr>
              <a:t>base year</a:t>
            </a:r>
            <a:r>
              <a:rPr lang="en-GB" altLang="en-US" sz="2700" dirty="0">
                <a:latin typeface="+mn-lt"/>
                <a:cs typeface="Helvetica"/>
              </a:rPr>
              <a:t>. GDP in 2015 prices would be known as ‘GDP at constant 2015 prices’. This then enables us to see how much real GDP had changed from one period to another by eliminating increases (or decreases) in prices. </a:t>
            </a:r>
            <a:endParaRPr lang="en-US" dirty="0">
              <a:latin typeface="+mn-lt"/>
              <a:cs typeface="Helvetica"/>
            </a:endParaRPr>
          </a:p>
        </p:txBody>
      </p:sp>
    </p:spTree>
    <p:extLst>
      <p:ext uri="{BB962C8B-B14F-4D97-AF65-F5344CB8AC3E}">
        <p14:creationId xmlns:p14="http://schemas.microsoft.com/office/powerpoint/2010/main" val="7318784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89647E-ED18-AA44-09FD-E95053E42D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06FFEA-38FE-ACE4-CFC7-D2EA9453E43A}"/>
              </a:ext>
            </a:extLst>
          </p:cNvPr>
          <p:cNvSpPr>
            <a:spLocks noGrp="1"/>
          </p:cNvSpPr>
          <p:nvPr>
            <p:ph type="title"/>
          </p:nvPr>
        </p:nvSpPr>
        <p:spPr/>
        <p:txBody>
          <a:bodyPr/>
          <a:lstStyle/>
          <a:p>
            <a:r>
              <a:rPr lang="en-US" dirty="0"/>
              <a:t>Short-term economic growth</a:t>
            </a:r>
          </a:p>
        </p:txBody>
      </p:sp>
      <p:sp>
        <p:nvSpPr>
          <p:cNvPr id="3" name="Content Placeholder 2">
            <a:extLst>
              <a:ext uri="{FF2B5EF4-FFF2-40B4-BE49-F238E27FC236}">
                <a16:creationId xmlns:a16="http://schemas.microsoft.com/office/drawing/2014/main" id="{EE1EF5BC-F3EA-4D93-398F-E4B163904B5D}"/>
              </a:ext>
            </a:extLst>
          </p:cNvPr>
          <p:cNvSpPr>
            <a:spLocks noGrp="1"/>
          </p:cNvSpPr>
          <p:nvPr>
            <p:ph idx="1"/>
          </p:nvPr>
        </p:nvSpPr>
        <p:spPr/>
        <p:txBody>
          <a:bodyPr/>
          <a:lstStyle/>
          <a:p>
            <a:pPr>
              <a:spcBef>
                <a:spcPts val="1200"/>
              </a:spcBef>
              <a:spcAft>
                <a:spcPts val="0"/>
              </a:spcAft>
            </a:pPr>
            <a:r>
              <a:rPr lang="en-GB" altLang="en-US" sz="2700" dirty="0">
                <a:latin typeface="+mn-lt"/>
              </a:rPr>
              <a:t>Starting from data in the form of </a:t>
            </a:r>
            <a:r>
              <a:rPr lang="en-GB" altLang="en-US" sz="2700" b="1" dirty="0">
                <a:latin typeface="+mn-lt"/>
              </a:rPr>
              <a:t>time series </a:t>
            </a:r>
            <a:r>
              <a:rPr lang="en-GB" altLang="en-US" sz="2700" dirty="0">
                <a:latin typeface="+mn-lt"/>
              </a:rPr>
              <a:t>graphs</a:t>
            </a:r>
          </a:p>
          <a:p>
            <a:pPr lvl="1">
              <a:spcBef>
                <a:spcPts val="1200"/>
              </a:spcBef>
              <a:spcAft>
                <a:spcPts val="0"/>
              </a:spcAft>
            </a:pPr>
            <a:r>
              <a:rPr lang="en-GB" altLang="en-US" sz="2400" dirty="0">
                <a:latin typeface="+mn-lt"/>
              </a:rPr>
              <a:t>Economic growth – in the </a:t>
            </a:r>
            <a:r>
              <a:rPr lang="en-GB" altLang="en-US" sz="2400" b="1" dirty="0">
                <a:latin typeface="+mn-lt"/>
              </a:rPr>
              <a:t>short term </a:t>
            </a:r>
            <a:r>
              <a:rPr lang="en-GB" altLang="en-US" sz="2400" dirty="0">
                <a:latin typeface="+mn-lt"/>
              </a:rPr>
              <a:t>and in the business cycle</a:t>
            </a:r>
          </a:p>
          <a:p>
            <a:pPr lvl="2">
              <a:spcBef>
                <a:spcPts val="1200"/>
              </a:spcBef>
              <a:spcAft>
                <a:spcPts val="0"/>
              </a:spcAft>
            </a:pPr>
            <a:r>
              <a:rPr lang="en-GB" altLang="en-US" sz="2400" dirty="0">
                <a:latin typeface="+mn-lt"/>
              </a:rPr>
              <a:t>Rate of increase in output, usually over one year – perhaps 2 – 3%</a:t>
            </a:r>
          </a:p>
          <a:p>
            <a:pPr lvl="3">
              <a:spcBef>
                <a:spcPts val="1200"/>
              </a:spcBef>
              <a:spcAft>
                <a:spcPts val="0"/>
              </a:spcAft>
            </a:pPr>
            <a:r>
              <a:rPr lang="en-GB" altLang="en-US" sz="2400" dirty="0">
                <a:latin typeface="+mn-lt"/>
              </a:rPr>
              <a:t>Measure this in </a:t>
            </a:r>
            <a:r>
              <a:rPr lang="en-GB" altLang="en-US" sz="2400" b="1" dirty="0">
                <a:latin typeface="+mn-lt"/>
              </a:rPr>
              <a:t>real terms </a:t>
            </a:r>
            <a:r>
              <a:rPr lang="en-GB" altLang="en-US" sz="2400" dirty="0">
                <a:latin typeface="+mn-lt"/>
              </a:rPr>
              <a:t>– as if prices do not change</a:t>
            </a:r>
          </a:p>
          <a:p>
            <a:pPr lvl="1">
              <a:spcBef>
                <a:spcPts val="1200"/>
              </a:spcBef>
              <a:spcAft>
                <a:spcPts val="0"/>
              </a:spcAft>
            </a:pPr>
            <a:r>
              <a:rPr lang="en-GB" altLang="en-US" sz="2400" i="1" dirty="0">
                <a:latin typeface="+mn-lt"/>
              </a:rPr>
              <a:t>What could go wrong?</a:t>
            </a:r>
            <a:endParaRPr lang="en-GB" altLang="en-US" sz="2400" dirty="0">
              <a:latin typeface="+mn-lt"/>
            </a:endParaRPr>
          </a:p>
          <a:p>
            <a:pPr lvl="2">
              <a:spcBef>
                <a:spcPts val="1200"/>
              </a:spcBef>
              <a:spcAft>
                <a:spcPts val="0"/>
              </a:spcAft>
            </a:pPr>
            <a:r>
              <a:rPr lang="en-GB" altLang="en-US" sz="2400" b="1" dirty="0">
                <a:latin typeface="+mn-lt"/>
              </a:rPr>
              <a:t>Business cycle </a:t>
            </a:r>
            <a:r>
              <a:rPr lang="en-GB" altLang="en-US" sz="2400" dirty="0">
                <a:latin typeface="+mn-lt"/>
              </a:rPr>
              <a:t>– short term fluctuations in growth across whole economy</a:t>
            </a:r>
          </a:p>
          <a:p>
            <a:pPr lvl="3">
              <a:spcBef>
                <a:spcPts val="1200"/>
              </a:spcBef>
              <a:spcAft>
                <a:spcPts val="0"/>
              </a:spcAft>
            </a:pPr>
            <a:r>
              <a:rPr lang="en-GB" altLang="en-US" sz="2400" b="1" dirty="0">
                <a:latin typeface="+mn-lt"/>
              </a:rPr>
              <a:t>Recession</a:t>
            </a:r>
            <a:r>
              <a:rPr lang="en-GB" altLang="en-US" sz="2400" dirty="0">
                <a:latin typeface="+mn-lt"/>
              </a:rPr>
              <a:t>: two or more quarters when growth is less than zero</a:t>
            </a:r>
            <a:endParaRPr lang="en-GB" altLang="en-US" dirty="0">
              <a:latin typeface="+mn-lt"/>
            </a:endParaRPr>
          </a:p>
          <a:p>
            <a:endParaRPr lang="en-US" dirty="0"/>
          </a:p>
        </p:txBody>
      </p:sp>
    </p:spTree>
    <p:extLst>
      <p:ext uri="{BB962C8B-B14F-4D97-AF65-F5344CB8AC3E}">
        <p14:creationId xmlns:p14="http://schemas.microsoft.com/office/powerpoint/2010/main" val="2591628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C8A9AD-1578-D5BA-BB2D-B9A375851ED0}"/>
              </a:ext>
            </a:extLst>
          </p:cNvPr>
          <p:cNvSpPr>
            <a:spLocks noGrp="1"/>
          </p:cNvSpPr>
          <p:nvPr>
            <p:ph type="title"/>
          </p:nvPr>
        </p:nvSpPr>
        <p:spPr/>
        <p:txBody>
          <a:bodyPr/>
          <a:lstStyle/>
          <a:p>
            <a:pPr algn="ctr"/>
            <a:r>
              <a:rPr lang="en-GB" altLang="en-US" dirty="0"/>
              <a:t>Annual economic growth rates</a:t>
            </a:r>
            <a:endParaRPr lang="en-GB" dirty="0"/>
          </a:p>
        </p:txBody>
      </p:sp>
      <p:graphicFrame>
        <p:nvGraphicFramePr>
          <p:cNvPr id="4" name="Object 2">
            <a:extLst>
              <a:ext uri="{FF2B5EF4-FFF2-40B4-BE49-F238E27FC236}">
                <a16:creationId xmlns:a16="http://schemas.microsoft.com/office/drawing/2014/main" id="{61778327-15C0-F4CF-4E29-54BBDCE3E359}"/>
              </a:ext>
            </a:extLst>
          </p:cNvPr>
          <p:cNvGraphicFramePr>
            <a:graphicFrameLocks noGrp="1"/>
          </p:cNvGraphicFramePr>
          <p:nvPr>
            <p:ph idx="1"/>
            <p:extLst>
              <p:ext uri="{D42A27DB-BD31-4B8C-83A1-F6EECF244321}">
                <p14:modId xmlns:p14="http://schemas.microsoft.com/office/powerpoint/2010/main" val="72525012"/>
              </p:ext>
            </p:extLst>
          </p:nvPr>
        </p:nvGraphicFramePr>
        <p:xfrm>
          <a:off x="838200" y="1555750"/>
          <a:ext cx="10515600" cy="4621213"/>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7461936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1000"/>
                                  </p:stCondLst>
                                  <p:childTnLst>
                                    <p:set>
                                      <p:cBhvr>
                                        <p:cTn id="6" dur="1" fill="hold">
                                          <p:stCondLst>
                                            <p:cond delay="0"/>
                                          </p:stCondLst>
                                        </p:cTn>
                                        <p:tgtEl>
                                          <p:spTgt spid="4">
                                            <p:graphicEl>
                                              <a:chart seriesIdx="0" categoryIdx="-4" bldStep="series"/>
                                            </p:graphicEl>
                                          </p:spTgt>
                                        </p:tgtEl>
                                        <p:attrNameLst>
                                          <p:attrName>style.visibility</p:attrName>
                                        </p:attrNameLst>
                                      </p:cBhvr>
                                      <p:to>
                                        <p:strVal val="visible"/>
                                      </p:to>
                                    </p:set>
                                    <p:animEffect transition="in" filter="wipe(left)">
                                      <p:cBhvr>
                                        <p:cTn id="7" dur="1250"/>
                                        <p:tgtEl>
                                          <p:spTgt spid="4">
                                            <p:graphicEl>
                                              <a:chart seriesIdx="0" categoryIdx="-4" bldStep="series"/>
                                            </p:graphicEl>
                                          </p:spTgt>
                                        </p:tgtEl>
                                      </p:cBhvr>
                                    </p:animEffect>
                                  </p:childTnLst>
                                </p:cTn>
                              </p:par>
                            </p:childTnLst>
                          </p:cTn>
                        </p:par>
                        <p:par>
                          <p:cTn id="8" fill="hold">
                            <p:stCondLst>
                              <p:cond delay="2250"/>
                            </p:stCondLst>
                            <p:childTnLst>
                              <p:par>
                                <p:cTn id="9" presetID="22" presetClass="entr" presetSubtype="8" fill="hold" grpId="0" nodeType="afterEffect">
                                  <p:stCondLst>
                                    <p:cond delay="1000"/>
                                  </p:stCondLst>
                                  <p:childTnLst>
                                    <p:set>
                                      <p:cBhvr>
                                        <p:cTn id="10" dur="1" fill="hold">
                                          <p:stCondLst>
                                            <p:cond delay="0"/>
                                          </p:stCondLst>
                                        </p:cTn>
                                        <p:tgtEl>
                                          <p:spTgt spid="4">
                                            <p:graphicEl>
                                              <a:chart seriesIdx="1" categoryIdx="-4" bldStep="series"/>
                                            </p:graphicEl>
                                          </p:spTgt>
                                        </p:tgtEl>
                                        <p:attrNameLst>
                                          <p:attrName>style.visibility</p:attrName>
                                        </p:attrNameLst>
                                      </p:cBhvr>
                                      <p:to>
                                        <p:strVal val="visible"/>
                                      </p:to>
                                    </p:set>
                                    <p:animEffect transition="in" filter="wipe(left)">
                                      <p:cBhvr>
                                        <p:cTn id="11" dur="1250"/>
                                        <p:tgtEl>
                                          <p:spTgt spid="4">
                                            <p:graphicEl>
                                              <a:chart seriesIdx="1" categoryIdx="-4" bldStep="series"/>
                                            </p:graphicEl>
                                          </p:spTgt>
                                        </p:tgtEl>
                                      </p:cBhvr>
                                    </p:animEffect>
                                  </p:childTnLst>
                                </p:cTn>
                              </p:par>
                            </p:childTnLst>
                          </p:cTn>
                        </p:par>
                        <p:par>
                          <p:cTn id="12" fill="hold">
                            <p:stCondLst>
                              <p:cond delay="4500"/>
                            </p:stCondLst>
                            <p:childTnLst>
                              <p:par>
                                <p:cTn id="13" presetID="22" presetClass="entr" presetSubtype="8" fill="hold" grpId="0" nodeType="afterEffect">
                                  <p:stCondLst>
                                    <p:cond delay="1000"/>
                                  </p:stCondLst>
                                  <p:childTnLst>
                                    <p:set>
                                      <p:cBhvr>
                                        <p:cTn id="14" dur="1" fill="hold">
                                          <p:stCondLst>
                                            <p:cond delay="0"/>
                                          </p:stCondLst>
                                        </p:cTn>
                                        <p:tgtEl>
                                          <p:spTgt spid="4">
                                            <p:graphicEl>
                                              <a:chart seriesIdx="2" categoryIdx="-4" bldStep="series"/>
                                            </p:graphicEl>
                                          </p:spTgt>
                                        </p:tgtEl>
                                        <p:attrNameLst>
                                          <p:attrName>style.visibility</p:attrName>
                                        </p:attrNameLst>
                                      </p:cBhvr>
                                      <p:to>
                                        <p:strVal val="visible"/>
                                      </p:to>
                                    </p:set>
                                    <p:animEffect transition="in" filter="wipe(left)">
                                      <p:cBhvr>
                                        <p:cTn id="15" dur="1250"/>
                                        <p:tgtEl>
                                          <p:spTgt spid="4">
                                            <p:graphicEl>
                                              <a:chart seriesIdx="2" categoryIdx="-4" bldStep="series"/>
                                            </p:graphicEl>
                                          </p:spTgt>
                                        </p:tgtEl>
                                      </p:cBhvr>
                                    </p:animEffect>
                                  </p:childTnLst>
                                </p:cTn>
                              </p:par>
                            </p:childTnLst>
                          </p:cTn>
                        </p:par>
                        <p:par>
                          <p:cTn id="16" fill="hold">
                            <p:stCondLst>
                              <p:cond delay="6750"/>
                            </p:stCondLst>
                            <p:childTnLst>
                              <p:par>
                                <p:cTn id="17" presetID="22" presetClass="entr" presetSubtype="8" fill="hold" grpId="0" nodeType="afterEffect">
                                  <p:stCondLst>
                                    <p:cond delay="1000"/>
                                  </p:stCondLst>
                                  <p:childTnLst>
                                    <p:set>
                                      <p:cBhvr>
                                        <p:cTn id="18" dur="1" fill="hold">
                                          <p:stCondLst>
                                            <p:cond delay="0"/>
                                          </p:stCondLst>
                                        </p:cTn>
                                        <p:tgtEl>
                                          <p:spTgt spid="4">
                                            <p:graphicEl>
                                              <a:chart seriesIdx="3" categoryIdx="-4" bldStep="series"/>
                                            </p:graphicEl>
                                          </p:spTgt>
                                        </p:tgtEl>
                                        <p:attrNameLst>
                                          <p:attrName>style.visibility</p:attrName>
                                        </p:attrNameLst>
                                      </p:cBhvr>
                                      <p:to>
                                        <p:strVal val="visible"/>
                                      </p:to>
                                    </p:set>
                                    <p:animEffect transition="in" filter="wipe(left)">
                                      <p:cBhvr>
                                        <p:cTn id="19" dur="1250"/>
                                        <p:tgtEl>
                                          <p:spTgt spid="4">
                                            <p:graphicEl>
                                              <a:chart seriesIdx="3" categoryIdx="-4" bldStep="series"/>
                                            </p:graphicEl>
                                          </p:spTgt>
                                        </p:tgtEl>
                                      </p:cBhvr>
                                    </p:animEffect>
                                  </p:childTnLst>
                                </p:cTn>
                              </p:par>
                            </p:childTnLst>
                          </p:cTn>
                        </p:par>
                        <p:par>
                          <p:cTn id="20" fill="hold">
                            <p:stCondLst>
                              <p:cond delay="9000"/>
                            </p:stCondLst>
                            <p:childTnLst>
                              <p:par>
                                <p:cTn id="21" presetID="22" presetClass="entr" presetSubtype="8" fill="hold" grpId="0" nodeType="afterEffect">
                                  <p:stCondLst>
                                    <p:cond delay="1000"/>
                                  </p:stCondLst>
                                  <p:childTnLst>
                                    <p:set>
                                      <p:cBhvr>
                                        <p:cTn id="22" dur="1" fill="hold">
                                          <p:stCondLst>
                                            <p:cond delay="0"/>
                                          </p:stCondLst>
                                        </p:cTn>
                                        <p:tgtEl>
                                          <p:spTgt spid="4">
                                            <p:graphicEl>
                                              <a:chart seriesIdx="4" categoryIdx="-4" bldStep="series"/>
                                            </p:graphicEl>
                                          </p:spTgt>
                                        </p:tgtEl>
                                        <p:attrNameLst>
                                          <p:attrName>style.visibility</p:attrName>
                                        </p:attrNameLst>
                                      </p:cBhvr>
                                      <p:to>
                                        <p:strVal val="visible"/>
                                      </p:to>
                                    </p:set>
                                    <p:animEffect transition="in" filter="wipe(left)">
                                      <p:cBhvr>
                                        <p:cTn id="23" dur="1250"/>
                                        <p:tgtEl>
                                          <p:spTgt spid="4">
                                            <p:graphicEl>
                                              <a:chart seriesIdx="4" categoryIdx="-4" bldStep="series"/>
                                            </p:graphicEl>
                                          </p:spTgt>
                                        </p:tgtEl>
                                      </p:cBhvr>
                                    </p:animEffect>
                                  </p:childTnLst>
                                </p:cTn>
                              </p:par>
                            </p:childTnLst>
                          </p:cTn>
                        </p:par>
                        <p:par>
                          <p:cTn id="24" fill="hold">
                            <p:stCondLst>
                              <p:cond delay="11250"/>
                            </p:stCondLst>
                            <p:childTnLst>
                              <p:par>
                                <p:cTn id="25" presetID="22" presetClass="entr" presetSubtype="8" fill="hold" grpId="0" nodeType="afterEffect">
                                  <p:stCondLst>
                                    <p:cond delay="1000"/>
                                  </p:stCondLst>
                                  <p:childTnLst>
                                    <p:set>
                                      <p:cBhvr>
                                        <p:cTn id="26" dur="1" fill="hold">
                                          <p:stCondLst>
                                            <p:cond delay="0"/>
                                          </p:stCondLst>
                                        </p:cTn>
                                        <p:tgtEl>
                                          <p:spTgt spid="4">
                                            <p:graphicEl>
                                              <a:chart seriesIdx="5" categoryIdx="-4" bldStep="series"/>
                                            </p:graphicEl>
                                          </p:spTgt>
                                        </p:tgtEl>
                                        <p:attrNameLst>
                                          <p:attrName>style.visibility</p:attrName>
                                        </p:attrNameLst>
                                      </p:cBhvr>
                                      <p:to>
                                        <p:strVal val="visible"/>
                                      </p:to>
                                    </p:set>
                                    <p:animEffect transition="in" filter="wipe(left)">
                                      <p:cBhvr>
                                        <p:cTn id="27" dur="1250"/>
                                        <p:tgtEl>
                                          <p:spTgt spid="4">
                                            <p:graphicEl>
                                              <a:chart seriesIdx="5" categoryIdx="-4" bldStep="series"/>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uiExpand="1">
        <p:bldSub>
          <a:bldChart bld="series" animBg="0"/>
        </p:bldSub>
      </p:bldGraphic>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F7DF82-7A72-14EE-7B94-A9A72BE42908}"/>
              </a:ext>
            </a:extLst>
          </p:cNvPr>
          <p:cNvSpPr>
            <a:spLocks noGrp="1"/>
          </p:cNvSpPr>
          <p:nvPr>
            <p:ph type="title"/>
          </p:nvPr>
        </p:nvSpPr>
        <p:spPr/>
        <p:txBody>
          <a:bodyPr/>
          <a:lstStyle/>
          <a:p>
            <a:r>
              <a:rPr lang="en-GB" altLang="en-US" dirty="0"/>
              <a:t>Long-run economic growth</a:t>
            </a:r>
            <a:endParaRPr lang="en-MY" dirty="0"/>
          </a:p>
        </p:txBody>
      </p:sp>
      <p:sp>
        <p:nvSpPr>
          <p:cNvPr id="3" name="Content Placeholder 2">
            <a:extLst>
              <a:ext uri="{FF2B5EF4-FFF2-40B4-BE49-F238E27FC236}">
                <a16:creationId xmlns:a16="http://schemas.microsoft.com/office/drawing/2014/main" id="{FAB8976F-799F-05EF-7921-986F5D189AE8}"/>
              </a:ext>
            </a:extLst>
          </p:cNvPr>
          <p:cNvSpPr>
            <a:spLocks noGrp="1"/>
          </p:cNvSpPr>
          <p:nvPr>
            <p:ph idx="1"/>
          </p:nvPr>
        </p:nvSpPr>
        <p:spPr/>
        <p:txBody>
          <a:bodyPr/>
          <a:lstStyle/>
          <a:p>
            <a:pPr>
              <a:spcBef>
                <a:spcPts val="1200"/>
              </a:spcBef>
            </a:pPr>
            <a:r>
              <a:rPr lang="en-GB" altLang="en-US" dirty="0">
                <a:latin typeface="+mn-lt"/>
              </a:rPr>
              <a:t>Typically economies grow – and contract – </a:t>
            </a:r>
            <a:r>
              <a:rPr lang="en-GB" altLang="en-US" b="1" dirty="0">
                <a:latin typeface="+mn-lt"/>
              </a:rPr>
              <a:t>at the same time</a:t>
            </a:r>
          </a:p>
          <a:p>
            <a:pPr>
              <a:spcBef>
                <a:spcPts val="1200"/>
              </a:spcBef>
            </a:pPr>
            <a:endParaRPr lang="en-GB" b="1" dirty="0">
              <a:latin typeface="+mn-lt"/>
            </a:endParaRPr>
          </a:p>
          <a:p>
            <a:r>
              <a:rPr lang="en-GB" dirty="0">
                <a:latin typeface="+mn-lt"/>
              </a:rPr>
              <a:t>Although growth rates fluctuate, most economies experience </a:t>
            </a:r>
            <a:r>
              <a:rPr lang="en-GB" b="1" dirty="0">
                <a:latin typeface="+mn-lt"/>
              </a:rPr>
              <a:t>positive growth </a:t>
            </a:r>
            <a:r>
              <a:rPr lang="en-GB" dirty="0">
                <a:latin typeface="+mn-lt"/>
              </a:rPr>
              <a:t>over the longer term. In other words, most economies have output paths that trend upwards over time. </a:t>
            </a:r>
          </a:p>
          <a:p>
            <a:endParaRPr lang="en-GB" dirty="0">
              <a:latin typeface="+mn-lt"/>
            </a:endParaRPr>
          </a:p>
          <a:p>
            <a:r>
              <a:rPr lang="en-GB" dirty="0">
                <a:latin typeface="+mn-lt"/>
              </a:rPr>
              <a:t>For growth to be sustained over the longer term, an economy’s </a:t>
            </a:r>
            <a:r>
              <a:rPr lang="en-GB" b="1" dirty="0">
                <a:latin typeface="+mn-lt"/>
              </a:rPr>
              <a:t>capacity</a:t>
            </a:r>
            <a:r>
              <a:rPr lang="en-GB" dirty="0">
                <a:latin typeface="+mn-lt"/>
              </a:rPr>
              <a:t> must increase. Hence, differences in long-term economic growth rates reflect differences in the growth of the productive capacity of economies. </a:t>
            </a:r>
            <a:endParaRPr lang="en-US" dirty="0">
              <a:latin typeface="+mn-lt"/>
            </a:endParaRPr>
          </a:p>
          <a:p>
            <a:endParaRPr lang="en-MY" dirty="0"/>
          </a:p>
        </p:txBody>
      </p:sp>
    </p:spTree>
    <p:extLst>
      <p:ext uri="{BB962C8B-B14F-4D97-AF65-F5344CB8AC3E}">
        <p14:creationId xmlns:p14="http://schemas.microsoft.com/office/powerpoint/2010/main" val="38207281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38B629-A8A1-6821-5764-6B314F93B2BA}"/>
              </a:ext>
            </a:extLst>
          </p:cNvPr>
          <p:cNvSpPr>
            <a:spLocks noGrp="1"/>
          </p:cNvSpPr>
          <p:nvPr>
            <p:ph type="title"/>
          </p:nvPr>
        </p:nvSpPr>
        <p:spPr/>
        <p:txBody>
          <a:bodyPr>
            <a:normAutofit fontScale="90000"/>
          </a:bodyPr>
          <a:lstStyle/>
          <a:p>
            <a:pPr algn="ctr"/>
            <a:r>
              <a:rPr lang="en-US" dirty="0"/>
              <a:t>Output paths from 1965</a:t>
            </a:r>
            <a:br>
              <a:rPr lang="en-US" dirty="0"/>
            </a:br>
            <a:endParaRPr lang="en-US" dirty="0"/>
          </a:p>
        </p:txBody>
      </p:sp>
      <p:graphicFrame>
        <p:nvGraphicFramePr>
          <p:cNvPr id="5" name="Object 2">
            <a:extLst>
              <a:ext uri="{FF2B5EF4-FFF2-40B4-BE49-F238E27FC236}">
                <a16:creationId xmlns:a16="http://schemas.microsoft.com/office/drawing/2014/main" id="{D531C5EC-EC84-217D-9CA0-4DE94F22832D}"/>
              </a:ext>
            </a:extLst>
          </p:cNvPr>
          <p:cNvGraphicFramePr>
            <a:graphicFrameLocks noGrp="1"/>
          </p:cNvGraphicFramePr>
          <p:nvPr>
            <p:ph sz="half" idx="1"/>
            <p:extLst>
              <p:ext uri="{D42A27DB-BD31-4B8C-83A1-F6EECF244321}">
                <p14:modId xmlns:p14="http://schemas.microsoft.com/office/powerpoint/2010/main" val="3166570889"/>
              </p:ext>
            </p:extLst>
          </p:nvPr>
        </p:nvGraphicFramePr>
        <p:xfrm>
          <a:off x="838200" y="889686"/>
          <a:ext cx="10888362" cy="5325764"/>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8394783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graphicEl>
                                              <a:chart seriesIdx="0" categoryIdx="-4" bldStep="series"/>
                                            </p:graphicEl>
                                          </p:spTgt>
                                        </p:tgtEl>
                                        <p:attrNameLst>
                                          <p:attrName>style.visibility</p:attrName>
                                        </p:attrNameLst>
                                      </p:cBhvr>
                                      <p:to>
                                        <p:strVal val="visible"/>
                                      </p:to>
                                    </p:set>
                                    <p:animEffect transition="in" filter="wipe(left)">
                                      <p:cBhvr>
                                        <p:cTn id="7" dur="500"/>
                                        <p:tgtEl>
                                          <p:spTgt spid="5">
                                            <p:graphicEl>
                                              <a:chart seriesIdx="0" categoryIdx="-4" bldStep="series"/>
                                            </p:graphic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
                                            <p:graphicEl>
                                              <a:chart seriesIdx="1" categoryIdx="-4" bldStep="series"/>
                                            </p:graphicEl>
                                          </p:spTgt>
                                        </p:tgtEl>
                                        <p:attrNameLst>
                                          <p:attrName>style.visibility</p:attrName>
                                        </p:attrNameLst>
                                      </p:cBhvr>
                                      <p:to>
                                        <p:strVal val="visible"/>
                                      </p:to>
                                    </p:set>
                                    <p:animEffect transition="in" filter="wipe(left)">
                                      <p:cBhvr>
                                        <p:cTn id="12" dur="500"/>
                                        <p:tgtEl>
                                          <p:spTgt spid="5">
                                            <p:graphicEl>
                                              <a:chart seriesIdx="1" categoryIdx="-4" bldStep="series"/>
                                            </p:graphic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
                                            <p:graphicEl>
                                              <a:chart seriesIdx="2" categoryIdx="-4" bldStep="series"/>
                                            </p:graphicEl>
                                          </p:spTgt>
                                        </p:tgtEl>
                                        <p:attrNameLst>
                                          <p:attrName>style.visibility</p:attrName>
                                        </p:attrNameLst>
                                      </p:cBhvr>
                                      <p:to>
                                        <p:strVal val="visible"/>
                                      </p:to>
                                    </p:set>
                                    <p:animEffect transition="in" filter="wipe(left)">
                                      <p:cBhvr>
                                        <p:cTn id="17" dur="500"/>
                                        <p:tgtEl>
                                          <p:spTgt spid="5">
                                            <p:graphicEl>
                                              <a:chart seriesIdx="2" categoryIdx="-4" bldStep="series"/>
                                            </p:graphic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
                                            <p:graphicEl>
                                              <a:chart seriesIdx="3" categoryIdx="-4" bldStep="series"/>
                                            </p:graphicEl>
                                          </p:spTgt>
                                        </p:tgtEl>
                                        <p:attrNameLst>
                                          <p:attrName>style.visibility</p:attrName>
                                        </p:attrNameLst>
                                      </p:cBhvr>
                                      <p:to>
                                        <p:strVal val="visible"/>
                                      </p:to>
                                    </p:set>
                                    <p:animEffect transition="in" filter="wipe(left)">
                                      <p:cBhvr>
                                        <p:cTn id="22" dur="500"/>
                                        <p:tgtEl>
                                          <p:spTgt spid="5">
                                            <p:graphicEl>
                                              <a:chart seriesIdx="3" categoryIdx="-4" bldStep="series"/>
                                            </p:graphic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5">
                                            <p:graphicEl>
                                              <a:chart seriesIdx="4" categoryIdx="-4" bldStep="series"/>
                                            </p:graphicEl>
                                          </p:spTgt>
                                        </p:tgtEl>
                                        <p:attrNameLst>
                                          <p:attrName>style.visibility</p:attrName>
                                        </p:attrNameLst>
                                      </p:cBhvr>
                                      <p:to>
                                        <p:strVal val="visible"/>
                                      </p:to>
                                    </p:set>
                                    <p:animEffect transition="in" filter="wipe(left)">
                                      <p:cBhvr>
                                        <p:cTn id="27" dur="500"/>
                                        <p:tgtEl>
                                          <p:spTgt spid="5">
                                            <p:graphicEl>
                                              <a:chart seriesIdx="4" categoryIdx="-4" bldStep="series"/>
                                            </p:graphic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5">
                                            <p:graphicEl>
                                              <a:chart seriesIdx="5" categoryIdx="-4" bldStep="series"/>
                                            </p:graphicEl>
                                          </p:spTgt>
                                        </p:tgtEl>
                                        <p:attrNameLst>
                                          <p:attrName>style.visibility</p:attrName>
                                        </p:attrNameLst>
                                      </p:cBhvr>
                                      <p:to>
                                        <p:strVal val="visible"/>
                                      </p:to>
                                    </p:set>
                                    <p:animEffect transition="in" filter="wipe(left)">
                                      <p:cBhvr>
                                        <p:cTn id="32" dur="500"/>
                                        <p:tgtEl>
                                          <p:spTgt spid="5">
                                            <p:graphicEl>
                                              <a:chart seriesIdx="5" categoryIdx="-4" bldStep="series"/>
                                            </p:graphic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5">
                                            <p:graphicEl>
                                              <a:chart seriesIdx="6" categoryIdx="-4" bldStep="series"/>
                                            </p:graphicEl>
                                          </p:spTgt>
                                        </p:tgtEl>
                                        <p:attrNameLst>
                                          <p:attrName>style.visibility</p:attrName>
                                        </p:attrNameLst>
                                      </p:cBhvr>
                                      <p:to>
                                        <p:strVal val="visible"/>
                                      </p:to>
                                    </p:set>
                                    <p:animEffect transition="in" filter="wipe(left)">
                                      <p:cBhvr>
                                        <p:cTn id="37" dur="500"/>
                                        <p:tgtEl>
                                          <p:spTgt spid="5">
                                            <p:graphicEl>
                                              <a:chart seriesIdx="6" categoryIdx="-4" bldStep="series"/>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p:bldSub>
          <a:bldChart bld="series" animBg="0"/>
        </p:bldSub>
      </p:bldGraphic>
    </p:bldLst>
  </p:timing>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6FA79535-D18A-408B-A4AB-17CCB654EE03}"/>
              </a:ext>
            </a:extLst>
          </p:cNvPr>
          <p:cNvSpPr>
            <a:spLocks noChangeArrowheads="1"/>
          </p:cNvSpPr>
          <p:nvPr/>
        </p:nvSpPr>
        <p:spPr bwMode="auto">
          <a:xfrm>
            <a:off x="2209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a:solidFill>
                  <a:schemeClr val="tx1"/>
                </a:solidFill>
                <a:latin typeface="Times New Roman" panose="02020603050405020304" pitchFamily="18" charset="0"/>
              </a:defRPr>
            </a:lvl1pPr>
            <a:lvl2pPr marL="742950" indent="-285750">
              <a:defRPr sz="2800">
                <a:solidFill>
                  <a:schemeClr val="tx1"/>
                </a:solidFill>
                <a:latin typeface="Times New Roman" panose="02020603050405020304" pitchFamily="18" charset="0"/>
              </a:defRPr>
            </a:lvl2pPr>
            <a:lvl3pPr marL="1143000" indent="-228600">
              <a:defRPr sz="2800">
                <a:solidFill>
                  <a:schemeClr val="tx1"/>
                </a:solidFill>
                <a:latin typeface="Times New Roman" panose="02020603050405020304" pitchFamily="18" charset="0"/>
              </a:defRPr>
            </a:lvl3pPr>
            <a:lvl4pPr marL="1600200" indent="-228600">
              <a:defRPr sz="2800">
                <a:solidFill>
                  <a:schemeClr val="tx1"/>
                </a:solidFill>
                <a:latin typeface="Times New Roman" panose="02020603050405020304" pitchFamily="18" charset="0"/>
              </a:defRPr>
            </a:lvl4pPr>
            <a:lvl5pPr marL="2057400" indent="-228600">
              <a:defRPr sz="28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defRPr>
            </a:lvl9pPr>
          </a:lstStyle>
          <a:p>
            <a:endParaRPr lang="en-GB" altLang="en-US" noProof="1"/>
          </a:p>
        </p:txBody>
      </p:sp>
      <p:sp>
        <p:nvSpPr>
          <p:cNvPr id="22531" name="Rectangle 3">
            <a:extLst>
              <a:ext uri="{FF2B5EF4-FFF2-40B4-BE49-F238E27FC236}">
                <a16:creationId xmlns:a16="http://schemas.microsoft.com/office/drawing/2014/main" id="{28B90FE4-7148-4F72-B6B3-C8626350B1A3}"/>
              </a:ext>
            </a:extLst>
          </p:cNvPr>
          <p:cNvSpPr>
            <a:spLocks noChangeArrowheads="1"/>
          </p:cNvSpPr>
          <p:nvPr/>
        </p:nvSpPr>
        <p:spPr bwMode="auto">
          <a:xfrm>
            <a:off x="4648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a:solidFill>
                  <a:schemeClr val="tx1"/>
                </a:solidFill>
                <a:latin typeface="Times New Roman" panose="02020603050405020304" pitchFamily="18" charset="0"/>
              </a:defRPr>
            </a:lvl1pPr>
            <a:lvl2pPr marL="742950" indent="-285750">
              <a:defRPr sz="2800">
                <a:solidFill>
                  <a:schemeClr val="tx1"/>
                </a:solidFill>
                <a:latin typeface="Times New Roman" panose="02020603050405020304" pitchFamily="18" charset="0"/>
              </a:defRPr>
            </a:lvl2pPr>
            <a:lvl3pPr marL="1143000" indent="-228600">
              <a:defRPr sz="2800">
                <a:solidFill>
                  <a:schemeClr val="tx1"/>
                </a:solidFill>
                <a:latin typeface="Times New Roman" panose="02020603050405020304" pitchFamily="18" charset="0"/>
              </a:defRPr>
            </a:lvl3pPr>
            <a:lvl4pPr marL="1600200" indent="-228600">
              <a:defRPr sz="2800">
                <a:solidFill>
                  <a:schemeClr val="tx1"/>
                </a:solidFill>
                <a:latin typeface="Times New Roman" panose="02020603050405020304" pitchFamily="18" charset="0"/>
              </a:defRPr>
            </a:lvl4pPr>
            <a:lvl5pPr marL="2057400" indent="-228600">
              <a:defRPr sz="28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defRPr>
            </a:lvl9pPr>
          </a:lstStyle>
          <a:p>
            <a:endParaRPr lang="en-GB" altLang="en-US" noProof="1"/>
          </a:p>
        </p:txBody>
      </p:sp>
      <p:sp>
        <p:nvSpPr>
          <p:cNvPr id="22532" name="Rectangle 4">
            <a:extLst>
              <a:ext uri="{FF2B5EF4-FFF2-40B4-BE49-F238E27FC236}">
                <a16:creationId xmlns:a16="http://schemas.microsoft.com/office/drawing/2014/main" id="{D02696E1-9EA4-4E8D-BBFB-64857FE8CD26}"/>
              </a:ext>
            </a:extLst>
          </p:cNvPr>
          <p:cNvSpPr>
            <a:spLocks noGrp="1"/>
          </p:cNvSpPr>
          <p:nvPr>
            <p:ph type="title"/>
          </p:nvPr>
        </p:nvSpPr>
        <p:spPr/>
        <p:txBody>
          <a:bodyPr/>
          <a:lstStyle/>
          <a:p>
            <a:r>
              <a:rPr lang="en-GB" altLang="en-US"/>
              <a:t>Unemployment</a:t>
            </a:r>
          </a:p>
        </p:txBody>
      </p:sp>
      <p:sp>
        <p:nvSpPr>
          <p:cNvPr id="400389" name="Rectangle 5">
            <a:extLst>
              <a:ext uri="{FF2B5EF4-FFF2-40B4-BE49-F238E27FC236}">
                <a16:creationId xmlns:a16="http://schemas.microsoft.com/office/drawing/2014/main" id="{156E74EA-67E3-41E6-BE4C-B773ECE828F8}"/>
              </a:ext>
            </a:extLst>
          </p:cNvPr>
          <p:cNvSpPr>
            <a:spLocks noGrp="1"/>
          </p:cNvSpPr>
          <p:nvPr>
            <p:ph sz="quarter" idx="1"/>
          </p:nvPr>
        </p:nvSpPr>
        <p:spPr>
          <a:xfrm>
            <a:off x="402336" y="1601972"/>
            <a:ext cx="11338560" cy="4805916"/>
          </a:xfrm>
        </p:spPr>
        <p:txBody>
          <a:bodyPr/>
          <a:lstStyle/>
          <a:p>
            <a:pPr>
              <a:spcBef>
                <a:spcPts val="1200"/>
              </a:spcBef>
            </a:pPr>
            <a:r>
              <a:rPr lang="en-GB" altLang="en-US" dirty="0">
                <a:latin typeface="+mn-lt"/>
              </a:rPr>
              <a:t>Proportion of labour force out of work, but looking for jobs</a:t>
            </a:r>
          </a:p>
          <a:p>
            <a:pPr lvl="1">
              <a:spcBef>
                <a:spcPts val="1200"/>
              </a:spcBef>
            </a:pPr>
            <a:r>
              <a:rPr lang="en-GB" altLang="en-US" dirty="0">
                <a:latin typeface="+mn-lt"/>
              </a:rPr>
              <a:t>Standardised measures set by ILO/OECD</a:t>
            </a:r>
          </a:p>
          <a:p>
            <a:pPr lvl="2">
              <a:spcBef>
                <a:spcPts val="1200"/>
              </a:spcBef>
            </a:pPr>
            <a:r>
              <a:rPr lang="en-GB" altLang="en-US" dirty="0">
                <a:latin typeface="+mn-lt"/>
              </a:rPr>
              <a:t>based on quarterly labour force surveys</a:t>
            </a:r>
          </a:p>
          <a:p>
            <a:pPr lvl="1">
              <a:spcBef>
                <a:spcPts val="1200"/>
              </a:spcBef>
            </a:pPr>
            <a:r>
              <a:rPr lang="en-GB" altLang="en-US" dirty="0">
                <a:latin typeface="+mn-lt"/>
              </a:rPr>
              <a:t>Alternative is claimant unemployment – relies on rules for receipt of social entitlements – different from ILO count	</a:t>
            </a:r>
          </a:p>
          <a:p>
            <a:pPr lvl="2">
              <a:spcBef>
                <a:spcPts val="1200"/>
              </a:spcBef>
            </a:pPr>
            <a:r>
              <a:rPr lang="en-GB" altLang="en-US" dirty="0">
                <a:latin typeface="+mn-lt"/>
              </a:rPr>
              <a:t>Many changes to eligibility – so tends to difficult to compare over time, between countries</a:t>
            </a:r>
          </a:p>
        </p:txBody>
      </p:sp>
    </p:spTree>
    <p:extLst>
      <p:ext uri="{BB962C8B-B14F-4D97-AF65-F5344CB8AC3E}">
        <p14:creationId xmlns:p14="http://schemas.microsoft.com/office/powerpoint/2010/main" val="66389112"/>
      </p:ext>
    </p:extLst>
  </p:cSld>
  <p:clrMapOvr>
    <a:masterClrMapping/>
  </p:clrMapOvr>
  <p:transition spd="slow">
    <p:pull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400389">
                                            <p:txEl>
                                              <p:pRg st="0" end="0"/>
                                            </p:txEl>
                                          </p:spTgt>
                                        </p:tgtEl>
                                        <p:attrNameLst>
                                          <p:attrName>style.visibility</p:attrName>
                                        </p:attrNameLst>
                                      </p:cBhvr>
                                      <p:to>
                                        <p:strVal val="visible"/>
                                      </p:to>
                                    </p:set>
                                    <p:anim calcmode="lin" valueType="num">
                                      <p:cBhvr additive="base">
                                        <p:cTn id="7" dur="500"/>
                                        <p:tgtEl>
                                          <p:spTgt spid="400389">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400389">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400389">
                                            <p:txEl>
                                              <p:pRg st="1" end="1"/>
                                            </p:txEl>
                                          </p:spTgt>
                                        </p:tgtEl>
                                        <p:attrNameLst>
                                          <p:attrName>style.visibility</p:attrName>
                                        </p:attrNameLst>
                                      </p:cBhvr>
                                      <p:to>
                                        <p:strVal val="visible"/>
                                      </p:to>
                                    </p:set>
                                    <p:anim calcmode="lin" valueType="num">
                                      <p:cBhvr additive="base">
                                        <p:cTn id="13" dur="500"/>
                                        <p:tgtEl>
                                          <p:spTgt spid="400389">
                                            <p:txEl>
                                              <p:pRg st="1" end="1"/>
                                            </p:txEl>
                                          </p:spTgt>
                                        </p:tgtEl>
                                        <p:attrNameLst>
                                          <p:attrName>ppt_y</p:attrName>
                                        </p:attrNameLst>
                                      </p:cBhvr>
                                      <p:tavLst>
                                        <p:tav tm="0">
                                          <p:val>
                                            <p:strVal val="#ppt_y+#ppt_h*1.125000"/>
                                          </p:val>
                                        </p:tav>
                                        <p:tav tm="100000">
                                          <p:val>
                                            <p:strVal val="#ppt_y"/>
                                          </p:val>
                                        </p:tav>
                                      </p:tavLst>
                                    </p:anim>
                                    <p:animEffect transition="in" filter="wipe(up)">
                                      <p:cBhvr>
                                        <p:cTn id="14" dur="500"/>
                                        <p:tgtEl>
                                          <p:spTgt spid="400389">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grpId="0" nodeType="clickEffect">
                                  <p:stCondLst>
                                    <p:cond delay="0"/>
                                  </p:stCondLst>
                                  <p:childTnLst>
                                    <p:set>
                                      <p:cBhvr>
                                        <p:cTn id="18" dur="1" fill="hold">
                                          <p:stCondLst>
                                            <p:cond delay="0"/>
                                          </p:stCondLst>
                                        </p:cTn>
                                        <p:tgtEl>
                                          <p:spTgt spid="400389">
                                            <p:txEl>
                                              <p:pRg st="2" end="2"/>
                                            </p:txEl>
                                          </p:spTgt>
                                        </p:tgtEl>
                                        <p:attrNameLst>
                                          <p:attrName>style.visibility</p:attrName>
                                        </p:attrNameLst>
                                      </p:cBhvr>
                                      <p:to>
                                        <p:strVal val="visible"/>
                                      </p:to>
                                    </p:set>
                                    <p:anim calcmode="lin" valueType="num">
                                      <p:cBhvr additive="base">
                                        <p:cTn id="19" dur="500"/>
                                        <p:tgtEl>
                                          <p:spTgt spid="400389">
                                            <p:txEl>
                                              <p:pRg st="2" end="2"/>
                                            </p:txEl>
                                          </p:spTgt>
                                        </p:tgtEl>
                                        <p:attrNameLst>
                                          <p:attrName>ppt_y</p:attrName>
                                        </p:attrNameLst>
                                      </p:cBhvr>
                                      <p:tavLst>
                                        <p:tav tm="0">
                                          <p:val>
                                            <p:strVal val="#ppt_y+#ppt_h*1.125000"/>
                                          </p:val>
                                        </p:tav>
                                        <p:tav tm="100000">
                                          <p:val>
                                            <p:strVal val="#ppt_y"/>
                                          </p:val>
                                        </p:tav>
                                      </p:tavLst>
                                    </p:anim>
                                    <p:animEffect transition="in" filter="wipe(up)">
                                      <p:cBhvr>
                                        <p:cTn id="20" dur="500"/>
                                        <p:tgtEl>
                                          <p:spTgt spid="400389">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4" fill="hold" grpId="0" nodeType="clickEffect">
                                  <p:stCondLst>
                                    <p:cond delay="0"/>
                                  </p:stCondLst>
                                  <p:childTnLst>
                                    <p:set>
                                      <p:cBhvr>
                                        <p:cTn id="24" dur="1" fill="hold">
                                          <p:stCondLst>
                                            <p:cond delay="0"/>
                                          </p:stCondLst>
                                        </p:cTn>
                                        <p:tgtEl>
                                          <p:spTgt spid="400389">
                                            <p:txEl>
                                              <p:pRg st="3" end="3"/>
                                            </p:txEl>
                                          </p:spTgt>
                                        </p:tgtEl>
                                        <p:attrNameLst>
                                          <p:attrName>style.visibility</p:attrName>
                                        </p:attrNameLst>
                                      </p:cBhvr>
                                      <p:to>
                                        <p:strVal val="visible"/>
                                      </p:to>
                                    </p:set>
                                    <p:anim calcmode="lin" valueType="num">
                                      <p:cBhvr additive="base">
                                        <p:cTn id="25" dur="500"/>
                                        <p:tgtEl>
                                          <p:spTgt spid="400389">
                                            <p:txEl>
                                              <p:pRg st="3" end="3"/>
                                            </p:txEl>
                                          </p:spTgt>
                                        </p:tgtEl>
                                        <p:attrNameLst>
                                          <p:attrName>ppt_y</p:attrName>
                                        </p:attrNameLst>
                                      </p:cBhvr>
                                      <p:tavLst>
                                        <p:tav tm="0">
                                          <p:val>
                                            <p:strVal val="#ppt_y+#ppt_h*1.125000"/>
                                          </p:val>
                                        </p:tav>
                                        <p:tav tm="100000">
                                          <p:val>
                                            <p:strVal val="#ppt_y"/>
                                          </p:val>
                                        </p:tav>
                                      </p:tavLst>
                                    </p:anim>
                                    <p:animEffect transition="in" filter="wipe(up)">
                                      <p:cBhvr>
                                        <p:cTn id="26" dur="500"/>
                                        <p:tgtEl>
                                          <p:spTgt spid="400389">
                                            <p:txEl>
                                              <p:pRg st="3" end="3"/>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2" presetClass="entr" presetSubtype="4" fill="hold" grpId="0" nodeType="clickEffect">
                                  <p:stCondLst>
                                    <p:cond delay="0"/>
                                  </p:stCondLst>
                                  <p:childTnLst>
                                    <p:set>
                                      <p:cBhvr>
                                        <p:cTn id="30" dur="1" fill="hold">
                                          <p:stCondLst>
                                            <p:cond delay="0"/>
                                          </p:stCondLst>
                                        </p:cTn>
                                        <p:tgtEl>
                                          <p:spTgt spid="400389">
                                            <p:txEl>
                                              <p:pRg st="4" end="4"/>
                                            </p:txEl>
                                          </p:spTgt>
                                        </p:tgtEl>
                                        <p:attrNameLst>
                                          <p:attrName>style.visibility</p:attrName>
                                        </p:attrNameLst>
                                      </p:cBhvr>
                                      <p:to>
                                        <p:strVal val="visible"/>
                                      </p:to>
                                    </p:set>
                                    <p:anim calcmode="lin" valueType="num">
                                      <p:cBhvr additive="base">
                                        <p:cTn id="31" dur="500"/>
                                        <p:tgtEl>
                                          <p:spTgt spid="400389">
                                            <p:txEl>
                                              <p:pRg st="4" end="4"/>
                                            </p:txEl>
                                          </p:spTgt>
                                        </p:tgtEl>
                                        <p:attrNameLst>
                                          <p:attrName>ppt_y</p:attrName>
                                        </p:attrNameLst>
                                      </p:cBhvr>
                                      <p:tavLst>
                                        <p:tav tm="0">
                                          <p:val>
                                            <p:strVal val="#ppt_y+#ppt_h*1.125000"/>
                                          </p:val>
                                        </p:tav>
                                        <p:tav tm="100000">
                                          <p:val>
                                            <p:strVal val="#ppt_y"/>
                                          </p:val>
                                        </p:tav>
                                      </p:tavLst>
                                    </p:anim>
                                    <p:animEffect transition="in" filter="wipe(up)">
                                      <p:cBhvr>
                                        <p:cTn id="32" dur="500"/>
                                        <p:tgtEl>
                                          <p:spTgt spid="40038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0389" grpId="0" build="p" bldLvl="3"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22C293-1D23-3358-4109-C0790C7D3198}"/>
              </a:ext>
            </a:extLst>
          </p:cNvPr>
          <p:cNvSpPr>
            <a:spLocks noGrp="1"/>
          </p:cNvSpPr>
          <p:nvPr>
            <p:ph type="title"/>
          </p:nvPr>
        </p:nvSpPr>
        <p:spPr/>
        <p:txBody>
          <a:bodyPr/>
          <a:lstStyle/>
          <a:p>
            <a:r>
              <a:rPr lang="en-GB" altLang="en-US" dirty="0"/>
              <a:t>Measuring Unemployment</a:t>
            </a:r>
            <a:endParaRPr lang="en-MY"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61668BF-C864-BBA4-3747-61BBA4DF06E1}"/>
                  </a:ext>
                </a:extLst>
              </p:cNvPr>
              <p:cNvSpPr>
                <a:spLocks noGrp="1"/>
              </p:cNvSpPr>
              <p:nvPr>
                <p:ph idx="1"/>
              </p:nvPr>
            </p:nvSpPr>
            <p:spPr>
              <a:xfrm>
                <a:off x="838200" y="1392775"/>
                <a:ext cx="10515600" cy="4621628"/>
              </a:xfrm>
            </p:spPr>
            <p:txBody>
              <a:bodyPr>
                <a:normAutofit lnSpcReduction="10000"/>
              </a:bodyPr>
              <a:lstStyle/>
              <a:p>
                <a:pPr>
                  <a:spcBef>
                    <a:spcPts val="600"/>
                  </a:spcBef>
                  <a:spcAft>
                    <a:spcPts val="0"/>
                  </a:spcAft>
                </a:pPr>
                <a:endParaRPr lang="en-GB" altLang="en-US" sz="2700" dirty="0"/>
              </a:p>
              <a:p>
                <a:pPr lvl="1">
                  <a:spcBef>
                    <a:spcPts val="600"/>
                  </a:spcBef>
                </a:pPr>
                <a:r>
                  <a:rPr lang="en-GB" altLang="en-US" sz="2400" b="1" dirty="0">
                    <a:latin typeface="+mn-lt"/>
                  </a:rPr>
                  <a:t>As a number. </a:t>
                </a:r>
                <a:endParaRPr lang="en-US" altLang="en-US" sz="2400" b="1" dirty="0">
                  <a:latin typeface="+mn-lt"/>
                </a:endParaRPr>
              </a:p>
              <a:p>
                <a:pPr lvl="2">
                  <a:spcBef>
                    <a:spcPts val="600"/>
                  </a:spcBef>
                </a:pPr>
                <a:r>
                  <a:rPr lang="en-US" altLang="en-US" sz="2200" dirty="0">
                    <a:latin typeface="+mn-lt"/>
                  </a:rPr>
                  <a:t>People unable to find work.</a:t>
                </a:r>
              </a:p>
              <a:p>
                <a:pPr lvl="2">
                  <a:spcBef>
                    <a:spcPts val="600"/>
                  </a:spcBef>
                </a:pPr>
                <a:r>
                  <a:rPr lang="en-GB" altLang="en-US" sz="2200" dirty="0">
                    <a:latin typeface="+mn-lt"/>
                  </a:rPr>
                  <a:t>Example: 1.5m unemployed, 30m employed</a:t>
                </a:r>
              </a:p>
              <a:p>
                <a:pPr lvl="2">
                  <a:spcBef>
                    <a:spcPts val="600"/>
                  </a:spcBef>
                </a:pPr>
                <a:endParaRPr lang="en-GB" altLang="en-US" sz="2200" dirty="0">
                  <a:latin typeface="+mn-lt"/>
                </a:endParaRPr>
              </a:p>
              <a:p>
                <a:pPr lvl="1">
                  <a:spcBef>
                    <a:spcPts val="600"/>
                  </a:spcBef>
                </a:pPr>
                <a:r>
                  <a:rPr lang="en-GB" altLang="en-US" sz="2400" b="1" dirty="0">
                    <a:latin typeface="+mn-lt"/>
                  </a:rPr>
                  <a:t>As ratio.</a:t>
                </a:r>
              </a:p>
              <a:p>
                <a:pPr lvl="2">
                  <a:spcBef>
                    <a:spcPts val="600"/>
                  </a:spcBef>
                </a:pPr>
                <a:r>
                  <a:rPr lang="en-GB" altLang="en-US" sz="2200" dirty="0">
                    <a:latin typeface="+mn-lt"/>
                  </a:rPr>
                  <a:t>People unable to find work as a percentage of people in the labour force</a:t>
                </a:r>
              </a:p>
              <a:p>
                <a:pPr lvl="1">
                  <a:spcBef>
                    <a:spcPts val="600"/>
                  </a:spcBef>
                </a:pPr>
                <a:endParaRPr lang="en-GB" altLang="en-US" sz="2400" dirty="0">
                  <a:latin typeface="+mn-lt"/>
                </a:endParaRPr>
              </a:p>
              <a:p>
                <a:pPr marL="457200" lvl="1" indent="0">
                  <a:spcBef>
                    <a:spcPts val="600"/>
                  </a:spcBef>
                  <a:buNone/>
                </a:pPr>
                <a14:m>
                  <m:oMathPara xmlns:m="http://schemas.openxmlformats.org/officeDocument/2006/math">
                    <m:oMathParaPr>
                      <m:jc m:val="centerGroup"/>
                    </m:oMathParaPr>
                    <m:oMath xmlns:m="http://schemas.openxmlformats.org/officeDocument/2006/math">
                      <m:f>
                        <m:fPr>
                          <m:ctrlPr>
                            <a:rPr lang="en-GB" altLang="en-US" sz="2400" i="1">
                              <a:latin typeface="Cambria Math" panose="02040503050406030204" pitchFamily="18" charset="0"/>
                            </a:rPr>
                          </m:ctrlPr>
                        </m:fPr>
                        <m:num>
                          <m:r>
                            <m:rPr>
                              <m:sty m:val="p"/>
                            </m:rPr>
                            <a:rPr lang="en-GB" altLang="en-US" sz="2400">
                              <a:latin typeface="Cambria Math" panose="02040503050406030204" pitchFamily="18" charset="0"/>
                            </a:rPr>
                            <m:t>People</m:t>
                          </m:r>
                          <m:r>
                            <a:rPr lang="en-GB" altLang="en-US" sz="2400">
                              <a:latin typeface="Cambria Math" panose="02040503050406030204" pitchFamily="18" charset="0"/>
                            </a:rPr>
                            <m:t> </m:t>
                          </m:r>
                          <m:r>
                            <m:rPr>
                              <m:sty m:val="p"/>
                            </m:rPr>
                            <a:rPr lang="en-GB" altLang="en-US" sz="2400">
                              <a:latin typeface="Cambria Math" panose="02040503050406030204" pitchFamily="18" charset="0"/>
                            </a:rPr>
                            <m:t>unable</m:t>
                          </m:r>
                          <m:r>
                            <a:rPr lang="en-GB" altLang="en-US" sz="2400">
                              <a:latin typeface="Cambria Math" panose="02040503050406030204" pitchFamily="18" charset="0"/>
                            </a:rPr>
                            <m:t> </m:t>
                          </m:r>
                          <m:r>
                            <m:rPr>
                              <m:sty m:val="p"/>
                            </m:rPr>
                            <a:rPr lang="en-GB" altLang="en-US" sz="2400">
                              <a:latin typeface="Cambria Math" panose="02040503050406030204" pitchFamily="18" charset="0"/>
                            </a:rPr>
                            <m:t>to</m:t>
                          </m:r>
                          <m:r>
                            <a:rPr lang="en-GB" altLang="en-US" sz="2400">
                              <a:latin typeface="Cambria Math" panose="02040503050406030204" pitchFamily="18" charset="0"/>
                            </a:rPr>
                            <m:t> </m:t>
                          </m:r>
                          <m:r>
                            <m:rPr>
                              <m:sty m:val="p"/>
                            </m:rPr>
                            <a:rPr lang="en-GB" altLang="en-US" sz="2400">
                              <a:latin typeface="Cambria Math" panose="02040503050406030204" pitchFamily="18" charset="0"/>
                            </a:rPr>
                            <m:t>find</m:t>
                          </m:r>
                          <m:r>
                            <a:rPr lang="en-GB" altLang="en-US" sz="2400">
                              <a:latin typeface="Cambria Math" panose="02040503050406030204" pitchFamily="18" charset="0"/>
                            </a:rPr>
                            <m:t> </m:t>
                          </m:r>
                          <m:r>
                            <m:rPr>
                              <m:sty m:val="p"/>
                            </m:rPr>
                            <a:rPr lang="en-GB" altLang="en-US" sz="2400">
                              <a:latin typeface="Cambria Math" panose="02040503050406030204" pitchFamily="18" charset="0"/>
                            </a:rPr>
                            <m:t>work</m:t>
                          </m:r>
                          <m:r>
                            <a:rPr lang="en-GB" altLang="en-US" sz="2400">
                              <a:latin typeface="Cambria Math" panose="02040503050406030204" pitchFamily="18" charset="0"/>
                            </a:rPr>
                            <m:t> </m:t>
                          </m:r>
                        </m:num>
                        <m:den>
                          <m:r>
                            <m:rPr>
                              <m:sty m:val="p"/>
                            </m:rPr>
                            <a:rPr lang="en-GB" altLang="en-US" sz="2400">
                              <a:latin typeface="Cambria Math" panose="02040503050406030204" pitchFamily="18" charset="0"/>
                            </a:rPr>
                            <m:t>People</m:t>
                          </m:r>
                          <m:r>
                            <a:rPr lang="en-GB" altLang="en-US" sz="2400">
                              <a:latin typeface="Cambria Math" panose="02040503050406030204" pitchFamily="18" charset="0"/>
                            </a:rPr>
                            <m:t> </m:t>
                          </m:r>
                          <m:r>
                            <m:rPr>
                              <m:sty m:val="p"/>
                            </m:rPr>
                            <a:rPr lang="en-GB" altLang="en-US" sz="2400">
                              <a:latin typeface="Cambria Math" panose="02040503050406030204" pitchFamily="18" charset="0"/>
                            </a:rPr>
                            <m:t>in</m:t>
                          </m:r>
                          <m:r>
                            <a:rPr lang="en-GB" altLang="en-US" sz="2400">
                              <a:latin typeface="Cambria Math" panose="02040503050406030204" pitchFamily="18" charset="0"/>
                            </a:rPr>
                            <m:t> </m:t>
                          </m:r>
                          <m:r>
                            <m:rPr>
                              <m:sty m:val="p"/>
                            </m:rPr>
                            <a:rPr lang="en-GB" altLang="en-US" sz="2400">
                              <a:latin typeface="Cambria Math" panose="02040503050406030204" pitchFamily="18" charset="0"/>
                            </a:rPr>
                            <m:t>work</m:t>
                          </m:r>
                          <m:r>
                            <a:rPr lang="en-GB" altLang="en-US" sz="2400">
                              <a:latin typeface="Cambria Math" panose="02040503050406030204" pitchFamily="18" charset="0"/>
                            </a:rPr>
                            <m:t> </m:t>
                          </m:r>
                          <m:r>
                            <m:rPr>
                              <m:sty m:val="p"/>
                            </m:rPr>
                            <a:rPr lang="en-GB" altLang="en-US" sz="2400">
                              <a:latin typeface="Cambria Math" panose="02040503050406030204" pitchFamily="18" charset="0"/>
                            </a:rPr>
                            <m:t>and</m:t>
                          </m:r>
                          <m:r>
                            <a:rPr lang="en-GB" altLang="en-US" sz="2400">
                              <a:latin typeface="Cambria Math" panose="02040503050406030204" pitchFamily="18" charset="0"/>
                            </a:rPr>
                            <m:t> </m:t>
                          </m:r>
                          <m:r>
                            <m:rPr>
                              <m:sty m:val="p"/>
                            </m:rPr>
                            <a:rPr lang="en-GB" altLang="en-US" sz="2400">
                              <a:latin typeface="Cambria Math" panose="02040503050406030204" pitchFamily="18" charset="0"/>
                            </a:rPr>
                            <m:t>looking</m:t>
                          </m:r>
                          <m:r>
                            <a:rPr lang="en-GB" altLang="en-US" sz="2400">
                              <a:latin typeface="Cambria Math" panose="02040503050406030204" pitchFamily="18" charset="0"/>
                            </a:rPr>
                            <m:t> </m:t>
                          </m:r>
                          <m:r>
                            <m:rPr>
                              <m:sty m:val="p"/>
                            </m:rPr>
                            <a:rPr lang="en-GB" altLang="en-US" sz="2400">
                              <a:latin typeface="Cambria Math" panose="02040503050406030204" pitchFamily="18" charset="0"/>
                            </a:rPr>
                            <m:t>for</m:t>
                          </m:r>
                          <m:r>
                            <a:rPr lang="en-GB" altLang="en-US" sz="2400">
                              <a:latin typeface="Cambria Math" panose="02040503050406030204" pitchFamily="18" charset="0"/>
                            </a:rPr>
                            <m:t> </m:t>
                          </m:r>
                          <m:r>
                            <m:rPr>
                              <m:sty m:val="p"/>
                            </m:rPr>
                            <a:rPr lang="en-GB" altLang="en-US" sz="2400">
                              <a:latin typeface="Cambria Math" panose="02040503050406030204" pitchFamily="18" charset="0"/>
                            </a:rPr>
                            <m:t>work</m:t>
                          </m:r>
                        </m:den>
                      </m:f>
                    </m:oMath>
                  </m:oMathPara>
                </a14:m>
                <a:endParaRPr lang="en-US" altLang="en-US" sz="2400" dirty="0">
                  <a:latin typeface="+mn-lt"/>
                </a:endParaRPr>
              </a:p>
              <a:p>
                <a:pPr marL="914400" lvl="2" indent="0">
                  <a:spcBef>
                    <a:spcPts val="600"/>
                  </a:spcBef>
                  <a:buNone/>
                </a:pPr>
                <a:br>
                  <a:rPr lang="en-GB" altLang="en-US" dirty="0">
                    <a:latin typeface="+mn-lt"/>
                  </a:rPr>
                </a:br>
                <a:r>
                  <a:rPr lang="en-GB" altLang="en-US" sz="2400" dirty="0">
                    <a:latin typeface="+mn-lt"/>
                  </a:rPr>
                  <a:t>Unemployment rate </a:t>
                </a:r>
                <a14:m>
                  <m:oMath xmlns:m="http://schemas.openxmlformats.org/officeDocument/2006/math">
                    <m:f>
                      <m:fPr>
                        <m:ctrlPr>
                          <a:rPr lang="en-GB" altLang="en-US" sz="2400" i="1">
                            <a:latin typeface="Cambria Math" panose="02040503050406030204" pitchFamily="18" charset="0"/>
                          </a:rPr>
                        </m:ctrlPr>
                      </m:fPr>
                      <m:num>
                        <m:r>
                          <a:rPr lang="en-GB" altLang="en-US" sz="2400">
                            <a:latin typeface="Cambria Math" panose="02040503050406030204" pitchFamily="18" charset="0"/>
                          </a:rPr>
                          <m:t>1.5</m:t>
                        </m:r>
                      </m:num>
                      <m:den>
                        <m:r>
                          <a:rPr lang="en-GB" altLang="en-US" sz="2400">
                            <a:latin typeface="Cambria Math" panose="02040503050406030204" pitchFamily="18" charset="0"/>
                          </a:rPr>
                          <m:t>30+1.5</m:t>
                        </m:r>
                      </m:den>
                    </m:f>
                    <m:r>
                      <a:rPr lang="en-GB" altLang="en-US" sz="2400" i="1">
                        <a:latin typeface="Cambria Math" panose="02040503050406030204" pitchFamily="18" charset="0"/>
                      </a:rPr>
                      <m:t> </m:t>
                    </m:r>
                    <m:r>
                      <a:rPr lang="en-GB" altLang="en-US" sz="2400" i="1">
                        <a:latin typeface="Cambria Math" panose="02040503050406030204" pitchFamily="18" charset="0"/>
                        <a:sym typeface="Symbol" panose="05050102010706020507" pitchFamily="18" charset="2"/>
                      </a:rPr>
                      <m:t> 0.0476</m:t>
                    </m:r>
                  </m:oMath>
                </a14:m>
                <a:r>
                  <a:rPr lang="en-GB" altLang="en-US" sz="2400" dirty="0">
                    <a:latin typeface="+mn-lt"/>
                  </a:rPr>
                  <a:t> [4.76%]</a:t>
                </a:r>
              </a:p>
              <a:p>
                <a:endParaRPr lang="en-MY" dirty="0"/>
              </a:p>
            </p:txBody>
          </p:sp>
        </mc:Choice>
        <mc:Fallback xmlns="">
          <p:sp>
            <p:nvSpPr>
              <p:cNvPr id="3" name="Content Placeholder 2">
                <a:extLst>
                  <a:ext uri="{FF2B5EF4-FFF2-40B4-BE49-F238E27FC236}">
                    <a16:creationId xmlns:a16="http://schemas.microsoft.com/office/drawing/2014/main" id="{761668BF-C864-BBA4-3747-61BBA4DF06E1}"/>
                  </a:ext>
                </a:extLst>
              </p:cNvPr>
              <p:cNvSpPr>
                <a:spLocks noGrp="1" noRot="1" noChangeAspect="1" noMove="1" noResize="1" noEditPoints="1" noAdjustHandles="1" noChangeArrowheads="1" noChangeShapeType="1" noTextEdit="1"/>
              </p:cNvSpPr>
              <p:nvPr>
                <p:ph idx="1"/>
              </p:nvPr>
            </p:nvSpPr>
            <p:spPr>
              <a:xfrm>
                <a:off x="838200" y="1392775"/>
                <a:ext cx="10515600" cy="4621628"/>
              </a:xfrm>
              <a:blipFill>
                <a:blip r:embed="rId2"/>
                <a:stretch>
                  <a:fillRect/>
                </a:stretch>
              </a:blipFill>
            </p:spPr>
            <p:txBody>
              <a:bodyPr/>
              <a:lstStyle/>
              <a:p>
                <a:r>
                  <a:rPr lang="en-MY">
                    <a:noFill/>
                  </a:rPr>
                  <a:t> </a:t>
                </a:r>
              </a:p>
            </p:txBody>
          </p:sp>
        </mc:Fallback>
      </mc:AlternateContent>
    </p:spTree>
    <p:extLst>
      <p:ext uri="{BB962C8B-B14F-4D97-AF65-F5344CB8AC3E}">
        <p14:creationId xmlns:p14="http://schemas.microsoft.com/office/powerpoint/2010/main" val="25756291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12C93E-472E-3942-3652-3DBB4A0AE12E}"/>
              </a:ext>
            </a:extLst>
          </p:cNvPr>
          <p:cNvSpPr>
            <a:spLocks noGrp="1"/>
          </p:cNvSpPr>
          <p:nvPr>
            <p:ph type="title"/>
          </p:nvPr>
        </p:nvSpPr>
        <p:spPr/>
        <p:txBody>
          <a:bodyPr>
            <a:normAutofit fontScale="90000"/>
          </a:bodyPr>
          <a:lstStyle/>
          <a:p>
            <a:pPr algn="ctr"/>
            <a:r>
              <a:rPr lang="en-US" dirty="0" err="1"/>
              <a:t>Standardised</a:t>
            </a:r>
            <a:r>
              <a:rPr lang="en-US" dirty="0"/>
              <a:t> unemployment rates</a:t>
            </a:r>
            <a:br>
              <a:rPr lang="en-US" dirty="0"/>
            </a:br>
            <a:endParaRPr lang="en-US" dirty="0"/>
          </a:p>
        </p:txBody>
      </p:sp>
      <p:sp>
        <p:nvSpPr>
          <p:cNvPr id="3" name="Content Placeholder 2">
            <a:extLst>
              <a:ext uri="{FF2B5EF4-FFF2-40B4-BE49-F238E27FC236}">
                <a16:creationId xmlns:a16="http://schemas.microsoft.com/office/drawing/2014/main" id="{C392D937-FFBD-8971-9AF4-2260B1666911}"/>
              </a:ext>
            </a:extLst>
          </p:cNvPr>
          <p:cNvSpPr>
            <a:spLocks noGrp="1"/>
          </p:cNvSpPr>
          <p:nvPr>
            <p:ph sz="half" idx="1"/>
          </p:nvPr>
        </p:nvSpPr>
        <p:spPr/>
        <p:txBody>
          <a:bodyPr/>
          <a:lstStyle/>
          <a:p>
            <a:endParaRPr lang="en-US"/>
          </a:p>
        </p:txBody>
      </p:sp>
      <p:sp>
        <p:nvSpPr>
          <p:cNvPr id="4" name="Content Placeholder 3">
            <a:extLst>
              <a:ext uri="{FF2B5EF4-FFF2-40B4-BE49-F238E27FC236}">
                <a16:creationId xmlns:a16="http://schemas.microsoft.com/office/drawing/2014/main" id="{E9F166D0-1673-500C-C5DC-D70E1E02B08C}"/>
              </a:ext>
            </a:extLst>
          </p:cNvPr>
          <p:cNvSpPr>
            <a:spLocks noGrp="1"/>
          </p:cNvSpPr>
          <p:nvPr>
            <p:ph sz="half" idx="2"/>
          </p:nvPr>
        </p:nvSpPr>
        <p:spPr/>
        <p:txBody>
          <a:bodyPr/>
          <a:lstStyle/>
          <a:p>
            <a:endParaRPr lang="en-US"/>
          </a:p>
        </p:txBody>
      </p:sp>
      <p:graphicFrame>
        <p:nvGraphicFramePr>
          <p:cNvPr id="5" name="Object 2">
            <a:extLst>
              <a:ext uri="{FF2B5EF4-FFF2-40B4-BE49-F238E27FC236}">
                <a16:creationId xmlns:a16="http://schemas.microsoft.com/office/drawing/2014/main" id="{11B46A8D-0433-56FD-C1A2-A6B7BD09095F}"/>
              </a:ext>
            </a:extLst>
          </p:cNvPr>
          <p:cNvGraphicFramePr>
            <a:graphicFrameLocks/>
          </p:cNvGraphicFramePr>
          <p:nvPr>
            <p:extLst>
              <p:ext uri="{D42A27DB-BD31-4B8C-83A1-F6EECF244321}">
                <p14:modId xmlns:p14="http://schemas.microsoft.com/office/powerpoint/2010/main" val="88677991"/>
              </p:ext>
            </p:extLst>
          </p:nvPr>
        </p:nvGraphicFramePr>
        <p:xfrm>
          <a:off x="0" y="783570"/>
          <a:ext cx="12192000" cy="5808312"/>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8728332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graphicEl>
                                              <a:chart seriesIdx="0" categoryIdx="-4" bldStep="series"/>
                                            </p:graphicEl>
                                          </p:spTgt>
                                        </p:tgtEl>
                                        <p:attrNameLst>
                                          <p:attrName>style.visibility</p:attrName>
                                        </p:attrNameLst>
                                      </p:cBhvr>
                                      <p:to>
                                        <p:strVal val="visible"/>
                                      </p:to>
                                    </p:set>
                                    <p:animEffect transition="in" filter="wipe(left)">
                                      <p:cBhvr>
                                        <p:cTn id="7" dur="1250"/>
                                        <p:tgtEl>
                                          <p:spTgt spid="5">
                                            <p:graphicEl>
                                              <a:chart seriesIdx="0" categoryIdx="-4" bldStep="series"/>
                                            </p:graphic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
                                            <p:graphicEl>
                                              <a:chart seriesIdx="1" categoryIdx="-4" bldStep="series"/>
                                            </p:graphicEl>
                                          </p:spTgt>
                                        </p:tgtEl>
                                        <p:attrNameLst>
                                          <p:attrName>style.visibility</p:attrName>
                                        </p:attrNameLst>
                                      </p:cBhvr>
                                      <p:to>
                                        <p:strVal val="visible"/>
                                      </p:to>
                                    </p:set>
                                    <p:animEffect transition="in" filter="wipe(left)">
                                      <p:cBhvr>
                                        <p:cTn id="12" dur="1250"/>
                                        <p:tgtEl>
                                          <p:spTgt spid="5">
                                            <p:graphicEl>
                                              <a:chart seriesIdx="1" categoryIdx="-4" bldStep="series"/>
                                            </p:graphic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
                                            <p:graphicEl>
                                              <a:chart seriesIdx="2" categoryIdx="-4" bldStep="series"/>
                                            </p:graphicEl>
                                          </p:spTgt>
                                        </p:tgtEl>
                                        <p:attrNameLst>
                                          <p:attrName>style.visibility</p:attrName>
                                        </p:attrNameLst>
                                      </p:cBhvr>
                                      <p:to>
                                        <p:strVal val="visible"/>
                                      </p:to>
                                    </p:set>
                                    <p:animEffect transition="in" filter="wipe(left)">
                                      <p:cBhvr>
                                        <p:cTn id="17" dur="1250"/>
                                        <p:tgtEl>
                                          <p:spTgt spid="5">
                                            <p:graphicEl>
                                              <a:chart seriesIdx="2" categoryIdx="-4" bldStep="series"/>
                                            </p:graphic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
                                            <p:graphicEl>
                                              <a:chart seriesIdx="3" categoryIdx="-4" bldStep="series"/>
                                            </p:graphicEl>
                                          </p:spTgt>
                                        </p:tgtEl>
                                        <p:attrNameLst>
                                          <p:attrName>style.visibility</p:attrName>
                                        </p:attrNameLst>
                                      </p:cBhvr>
                                      <p:to>
                                        <p:strVal val="visible"/>
                                      </p:to>
                                    </p:set>
                                    <p:animEffect transition="in" filter="wipe(left)">
                                      <p:cBhvr>
                                        <p:cTn id="22" dur="1250"/>
                                        <p:tgtEl>
                                          <p:spTgt spid="5">
                                            <p:graphicEl>
                                              <a:chart seriesIdx="3" categoryIdx="-4" bldStep="series"/>
                                            </p:graphic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5">
                                            <p:graphicEl>
                                              <a:chart seriesIdx="4" categoryIdx="-4" bldStep="series"/>
                                            </p:graphicEl>
                                          </p:spTgt>
                                        </p:tgtEl>
                                        <p:attrNameLst>
                                          <p:attrName>style.visibility</p:attrName>
                                        </p:attrNameLst>
                                      </p:cBhvr>
                                      <p:to>
                                        <p:strVal val="visible"/>
                                      </p:to>
                                    </p:set>
                                    <p:animEffect transition="in" filter="wipe(left)">
                                      <p:cBhvr>
                                        <p:cTn id="27" dur="1250"/>
                                        <p:tgtEl>
                                          <p:spTgt spid="5">
                                            <p:graphicEl>
                                              <a:chart seriesIdx="4" categoryIdx="-4" bldStep="series"/>
                                            </p:graphic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5">
                                            <p:graphicEl>
                                              <a:chart seriesIdx="5" categoryIdx="-4" bldStep="series"/>
                                            </p:graphicEl>
                                          </p:spTgt>
                                        </p:tgtEl>
                                        <p:attrNameLst>
                                          <p:attrName>style.visibility</p:attrName>
                                        </p:attrNameLst>
                                      </p:cBhvr>
                                      <p:to>
                                        <p:strVal val="visible"/>
                                      </p:to>
                                    </p:set>
                                    <p:animEffect transition="in" filter="wipe(left)">
                                      <p:cBhvr>
                                        <p:cTn id="32" dur="1250"/>
                                        <p:tgtEl>
                                          <p:spTgt spid="5">
                                            <p:graphicEl>
                                              <a:chart seriesIdx="5" categoryIdx="-4" bldStep="series"/>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p:bldSub>
          <a:bldChart bld="series" animBg="0"/>
        </p:bldSub>
      </p:bldGraphic>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9672-7F7C-65A4-F4D0-F8B7C1F0D99A}"/>
              </a:ext>
            </a:extLst>
          </p:cNvPr>
          <p:cNvSpPr>
            <a:spLocks noGrp="1"/>
          </p:cNvSpPr>
          <p:nvPr>
            <p:ph type="title"/>
          </p:nvPr>
        </p:nvSpPr>
        <p:spPr/>
        <p:txBody>
          <a:bodyPr/>
          <a:lstStyle/>
          <a:p>
            <a:r>
              <a:rPr lang="en-GB" altLang="en-US" dirty="0"/>
              <a:t>Unemployment and the labour market</a:t>
            </a:r>
            <a:endParaRPr lang="en-MY" dirty="0"/>
          </a:p>
        </p:txBody>
      </p:sp>
      <p:sp>
        <p:nvSpPr>
          <p:cNvPr id="3" name="Content Placeholder 2">
            <a:extLst>
              <a:ext uri="{FF2B5EF4-FFF2-40B4-BE49-F238E27FC236}">
                <a16:creationId xmlns:a16="http://schemas.microsoft.com/office/drawing/2014/main" id="{803D33EF-91D2-5BB7-3B94-9E7BF1C869EB}"/>
              </a:ext>
            </a:extLst>
          </p:cNvPr>
          <p:cNvSpPr>
            <a:spLocks noGrp="1"/>
          </p:cNvSpPr>
          <p:nvPr>
            <p:ph idx="1"/>
          </p:nvPr>
        </p:nvSpPr>
        <p:spPr/>
        <p:txBody>
          <a:bodyPr/>
          <a:lstStyle/>
          <a:p>
            <a:pPr>
              <a:spcBef>
                <a:spcPts val="300"/>
              </a:spcBef>
            </a:pPr>
            <a:r>
              <a:rPr lang="en-GB" altLang="en-US" dirty="0">
                <a:latin typeface="+mn-lt"/>
              </a:rPr>
              <a:t>Aggregate supply of labour: number of people willing to work at the current wage rate</a:t>
            </a:r>
          </a:p>
          <a:p>
            <a:pPr lvl="1">
              <a:spcBef>
                <a:spcPts val="300"/>
              </a:spcBef>
            </a:pPr>
            <a:r>
              <a:rPr lang="en-GB" altLang="en-US" dirty="0">
                <a:latin typeface="+mn-lt"/>
              </a:rPr>
              <a:t>May be less than the total workforce</a:t>
            </a:r>
          </a:p>
          <a:p>
            <a:pPr lvl="1">
              <a:spcBef>
                <a:spcPts val="300"/>
              </a:spcBef>
            </a:pPr>
            <a:endParaRPr lang="en-GB" altLang="en-US" dirty="0">
              <a:latin typeface="+mn-lt"/>
            </a:endParaRPr>
          </a:p>
          <a:p>
            <a:pPr>
              <a:spcBef>
                <a:spcPts val="300"/>
              </a:spcBef>
            </a:pPr>
            <a:r>
              <a:rPr lang="en-GB" altLang="en-US" dirty="0">
                <a:latin typeface="+mn-lt"/>
              </a:rPr>
              <a:t>Aggregate demand for labour: number of people that employers are willing to hire at the current wage rate</a:t>
            </a:r>
          </a:p>
          <a:p>
            <a:pPr lvl="2">
              <a:spcBef>
                <a:spcPts val="300"/>
              </a:spcBef>
            </a:pPr>
            <a:r>
              <a:rPr lang="en-GB" altLang="en-US" dirty="0">
                <a:latin typeface="+mn-lt"/>
              </a:rPr>
              <a:t>Assumes that all workers are the same – (reasonable??)</a:t>
            </a:r>
          </a:p>
          <a:p>
            <a:pPr lvl="2">
              <a:spcBef>
                <a:spcPts val="300"/>
              </a:spcBef>
            </a:pPr>
            <a:endParaRPr lang="en-GB" altLang="en-US" dirty="0">
              <a:latin typeface="+mn-lt"/>
            </a:endParaRPr>
          </a:p>
          <a:p>
            <a:pPr>
              <a:spcBef>
                <a:spcPts val="300"/>
              </a:spcBef>
            </a:pPr>
            <a:r>
              <a:rPr lang="en-GB" altLang="en-US" dirty="0">
                <a:latin typeface="+mn-lt"/>
              </a:rPr>
              <a:t>Equilibrium: wage set to aggregate supply, demand are equal</a:t>
            </a:r>
          </a:p>
          <a:p>
            <a:pPr lvl="1">
              <a:spcBef>
                <a:spcPts val="300"/>
              </a:spcBef>
            </a:pPr>
            <a:r>
              <a:rPr lang="en-GB" altLang="en-US" dirty="0">
                <a:latin typeface="+mn-lt"/>
              </a:rPr>
              <a:t>Equilibrium unemployment: share of labour force unwilling to work given current wage</a:t>
            </a:r>
          </a:p>
          <a:p>
            <a:pPr lvl="1">
              <a:spcBef>
                <a:spcPts val="300"/>
              </a:spcBef>
            </a:pPr>
            <a:r>
              <a:rPr lang="en-GB" altLang="en-US" dirty="0">
                <a:latin typeface="+mn-lt"/>
              </a:rPr>
              <a:t>Disequilibrium unemployment: occurs when wage above market clearing level – and ‘sticky’ wages don’t fall</a:t>
            </a:r>
          </a:p>
          <a:p>
            <a:endParaRPr lang="en-MY" dirty="0"/>
          </a:p>
        </p:txBody>
      </p:sp>
    </p:spTree>
    <p:extLst>
      <p:ext uri="{BB962C8B-B14F-4D97-AF65-F5344CB8AC3E}">
        <p14:creationId xmlns:p14="http://schemas.microsoft.com/office/powerpoint/2010/main" val="6906413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2A56EA-FACB-E842-7151-76B230D07069}"/>
              </a:ext>
            </a:extLst>
          </p:cNvPr>
          <p:cNvSpPr>
            <a:spLocks noGrp="1"/>
          </p:cNvSpPr>
          <p:nvPr>
            <p:ph type="title"/>
          </p:nvPr>
        </p:nvSpPr>
        <p:spPr/>
        <p:txBody>
          <a:bodyPr/>
          <a:lstStyle/>
          <a:p>
            <a:r>
              <a:rPr lang="en-GB" altLang="en-US" dirty="0"/>
              <a:t>Types of equilibrium unemployment</a:t>
            </a:r>
            <a:endParaRPr lang="en-MY" dirty="0"/>
          </a:p>
        </p:txBody>
      </p:sp>
      <p:sp>
        <p:nvSpPr>
          <p:cNvPr id="3" name="Content Placeholder 2">
            <a:extLst>
              <a:ext uri="{FF2B5EF4-FFF2-40B4-BE49-F238E27FC236}">
                <a16:creationId xmlns:a16="http://schemas.microsoft.com/office/drawing/2014/main" id="{14CEBC4F-2D14-896D-D139-DDEBA32F674B}"/>
              </a:ext>
            </a:extLst>
          </p:cNvPr>
          <p:cNvSpPr>
            <a:spLocks noGrp="1"/>
          </p:cNvSpPr>
          <p:nvPr>
            <p:ph idx="1"/>
          </p:nvPr>
        </p:nvSpPr>
        <p:spPr/>
        <p:txBody>
          <a:bodyPr/>
          <a:lstStyle/>
          <a:p>
            <a:pPr>
              <a:lnSpc>
                <a:spcPct val="80000"/>
              </a:lnSpc>
              <a:spcBef>
                <a:spcPct val="100000"/>
              </a:spcBef>
            </a:pPr>
            <a:r>
              <a:rPr lang="en-GB" altLang="en-US" dirty="0">
                <a:latin typeface="+mn-lt"/>
              </a:rPr>
              <a:t>Why might someone not choose to work at the current wage?</a:t>
            </a:r>
          </a:p>
          <a:p>
            <a:pPr>
              <a:lnSpc>
                <a:spcPct val="80000"/>
              </a:lnSpc>
              <a:spcBef>
                <a:spcPct val="100000"/>
              </a:spcBef>
            </a:pPr>
            <a:endParaRPr lang="en-GB" altLang="en-US" dirty="0">
              <a:latin typeface="+mn-lt"/>
            </a:endParaRPr>
          </a:p>
          <a:p>
            <a:pPr lvl="1">
              <a:spcBef>
                <a:spcPts val="600"/>
              </a:spcBef>
            </a:pPr>
            <a:r>
              <a:rPr lang="en-GB" altLang="en-US" sz="2400" b="1" dirty="0">
                <a:latin typeface="+mn-lt"/>
              </a:rPr>
              <a:t>Frictions</a:t>
            </a:r>
            <a:r>
              <a:rPr lang="en-GB" altLang="en-US" sz="2400" dirty="0">
                <a:latin typeface="+mn-lt"/>
              </a:rPr>
              <a:t>: takes time to move between jobs</a:t>
            </a:r>
          </a:p>
          <a:p>
            <a:pPr lvl="1">
              <a:spcBef>
                <a:spcPts val="600"/>
              </a:spcBef>
            </a:pPr>
            <a:r>
              <a:rPr lang="en-GB" altLang="en-US" sz="2400" b="1" dirty="0">
                <a:latin typeface="+mn-lt"/>
              </a:rPr>
              <a:t>Search</a:t>
            </a:r>
            <a:r>
              <a:rPr lang="en-GB" altLang="en-US" sz="2400" dirty="0">
                <a:latin typeface="+mn-lt"/>
              </a:rPr>
              <a:t>: looking for a job – and looking for workers</a:t>
            </a:r>
          </a:p>
          <a:p>
            <a:pPr lvl="1">
              <a:spcBef>
                <a:spcPts val="600"/>
              </a:spcBef>
            </a:pPr>
            <a:r>
              <a:rPr lang="en-GB" altLang="en-US" sz="2400" b="1" dirty="0">
                <a:latin typeface="+mn-lt"/>
              </a:rPr>
              <a:t>Structural change </a:t>
            </a:r>
            <a:r>
              <a:rPr lang="en-GB" altLang="en-US" sz="2400" dirty="0">
                <a:latin typeface="+mn-lt"/>
              </a:rPr>
              <a:t>– the places where there are jobs change </a:t>
            </a:r>
            <a:br>
              <a:rPr lang="en-GB" altLang="en-US" sz="2400" dirty="0">
                <a:latin typeface="+mn-lt"/>
              </a:rPr>
            </a:br>
            <a:r>
              <a:rPr lang="en-GB" altLang="en-US" sz="2400" dirty="0">
                <a:latin typeface="+mn-lt"/>
              </a:rPr>
              <a:t>(regional unemployment)</a:t>
            </a:r>
          </a:p>
          <a:p>
            <a:pPr lvl="2">
              <a:spcBef>
                <a:spcPts val="600"/>
              </a:spcBef>
            </a:pPr>
            <a:r>
              <a:rPr lang="en-GB" altLang="en-US" sz="2200" dirty="0">
                <a:latin typeface="+mn-lt"/>
              </a:rPr>
              <a:t>and so do the types of jobs which are available (technological change)</a:t>
            </a:r>
          </a:p>
          <a:p>
            <a:pPr lvl="2">
              <a:spcBef>
                <a:spcPts val="600"/>
              </a:spcBef>
            </a:pPr>
            <a:r>
              <a:rPr lang="en-GB" altLang="en-US" sz="2200" dirty="0">
                <a:latin typeface="+mn-lt"/>
              </a:rPr>
              <a:t>or the types of jobs which are vacant (because of changes in demand)</a:t>
            </a:r>
          </a:p>
          <a:p>
            <a:pPr lvl="1">
              <a:spcBef>
                <a:spcPts val="600"/>
              </a:spcBef>
            </a:pPr>
            <a:r>
              <a:rPr lang="en-GB" altLang="en-US" sz="2400" b="1" dirty="0">
                <a:latin typeface="+mn-lt"/>
              </a:rPr>
              <a:t>Seasonal</a:t>
            </a:r>
            <a:r>
              <a:rPr lang="en-GB" altLang="en-US" sz="2400" dirty="0">
                <a:latin typeface="+mn-lt"/>
              </a:rPr>
              <a:t>: work no longer available (Santa Claus in July)</a:t>
            </a:r>
          </a:p>
          <a:p>
            <a:endParaRPr lang="en-MY" dirty="0"/>
          </a:p>
        </p:txBody>
      </p:sp>
    </p:spTree>
    <p:extLst>
      <p:ext uri="{BB962C8B-B14F-4D97-AF65-F5344CB8AC3E}">
        <p14:creationId xmlns:p14="http://schemas.microsoft.com/office/powerpoint/2010/main" val="29327949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2DC704-17D3-7340-1A1F-DE471FA7EBB1}"/>
              </a:ext>
            </a:extLst>
          </p:cNvPr>
          <p:cNvSpPr>
            <a:spLocks noGrp="1"/>
          </p:cNvSpPr>
          <p:nvPr>
            <p:ph type="title"/>
          </p:nvPr>
        </p:nvSpPr>
        <p:spPr/>
        <p:txBody>
          <a:bodyPr/>
          <a:lstStyle/>
          <a:p>
            <a:r>
              <a:rPr lang="en-GB" dirty="0"/>
              <a:t>Types of disequilibrium unemployment</a:t>
            </a:r>
            <a:endParaRPr lang="en-MY" dirty="0"/>
          </a:p>
        </p:txBody>
      </p:sp>
      <p:sp>
        <p:nvSpPr>
          <p:cNvPr id="3" name="Content Placeholder 2">
            <a:extLst>
              <a:ext uri="{FF2B5EF4-FFF2-40B4-BE49-F238E27FC236}">
                <a16:creationId xmlns:a16="http://schemas.microsoft.com/office/drawing/2014/main" id="{C22C4286-90A6-FD4A-8607-2DCEAE009BC9}"/>
              </a:ext>
            </a:extLst>
          </p:cNvPr>
          <p:cNvSpPr>
            <a:spLocks noGrp="1"/>
          </p:cNvSpPr>
          <p:nvPr>
            <p:ph idx="1"/>
          </p:nvPr>
        </p:nvSpPr>
        <p:spPr/>
        <p:txBody>
          <a:bodyPr/>
          <a:lstStyle/>
          <a:p>
            <a:r>
              <a:rPr lang="en-GB" b="1" dirty="0">
                <a:latin typeface="+mn-lt"/>
              </a:rPr>
              <a:t>Wage stickiness </a:t>
            </a:r>
            <a:r>
              <a:rPr lang="en-GB" dirty="0">
                <a:latin typeface="+mn-lt"/>
              </a:rPr>
              <a:t>– real wage above market clearing rate</a:t>
            </a:r>
          </a:p>
          <a:p>
            <a:pPr lvl="1"/>
            <a:r>
              <a:rPr lang="en-GB" dirty="0">
                <a:latin typeface="+mn-lt"/>
              </a:rPr>
              <a:t>Trade unions negotiating on behalf of members?</a:t>
            </a:r>
          </a:p>
          <a:p>
            <a:pPr lvl="2"/>
            <a:r>
              <a:rPr lang="en-GB" dirty="0">
                <a:latin typeface="+mn-lt"/>
              </a:rPr>
              <a:t>Unlikely given labour market reforms, pressures of globalisation</a:t>
            </a:r>
          </a:p>
          <a:p>
            <a:pPr lvl="2"/>
            <a:r>
              <a:rPr lang="en-GB" dirty="0">
                <a:latin typeface="+mn-lt"/>
              </a:rPr>
              <a:t>Could be some effect when labour supply increases, but not demand</a:t>
            </a:r>
          </a:p>
          <a:p>
            <a:pPr lvl="1"/>
            <a:r>
              <a:rPr lang="en-GB" dirty="0">
                <a:latin typeface="+mn-lt"/>
              </a:rPr>
              <a:t>Very little evidence that minimum wages cause unemployment</a:t>
            </a:r>
          </a:p>
          <a:p>
            <a:pPr lvl="2"/>
            <a:r>
              <a:rPr lang="en-GB" dirty="0">
                <a:latin typeface="+mn-lt"/>
              </a:rPr>
              <a:t>Possible explanation in terms of multiple equilibria</a:t>
            </a:r>
          </a:p>
          <a:p>
            <a:r>
              <a:rPr lang="en-GB" b="1" dirty="0">
                <a:latin typeface="+mn-lt"/>
              </a:rPr>
              <a:t>Demand deficient unemployment </a:t>
            </a:r>
          </a:p>
          <a:p>
            <a:pPr lvl="1"/>
            <a:r>
              <a:rPr lang="en-GB" dirty="0">
                <a:latin typeface="+mn-lt"/>
              </a:rPr>
              <a:t>In recession, aggregate demand low – firms may lay workers off</a:t>
            </a:r>
          </a:p>
          <a:p>
            <a:pPr lvl="1"/>
            <a:r>
              <a:rPr lang="en-GB" dirty="0">
                <a:latin typeface="+mn-lt"/>
              </a:rPr>
              <a:t>Or firms may close, making staff redundant</a:t>
            </a:r>
          </a:p>
          <a:p>
            <a:endParaRPr lang="en-MY" dirty="0"/>
          </a:p>
        </p:txBody>
      </p:sp>
    </p:spTree>
    <p:extLst>
      <p:ext uri="{BB962C8B-B14F-4D97-AF65-F5344CB8AC3E}">
        <p14:creationId xmlns:p14="http://schemas.microsoft.com/office/powerpoint/2010/main" val="23669608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5" name="Rectangle 3">
            <a:extLst>
              <a:ext uri="{FF2B5EF4-FFF2-40B4-BE49-F238E27FC236}">
                <a16:creationId xmlns:a16="http://schemas.microsoft.com/office/drawing/2014/main" id="{221B929F-EC76-491F-8C35-6775B9150D6A}"/>
              </a:ext>
            </a:extLst>
          </p:cNvPr>
          <p:cNvSpPr>
            <a:spLocks noChangeArrowheads="1"/>
          </p:cNvSpPr>
          <p:nvPr/>
        </p:nvSpPr>
        <p:spPr bwMode="auto">
          <a:xfrm>
            <a:off x="2209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51207" name="Line 5">
            <a:extLst>
              <a:ext uri="{FF2B5EF4-FFF2-40B4-BE49-F238E27FC236}">
                <a16:creationId xmlns:a16="http://schemas.microsoft.com/office/drawing/2014/main" id="{005F8A71-D8D4-4E75-824A-6D05FCA3C7A4}"/>
              </a:ext>
            </a:extLst>
          </p:cNvPr>
          <p:cNvSpPr>
            <a:spLocks noChangeShapeType="1"/>
          </p:cNvSpPr>
          <p:nvPr/>
        </p:nvSpPr>
        <p:spPr bwMode="auto">
          <a:xfrm>
            <a:off x="2590800" y="609600"/>
            <a:ext cx="0" cy="5334000"/>
          </a:xfrm>
          <a:prstGeom prst="line">
            <a:avLst/>
          </a:prstGeom>
          <a:noFill/>
          <a:ln w="25400">
            <a:solidFill>
              <a:schemeClr val="tx1"/>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51208" name="Line 6">
            <a:extLst>
              <a:ext uri="{FF2B5EF4-FFF2-40B4-BE49-F238E27FC236}">
                <a16:creationId xmlns:a16="http://schemas.microsoft.com/office/drawing/2014/main" id="{4A0F79B5-98A7-439D-84D0-16AAA48E4A85}"/>
              </a:ext>
            </a:extLst>
          </p:cNvPr>
          <p:cNvSpPr>
            <a:spLocks noChangeShapeType="1"/>
          </p:cNvSpPr>
          <p:nvPr/>
        </p:nvSpPr>
        <p:spPr bwMode="auto">
          <a:xfrm>
            <a:off x="2590800" y="5943600"/>
            <a:ext cx="7010400" cy="0"/>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GB"/>
          </a:p>
        </p:txBody>
      </p:sp>
      <p:sp>
        <p:nvSpPr>
          <p:cNvPr id="51209" name="Rectangle 7">
            <a:extLst>
              <a:ext uri="{FF2B5EF4-FFF2-40B4-BE49-F238E27FC236}">
                <a16:creationId xmlns:a16="http://schemas.microsoft.com/office/drawing/2014/main" id="{0F14027E-EBE5-44C8-9D0D-CE62249FF0B7}"/>
              </a:ext>
            </a:extLst>
          </p:cNvPr>
          <p:cNvSpPr>
            <a:spLocks noChangeArrowheads="1"/>
          </p:cNvSpPr>
          <p:nvPr/>
        </p:nvSpPr>
        <p:spPr bwMode="auto">
          <a:xfrm>
            <a:off x="2270126" y="5897563"/>
            <a:ext cx="384721" cy="4007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defRPr sz="2400">
                <a:solidFill>
                  <a:schemeClr val="tx1"/>
                </a:solidFill>
                <a:latin typeface="Times New Roman" panose="02020603050405020304" pitchFamily="18" charset="0"/>
              </a:defRPr>
            </a:lvl1pPr>
            <a:lvl2pPr marL="742950" indent="-285750" defTabSz="762000">
              <a:defRPr sz="2400">
                <a:solidFill>
                  <a:schemeClr val="tx1"/>
                </a:solidFill>
                <a:latin typeface="Times New Roman" panose="02020603050405020304" pitchFamily="18" charset="0"/>
              </a:defRPr>
            </a:lvl2pPr>
            <a:lvl3pPr marL="1143000" indent="-228600" defTabSz="762000">
              <a:defRPr sz="2400">
                <a:solidFill>
                  <a:schemeClr val="tx1"/>
                </a:solidFill>
                <a:latin typeface="Times New Roman" panose="02020603050405020304" pitchFamily="18" charset="0"/>
              </a:defRPr>
            </a:lvl3pPr>
            <a:lvl4pPr marL="1600200" indent="-228600" defTabSz="762000">
              <a:defRPr sz="2400">
                <a:solidFill>
                  <a:schemeClr val="tx1"/>
                </a:solidFill>
                <a:latin typeface="Times New Roman" panose="02020603050405020304" pitchFamily="18" charset="0"/>
              </a:defRPr>
            </a:lvl4pPr>
            <a:lvl5pPr marL="2057400" indent="-228600" defTabSz="762000">
              <a:defRPr sz="2400">
                <a:solidFill>
                  <a:schemeClr val="tx1"/>
                </a:solidFill>
                <a:latin typeface="Times New Roman" panose="02020603050405020304" pitchFamily="18" charset="0"/>
              </a:defRPr>
            </a:lvl5pPr>
            <a:lvl6pPr marL="2514600" indent="-228600" defTabSz="7620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7620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7620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762000" eaLnBrk="0" fontAlgn="base" hangingPunct="0">
              <a:spcBef>
                <a:spcPct val="0"/>
              </a:spcBef>
              <a:spcAft>
                <a:spcPct val="0"/>
              </a:spcAft>
              <a:defRPr sz="2400">
                <a:solidFill>
                  <a:schemeClr val="tx1"/>
                </a:solidFill>
                <a:latin typeface="Times New Roman" panose="02020603050405020304" pitchFamily="18" charset="0"/>
              </a:defRPr>
            </a:lvl9pPr>
          </a:lstStyle>
          <a:p>
            <a:r>
              <a:rPr lang="en-GB" altLang="en-US" sz="2000">
                <a:latin typeface="Arial" panose="020B0604020202020204" pitchFamily="34" charset="0"/>
              </a:rPr>
              <a:t>O</a:t>
            </a:r>
          </a:p>
        </p:txBody>
      </p:sp>
      <p:sp>
        <p:nvSpPr>
          <p:cNvPr id="51210" name="Rectangle 8">
            <a:extLst>
              <a:ext uri="{FF2B5EF4-FFF2-40B4-BE49-F238E27FC236}">
                <a16:creationId xmlns:a16="http://schemas.microsoft.com/office/drawing/2014/main" id="{300058C1-1A79-4205-A344-65548BE9D9A7}"/>
              </a:ext>
            </a:extLst>
          </p:cNvPr>
          <p:cNvSpPr>
            <a:spLocks noChangeArrowheads="1"/>
          </p:cNvSpPr>
          <p:nvPr/>
        </p:nvSpPr>
        <p:spPr bwMode="auto">
          <a:xfrm>
            <a:off x="2644691" y="756980"/>
            <a:ext cx="3001014" cy="4007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defRPr sz="2400">
                <a:solidFill>
                  <a:schemeClr val="tx1"/>
                </a:solidFill>
                <a:latin typeface="Times New Roman" panose="02020603050405020304" pitchFamily="18" charset="0"/>
              </a:defRPr>
            </a:lvl1pPr>
            <a:lvl2pPr marL="742950" indent="-285750" defTabSz="762000">
              <a:defRPr sz="2400">
                <a:solidFill>
                  <a:schemeClr val="tx1"/>
                </a:solidFill>
                <a:latin typeface="Times New Roman" panose="02020603050405020304" pitchFamily="18" charset="0"/>
              </a:defRPr>
            </a:lvl2pPr>
            <a:lvl3pPr marL="1143000" indent="-228600" defTabSz="762000">
              <a:defRPr sz="2400">
                <a:solidFill>
                  <a:schemeClr val="tx1"/>
                </a:solidFill>
                <a:latin typeface="Times New Roman" panose="02020603050405020304" pitchFamily="18" charset="0"/>
              </a:defRPr>
            </a:lvl3pPr>
            <a:lvl4pPr marL="1600200" indent="-228600" defTabSz="762000">
              <a:defRPr sz="2400">
                <a:solidFill>
                  <a:schemeClr val="tx1"/>
                </a:solidFill>
                <a:latin typeface="Times New Roman" panose="02020603050405020304" pitchFamily="18" charset="0"/>
              </a:defRPr>
            </a:lvl4pPr>
            <a:lvl5pPr marL="2057400" indent="-228600" defTabSz="762000">
              <a:defRPr sz="2400">
                <a:solidFill>
                  <a:schemeClr val="tx1"/>
                </a:solidFill>
                <a:latin typeface="Times New Roman" panose="02020603050405020304" pitchFamily="18" charset="0"/>
              </a:defRPr>
            </a:lvl5pPr>
            <a:lvl6pPr marL="2514600" indent="-228600" defTabSz="7620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7620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7620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762000" eaLnBrk="0" fontAlgn="base" hangingPunct="0">
              <a:spcBef>
                <a:spcPct val="0"/>
              </a:spcBef>
              <a:spcAft>
                <a:spcPct val="0"/>
              </a:spcAft>
              <a:defRPr sz="2400">
                <a:solidFill>
                  <a:schemeClr val="tx1"/>
                </a:solidFill>
                <a:latin typeface="Times New Roman" panose="02020603050405020304" pitchFamily="18" charset="0"/>
              </a:defRPr>
            </a:lvl9pPr>
          </a:lstStyle>
          <a:p>
            <a:r>
              <a:rPr lang="en-GB" altLang="en-US" sz="2000" dirty="0">
                <a:latin typeface="Arial" panose="020B0604020202020204" pitchFamily="34" charset="0"/>
              </a:rPr>
              <a:t>Average (real) wage rate</a:t>
            </a:r>
          </a:p>
        </p:txBody>
      </p:sp>
      <p:sp>
        <p:nvSpPr>
          <p:cNvPr id="51211" name="Rectangle 9">
            <a:extLst>
              <a:ext uri="{FF2B5EF4-FFF2-40B4-BE49-F238E27FC236}">
                <a16:creationId xmlns:a16="http://schemas.microsoft.com/office/drawing/2014/main" id="{53F6F779-CB4E-4B8F-8F48-FB505AC1351E}"/>
              </a:ext>
            </a:extLst>
          </p:cNvPr>
          <p:cNvSpPr>
            <a:spLocks noChangeArrowheads="1"/>
          </p:cNvSpPr>
          <p:nvPr/>
        </p:nvSpPr>
        <p:spPr bwMode="auto">
          <a:xfrm>
            <a:off x="8532989" y="5570360"/>
            <a:ext cx="1837041" cy="4007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defRPr sz="2400">
                <a:solidFill>
                  <a:schemeClr val="tx1"/>
                </a:solidFill>
                <a:latin typeface="Times New Roman" panose="02020603050405020304" pitchFamily="18" charset="0"/>
              </a:defRPr>
            </a:lvl1pPr>
            <a:lvl2pPr marL="742950" indent="-285750" defTabSz="762000">
              <a:defRPr sz="2400">
                <a:solidFill>
                  <a:schemeClr val="tx1"/>
                </a:solidFill>
                <a:latin typeface="Times New Roman" panose="02020603050405020304" pitchFamily="18" charset="0"/>
              </a:defRPr>
            </a:lvl2pPr>
            <a:lvl3pPr marL="1143000" indent="-228600" defTabSz="762000">
              <a:defRPr sz="2400">
                <a:solidFill>
                  <a:schemeClr val="tx1"/>
                </a:solidFill>
                <a:latin typeface="Times New Roman" panose="02020603050405020304" pitchFamily="18" charset="0"/>
              </a:defRPr>
            </a:lvl3pPr>
            <a:lvl4pPr marL="1600200" indent="-228600" defTabSz="762000">
              <a:defRPr sz="2400">
                <a:solidFill>
                  <a:schemeClr val="tx1"/>
                </a:solidFill>
                <a:latin typeface="Times New Roman" panose="02020603050405020304" pitchFamily="18" charset="0"/>
              </a:defRPr>
            </a:lvl4pPr>
            <a:lvl5pPr marL="2057400" indent="-228600" defTabSz="762000">
              <a:defRPr sz="2400">
                <a:solidFill>
                  <a:schemeClr val="tx1"/>
                </a:solidFill>
                <a:latin typeface="Times New Roman" panose="02020603050405020304" pitchFamily="18" charset="0"/>
              </a:defRPr>
            </a:lvl5pPr>
            <a:lvl6pPr marL="2514600" indent="-228600" defTabSz="7620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7620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7620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GB" altLang="en-US" sz="2000" dirty="0">
                <a:latin typeface="Arial" panose="020B0604020202020204" pitchFamily="34" charset="0"/>
              </a:rPr>
              <a:t>No. of workers</a:t>
            </a:r>
          </a:p>
        </p:txBody>
      </p:sp>
      <p:grpSp>
        <p:nvGrpSpPr>
          <p:cNvPr id="6" name="Group 5">
            <a:extLst>
              <a:ext uri="{FF2B5EF4-FFF2-40B4-BE49-F238E27FC236}">
                <a16:creationId xmlns:a16="http://schemas.microsoft.com/office/drawing/2014/main" id="{DA0B4D37-68BE-0F34-A90E-D2F037FAC6C6}"/>
              </a:ext>
            </a:extLst>
          </p:cNvPr>
          <p:cNvGrpSpPr/>
          <p:nvPr/>
        </p:nvGrpSpPr>
        <p:grpSpPr>
          <a:xfrm>
            <a:off x="2058989" y="228600"/>
            <a:ext cx="5156459" cy="5226050"/>
            <a:chOff x="2058989" y="228600"/>
            <a:chExt cx="5156459" cy="5226050"/>
          </a:xfrm>
        </p:grpSpPr>
        <p:sp>
          <p:nvSpPr>
            <p:cNvPr id="51212" name="Arc 10">
              <a:extLst>
                <a:ext uri="{FF2B5EF4-FFF2-40B4-BE49-F238E27FC236}">
                  <a16:creationId xmlns:a16="http://schemas.microsoft.com/office/drawing/2014/main" id="{27C7A526-309D-43A0-B6E9-D868BE027200}"/>
                </a:ext>
              </a:extLst>
            </p:cNvPr>
            <p:cNvSpPr>
              <a:spLocks/>
            </p:cNvSpPr>
            <p:nvPr/>
          </p:nvSpPr>
          <p:spPr bwMode="auto">
            <a:xfrm rot="21240000">
              <a:off x="2058989" y="228600"/>
              <a:ext cx="4860925" cy="5226050"/>
            </a:xfrm>
            <a:custGeom>
              <a:avLst/>
              <a:gdLst>
                <a:gd name="T0" fmla="*/ 2147483647 w 20593"/>
                <a:gd name="T1" fmla="*/ 2147483647 h 21428"/>
                <a:gd name="T2" fmla="*/ 2147483647 w 20593"/>
                <a:gd name="T3" fmla="*/ 2147483647 h 21428"/>
                <a:gd name="T4" fmla="*/ 0 w 20593"/>
                <a:gd name="T5" fmla="*/ 0 h 21428"/>
                <a:gd name="T6" fmla="*/ 0 60000 65536"/>
                <a:gd name="T7" fmla="*/ 0 60000 65536"/>
                <a:gd name="T8" fmla="*/ 0 60000 65536"/>
                <a:gd name="T9" fmla="*/ 0 w 20593"/>
                <a:gd name="T10" fmla="*/ 0 h 21428"/>
                <a:gd name="T11" fmla="*/ 20593 w 20593"/>
                <a:gd name="T12" fmla="*/ 21428 h 21428"/>
              </a:gdLst>
              <a:ahLst/>
              <a:cxnLst>
                <a:cxn ang="T6">
                  <a:pos x="T0" y="T1"/>
                </a:cxn>
                <a:cxn ang="T7">
                  <a:pos x="T2" y="T3"/>
                </a:cxn>
                <a:cxn ang="T8">
                  <a:pos x="T4" y="T5"/>
                </a:cxn>
              </a:cxnLst>
              <a:rect l="T9" t="T10" r="T11" b="T12"/>
              <a:pathLst>
                <a:path w="20593" h="21428" fill="none" extrusionOk="0">
                  <a:moveTo>
                    <a:pt x="20593" y="6518"/>
                  </a:moveTo>
                  <a:cubicBezTo>
                    <a:pt x="18051" y="14548"/>
                    <a:pt x="11073" y="20368"/>
                    <a:pt x="2718" y="21428"/>
                  </a:cubicBezTo>
                </a:path>
                <a:path w="20593" h="21428" stroke="0" extrusionOk="0">
                  <a:moveTo>
                    <a:pt x="20593" y="6518"/>
                  </a:moveTo>
                  <a:cubicBezTo>
                    <a:pt x="18051" y="14548"/>
                    <a:pt x="11073" y="20368"/>
                    <a:pt x="2718" y="21428"/>
                  </a:cubicBezTo>
                  <a:lnTo>
                    <a:pt x="0" y="0"/>
                  </a:lnTo>
                  <a:close/>
                </a:path>
              </a:pathLst>
            </a:custGeom>
            <a:noFill/>
            <a:ln w="38100" cap="rnd">
              <a:solidFill>
                <a:schemeClr val="tx2"/>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en-GB"/>
            </a:p>
          </p:txBody>
        </p:sp>
        <p:sp>
          <p:nvSpPr>
            <p:cNvPr id="51214" name="Rectangle 12">
              <a:extLst>
                <a:ext uri="{FF2B5EF4-FFF2-40B4-BE49-F238E27FC236}">
                  <a16:creationId xmlns:a16="http://schemas.microsoft.com/office/drawing/2014/main" id="{BD57860D-8287-458F-A629-98F92DCBD15E}"/>
                </a:ext>
              </a:extLst>
            </p:cNvPr>
            <p:cNvSpPr>
              <a:spLocks noChangeArrowheads="1"/>
            </p:cNvSpPr>
            <p:nvPr/>
          </p:nvSpPr>
          <p:spPr bwMode="auto">
            <a:xfrm>
              <a:off x="6505317" y="1173164"/>
              <a:ext cx="710131" cy="462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defRPr sz="2400">
                  <a:solidFill>
                    <a:schemeClr val="tx1"/>
                  </a:solidFill>
                  <a:latin typeface="Times New Roman" panose="02020603050405020304" pitchFamily="18" charset="0"/>
                </a:defRPr>
              </a:lvl1pPr>
              <a:lvl2pPr marL="742950" indent="-285750" defTabSz="762000">
                <a:defRPr sz="2400">
                  <a:solidFill>
                    <a:schemeClr val="tx1"/>
                  </a:solidFill>
                  <a:latin typeface="Times New Roman" panose="02020603050405020304" pitchFamily="18" charset="0"/>
                </a:defRPr>
              </a:lvl2pPr>
              <a:lvl3pPr marL="1143000" indent="-228600" defTabSz="762000">
                <a:defRPr sz="2400">
                  <a:solidFill>
                    <a:schemeClr val="tx1"/>
                  </a:solidFill>
                  <a:latin typeface="Times New Roman" panose="02020603050405020304" pitchFamily="18" charset="0"/>
                </a:defRPr>
              </a:lvl3pPr>
              <a:lvl4pPr marL="1600200" indent="-228600" defTabSz="762000">
                <a:defRPr sz="2400">
                  <a:solidFill>
                    <a:schemeClr val="tx1"/>
                  </a:solidFill>
                  <a:latin typeface="Times New Roman" panose="02020603050405020304" pitchFamily="18" charset="0"/>
                </a:defRPr>
              </a:lvl4pPr>
              <a:lvl5pPr marL="2057400" indent="-228600" defTabSz="762000">
                <a:defRPr sz="2400">
                  <a:solidFill>
                    <a:schemeClr val="tx1"/>
                  </a:solidFill>
                  <a:latin typeface="Times New Roman" panose="02020603050405020304" pitchFamily="18" charset="0"/>
                </a:defRPr>
              </a:lvl5pPr>
              <a:lvl6pPr marL="2514600" indent="-228600" defTabSz="7620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7620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7620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GB" altLang="en-US" i="1">
                  <a:solidFill>
                    <a:schemeClr val="tx2"/>
                  </a:solidFill>
                  <a:latin typeface="Arial" panose="020B0604020202020204" pitchFamily="34" charset="0"/>
                </a:rPr>
                <a:t>AS</a:t>
              </a:r>
              <a:r>
                <a:rPr lang="en-GB" altLang="en-US" i="1" baseline="-25000">
                  <a:solidFill>
                    <a:schemeClr val="tx2"/>
                  </a:solidFill>
                  <a:latin typeface="Arial" panose="020B0604020202020204" pitchFamily="34" charset="0"/>
                </a:rPr>
                <a:t>L</a:t>
              </a:r>
            </a:p>
          </p:txBody>
        </p:sp>
      </p:grpSp>
      <p:grpSp>
        <p:nvGrpSpPr>
          <p:cNvPr id="8" name="Group 7">
            <a:extLst>
              <a:ext uri="{FF2B5EF4-FFF2-40B4-BE49-F238E27FC236}">
                <a16:creationId xmlns:a16="http://schemas.microsoft.com/office/drawing/2014/main" id="{1394A99D-F9E1-FB94-2E78-74E39EDC281B}"/>
              </a:ext>
            </a:extLst>
          </p:cNvPr>
          <p:cNvGrpSpPr/>
          <p:nvPr/>
        </p:nvGrpSpPr>
        <p:grpSpPr>
          <a:xfrm>
            <a:off x="3460750" y="0"/>
            <a:ext cx="7207250" cy="5597871"/>
            <a:chOff x="3460750" y="0"/>
            <a:chExt cx="7207250" cy="5597871"/>
          </a:xfrm>
        </p:grpSpPr>
        <p:sp>
          <p:nvSpPr>
            <p:cNvPr id="51213" name="Arc 11">
              <a:extLst>
                <a:ext uri="{FF2B5EF4-FFF2-40B4-BE49-F238E27FC236}">
                  <a16:creationId xmlns:a16="http://schemas.microsoft.com/office/drawing/2014/main" id="{23738DED-15EC-4995-AAE7-DE9A47F30C88}"/>
                </a:ext>
              </a:extLst>
            </p:cNvPr>
            <p:cNvSpPr>
              <a:spLocks/>
            </p:cNvSpPr>
            <p:nvPr/>
          </p:nvSpPr>
          <p:spPr bwMode="auto">
            <a:xfrm>
              <a:off x="3460750" y="0"/>
              <a:ext cx="7207250" cy="5334000"/>
            </a:xfrm>
            <a:custGeom>
              <a:avLst/>
              <a:gdLst>
                <a:gd name="T0" fmla="*/ 2147483647 w 20698"/>
                <a:gd name="T1" fmla="*/ 2147483647 h 20052"/>
                <a:gd name="T2" fmla="*/ 0 w 20698"/>
                <a:gd name="T3" fmla="*/ 2147483647 h 20052"/>
                <a:gd name="T4" fmla="*/ 2147483647 w 20698"/>
                <a:gd name="T5" fmla="*/ 0 h 20052"/>
                <a:gd name="T6" fmla="*/ 0 60000 65536"/>
                <a:gd name="T7" fmla="*/ 0 60000 65536"/>
                <a:gd name="T8" fmla="*/ 0 60000 65536"/>
                <a:gd name="T9" fmla="*/ 0 w 20698"/>
                <a:gd name="T10" fmla="*/ 0 h 20052"/>
                <a:gd name="T11" fmla="*/ 20698 w 20698"/>
                <a:gd name="T12" fmla="*/ 20052 h 20052"/>
              </a:gdLst>
              <a:ahLst/>
              <a:cxnLst>
                <a:cxn ang="T6">
                  <a:pos x="T0" y="T1"/>
                </a:cxn>
                <a:cxn ang="T7">
                  <a:pos x="T2" y="T3"/>
                </a:cxn>
                <a:cxn ang="T8">
                  <a:pos x="T4" y="T5"/>
                </a:cxn>
              </a:cxnLst>
              <a:rect l="T9" t="T10" r="T11" b="T12"/>
              <a:pathLst>
                <a:path w="20698" h="20052" fill="none" extrusionOk="0">
                  <a:moveTo>
                    <a:pt x="12668" y="20051"/>
                  </a:moveTo>
                  <a:cubicBezTo>
                    <a:pt x="6550" y="17601"/>
                    <a:pt x="1885" y="12492"/>
                    <a:pt x="0" y="6177"/>
                  </a:cubicBezTo>
                </a:path>
                <a:path w="20698" h="20052" stroke="0" extrusionOk="0">
                  <a:moveTo>
                    <a:pt x="12668" y="20051"/>
                  </a:moveTo>
                  <a:cubicBezTo>
                    <a:pt x="6550" y="17601"/>
                    <a:pt x="1885" y="12492"/>
                    <a:pt x="0" y="6177"/>
                  </a:cubicBezTo>
                  <a:lnTo>
                    <a:pt x="20698" y="0"/>
                  </a:lnTo>
                  <a:close/>
                </a:path>
              </a:pathLst>
            </a:custGeom>
            <a:noFill/>
            <a:ln w="38100" cap="rnd">
              <a:solidFill>
                <a:schemeClr val="tx2"/>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en-GB"/>
            </a:p>
          </p:txBody>
        </p:sp>
        <p:sp>
          <p:nvSpPr>
            <p:cNvPr id="51215" name="Rectangle 13">
              <a:extLst>
                <a:ext uri="{FF2B5EF4-FFF2-40B4-BE49-F238E27FC236}">
                  <a16:creationId xmlns:a16="http://schemas.microsoft.com/office/drawing/2014/main" id="{0FB995C6-62CC-4F9F-A271-B583F6D271AB}"/>
                </a:ext>
              </a:extLst>
            </p:cNvPr>
            <p:cNvSpPr>
              <a:spLocks noChangeArrowheads="1"/>
            </p:cNvSpPr>
            <p:nvPr/>
          </p:nvSpPr>
          <p:spPr bwMode="auto">
            <a:xfrm>
              <a:off x="7832726" y="5135564"/>
              <a:ext cx="727763" cy="462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defRPr sz="2400">
                  <a:solidFill>
                    <a:schemeClr val="tx1"/>
                  </a:solidFill>
                  <a:latin typeface="Times New Roman" panose="02020603050405020304" pitchFamily="18" charset="0"/>
                </a:defRPr>
              </a:lvl1pPr>
              <a:lvl2pPr marL="742950" indent="-285750" defTabSz="762000">
                <a:defRPr sz="2400">
                  <a:solidFill>
                    <a:schemeClr val="tx1"/>
                  </a:solidFill>
                  <a:latin typeface="Times New Roman" panose="02020603050405020304" pitchFamily="18" charset="0"/>
                </a:defRPr>
              </a:lvl2pPr>
              <a:lvl3pPr marL="1143000" indent="-228600" defTabSz="762000">
                <a:defRPr sz="2400">
                  <a:solidFill>
                    <a:schemeClr val="tx1"/>
                  </a:solidFill>
                  <a:latin typeface="Times New Roman" panose="02020603050405020304" pitchFamily="18" charset="0"/>
                </a:defRPr>
              </a:lvl3pPr>
              <a:lvl4pPr marL="1600200" indent="-228600" defTabSz="762000">
                <a:defRPr sz="2400">
                  <a:solidFill>
                    <a:schemeClr val="tx1"/>
                  </a:solidFill>
                  <a:latin typeface="Times New Roman" panose="02020603050405020304" pitchFamily="18" charset="0"/>
                </a:defRPr>
              </a:lvl4pPr>
              <a:lvl5pPr marL="2057400" indent="-228600" defTabSz="762000">
                <a:defRPr sz="2400">
                  <a:solidFill>
                    <a:schemeClr val="tx1"/>
                  </a:solidFill>
                  <a:latin typeface="Times New Roman" panose="02020603050405020304" pitchFamily="18" charset="0"/>
                </a:defRPr>
              </a:lvl5pPr>
              <a:lvl6pPr marL="2514600" indent="-228600" defTabSz="7620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7620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7620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762000" eaLnBrk="0" fontAlgn="base" hangingPunct="0">
                <a:spcBef>
                  <a:spcPct val="0"/>
                </a:spcBef>
                <a:spcAft>
                  <a:spcPct val="0"/>
                </a:spcAft>
                <a:defRPr sz="2400">
                  <a:solidFill>
                    <a:schemeClr val="tx1"/>
                  </a:solidFill>
                  <a:latin typeface="Times New Roman" panose="02020603050405020304" pitchFamily="18" charset="0"/>
                </a:defRPr>
              </a:lvl9pPr>
            </a:lstStyle>
            <a:p>
              <a:r>
                <a:rPr lang="en-GB" altLang="en-US" i="1">
                  <a:solidFill>
                    <a:schemeClr val="tx2"/>
                  </a:solidFill>
                  <a:latin typeface="Arial" panose="020B0604020202020204" pitchFamily="34" charset="0"/>
                </a:rPr>
                <a:t>AD</a:t>
              </a:r>
              <a:r>
                <a:rPr lang="en-GB" altLang="en-US" i="1" baseline="-25000">
                  <a:solidFill>
                    <a:schemeClr val="tx2"/>
                  </a:solidFill>
                  <a:latin typeface="Arial" panose="020B0604020202020204" pitchFamily="34" charset="0"/>
                </a:rPr>
                <a:t>L</a:t>
              </a:r>
            </a:p>
          </p:txBody>
        </p:sp>
      </p:grpSp>
      <p:grpSp>
        <p:nvGrpSpPr>
          <p:cNvPr id="7" name="Group 6">
            <a:extLst>
              <a:ext uri="{FF2B5EF4-FFF2-40B4-BE49-F238E27FC236}">
                <a16:creationId xmlns:a16="http://schemas.microsoft.com/office/drawing/2014/main" id="{547E4A7D-6D33-A855-7255-97DC87DDBF9E}"/>
              </a:ext>
            </a:extLst>
          </p:cNvPr>
          <p:cNvGrpSpPr/>
          <p:nvPr/>
        </p:nvGrpSpPr>
        <p:grpSpPr>
          <a:xfrm>
            <a:off x="2962276" y="568326"/>
            <a:ext cx="4506590" cy="4930775"/>
            <a:chOff x="2962276" y="568326"/>
            <a:chExt cx="4506590" cy="4930775"/>
          </a:xfrm>
        </p:grpSpPr>
        <p:sp>
          <p:nvSpPr>
            <p:cNvPr id="51224" name="Arc 23">
              <a:extLst>
                <a:ext uri="{FF2B5EF4-FFF2-40B4-BE49-F238E27FC236}">
                  <a16:creationId xmlns:a16="http://schemas.microsoft.com/office/drawing/2014/main" id="{E675FB53-4386-48AD-9B1E-8D1D92214E1E}"/>
                </a:ext>
              </a:extLst>
            </p:cNvPr>
            <p:cNvSpPr>
              <a:spLocks/>
            </p:cNvSpPr>
            <p:nvPr/>
          </p:nvSpPr>
          <p:spPr bwMode="auto">
            <a:xfrm rot="20580000">
              <a:off x="2962276" y="568326"/>
              <a:ext cx="4430713" cy="4930775"/>
            </a:xfrm>
            <a:custGeom>
              <a:avLst/>
              <a:gdLst>
                <a:gd name="T0" fmla="*/ 2147483647 w 20037"/>
                <a:gd name="T1" fmla="*/ 2147483647 h 21428"/>
                <a:gd name="T2" fmla="*/ 2147483647 w 20037"/>
                <a:gd name="T3" fmla="*/ 2147483647 h 21428"/>
                <a:gd name="T4" fmla="*/ 0 w 20037"/>
                <a:gd name="T5" fmla="*/ 0 h 21428"/>
                <a:gd name="T6" fmla="*/ 0 60000 65536"/>
                <a:gd name="T7" fmla="*/ 0 60000 65536"/>
                <a:gd name="T8" fmla="*/ 0 60000 65536"/>
                <a:gd name="T9" fmla="*/ 0 w 20037"/>
                <a:gd name="T10" fmla="*/ 0 h 21428"/>
                <a:gd name="T11" fmla="*/ 20037 w 20037"/>
                <a:gd name="T12" fmla="*/ 21428 h 21428"/>
              </a:gdLst>
              <a:ahLst/>
              <a:cxnLst>
                <a:cxn ang="T6">
                  <a:pos x="T0" y="T1"/>
                </a:cxn>
                <a:cxn ang="T7">
                  <a:pos x="T2" y="T3"/>
                </a:cxn>
                <a:cxn ang="T8">
                  <a:pos x="T4" y="T5"/>
                </a:cxn>
              </a:cxnLst>
              <a:rect l="T9" t="T10" r="T11" b="T12"/>
              <a:pathLst>
                <a:path w="20037" h="21428" fill="none" extrusionOk="0">
                  <a:moveTo>
                    <a:pt x="20037" y="8067"/>
                  </a:moveTo>
                  <a:cubicBezTo>
                    <a:pt x="17113" y="15329"/>
                    <a:pt x="10488" y="20441"/>
                    <a:pt x="2721" y="21427"/>
                  </a:cubicBezTo>
                </a:path>
                <a:path w="20037" h="21428" stroke="0" extrusionOk="0">
                  <a:moveTo>
                    <a:pt x="20037" y="8067"/>
                  </a:moveTo>
                  <a:cubicBezTo>
                    <a:pt x="17113" y="15329"/>
                    <a:pt x="10488" y="20441"/>
                    <a:pt x="2721" y="21427"/>
                  </a:cubicBezTo>
                  <a:lnTo>
                    <a:pt x="0" y="0"/>
                  </a:lnTo>
                  <a:close/>
                </a:path>
              </a:pathLst>
            </a:custGeom>
            <a:noFill/>
            <a:ln w="38100" cap="rnd">
              <a:solidFill>
                <a:schemeClr val="folHlink"/>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en-GB"/>
            </a:p>
          </p:txBody>
        </p:sp>
        <p:sp>
          <p:nvSpPr>
            <p:cNvPr id="51225" name="Rectangle 25">
              <a:extLst>
                <a:ext uri="{FF2B5EF4-FFF2-40B4-BE49-F238E27FC236}">
                  <a16:creationId xmlns:a16="http://schemas.microsoft.com/office/drawing/2014/main" id="{B05B88F5-7E9C-46EF-87E6-0A98F94D9E22}"/>
                </a:ext>
              </a:extLst>
            </p:cNvPr>
            <p:cNvSpPr>
              <a:spLocks noChangeArrowheads="1"/>
            </p:cNvSpPr>
            <p:nvPr/>
          </p:nvSpPr>
          <p:spPr bwMode="auto">
            <a:xfrm>
              <a:off x="7060100" y="1421300"/>
              <a:ext cx="408766" cy="462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defRPr sz="2400">
                  <a:solidFill>
                    <a:schemeClr val="tx1"/>
                  </a:solidFill>
                  <a:latin typeface="Times New Roman" panose="02020603050405020304" pitchFamily="18" charset="0"/>
                </a:defRPr>
              </a:lvl1pPr>
              <a:lvl2pPr marL="742950" indent="-285750" defTabSz="762000">
                <a:defRPr sz="2400">
                  <a:solidFill>
                    <a:schemeClr val="tx1"/>
                  </a:solidFill>
                  <a:latin typeface="Times New Roman" panose="02020603050405020304" pitchFamily="18" charset="0"/>
                </a:defRPr>
              </a:lvl2pPr>
              <a:lvl3pPr marL="1143000" indent="-228600" defTabSz="762000">
                <a:defRPr sz="2400">
                  <a:solidFill>
                    <a:schemeClr val="tx1"/>
                  </a:solidFill>
                  <a:latin typeface="Times New Roman" panose="02020603050405020304" pitchFamily="18" charset="0"/>
                </a:defRPr>
              </a:lvl3pPr>
              <a:lvl4pPr marL="1600200" indent="-228600" defTabSz="762000">
                <a:defRPr sz="2400">
                  <a:solidFill>
                    <a:schemeClr val="tx1"/>
                  </a:solidFill>
                  <a:latin typeface="Times New Roman" panose="02020603050405020304" pitchFamily="18" charset="0"/>
                </a:defRPr>
              </a:lvl4pPr>
              <a:lvl5pPr marL="2057400" indent="-228600" defTabSz="762000">
                <a:defRPr sz="2400">
                  <a:solidFill>
                    <a:schemeClr val="tx1"/>
                  </a:solidFill>
                  <a:latin typeface="Times New Roman" panose="02020603050405020304" pitchFamily="18" charset="0"/>
                </a:defRPr>
              </a:lvl5pPr>
              <a:lvl6pPr marL="2514600" indent="-228600" defTabSz="7620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7620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7620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GB" altLang="en-US" i="1">
                  <a:solidFill>
                    <a:schemeClr val="folHlink"/>
                  </a:solidFill>
                  <a:latin typeface="Arial" panose="020B0604020202020204" pitchFamily="34" charset="0"/>
                </a:rPr>
                <a:t>N</a:t>
              </a:r>
            </a:p>
          </p:txBody>
        </p:sp>
      </p:grpSp>
      <p:grpSp>
        <p:nvGrpSpPr>
          <p:cNvPr id="10" name="Group 9">
            <a:extLst>
              <a:ext uri="{FF2B5EF4-FFF2-40B4-BE49-F238E27FC236}">
                <a16:creationId xmlns:a16="http://schemas.microsoft.com/office/drawing/2014/main" id="{A6FD645D-16C6-0683-91EE-A79DC2AF9E9F}"/>
              </a:ext>
            </a:extLst>
          </p:cNvPr>
          <p:cNvGrpSpPr/>
          <p:nvPr/>
        </p:nvGrpSpPr>
        <p:grpSpPr>
          <a:xfrm>
            <a:off x="2077747" y="3068638"/>
            <a:ext cx="4719862" cy="640464"/>
            <a:chOff x="2077747" y="3068638"/>
            <a:chExt cx="4719862" cy="640464"/>
          </a:xfrm>
        </p:grpSpPr>
        <p:sp>
          <p:nvSpPr>
            <p:cNvPr id="51203" name="Line 26">
              <a:extLst>
                <a:ext uri="{FF2B5EF4-FFF2-40B4-BE49-F238E27FC236}">
                  <a16:creationId xmlns:a16="http://schemas.microsoft.com/office/drawing/2014/main" id="{CB37A404-EB1E-4AB8-9D0C-DDFA14518552}"/>
                </a:ext>
              </a:extLst>
            </p:cNvPr>
            <p:cNvSpPr>
              <a:spLocks noChangeShapeType="1"/>
            </p:cNvSpPr>
            <p:nvPr/>
          </p:nvSpPr>
          <p:spPr bwMode="auto">
            <a:xfrm>
              <a:off x="5994400" y="3516313"/>
              <a:ext cx="679450" cy="0"/>
            </a:xfrm>
            <a:prstGeom prst="line">
              <a:avLst/>
            </a:prstGeom>
            <a:noFill/>
            <a:ln w="19050">
              <a:solidFill>
                <a:schemeClr val="folHlink"/>
              </a:solidFill>
              <a:prstDash val="dash"/>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i="1"/>
            </a:p>
          </p:txBody>
        </p:sp>
        <p:sp>
          <p:nvSpPr>
            <p:cNvPr id="30758" name="Line 38">
              <a:extLst>
                <a:ext uri="{FF2B5EF4-FFF2-40B4-BE49-F238E27FC236}">
                  <a16:creationId xmlns:a16="http://schemas.microsoft.com/office/drawing/2014/main" id="{C78FC235-EEFA-4C75-8C67-0DA9A025ABED}"/>
                </a:ext>
              </a:extLst>
            </p:cNvPr>
            <p:cNvSpPr>
              <a:spLocks noChangeShapeType="1"/>
            </p:cNvSpPr>
            <p:nvPr/>
          </p:nvSpPr>
          <p:spPr bwMode="auto">
            <a:xfrm>
              <a:off x="6057901" y="3509963"/>
              <a:ext cx="530225" cy="0"/>
            </a:xfrm>
            <a:prstGeom prst="line">
              <a:avLst/>
            </a:prstGeom>
            <a:noFill/>
            <a:ln w="38100">
              <a:solidFill>
                <a:schemeClr val="folHlink"/>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en-GB" i="1"/>
            </a:p>
          </p:txBody>
        </p:sp>
        <p:sp>
          <p:nvSpPr>
            <p:cNvPr id="51218" name="Line 17">
              <a:extLst>
                <a:ext uri="{FF2B5EF4-FFF2-40B4-BE49-F238E27FC236}">
                  <a16:creationId xmlns:a16="http://schemas.microsoft.com/office/drawing/2014/main" id="{3D24069C-3D94-41C2-8737-1C3836567482}"/>
                </a:ext>
              </a:extLst>
            </p:cNvPr>
            <p:cNvSpPr>
              <a:spLocks noChangeShapeType="1"/>
            </p:cNvSpPr>
            <p:nvPr/>
          </p:nvSpPr>
          <p:spPr bwMode="auto">
            <a:xfrm>
              <a:off x="2592389" y="3514725"/>
              <a:ext cx="3367087" cy="0"/>
            </a:xfrm>
            <a:prstGeom prst="line">
              <a:avLst/>
            </a:prstGeom>
            <a:noFill/>
            <a:ln w="19050">
              <a:solidFill>
                <a:schemeClr val="accent2"/>
              </a:solidFill>
              <a:prstDash val="dash"/>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51219" name="Rectangle 18">
              <a:extLst>
                <a:ext uri="{FF2B5EF4-FFF2-40B4-BE49-F238E27FC236}">
                  <a16:creationId xmlns:a16="http://schemas.microsoft.com/office/drawing/2014/main" id="{8F168C6A-B388-4B73-B403-4303617111AC}"/>
                </a:ext>
              </a:extLst>
            </p:cNvPr>
            <p:cNvSpPr>
              <a:spLocks noChangeArrowheads="1"/>
            </p:cNvSpPr>
            <p:nvPr/>
          </p:nvSpPr>
          <p:spPr bwMode="auto">
            <a:xfrm>
              <a:off x="2077747" y="3308350"/>
              <a:ext cx="522579" cy="4007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defRPr sz="2400">
                  <a:solidFill>
                    <a:schemeClr val="tx1"/>
                  </a:solidFill>
                  <a:latin typeface="Times New Roman" panose="02020603050405020304" pitchFamily="18" charset="0"/>
                </a:defRPr>
              </a:lvl1pPr>
              <a:lvl2pPr marL="742950" indent="-285750" defTabSz="762000">
                <a:defRPr sz="2400">
                  <a:solidFill>
                    <a:schemeClr val="tx1"/>
                  </a:solidFill>
                  <a:latin typeface="Times New Roman" panose="02020603050405020304" pitchFamily="18" charset="0"/>
                </a:defRPr>
              </a:lvl2pPr>
              <a:lvl3pPr marL="1143000" indent="-228600" defTabSz="762000">
                <a:defRPr sz="2400">
                  <a:solidFill>
                    <a:schemeClr val="tx1"/>
                  </a:solidFill>
                  <a:latin typeface="Times New Roman" panose="02020603050405020304" pitchFamily="18" charset="0"/>
                </a:defRPr>
              </a:lvl3pPr>
              <a:lvl4pPr marL="1600200" indent="-228600" defTabSz="762000">
                <a:defRPr sz="2400">
                  <a:solidFill>
                    <a:schemeClr val="tx1"/>
                  </a:solidFill>
                  <a:latin typeface="Times New Roman" panose="02020603050405020304" pitchFamily="18" charset="0"/>
                </a:defRPr>
              </a:lvl4pPr>
              <a:lvl5pPr marL="2057400" indent="-228600" defTabSz="762000">
                <a:defRPr sz="2400">
                  <a:solidFill>
                    <a:schemeClr val="tx1"/>
                  </a:solidFill>
                  <a:latin typeface="Times New Roman" panose="02020603050405020304" pitchFamily="18" charset="0"/>
                </a:defRPr>
              </a:lvl5pPr>
              <a:lvl6pPr marL="2514600" indent="-228600" defTabSz="7620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7620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7620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r"/>
              <a:r>
                <a:rPr lang="en-GB" altLang="en-US" sz="2000" i="1">
                  <a:solidFill>
                    <a:schemeClr val="accent2"/>
                  </a:solidFill>
                  <a:latin typeface="Arial" panose="020B0604020202020204" pitchFamily="34" charset="0"/>
                </a:rPr>
                <a:t>W</a:t>
              </a:r>
              <a:r>
                <a:rPr lang="en-GB" altLang="en-US" sz="2000" baseline="-25000">
                  <a:solidFill>
                    <a:schemeClr val="accent2"/>
                  </a:solidFill>
                  <a:latin typeface="Arial" panose="020B0604020202020204" pitchFamily="34" charset="0"/>
                </a:rPr>
                <a:t>2</a:t>
              </a:r>
            </a:p>
          </p:txBody>
        </p:sp>
        <p:sp>
          <p:nvSpPr>
            <p:cNvPr id="51220" name="Oval 19">
              <a:extLst>
                <a:ext uri="{FF2B5EF4-FFF2-40B4-BE49-F238E27FC236}">
                  <a16:creationId xmlns:a16="http://schemas.microsoft.com/office/drawing/2014/main" id="{527ED840-CA1F-4BAA-80D9-0E70EF2282EB}"/>
                </a:ext>
              </a:extLst>
            </p:cNvPr>
            <p:cNvSpPr>
              <a:spLocks noChangeArrowheads="1"/>
            </p:cNvSpPr>
            <p:nvPr/>
          </p:nvSpPr>
          <p:spPr bwMode="auto">
            <a:xfrm>
              <a:off x="4673601" y="3467101"/>
              <a:ext cx="106363" cy="106363"/>
            </a:xfrm>
            <a:prstGeom prst="ellipse">
              <a:avLst/>
            </a:prstGeom>
            <a:solidFill>
              <a:schemeClr val="accent6">
                <a:lumMod val="20000"/>
                <a:lumOff val="80000"/>
              </a:schemeClr>
            </a:solidFill>
            <a:ln w="12700">
              <a:solidFill>
                <a:schemeClr val="bg2"/>
              </a:solidFill>
              <a:round/>
              <a:headEnd/>
              <a:tailEnd/>
            </a:ln>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i="1"/>
            </a:p>
          </p:txBody>
        </p:sp>
        <p:sp>
          <p:nvSpPr>
            <p:cNvPr id="51221" name="Rectangle 20">
              <a:extLst>
                <a:ext uri="{FF2B5EF4-FFF2-40B4-BE49-F238E27FC236}">
                  <a16:creationId xmlns:a16="http://schemas.microsoft.com/office/drawing/2014/main" id="{ADC5AC3E-39B6-4389-85C0-D60E857089B3}"/>
                </a:ext>
              </a:extLst>
            </p:cNvPr>
            <p:cNvSpPr>
              <a:spLocks noChangeArrowheads="1"/>
            </p:cNvSpPr>
            <p:nvPr/>
          </p:nvSpPr>
          <p:spPr bwMode="auto">
            <a:xfrm>
              <a:off x="4571999" y="3068638"/>
              <a:ext cx="328616" cy="4007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defRPr sz="2400">
                  <a:solidFill>
                    <a:schemeClr val="tx1"/>
                  </a:solidFill>
                  <a:latin typeface="Times New Roman" panose="02020603050405020304" pitchFamily="18" charset="0"/>
                </a:defRPr>
              </a:lvl1pPr>
              <a:lvl2pPr marL="742950" indent="-285750" defTabSz="762000">
                <a:defRPr sz="2400">
                  <a:solidFill>
                    <a:schemeClr val="tx1"/>
                  </a:solidFill>
                  <a:latin typeface="Times New Roman" panose="02020603050405020304" pitchFamily="18" charset="0"/>
                </a:defRPr>
              </a:lvl2pPr>
              <a:lvl3pPr marL="1143000" indent="-228600" defTabSz="762000">
                <a:defRPr sz="2400">
                  <a:solidFill>
                    <a:schemeClr val="tx1"/>
                  </a:solidFill>
                  <a:latin typeface="Times New Roman" panose="02020603050405020304" pitchFamily="18" charset="0"/>
                </a:defRPr>
              </a:lvl3pPr>
              <a:lvl4pPr marL="1600200" indent="-228600" defTabSz="762000">
                <a:defRPr sz="2400">
                  <a:solidFill>
                    <a:schemeClr val="tx1"/>
                  </a:solidFill>
                  <a:latin typeface="Times New Roman" panose="02020603050405020304" pitchFamily="18" charset="0"/>
                </a:defRPr>
              </a:lvl4pPr>
              <a:lvl5pPr marL="2057400" indent="-228600" defTabSz="762000">
                <a:defRPr sz="2400">
                  <a:solidFill>
                    <a:schemeClr val="tx1"/>
                  </a:solidFill>
                  <a:latin typeface="Times New Roman" panose="02020603050405020304" pitchFamily="18" charset="0"/>
                </a:defRPr>
              </a:lvl5pPr>
              <a:lvl6pPr marL="2514600" indent="-228600" defTabSz="7620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7620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7620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GB" altLang="en-US" sz="2000" i="1">
                  <a:solidFill>
                    <a:schemeClr val="accent2"/>
                  </a:solidFill>
                  <a:latin typeface="Arial" panose="020B0604020202020204" pitchFamily="34" charset="0"/>
                </a:rPr>
                <a:t>b</a:t>
              </a:r>
            </a:p>
          </p:txBody>
        </p:sp>
        <p:sp>
          <p:nvSpPr>
            <p:cNvPr id="51222" name="Rectangle 21">
              <a:extLst>
                <a:ext uri="{FF2B5EF4-FFF2-40B4-BE49-F238E27FC236}">
                  <a16:creationId xmlns:a16="http://schemas.microsoft.com/office/drawing/2014/main" id="{9B0DE2A4-E56C-412A-BD32-FD30DD976EB1}"/>
                </a:ext>
              </a:extLst>
            </p:cNvPr>
            <p:cNvSpPr>
              <a:spLocks noChangeArrowheads="1"/>
            </p:cNvSpPr>
            <p:nvPr/>
          </p:nvSpPr>
          <p:spPr bwMode="auto">
            <a:xfrm>
              <a:off x="5745161" y="3068638"/>
              <a:ext cx="328616" cy="4007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defRPr sz="2400">
                  <a:solidFill>
                    <a:schemeClr val="tx1"/>
                  </a:solidFill>
                  <a:latin typeface="Times New Roman" panose="02020603050405020304" pitchFamily="18" charset="0"/>
                </a:defRPr>
              </a:lvl1pPr>
              <a:lvl2pPr marL="742950" indent="-285750" defTabSz="762000">
                <a:defRPr sz="2400">
                  <a:solidFill>
                    <a:schemeClr val="tx1"/>
                  </a:solidFill>
                  <a:latin typeface="Times New Roman" panose="02020603050405020304" pitchFamily="18" charset="0"/>
                </a:defRPr>
              </a:lvl2pPr>
              <a:lvl3pPr marL="1143000" indent="-228600" defTabSz="762000">
                <a:defRPr sz="2400">
                  <a:solidFill>
                    <a:schemeClr val="tx1"/>
                  </a:solidFill>
                  <a:latin typeface="Times New Roman" panose="02020603050405020304" pitchFamily="18" charset="0"/>
                </a:defRPr>
              </a:lvl3pPr>
              <a:lvl4pPr marL="1600200" indent="-228600" defTabSz="762000">
                <a:defRPr sz="2400">
                  <a:solidFill>
                    <a:schemeClr val="tx1"/>
                  </a:solidFill>
                  <a:latin typeface="Times New Roman" panose="02020603050405020304" pitchFamily="18" charset="0"/>
                </a:defRPr>
              </a:lvl4pPr>
              <a:lvl5pPr marL="2057400" indent="-228600" defTabSz="762000">
                <a:defRPr sz="2400">
                  <a:solidFill>
                    <a:schemeClr val="tx1"/>
                  </a:solidFill>
                  <a:latin typeface="Times New Roman" panose="02020603050405020304" pitchFamily="18" charset="0"/>
                </a:defRPr>
              </a:lvl5pPr>
              <a:lvl6pPr marL="2514600" indent="-228600" defTabSz="7620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7620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7620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GB" altLang="en-US" sz="2000" i="1">
                  <a:solidFill>
                    <a:schemeClr val="accent2"/>
                  </a:solidFill>
                  <a:latin typeface="Arial" panose="020B0604020202020204" pitchFamily="34" charset="0"/>
                </a:rPr>
                <a:t>a</a:t>
              </a:r>
            </a:p>
          </p:txBody>
        </p:sp>
        <p:sp>
          <p:nvSpPr>
            <p:cNvPr id="51226" name="Oval 27">
              <a:extLst>
                <a:ext uri="{FF2B5EF4-FFF2-40B4-BE49-F238E27FC236}">
                  <a16:creationId xmlns:a16="http://schemas.microsoft.com/office/drawing/2014/main" id="{03A595B5-CBCA-4A51-AD84-36C924A293D7}"/>
                </a:ext>
              </a:extLst>
            </p:cNvPr>
            <p:cNvSpPr>
              <a:spLocks noChangeArrowheads="1"/>
            </p:cNvSpPr>
            <p:nvPr/>
          </p:nvSpPr>
          <p:spPr bwMode="auto">
            <a:xfrm>
              <a:off x="5915026" y="3468688"/>
              <a:ext cx="106363" cy="106362"/>
            </a:xfrm>
            <a:prstGeom prst="ellipse">
              <a:avLst/>
            </a:prstGeom>
            <a:solidFill>
              <a:schemeClr val="accent6">
                <a:lumMod val="20000"/>
                <a:lumOff val="80000"/>
              </a:schemeClr>
            </a:solidFill>
            <a:ln w="12700">
              <a:solidFill>
                <a:schemeClr val="bg2"/>
              </a:solidFill>
              <a:round/>
              <a:headEnd/>
              <a:tailEnd/>
            </a:ln>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i="1"/>
            </a:p>
          </p:txBody>
        </p:sp>
        <p:sp>
          <p:nvSpPr>
            <p:cNvPr id="51227" name="Oval 28">
              <a:extLst>
                <a:ext uri="{FF2B5EF4-FFF2-40B4-BE49-F238E27FC236}">
                  <a16:creationId xmlns:a16="http://schemas.microsoft.com/office/drawing/2014/main" id="{5A197B0F-6473-43E2-BBFE-7CAC826CB20E}"/>
                </a:ext>
              </a:extLst>
            </p:cNvPr>
            <p:cNvSpPr>
              <a:spLocks noChangeArrowheads="1"/>
            </p:cNvSpPr>
            <p:nvPr/>
          </p:nvSpPr>
          <p:spPr bwMode="auto">
            <a:xfrm>
              <a:off x="6611938" y="3467101"/>
              <a:ext cx="106362" cy="106363"/>
            </a:xfrm>
            <a:prstGeom prst="ellipse">
              <a:avLst/>
            </a:prstGeom>
            <a:solidFill>
              <a:srgbClr val="00FF00"/>
            </a:solidFill>
            <a:ln w="12700">
              <a:solidFill>
                <a:schemeClr val="bg2"/>
              </a:solidFill>
              <a:round/>
              <a:headEnd/>
              <a:tailEnd/>
            </a:ln>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i="1"/>
            </a:p>
          </p:txBody>
        </p:sp>
        <p:sp>
          <p:nvSpPr>
            <p:cNvPr id="51228" name="Rectangle 29">
              <a:extLst>
                <a:ext uri="{FF2B5EF4-FFF2-40B4-BE49-F238E27FC236}">
                  <a16:creationId xmlns:a16="http://schemas.microsoft.com/office/drawing/2014/main" id="{BBF8E03E-7F6E-48C2-8730-1EF331EBBCCB}"/>
                </a:ext>
              </a:extLst>
            </p:cNvPr>
            <p:cNvSpPr>
              <a:spLocks noChangeArrowheads="1"/>
            </p:cNvSpPr>
            <p:nvPr/>
          </p:nvSpPr>
          <p:spPr bwMode="auto">
            <a:xfrm>
              <a:off x="6483420" y="3086100"/>
              <a:ext cx="314189" cy="4007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defRPr sz="2400">
                  <a:solidFill>
                    <a:schemeClr val="tx1"/>
                  </a:solidFill>
                  <a:latin typeface="Times New Roman" panose="02020603050405020304" pitchFamily="18" charset="0"/>
                </a:defRPr>
              </a:lvl1pPr>
              <a:lvl2pPr marL="742950" indent="-285750" defTabSz="762000">
                <a:defRPr sz="2400">
                  <a:solidFill>
                    <a:schemeClr val="tx1"/>
                  </a:solidFill>
                  <a:latin typeface="Times New Roman" panose="02020603050405020304" pitchFamily="18" charset="0"/>
                </a:defRPr>
              </a:lvl2pPr>
              <a:lvl3pPr marL="1143000" indent="-228600" defTabSz="762000">
                <a:defRPr sz="2400">
                  <a:solidFill>
                    <a:schemeClr val="tx1"/>
                  </a:solidFill>
                  <a:latin typeface="Times New Roman" panose="02020603050405020304" pitchFamily="18" charset="0"/>
                </a:defRPr>
              </a:lvl3pPr>
              <a:lvl4pPr marL="1600200" indent="-228600" defTabSz="762000">
                <a:defRPr sz="2400">
                  <a:solidFill>
                    <a:schemeClr val="tx1"/>
                  </a:solidFill>
                  <a:latin typeface="Times New Roman" panose="02020603050405020304" pitchFamily="18" charset="0"/>
                </a:defRPr>
              </a:lvl4pPr>
              <a:lvl5pPr marL="2057400" indent="-228600" defTabSz="762000">
                <a:defRPr sz="2400">
                  <a:solidFill>
                    <a:schemeClr val="tx1"/>
                  </a:solidFill>
                  <a:latin typeface="Times New Roman" panose="02020603050405020304" pitchFamily="18" charset="0"/>
                </a:defRPr>
              </a:lvl5pPr>
              <a:lvl6pPr marL="2514600" indent="-228600" defTabSz="7620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7620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7620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GB" altLang="en-US" sz="2000" dirty="0">
                  <a:solidFill>
                    <a:schemeClr val="folHlink"/>
                  </a:solidFill>
                  <a:latin typeface="Arial" panose="020B0604020202020204" pitchFamily="34" charset="0"/>
                </a:rPr>
                <a:t>c</a:t>
              </a:r>
            </a:p>
          </p:txBody>
        </p:sp>
        <p:sp>
          <p:nvSpPr>
            <p:cNvPr id="51234" name="Line 37">
              <a:extLst>
                <a:ext uri="{FF2B5EF4-FFF2-40B4-BE49-F238E27FC236}">
                  <a16:creationId xmlns:a16="http://schemas.microsoft.com/office/drawing/2014/main" id="{9F34120D-87FF-4923-A512-98BDE51CE04B}"/>
                </a:ext>
              </a:extLst>
            </p:cNvPr>
            <p:cNvSpPr>
              <a:spLocks noChangeShapeType="1"/>
            </p:cNvSpPr>
            <p:nvPr/>
          </p:nvSpPr>
          <p:spPr bwMode="auto">
            <a:xfrm>
              <a:off x="4803776" y="3509963"/>
              <a:ext cx="1128713" cy="0"/>
            </a:xfrm>
            <a:prstGeom prst="line">
              <a:avLst/>
            </a:prstGeom>
            <a:noFill/>
            <a:ln w="38100">
              <a:solidFill>
                <a:schemeClr val="accent2"/>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en-GB" i="1"/>
            </a:p>
          </p:txBody>
        </p:sp>
      </p:grpSp>
      <p:grpSp>
        <p:nvGrpSpPr>
          <p:cNvPr id="12" name="Group 11">
            <a:extLst>
              <a:ext uri="{FF2B5EF4-FFF2-40B4-BE49-F238E27FC236}">
                <a16:creationId xmlns:a16="http://schemas.microsoft.com/office/drawing/2014/main" id="{66478D15-8ECE-C51B-A137-44A5A4BC0DC1}"/>
              </a:ext>
            </a:extLst>
          </p:cNvPr>
          <p:cNvGrpSpPr/>
          <p:nvPr/>
        </p:nvGrpSpPr>
        <p:grpSpPr>
          <a:xfrm>
            <a:off x="4168775" y="1533526"/>
            <a:ext cx="2012950" cy="1835150"/>
            <a:chOff x="4168775" y="1533526"/>
            <a:chExt cx="2012950" cy="1835150"/>
          </a:xfrm>
        </p:grpSpPr>
        <p:sp>
          <p:nvSpPr>
            <p:cNvPr id="8225" name="AutoShape 43" descr="Parchment">
              <a:extLst>
                <a:ext uri="{FF2B5EF4-FFF2-40B4-BE49-F238E27FC236}">
                  <a16:creationId xmlns:a16="http://schemas.microsoft.com/office/drawing/2014/main" id="{D071BA6D-A8E1-48AC-A507-9B8CE14D3FF4}"/>
                </a:ext>
              </a:extLst>
            </p:cNvPr>
            <p:cNvSpPr>
              <a:spLocks noChangeArrowheads="1"/>
            </p:cNvSpPr>
            <p:nvPr/>
          </p:nvSpPr>
          <p:spPr bwMode="auto">
            <a:xfrm>
              <a:off x="4168775" y="1533526"/>
              <a:ext cx="2012950" cy="987425"/>
            </a:xfrm>
            <a:prstGeom prst="roundRect">
              <a:avLst>
                <a:gd name="adj" fmla="val 16667"/>
              </a:avLst>
            </a:prstGeom>
            <a:solidFill>
              <a:schemeClr val="bg1">
                <a:lumMod val="95000"/>
              </a:schemeClr>
            </a:solidFill>
            <a:ln w="28575">
              <a:solidFill>
                <a:schemeClr val="hlink"/>
              </a:solidFill>
              <a:round/>
              <a:headEnd type="none" w="sm" len="sm"/>
              <a:tailEnd type="none" w="sm" len="sm"/>
            </a:ln>
          </p:spPr>
          <p:txBody>
            <a:bodyPr wrap="none" anchor="ctr"/>
            <a:lstStyle>
              <a:lvl1pPr defTabSz="762000">
                <a:defRPr sz="2400">
                  <a:solidFill>
                    <a:schemeClr val="tx1"/>
                  </a:solidFill>
                  <a:latin typeface="Times New Roman" panose="02020603050405020304" pitchFamily="18" charset="0"/>
                </a:defRPr>
              </a:lvl1pPr>
              <a:lvl2pPr marL="742950" indent="-285750" defTabSz="762000">
                <a:defRPr sz="2400">
                  <a:solidFill>
                    <a:schemeClr val="tx1"/>
                  </a:solidFill>
                  <a:latin typeface="Times New Roman" panose="02020603050405020304" pitchFamily="18" charset="0"/>
                </a:defRPr>
              </a:lvl2pPr>
              <a:lvl3pPr marL="1143000" indent="-228600" defTabSz="762000">
                <a:defRPr sz="2400">
                  <a:solidFill>
                    <a:schemeClr val="tx1"/>
                  </a:solidFill>
                  <a:latin typeface="Times New Roman" panose="02020603050405020304" pitchFamily="18" charset="0"/>
                </a:defRPr>
              </a:lvl3pPr>
              <a:lvl4pPr marL="1600200" indent="-228600" defTabSz="762000">
                <a:defRPr sz="2400">
                  <a:solidFill>
                    <a:schemeClr val="tx1"/>
                  </a:solidFill>
                  <a:latin typeface="Times New Roman" panose="02020603050405020304" pitchFamily="18" charset="0"/>
                </a:defRPr>
              </a:lvl4pPr>
              <a:lvl5pPr marL="2057400" indent="-228600" defTabSz="762000">
                <a:defRPr sz="2400">
                  <a:solidFill>
                    <a:schemeClr val="tx1"/>
                  </a:solidFill>
                  <a:latin typeface="Times New Roman" panose="02020603050405020304" pitchFamily="18" charset="0"/>
                </a:defRPr>
              </a:lvl5pPr>
              <a:lvl6pPr marL="2514600" indent="-228600" defTabSz="7620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7620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7620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GB" altLang="en-US" sz="2000">
                  <a:solidFill>
                    <a:schemeClr val="hlink"/>
                  </a:solidFill>
                  <a:latin typeface="Arial" panose="020B0604020202020204" pitchFamily="34" charset="0"/>
                </a:rPr>
                <a:t>Disequilibrium</a:t>
              </a:r>
            </a:p>
            <a:p>
              <a:pPr algn="ctr"/>
              <a:r>
                <a:rPr lang="en-GB" altLang="en-US" sz="2000">
                  <a:solidFill>
                    <a:schemeClr val="hlink"/>
                  </a:solidFill>
                  <a:latin typeface="Arial" panose="020B0604020202020204" pitchFamily="34" charset="0"/>
                </a:rPr>
                <a:t>unemployment</a:t>
              </a:r>
              <a:endParaRPr lang="en-GB" altLang="en-US" sz="2200">
                <a:solidFill>
                  <a:schemeClr val="hlink"/>
                </a:solidFill>
                <a:latin typeface="Arial" panose="020B0604020202020204" pitchFamily="34" charset="0"/>
              </a:endParaRPr>
            </a:p>
          </p:txBody>
        </p:sp>
        <p:sp>
          <p:nvSpPr>
            <p:cNvPr id="51236" name="Line 44">
              <a:extLst>
                <a:ext uri="{FF2B5EF4-FFF2-40B4-BE49-F238E27FC236}">
                  <a16:creationId xmlns:a16="http://schemas.microsoft.com/office/drawing/2014/main" id="{D26CE53E-AC4E-4271-A6A2-E09343AD1489}"/>
                </a:ext>
              </a:extLst>
            </p:cNvPr>
            <p:cNvSpPr>
              <a:spLocks noChangeShapeType="1"/>
            </p:cNvSpPr>
            <p:nvPr/>
          </p:nvSpPr>
          <p:spPr bwMode="auto">
            <a:xfrm>
              <a:off x="5243513" y="2522539"/>
              <a:ext cx="0" cy="846137"/>
            </a:xfrm>
            <a:prstGeom prst="line">
              <a:avLst/>
            </a:prstGeom>
            <a:noFill/>
            <a:ln w="38100">
              <a:solidFill>
                <a:schemeClr val="hlink"/>
              </a:solidFill>
              <a:round/>
              <a:headEnd type="none" w="sm" len="sm"/>
              <a:tailEnd type="triangle" w="sm" len="sm"/>
            </a:ln>
            <a:extLst>
              <a:ext uri="{909E8E84-426E-40DD-AFC4-6F175D3DCCD1}">
                <a14:hiddenFill xmlns:a14="http://schemas.microsoft.com/office/drawing/2010/main">
                  <a:noFill/>
                </a14:hiddenFill>
              </a:ext>
            </a:extLst>
          </p:spPr>
          <p:txBody>
            <a:bodyPr wrap="none" anchor="ctr"/>
            <a:lstStyle/>
            <a:p>
              <a:endParaRPr lang="en-GB"/>
            </a:p>
          </p:txBody>
        </p:sp>
      </p:grpSp>
      <p:sp>
        <p:nvSpPr>
          <p:cNvPr id="37" name="Text Box 38">
            <a:extLst>
              <a:ext uri="{FF2B5EF4-FFF2-40B4-BE49-F238E27FC236}">
                <a16:creationId xmlns:a16="http://schemas.microsoft.com/office/drawing/2014/main" id="{3BF3A08B-6DE5-433F-B7A7-8E6AECA2F23B}"/>
              </a:ext>
            </a:extLst>
          </p:cNvPr>
          <p:cNvSpPr txBox="1">
            <a:spLocks noChangeArrowheads="1"/>
          </p:cNvSpPr>
          <p:nvPr/>
        </p:nvSpPr>
        <p:spPr bwMode="auto">
          <a:xfrm>
            <a:off x="0" y="-20638"/>
            <a:ext cx="12192000" cy="569387"/>
          </a:xfrm>
          <a:prstGeom prst="rect">
            <a:avLst/>
          </a:prstGeom>
          <a:noFill/>
          <a:ln>
            <a:noFill/>
          </a:ln>
          <a:effectLst>
            <a:outerShdw dist="12700"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txBody>
          <a:bodyPr wrap="square" tIns="91440">
            <a:spAutoFit/>
          </a:bodyPr>
          <a:lstStyle>
            <a:lvl1pPr defTabSz="762000">
              <a:defRPr sz="2400">
                <a:solidFill>
                  <a:schemeClr val="tx1"/>
                </a:solidFill>
                <a:latin typeface="Times New Roman" panose="02020603050405020304" pitchFamily="18" charset="0"/>
              </a:defRPr>
            </a:lvl1pPr>
            <a:lvl2pPr marL="742950" indent="-285750" defTabSz="762000">
              <a:defRPr sz="2400">
                <a:solidFill>
                  <a:schemeClr val="tx1"/>
                </a:solidFill>
                <a:latin typeface="Times New Roman" panose="02020603050405020304" pitchFamily="18" charset="0"/>
              </a:defRPr>
            </a:lvl2pPr>
            <a:lvl3pPr marL="1143000" indent="-228600" defTabSz="762000">
              <a:defRPr sz="2400">
                <a:solidFill>
                  <a:schemeClr val="tx1"/>
                </a:solidFill>
                <a:latin typeface="Times New Roman" panose="02020603050405020304" pitchFamily="18" charset="0"/>
              </a:defRPr>
            </a:lvl3pPr>
            <a:lvl4pPr marL="1600200" indent="-228600" defTabSz="762000">
              <a:defRPr sz="2400">
                <a:solidFill>
                  <a:schemeClr val="tx1"/>
                </a:solidFill>
                <a:latin typeface="Times New Roman" panose="02020603050405020304" pitchFamily="18" charset="0"/>
              </a:defRPr>
            </a:lvl4pPr>
            <a:lvl5pPr marL="2057400" indent="-228600" defTabSz="762000">
              <a:defRPr sz="2400">
                <a:solidFill>
                  <a:schemeClr val="tx1"/>
                </a:solidFill>
                <a:latin typeface="Times New Roman" panose="02020603050405020304" pitchFamily="18" charset="0"/>
              </a:defRPr>
            </a:lvl5pPr>
            <a:lvl6pPr marL="2514600" indent="-228600" defTabSz="7620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7620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7620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GB" altLang="en-US" sz="2800" b="1" dirty="0">
                <a:latin typeface="Arial" panose="020B0604020202020204" pitchFamily="34" charset="0"/>
              </a:rPr>
              <a:t>Equilibrium and disequilibrium unemployment</a:t>
            </a:r>
          </a:p>
        </p:txBody>
      </p:sp>
      <p:grpSp>
        <p:nvGrpSpPr>
          <p:cNvPr id="9" name="Group 8">
            <a:extLst>
              <a:ext uri="{FF2B5EF4-FFF2-40B4-BE49-F238E27FC236}">
                <a16:creationId xmlns:a16="http://schemas.microsoft.com/office/drawing/2014/main" id="{356A892A-0DEF-579B-341C-27147FCD41A3}"/>
              </a:ext>
            </a:extLst>
          </p:cNvPr>
          <p:cNvGrpSpPr/>
          <p:nvPr/>
        </p:nvGrpSpPr>
        <p:grpSpPr>
          <a:xfrm>
            <a:off x="2056924" y="3697288"/>
            <a:ext cx="4330382" cy="640464"/>
            <a:chOff x="2056924" y="3697288"/>
            <a:chExt cx="4330382" cy="640464"/>
          </a:xfrm>
        </p:grpSpPr>
        <p:sp>
          <p:nvSpPr>
            <p:cNvPr id="51216" name="Line 14">
              <a:extLst>
                <a:ext uri="{FF2B5EF4-FFF2-40B4-BE49-F238E27FC236}">
                  <a16:creationId xmlns:a16="http://schemas.microsoft.com/office/drawing/2014/main" id="{01724AAC-7426-4453-8CE8-33FF4C331085}"/>
                </a:ext>
              </a:extLst>
            </p:cNvPr>
            <p:cNvSpPr>
              <a:spLocks noChangeShapeType="1"/>
            </p:cNvSpPr>
            <p:nvPr/>
          </p:nvSpPr>
          <p:spPr bwMode="auto">
            <a:xfrm flipH="1">
              <a:off x="2592388" y="4160838"/>
              <a:ext cx="3730013" cy="0"/>
            </a:xfrm>
            <a:prstGeom prst="line">
              <a:avLst/>
            </a:prstGeom>
            <a:noFill/>
            <a:ln w="19050">
              <a:solidFill>
                <a:schemeClr val="tx2"/>
              </a:solidFill>
              <a:prstDash val="dash"/>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51217" name="Rectangle 15">
              <a:extLst>
                <a:ext uri="{FF2B5EF4-FFF2-40B4-BE49-F238E27FC236}">
                  <a16:creationId xmlns:a16="http://schemas.microsoft.com/office/drawing/2014/main" id="{F79810D5-3745-4F4B-A8F9-95D7A85BC36B}"/>
                </a:ext>
              </a:extLst>
            </p:cNvPr>
            <p:cNvSpPr>
              <a:spLocks noChangeArrowheads="1"/>
            </p:cNvSpPr>
            <p:nvPr/>
          </p:nvSpPr>
          <p:spPr bwMode="auto">
            <a:xfrm>
              <a:off x="2056924" y="3937000"/>
              <a:ext cx="541815" cy="4007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defRPr sz="2400">
                  <a:solidFill>
                    <a:schemeClr val="tx1"/>
                  </a:solidFill>
                  <a:latin typeface="Times New Roman" panose="02020603050405020304" pitchFamily="18" charset="0"/>
                </a:defRPr>
              </a:lvl1pPr>
              <a:lvl2pPr marL="742950" indent="-285750" defTabSz="762000">
                <a:defRPr sz="2400">
                  <a:solidFill>
                    <a:schemeClr val="tx1"/>
                  </a:solidFill>
                  <a:latin typeface="Times New Roman" panose="02020603050405020304" pitchFamily="18" charset="0"/>
                </a:defRPr>
              </a:lvl2pPr>
              <a:lvl3pPr marL="1143000" indent="-228600" defTabSz="762000">
                <a:defRPr sz="2400">
                  <a:solidFill>
                    <a:schemeClr val="tx1"/>
                  </a:solidFill>
                  <a:latin typeface="Times New Roman" panose="02020603050405020304" pitchFamily="18" charset="0"/>
                </a:defRPr>
              </a:lvl3pPr>
              <a:lvl4pPr marL="1600200" indent="-228600" defTabSz="762000">
                <a:defRPr sz="2400">
                  <a:solidFill>
                    <a:schemeClr val="tx1"/>
                  </a:solidFill>
                  <a:latin typeface="Times New Roman" panose="02020603050405020304" pitchFamily="18" charset="0"/>
                </a:defRPr>
              </a:lvl4pPr>
              <a:lvl5pPr marL="2057400" indent="-228600" defTabSz="762000">
                <a:defRPr sz="2400">
                  <a:solidFill>
                    <a:schemeClr val="tx1"/>
                  </a:solidFill>
                  <a:latin typeface="Times New Roman" panose="02020603050405020304" pitchFamily="18" charset="0"/>
                </a:defRPr>
              </a:lvl5pPr>
              <a:lvl6pPr marL="2514600" indent="-228600" defTabSz="7620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7620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7620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r"/>
              <a:r>
                <a:rPr lang="en-GB" altLang="en-US" sz="2000" i="1">
                  <a:solidFill>
                    <a:schemeClr val="tx2"/>
                  </a:solidFill>
                  <a:latin typeface="Arial" panose="020B0604020202020204" pitchFamily="34" charset="0"/>
                </a:rPr>
                <a:t>W</a:t>
              </a:r>
              <a:r>
                <a:rPr lang="en-GB" altLang="en-US" baseline="-25000">
                  <a:solidFill>
                    <a:schemeClr val="tx2"/>
                  </a:solidFill>
                  <a:latin typeface="Arial" panose="020B0604020202020204" pitchFamily="34" charset="0"/>
                </a:rPr>
                <a:t>e</a:t>
              </a:r>
            </a:p>
          </p:txBody>
        </p:sp>
        <p:sp>
          <p:nvSpPr>
            <p:cNvPr id="51223" name="Rectangle 22">
              <a:extLst>
                <a:ext uri="{FF2B5EF4-FFF2-40B4-BE49-F238E27FC236}">
                  <a16:creationId xmlns:a16="http://schemas.microsoft.com/office/drawing/2014/main" id="{2E8A6834-D1B6-4D9B-AE87-671D94BE3984}"/>
                </a:ext>
              </a:extLst>
            </p:cNvPr>
            <p:cNvSpPr>
              <a:spLocks noChangeArrowheads="1"/>
            </p:cNvSpPr>
            <p:nvPr/>
          </p:nvSpPr>
          <p:spPr bwMode="auto">
            <a:xfrm>
              <a:off x="5321299" y="3697288"/>
              <a:ext cx="328616" cy="4007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defRPr sz="2400">
                  <a:solidFill>
                    <a:schemeClr val="tx1"/>
                  </a:solidFill>
                  <a:latin typeface="Times New Roman" panose="02020603050405020304" pitchFamily="18" charset="0"/>
                </a:defRPr>
              </a:lvl1pPr>
              <a:lvl2pPr marL="742950" indent="-285750" defTabSz="762000">
                <a:defRPr sz="2400">
                  <a:solidFill>
                    <a:schemeClr val="tx1"/>
                  </a:solidFill>
                  <a:latin typeface="Times New Roman" panose="02020603050405020304" pitchFamily="18" charset="0"/>
                </a:defRPr>
              </a:lvl2pPr>
              <a:lvl3pPr marL="1143000" indent="-228600" defTabSz="762000">
                <a:defRPr sz="2400">
                  <a:solidFill>
                    <a:schemeClr val="tx1"/>
                  </a:solidFill>
                  <a:latin typeface="Times New Roman" panose="02020603050405020304" pitchFamily="18" charset="0"/>
                </a:defRPr>
              </a:lvl3pPr>
              <a:lvl4pPr marL="1600200" indent="-228600" defTabSz="762000">
                <a:defRPr sz="2400">
                  <a:solidFill>
                    <a:schemeClr val="tx1"/>
                  </a:solidFill>
                  <a:latin typeface="Times New Roman" panose="02020603050405020304" pitchFamily="18" charset="0"/>
                </a:defRPr>
              </a:lvl4pPr>
              <a:lvl5pPr marL="2057400" indent="-228600" defTabSz="762000">
                <a:defRPr sz="2400">
                  <a:solidFill>
                    <a:schemeClr val="tx1"/>
                  </a:solidFill>
                  <a:latin typeface="Times New Roman" panose="02020603050405020304" pitchFamily="18" charset="0"/>
                </a:defRPr>
              </a:lvl5pPr>
              <a:lvl6pPr marL="2514600" indent="-228600" defTabSz="7620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7620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7620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GB" altLang="en-US" sz="2000" i="1">
                  <a:solidFill>
                    <a:schemeClr val="tx2"/>
                  </a:solidFill>
                  <a:latin typeface="Arial" panose="020B0604020202020204" pitchFamily="34" charset="0"/>
                </a:rPr>
                <a:t>e</a:t>
              </a:r>
            </a:p>
          </p:txBody>
        </p:sp>
        <p:sp>
          <p:nvSpPr>
            <p:cNvPr id="51232" name="Oval 34">
              <a:extLst>
                <a:ext uri="{FF2B5EF4-FFF2-40B4-BE49-F238E27FC236}">
                  <a16:creationId xmlns:a16="http://schemas.microsoft.com/office/drawing/2014/main" id="{ADD4603A-3F2C-4C4D-A6FA-197E41C46AA5}"/>
                </a:ext>
              </a:extLst>
            </p:cNvPr>
            <p:cNvSpPr>
              <a:spLocks noChangeArrowheads="1"/>
            </p:cNvSpPr>
            <p:nvPr/>
          </p:nvSpPr>
          <p:spPr bwMode="auto">
            <a:xfrm>
              <a:off x="5435600" y="4105275"/>
              <a:ext cx="109538" cy="109538"/>
            </a:xfrm>
            <a:prstGeom prst="ellipse">
              <a:avLst/>
            </a:prstGeom>
            <a:solidFill>
              <a:srgbClr val="99CCFF"/>
            </a:solidFill>
            <a:ln w="25400">
              <a:solidFill>
                <a:schemeClr val="bg2"/>
              </a:solidFill>
              <a:round/>
              <a:headEnd/>
              <a:tailEnd/>
            </a:ln>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i="1"/>
            </a:p>
          </p:txBody>
        </p:sp>
        <p:sp>
          <p:nvSpPr>
            <p:cNvPr id="3" name="Oval 28">
              <a:extLst>
                <a:ext uri="{FF2B5EF4-FFF2-40B4-BE49-F238E27FC236}">
                  <a16:creationId xmlns:a16="http://schemas.microsoft.com/office/drawing/2014/main" id="{D86E8664-7BB8-7295-7ADA-7B225D713E59}"/>
                </a:ext>
              </a:extLst>
            </p:cNvPr>
            <p:cNvSpPr>
              <a:spLocks noChangeArrowheads="1"/>
            </p:cNvSpPr>
            <p:nvPr/>
          </p:nvSpPr>
          <p:spPr bwMode="auto">
            <a:xfrm>
              <a:off x="6269221" y="4084194"/>
              <a:ext cx="106362" cy="106363"/>
            </a:xfrm>
            <a:prstGeom prst="ellipse">
              <a:avLst/>
            </a:prstGeom>
            <a:solidFill>
              <a:srgbClr val="00FF00"/>
            </a:solidFill>
            <a:ln w="12700">
              <a:solidFill>
                <a:schemeClr val="bg2"/>
              </a:solidFill>
              <a:round/>
              <a:headEnd/>
              <a:tailEnd/>
            </a:ln>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i="1"/>
            </a:p>
          </p:txBody>
        </p:sp>
        <p:sp>
          <p:nvSpPr>
            <p:cNvPr id="4" name="Rectangle 29">
              <a:extLst>
                <a:ext uri="{FF2B5EF4-FFF2-40B4-BE49-F238E27FC236}">
                  <a16:creationId xmlns:a16="http://schemas.microsoft.com/office/drawing/2014/main" id="{38B5044C-7730-3C51-461E-D62F4CD7EF99}"/>
                </a:ext>
              </a:extLst>
            </p:cNvPr>
            <p:cNvSpPr>
              <a:spLocks noChangeArrowheads="1"/>
            </p:cNvSpPr>
            <p:nvPr/>
          </p:nvSpPr>
          <p:spPr bwMode="auto">
            <a:xfrm>
              <a:off x="6130825" y="3765969"/>
              <a:ext cx="256481" cy="4007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defRPr sz="2400">
                  <a:solidFill>
                    <a:schemeClr val="tx1"/>
                  </a:solidFill>
                  <a:latin typeface="Times New Roman" panose="02020603050405020304" pitchFamily="18" charset="0"/>
                </a:defRPr>
              </a:lvl1pPr>
              <a:lvl2pPr marL="742950" indent="-285750" defTabSz="762000">
                <a:defRPr sz="2400">
                  <a:solidFill>
                    <a:schemeClr val="tx1"/>
                  </a:solidFill>
                  <a:latin typeface="Times New Roman" panose="02020603050405020304" pitchFamily="18" charset="0"/>
                </a:defRPr>
              </a:lvl2pPr>
              <a:lvl3pPr marL="1143000" indent="-228600" defTabSz="762000">
                <a:defRPr sz="2400">
                  <a:solidFill>
                    <a:schemeClr val="tx1"/>
                  </a:solidFill>
                  <a:latin typeface="Times New Roman" panose="02020603050405020304" pitchFamily="18" charset="0"/>
                </a:defRPr>
              </a:lvl3pPr>
              <a:lvl4pPr marL="1600200" indent="-228600" defTabSz="762000">
                <a:defRPr sz="2400">
                  <a:solidFill>
                    <a:schemeClr val="tx1"/>
                  </a:solidFill>
                  <a:latin typeface="Times New Roman" panose="02020603050405020304" pitchFamily="18" charset="0"/>
                </a:defRPr>
              </a:lvl4pPr>
              <a:lvl5pPr marL="2057400" indent="-228600" defTabSz="762000">
                <a:defRPr sz="2400">
                  <a:solidFill>
                    <a:schemeClr val="tx1"/>
                  </a:solidFill>
                  <a:latin typeface="Times New Roman" panose="02020603050405020304" pitchFamily="18" charset="0"/>
                </a:defRPr>
              </a:lvl5pPr>
              <a:lvl6pPr marL="2514600" indent="-228600" defTabSz="7620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7620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7620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GB" altLang="en-US" sz="2000" dirty="0">
                  <a:solidFill>
                    <a:schemeClr val="folHlink"/>
                  </a:solidFill>
                  <a:latin typeface="Arial" panose="020B0604020202020204" pitchFamily="34" charset="0"/>
                </a:rPr>
                <a:t>f</a:t>
              </a:r>
            </a:p>
          </p:txBody>
        </p:sp>
      </p:grpSp>
      <p:grpSp>
        <p:nvGrpSpPr>
          <p:cNvPr id="11" name="Group 10">
            <a:extLst>
              <a:ext uri="{FF2B5EF4-FFF2-40B4-BE49-F238E27FC236}">
                <a16:creationId xmlns:a16="http://schemas.microsoft.com/office/drawing/2014/main" id="{4F113DED-FD9E-DC3D-CE7D-218966BA2960}"/>
              </a:ext>
            </a:extLst>
          </p:cNvPr>
          <p:cNvGrpSpPr/>
          <p:nvPr/>
        </p:nvGrpSpPr>
        <p:grpSpPr>
          <a:xfrm>
            <a:off x="5994400" y="3368677"/>
            <a:ext cx="3457110" cy="987425"/>
            <a:chOff x="5994400" y="3368677"/>
            <a:chExt cx="3457110" cy="987425"/>
          </a:xfrm>
        </p:grpSpPr>
        <p:grpSp>
          <p:nvGrpSpPr>
            <p:cNvPr id="2" name="Group 41">
              <a:extLst>
                <a:ext uri="{FF2B5EF4-FFF2-40B4-BE49-F238E27FC236}">
                  <a16:creationId xmlns:a16="http://schemas.microsoft.com/office/drawing/2014/main" id="{D8171275-9031-4393-9938-2A25CF8CD998}"/>
                </a:ext>
              </a:extLst>
            </p:cNvPr>
            <p:cNvGrpSpPr>
              <a:grpSpLocks/>
            </p:cNvGrpSpPr>
            <p:nvPr/>
          </p:nvGrpSpPr>
          <p:grpSpPr bwMode="auto">
            <a:xfrm>
              <a:off x="6334126" y="3368677"/>
              <a:ext cx="3117384" cy="987425"/>
              <a:chOff x="3030" y="2122"/>
              <a:chExt cx="2092" cy="622"/>
            </a:xfrm>
          </p:grpSpPr>
          <p:sp>
            <p:nvSpPr>
              <p:cNvPr id="51230" name="Line 24">
                <a:extLst>
                  <a:ext uri="{FF2B5EF4-FFF2-40B4-BE49-F238E27FC236}">
                    <a16:creationId xmlns:a16="http://schemas.microsoft.com/office/drawing/2014/main" id="{52571EEE-2DC1-4CD4-A9D3-77831FC2D7B2}"/>
                  </a:ext>
                </a:extLst>
              </p:cNvPr>
              <p:cNvSpPr>
                <a:spLocks noChangeShapeType="1"/>
              </p:cNvSpPr>
              <p:nvPr/>
            </p:nvSpPr>
            <p:spPr bwMode="auto">
              <a:xfrm flipH="1" flipV="1">
                <a:off x="3030" y="2273"/>
                <a:ext cx="789" cy="95"/>
              </a:xfrm>
              <a:prstGeom prst="line">
                <a:avLst/>
              </a:prstGeom>
              <a:noFill/>
              <a:ln w="38100">
                <a:solidFill>
                  <a:schemeClr val="hlink"/>
                </a:solidFill>
                <a:round/>
                <a:headEnd type="none" w="sm" len="sm"/>
                <a:tailEnd type="triangle" w="sm" len="sm"/>
              </a:ln>
              <a:extLst>
                <a:ext uri="{909E8E84-426E-40DD-AFC4-6F175D3DCCD1}">
                  <a14:hiddenFill xmlns:a14="http://schemas.microsoft.com/office/drawing/2010/main">
                    <a:noFill/>
                  </a14:hiddenFill>
                </a:ext>
              </a:extLst>
            </p:spPr>
            <p:txBody>
              <a:bodyPr wrap="none" anchor="ctr"/>
              <a:lstStyle/>
              <a:p>
                <a:endParaRPr lang="en-GB"/>
              </a:p>
            </p:txBody>
          </p:sp>
          <p:sp>
            <p:nvSpPr>
              <p:cNvPr id="8228" name="AutoShape 32" descr="Parchment">
                <a:extLst>
                  <a:ext uri="{FF2B5EF4-FFF2-40B4-BE49-F238E27FC236}">
                    <a16:creationId xmlns:a16="http://schemas.microsoft.com/office/drawing/2014/main" id="{F9BF6005-A23D-4A6F-A96D-A024116A6F4D}"/>
                  </a:ext>
                </a:extLst>
              </p:cNvPr>
              <p:cNvSpPr>
                <a:spLocks noChangeArrowheads="1"/>
              </p:cNvSpPr>
              <p:nvPr/>
            </p:nvSpPr>
            <p:spPr bwMode="auto">
              <a:xfrm>
                <a:off x="3788" y="2122"/>
                <a:ext cx="1334" cy="622"/>
              </a:xfrm>
              <a:prstGeom prst="roundRect">
                <a:avLst>
                  <a:gd name="adj" fmla="val 16667"/>
                </a:avLst>
              </a:prstGeom>
              <a:solidFill>
                <a:schemeClr val="bg1">
                  <a:lumMod val="95000"/>
                </a:schemeClr>
              </a:solidFill>
              <a:ln w="28575">
                <a:solidFill>
                  <a:schemeClr val="hlink"/>
                </a:solidFill>
                <a:round/>
                <a:headEnd type="none" w="sm" len="sm"/>
                <a:tailEnd type="none" w="sm" len="sm"/>
              </a:ln>
            </p:spPr>
            <p:txBody>
              <a:bodyPr wrap="none" anchor="ctr"/>
              <a:lstStyle>
                <a:lvl1pPr defTabSz="762000">
                  <a:defRPr sz="2400">
                    <a:solidFill>
                      <a:schemeClr val="tx1"/>
                    </a:solidFill>
                    <a:latin typeface="Times New Roman" panose="02020603050405020304" pitchFamily="18" charset="0"/>
                  </a:defRPr>
                </a:lvl1pPr>
                <a:lvl2pPr marL="742950" indent="-285750" defTabSz="762000">
                  <a:defRPr sz="2400">
                    <a:solidFill>
                      <a:schemeClr val="tx1"/>
                    </a:solidFill>
                    <a:latin typeface="Times New Roman" panose="02020603050405020304" pitchFamily="18" charset="0"/>
                  </a:defRPr>
                </a:lvl2pPr>
                <a:lvl3pPr marL="1143000" indent="-228600" defTabSz="762000">
                  <a:defRPr sz="2400">
                    <a:solidFill>
                      <a:schemeClr val="tx1"/>
                    </a:solidFill>
                    <a:latin typeface="Times New Roman" panose="02020603050405020304" pitchFamily="18" charset="0"/>
                  </a:defRPr>
                </a:lvl3pPr>
                <a:lvl4pPr marL="1600200" indent="-228600" defTabSz="762000">
                  <a:defRPr sz="2400">
                    <a:solidFill>
                      <a:schemeClr val="tx1"/>
                    </a:solidFill>
                    <a:latin typeface="Times New Roman" panose="02020603050405020304" pitchFamily="18" charset="0"/>
                  </a:defRPr>
                </a:lvl4pPr>
                <a:lvl5pPr marL="2057400" indent="-228600" defTabSz="762000">
                  <a:defRPr sz="2400">
                    <a:solidFill>
                      <a:schemeClr val="tx1"/>
                    </a:solidFill>
                    <a:latin typeface="Times New Roman" panose="02020603050405020304" pitchFamily="18" charset="0"/>
                  </a:defRPr>
                </a:lvl5pPr>
                <a:lvl6pPr marL="2514600" indent="-228600" defTabSz="7620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7620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7620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GB" altLang="en-US" sz="2000">
                    <a:solidFill>
                      <a:schemeClr val="folHlink"/>
                    </a:solidFill>
                    <a:latin typeface="Arial" panose="020B0604020202020204" pitchFamily="34" charset="0"/>
                  </a:rPr>
                  <a:t>Equilibrium</a:t>
                </a:r>
              </a:p>
              <a:p>
                <a:pPr algn="ctr"/>
                <a:r>
                  <a:rPr lang="en-GB" altLang="en-US" sz="2000">
                    <a:solidFill>
                      <a:schemeClr val="folHlink"/>
                    </a:solidFill>
                    <a:latin typeface="Arial" panose="020B0604020202020204" pitchFamily="34" charset="0"/>
                  </a:rPr>
                  <a:t>unemployment</a:t>
                </a:r>
                <a:endParaRPr lang="en-GB" altLang="en-US" sz="2200">
                  <a:solidFill>
                    <a:schemeClr val="folHlink"/>
                  </a:solidFill>
                  <a:latin typeface="Arial" panose="020B0604020202020204" pitchFamily="34" charset="0"/>
                </a:endParaRPr>
              </a:p>
            </p:txBody>
          </p:sp>
        </p:grpSp>
        <p:sp>
          <p:nvSpPr>
            <p:cNvPr id="5" name="Line 24">
              <a:extLst>
                <a:ext uri="{FF2B5EF4-FFF2-40B4-BE49-F238E27FC236}">
                  <a16:creationId xmlns:a16="http://schemas.microsoft.com/office/drawing/2014/main" id="{23CFE865-8D6D-3503-8F05-84CE8B68D101}"/>
                </a:ext>
              </a:extLst>
            </p:cNvPr>
            <p:cNvSpPr>
              <a:spLocks noChangeShapeType="1"/>
            </p:cNvSpPr>
            <p:nvPr/>
          </p:nvSpPr>
          <p:spPr bwMode="auto">
            <a:xfrm flipH="1">
              <a:off x="5994400" y="3954465"/>
              <a:ext cx="1469255" cy="124525"/>
            </a:xfrm>
            <a:prstGeom prst="line">
              <a:avLst/>
            </a:prstGeom>
            <a:noFill/>
            <a:ln w="38100">
              <a:solidFill>
                <a:schemeClr val="hlink"/>
              </a:solidFill>
              <a:round/>
              <a:headEnd type="none" w="sm" len="sm"/>
              <a:tailEnd type="triangle" w="sm" len="sm"/>
            </a:ln>
            <a:extLst>
              <a:ext uri="{909E8E84-426E-40DD-AFC4-6F175D3DCCD1}">
                <a14:hiddenFill xmlns:a14="http://schemas.microsoft.com/office/drawing/2010/main">
                  <a:noFill/>
                </a14:hiddenFill>
              </a:ext>
            </a:extLst>
          </p:spPr>
          <p:txBody>
            <a:bodyPr wrap="none" anchor="ctr"/>
            <a:lstStyle/>
            <a:p>
              <a:endParaRPr lang="en-GB"/>
            </a:p>
          </p:txBody>
        </p:sp>
      </p:grpSp>
    </p:spTree>
    <p:extLst>
      <p:ext uri="{BB962C8B-B14F-4D97-AF65-F5344CB8AC3E}">
        <p14:creationId xmlns:p14="http://schemas.microsoft.com/office/powerpoint/2010/main" val="3890672542"/>
      </p:ext>
    </p:extLst>
  </p:cSld>
  <p:clrMapOvr>
    <a:masterClrMapping/>
  </p:clrMapOvr>
  <p:transition spd="slow">
    <p:wipe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200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par>
                          <p:cTn id="10" fill="hold">
                            <p:stCondLst>
                              <p:cond delay="3000"/>
                            </p:stCondLst>
                            <p:childTnLst>
                              <p:par>
                                <p:cTn id="11" presetID="42" presetClass="entr" presetSubtype="0" fill="hold" nodeType="afterEffect">
                                  <p:stCondLst>
                                    <p:cond delay="200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1000"/>
                                        <p:tgtEl>
                                          <p:spTgt spid="6"/>
                                        </p:tgtEl>
                                      </p:cBhvr>
                                    </p:animEffect>
                                    <p:anim calcmode="lin" valueType="num">
                                      <p:cBhvr>
                                        <p:cTn id="14" dur="1000" fill="hold"/>
                                        <p:tgtEl>
                                          <p:spTgt spid="6"/>
                                        </p:tgtEl>
                                        <p:attrNameLst>
                                          <p:attrName>ppt_x</p:attrName>
                                        </p:attrNameLst>
                                      </p:cBhvr>
                                      <p:tavLst>
                                        <p:tav tm="0">
                                          <p:val>
                                            <p:strVal val="#ppt_x"/>
                                          </p:val>
                                        </p:tav>
                                        <p:tav tm="100000">
                                          <p:val>
                                            <p:strVal val="#ppt_x"/>
                                          </p:val>
                                        </p:tav>
                                      </p:tavLst>
                                    </p:anim>
                                    <p:anim calcmode="lin" valueType="num">
                                      <p:cBhvr>
                                        <p:cTn id="15" dur="1000" fill="hold"/>
                                        <p:tgtEl>
                                          <p:spTgt spid="6"/>
                                        </p:tgtEl>
                                        <p:attrNameLst>
                                          <p:attrName>ppt_y</p:attrName>
                                        </p:attrNameLst>
                                      </p:cBhvr>
                                      <p:tavLst>
                                        <p:tav tm="0">
                                          <p:val>
                                            <p:strVal val="#ppt_y+.1"/>
                                          </p:val>
                                        </p:tav>
                                        <p:tav tm="100000">
                                          <p:val>
                                            <p:strVal val="#ppt_y"/>
                                          </p:val>
                                        </p:tav>
                                      </p:tavLst>
                                    </p:anim>
                                  </p:childTnLst>
                                </p:cTn>
                              </p:par>
                            </p:childTnLst>
                          </p:cTn>
                        </p:par>
                        <p:par>
                          <p:cTn id="16" fill="hold">
                            <p:stCondLst>
                              <p:cond delay="6000"/>
                            </p:stCondLst>
                            <p:childTnLst>
                              <p:par>
                                <p:cTn id="17" presetID="42" presetClass="entr" presetSubtype="0" fill="hold" nodeType="afterEffect">
                                  <p:stCondLst>
                                    <p:cond delay="200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1000"/>
                                        <p:tgtEl>
                                          <p:spTgt spid="8"/>
                                        </p:tgtEl>
                                      </p:cBhvr>
                                    </p:animEffect>
                                    <p:anim calcmode="lin" valueType="num">
                                      <p:cBhvr>
                                        <p:cTn id="20" dur="1000" fill="hold"/>
                                        <p:tgtEl>
                                          <p:spTgt spid="8"/>
                                        </p:tgtEl>
                                        <p:attrNameLst>
                                          <p:attrName>ppt_x</p:attrName>
                                        </p:attrNameLst>
                                      </p:cBhvr>
                                      <p:tavLst>
                                        <p:tav tm="0">
                                          <p:val>
                                            <p:strVal val="#ppt_x"/>
                                          </p:val>
                                        </p:tav>
                                        <p:tav tm="100000">
                                          <p:val>
                                            <p:strVal val="#ppt_x"/>
                                          </p:val>
                                        </p:tav>
                                      </p:tavLst>
                                    </p:anim>
                                    <p:anim calcmode="lin" valueType="num">
                                      <p:cBhvr>
                                        <p:cTn id="21" dur="1000" fill="hold"/>
                                        <p:tgtEl>
                                          <p:spTgt spid="8"/>
                                        </p:tgtEl>
                                        <p:attrNameLst>
                                          <p:attrName>ppt_y</p:attrName>
                                        </p:attrNameLst>
                                      </p:cBhvr>
                                      <p:tavLst>
                                        <p:tav tm="0">
                                          <p:val>
                                            <p:strVal val="#ppt_y+.1"/>
                                          </p:val>
                                        </p:tav>
                                        <p:tav tm="100000">
                                          <p:val>
                                            <p:strVal val="#ppt_y"/>
                                          </p:val>
                                        </p:tav>
                                      </p:tavLst>
                                    </p:anim>
                                  </p:childTnLst>
                                </p:cTn>
                              </p:par>
                            </p:childTnLst>
                          </p:cTn>
                        </p:par>
                        <p:par>
                          <p:cTn id="22" fill="hold">
                            <p:stCondLst>
                              <p:cond delay="9000"/>
                            </p:stCondLst>
                            <p:childTnLst>
                              <p:par>
                                <p:cTn id="23" presetID="42" presetClass="entr" presetSubtype="0" fill="hold" nodeType="afterEffect">
                                  <p:stCondLst>
                                    <p:cond delay="200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1000"/>
                                        <p:tgtEl>
                                          <p:spTgt spid="9"/>
                                        </p:tgtEl>
                                      </p:cBhvr>
                                    </p:animEffect>
                                    <p:anim calcmode="lin" valueType="num">
                                      <p:cBhvr>
                                        <p:cTn id="26" dur="1000" fill="hold"/>
                                        <p:tgtEl>
                                          <p:spTgt spid="9"/>
                                        </p:tgtEl>
                                        <p:attrNameLst>
                                          <p:attrName>ppt_x</p:attrName>
                                        </p:attrNameLst>
                                      </p:cBhvr>
                                      <p:tavLst>
                                        <p:tav tm="0">
                                          <p:val>
                                            <p:strVal val="#ppt_x"/>
                                          </p:val>
                                        </p:tav>
                                        <p:tav tm="100000">
                                          <p:val>
                                            <p:strVal val="#ppt_x"/>
                                          </p:val>
                                        </p:tav>
                                      </p:tavLst>
                                    </p:anim>
                                    <p:anim calcmode="lin" valueType="num">
                                      <p:cBhvr>
                                        <p:cTn id="27" dur="1000" fill="hold"/>
                                        <p:tgtEl>
                                          <p:spTgt spid="9"/>
                                        </p:tgtEl>
                                        <p:attrNameLst>
                                          <p:attrName>ppt_y</p:attrName>
                                        </p:attrNameLst>
                                      </p:cBhvr>
                                      <p:tavLst>
                                        <p:tav tm="0">
                                          <p:val>
                                            <p:strVal val="#ppt_y+.1"/>
                                          </p:val>
                                        </p:tav>
                                        <p:tav tm="100000">
                                          <p:val>
                                            <p:strVal val="#ppt_y"/>
                                          </p:val>
                                        </p:tav>
                                      </p:tavLst>
                                    </p:anim>
                                  </p:childTnLst>
                                </p:cTn>
                              </p:par>
                            </p:childTnLst>
                          </p:cTn>
                        </p:par>
                        <p:par>
                          <p:cTn id="28" fill="hold">
                            <p:stCondLst>
                              <p:cond delay="12000"/>
                            </p:stCondLst>
                            <p:childTnLst>
                              <p:par>
                                <p:cTn id="29" presetID="42" presetClass="entr" presetSubtype="0" fill="hold" nodeType="afterEffect">
                                  <p:stCondLst>
                                    <p:cond delay="200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1000"/>
                                        <p:tgtEl>
                                          <p:spTgt spid="10"/>
                                        </p:tgtEl>
                                      </p:cBhvr>
                                    </p:animEffect>
                                    <p:anim calcmode="lin" valueType="num">
                                      <p:cBhvr>
                                        <p:cTn id="32" dur="1000" fill="hold"/>
                                        <p:tgtEl>
                                          <p:spTgt spid="10"/>
                                        </p:tgtEl>
                                        <p:attrNameLst>
                                          <p:attrName>ppt_x</p:attrName>
                                        </p:attrNameLst>
                                      </p:cBhvr>
                                      <p:tavLst>
                                        <p:tav tm="0">
                                          <p:val>
                                            <p:strVal val="#ppt_x"/>
                                          </p:val>
                                        </p:tav>
                                        <p:tav tm="100000">
                                          <p:val>
                                            <p:strVal val="#ppt_x"/>
                                          </p:val>
                                        </p:tav>
                                      </p:tavLst>
                                    </p:anim>
                                    <p:anim calcmode="lin" valueType="num">
                                      <p:cBhvr>
                                        <p:cTn id="33" dur="1000" fill="hold"/>
                                        <p:tgtEl>
                                          <p:spTgt spid="10"/>
                                        </p:tgtEl>
                                        <p:attrNameLst>
                                          <p:attrName>ppt_y</p:attrName>
                                        </p:attrNameLst>
                                      </p:cBhvr>
                                      <p:tavLst>
                                        <p:tav tm="0">
                                          <p:val>
                                            <p:strVal val="#ppt_y+.1"/>
                                          </p:val>
                                        </p:tav>
                                        <p:tav tm="100000">
                                          <p:val>
                                            <p:strVal val="#ppt_y"/>
                                          </p:val>
                                        </p:tav>
                                      </p:tavLst>
                                    </p:anim>
                                  </p:childTnLst>
                                </p:cTn>
                              </p:par>
                            </p:childTnLst>
                          </p:cTn>
                        </p:par>
                        <p:par>
                          <p:cTn id="34" fill="hold">
                            <p:stCondLst>
                              <p:cond delay="15000"/>
                            </p:stCondLst>
                            <p:childTnLst>
                              <p:par>
                                <p:cTn id="35" presetID="42" presetClass="entr" presetSubtype="0" fill="hold" nodeType="afterEffect">
                                  <p:stCondLst>
                                    <p:cond delay="2000"/>
                                  </p:stCondLst>
                                  <p:childTnLst>
                                    <p:set>
                                      <p:cBhvr>
                                        <p:cTn id="36" dur="1" fill="hold">
                                          <p:stCondLst>
                                            <p:cond delay="0"/>
                                          </p:stCondLst>
                                        </p:cTn>
                                        <p:tgtEl>
                                          <p:spTgt spid="11"/>
                                        </p:tgtEl>
                                        <p:attrNameLst>
                                          <p:attrName>style.visibility</p:attrName>
                                        </p:attrNameLst>
                                      </p:cBhvr>
                                      <p:to>
                                        <p:strVal val="visible"/>
                                      </p:to>
                                    </p:set>
                                    <p:animEffect transition="in" filter="fade">
                                      <p:cBhvr>
                                        <p:cTn id="37" dur="1000"/>
                                        <p:tgtEl>
                                          <p:spTgt spid="11"/>
                                        </p:tgtEl>
                                      </p:cBhvr>
                                    </p:animEffect>
                                    <p:anim calcmode="lin" valueType="num">
                                      <p:cBhvr>
                                        <p:cTn id="38" dur="1000" fill="hold"/>
                                        <p:tgtEl>
                                          <p:spTgt spid="11"/>
                                        </p:tgtEl>
                                        <p:attrNameLst>
                                          <p:attrName>ppt_x</p:attrName>
                                        </p:attrNameLst>
                                      </p:cBhvr>
                                      <p:tavLst>
                                        <p:tav tm="0">
                                          <p:val>
                                            <p:strVal val="#ppt_x"/>
                                          </p:val>
                                        </p:tav>
                                        <p:tav tm="100000">
                                          <p:val>
                                            <p:strVal val="#ppt_x"/>
                                          </p:val>
                                        </p:tav>
                                      </p:tavLst>
                                    </p:anim>
                                    <p:anim calcmode="lin" valueType="num">
                                      <p:cBhvr>
                                        <p:cTn id="39" dur="1000" fill="hold"/>
                                        <p:tgtEl>
                                          <p:spTgt spid="11"/>
                                        </p:tgtEl>
                                        <p:attrNameLst>
                                          <p:attrName>ppt_y</p:attrName>
                                        </p:attrNameLst>
                                      </p:cBhvr>
                                      <p:tavLst>
                                        <p:tav tm="0">
                                          <p:val>
                                            <p:strVal val="#ppt_y+.1"/>
                                          </p:val>
                                        </p:tav>
                                        <p:tav tm="100000">
                                          <p:val>
                                            <p:strVal val="#ppt_y"/>
                                          </p:val>
                                        </p:tav>
                                      </p:tavLst>
                                    </p:anim>
                                  </p:childTnLst>
                                </p:cTn>
                              </p:par>
                            </p:childTnLst>
                          </p:cTn>
                        </p:par>
                        <p:par>
                          <p:cTn id="40" fill="hold">
                            <p:stCondLst>
                              <p:cond delay="18000"/>
                            </p:stCondLst>
                            <p:childTnLst>
                              <p:par>
                                <p:cTn id="41" presetID="42" presetClass="entr" presetSubtype="0" fill="hold" nodeType="afterEffect">
                                  <p:stCondLst>
                                    <p:cond delay="2000"/>
                                  </p:stCondLst>
                                  <p:childTnLst>
                                    <p:set>
                                      <p:cBhvr>
                                        <p:cTn id="42" dur="1" fill="hold">
                                          <p:stCondLst>
                                            <p:cond delay="0"/>
                                          </p:stCondLst>
                                        </p:cTn>
                                        <p:tgtEl>
                                          <p:spTgt spid="12"/>
                                        </p:tgtEl>
                                        <p:attrNameLst>
                                          <p:attrName>style.visibility</p:attrName>
                                        </p:attrNameLst>
                                      </p:cBhvr>
                                      <p:to>
                                        <p:strVal val="visible"/>
                                      </p:to>
                                    </p:set>
                                    <p:animEffect transition="in" filter="fade">
                                      <p:cBhvr>
                                        <p:cTn id="43" dur="1000"/>
                                        <p:tgtEl>
                                          <p:spTgt spid="12"/>
                                        </p:tgtEl>
                                      </p:cBhvr>
                                    </p:animEffect>
                                    <p:anim calcmode="lin" valueType="num">
                                      <p:cBhvr>
                                        <p:cTn id="44" dur="1000" fill="hold"/>
                                        <p:tgtEl>
                                          <p:spTgt spid="12"/>
                                        </p:tgtEl>
                                        <p:attrNameLst>
                                          <p:attrName>ppt_x</p:attrName>
                                        </p:attrNameLst>
                                      </p:cBhvr>
                                      <p:tavLst>
                                        <p:tav tm="0">
                                          <p:val>
                                            <p:strVal val="#ppt_x"/>
                                          </p:val>
                                        </p:tav>
                                        <p:tav tm="100000">
                                          <p:val>
                                            <p:strVal val="#ppt_x"/>
                                          </p:val>
                                        </p:tav>
                                      </p:tavLst>
                                    </p:anim>
                                    <p:anim calcmode="lin" valueType="num">
                                      <p:cBhvr>
                                        <p:cTn id="45"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0850C9-E210-1D3A-3792-ED0A7B86D569}"/>
              </a:ext>
            </a:extLst>
          </p:cNvPr>
          <p:cNvSpPr>
            <a:spLocks noGrp="1"/>
          </p:cNvSpPr>
          <p:nvPr>
            <p:ph type="title"/>
          </p:nvPr>
        </p:nvSpPr>
        <p:spPr/>
        <p:txBody>
          <a:bodyPr/>
          <a:lstStyle/>
          <a:p>
            <a:r>
              <a:rPr lang="en-GB" dirty="0"/>
              <a:t>Costs of Unemployment</a:t>
            </a:r>
            <a:endParaRPr lang="en-MY" dirty="0"/>
          </a:p>
        </p:txBody>
      </p:sp>
      <p:sp>
        <p:nvSpPr>
          <p:cNvPr id="3" name="Content Placeholder 2">
            <a:extLst>
              <a:ext uri="{FF2B5EF4-FFF2-40B4-BE49-F238E27FC236}">
                <a16:creationId xmlns:a16="http://schemas.microsoft.com/office/drawing/2014/main" id="{668B6A5F-BF84-7297-EE53-D206C6C29299}"/>
              </a:ext>
            </a:extLst>
          </p:cNvPr>
          <p:cNvSpPr>
            <a:spLocks noGrp="1"/>
          </p:cNvSpPr>
          <p:nvPr>
            <p:ph idx="1"/>
          </p:nvPr>
        </p:nvSpPr>
        <p:spPr/>
        <p:txBody>
          <a:bodyPr>
            <a:normAutofit fontScale="92500"/>
          </a:bodyPr>
          <a:lstStyle/>
          <a:p>
            <a:r>
              <a:rPr lang="en-GB" b="1" dirty="0">
                <a:latin typeface="+mn-lt"/>
              </a:rPr>
              <a:t>Direct financial cost </a:t>
            </a:r>
            <a:r>
              <a:rPr lang="en-GB" dirty="0">
                <a:latin typeface="+mn-lt"/>
              </a:rPr>
              <a:t>of the loss in individual earnings </a:t>
            </a:r>
          </a:p>
          <a:p>
            <a:pPr marL="0" indent="0">
              <a:buNone/>
            </a:pPr>
            <a:endParaRPr lang="en-GB" dirty="0">
              <a:latin typeface="+mn-lt"/>
            </a:endParaRPr>
          </a:p>
          <a:p>
            <a:r>
              <a:rPr lang="en-GB" b="1" dirty="0">
                <a:latin typeface="+mn-lt"/>
              </a:rPr>
              <a:t>Unemployment benefits </a:t>
            </a:r>
            <a:r>
              <a:rPr lang="en-GB" dirty="0">
                <a:latin typeface="+mn-lt"/>
              </a:rPr>
              <a:t>are a cost borne by taxpayers. There may also have to be extra public spending on benefit offices, social services, health care and the police. </a:t>
            </a:r>
          </a:p>
          <a:p>
            <a:endParaRPr lang="en-GB" dirty="0">
              <a:latin typeface="+mn-lt"/>
            </a:endParaRPr>
          </a:p>
          <a:p>
            <a:r>
              <a:rPr lang="en-GB" dirty="0">
                <a:latin typeface="+mn-lt"/>
              </a:rPr>
              <a:t>Firms lose the </a:t>
            </a:r>
            <a:r>
              <a:rPr lang="en-GB" b="1" dirty="0">
                <a:latin typeface="+mn-lt"/>
              </a:rPr>
              <a:t>profits</a:t>
            </a:r>
            <a:r>
              <a:rPr lang="en-GB" dirty="0">
                <a:latin typeface="+mn-lt"/>
              </a:rPr>
              <a:t> that could have been made, had there been full employment. </a:t>
            </a:r>
          </a:p>
          <a:p>
            <a:endParaRPr lang="en-GB" dirty="0">
              <a:latin typeface="+mn-lt"/>
            </a:endParaRPr>
          </a:p>
          <a:p>
            <a:r>
              <a:rPr lang="en-GB" dirty="0">
                <a:latin typeface="+mn-lt"/>
              </a:rPr>
              <a:t>The government loses </a:t>
            </a:r>
            <a:r>
              <a:rPr lang="en-GB" b="1" dirty="0">
                <a:latin typeface="+mn-lt"/>
              </a:rPr>
              <a:t>tax revenues</a:t>
            </a:r>
            <a:r>
              <a:rPr lang="en-GB" dirty="0">
                <a:latin typeface="+mn-lt"/>
              </a:rPr>
              <a:t>, since the unemployed pay no income tax and national insurance and, given that the unemployed spend less, they pay less VAT and excise duties. </a:t>
            </a:r>
          </a:p>
          <a:p>
            <a:r>
              <a:rPr lang="en-GB" dirty="0">
                <a:latin typeface="+mn-lt"/>
              </a:rPr>
              <a:t>Other workers lose any </a:t>
            </a:r>
            <a:r>
              <a:rPr lang="en-GB" b="1" dirty="0">
                <a:latin typeface="+mn-lt"/>
              </a:rPr>
              <a:t>additional wages </a:t>
            </a:r>
            <a:r>
              <a:rPr lang="en-GB" dirty="0">
                <a:latin typeface="+mn-lt"/>
              </a:rPr>
              <a:t>they could have earned from higher national output. </a:t>
            </a:r>
          </a:p>
          <a:p>
            <a:endParaRPr lang="en-GB" dirty="0"/>
          </a:p>
          <a:p>
            <a:pPr lvl="1"/>
            <a:endParaRPr lang="en-GB" dirty="0"/>
          </a:p>
          <a:p>
            <a:endParaRPr lang="en-GB" dirty="0"/>
          </a:p>
          <a:p>
            <a:endParaRPr lang="en-GB" dirty="0"/>
          </a:p>
          <a:p>
            <a:endParaRPr lang="en-GB" dirty="0"/>
          </a:p>
          <a:p>
            <a:endParaRPr lang="en-MY" dirty="0"/>
          </a:p>
        </p:txBody>
      </p:sp>
    </p:spTree>
    <p:extLst>
      <p:ext uri="{BB962C8B-B14F-4D97-AF65-F5344CB8AC3E}">
        <p14:creationId xmlns:p14="http://schemas.microsoft.com/office/powerpoint/2010/main" val="27599261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35FFB3-CDB7-F66E-7396-87DB48D59B1C}"/>
              </a:ext>
            </a:extLst>
          </p:cNvPr>
          <p:cNvSpPr>
            <a:spLocks noGrp="1"/>
          </p:cNvSpPr>
          <p:nvPr>
            <p:ph type="title"/>
          </p:nvPr>
        </p:nvSpPr>
        <p:spPr/>
        <p:txBody>
          <a:bodyPr/>
          <a:lstStyle/>
          <a:p>
            <a:r>
              <a:rPr lang="en-GB" altLang="en-US" dirty="0"/>
              <a:t>Inflation</a:t>
            </a:r>
            <a:endParaRPr lang="en-MY" dirty="0"/>
          </a:p>
        </p:txBody>
      </p:sp>
      <p:sp>
        <p:nvSpPr>
          <p:cNvPr id="3" name="Content Placeholder 2">
            <a:extLst>
              <a:ext uri="{FF2B5EF4-FFF2-40B4-BE49-F238E27FC236}">
                <a16:creationId xmlns:a16="http://schemas.microsoft.com/office/drawing/2014/main" id="{D3CB5E75-C340-1AB2-834D-3E7EB4C33C08}"/>
              </a:ext>
            </a:extLst>
          </p:cNvPr>
          <p:cNvSpPr>
            <a:spLocks noGrp="1"/>
          </p:cNvSpPr>
          <p:nvPr>
            <p:ph idx="1"/>
          </p:nvPr>
        </p:nvSpPr>
        <p:spPr/>
        <p:txBody>
          <a:bodyPr/>
          <a:lstStyle/>
          <a:p>
            <a:pPr>
              <a:spcBef>
                <a:spcPts val="600"/>
              </a:spcBef>
            </a:pPr>
            <a:r>
              <a:rPr lang="en-GB" altLang="en-US" dirty="0">
                <a:latin typeface="+mn-lt"/>
              </a:rPr>
              <a:t>A </a:t>
            </a:r>
            <a:r>
              <a:rPr lang="en-GB" altLang="en-US" b="1" dirty="0">
                <a:latin typeface="+mn-lt"/>
              </a:rPr>
              <a:t>general rise in prices </a:t>
            </a:r>
            <a:r>
              <a:rPr lang="en-GB" altLang="en-US" dirty="0">
                <a:latin typeface="+mn-lt"/>
              </a:rPr>
              <a:t>throughout the economy. </a:t>
            </a:r>
          </a:p>
          <a:p>
            <a:pPr lvl="1">
              <a:spcBef>
                <a:spcPts val="600"/>
              </a:spcBef>
            </a:pPr>
            <a:r>
              <a:rPr lang="en-GB" altLang="en-US" sz="2400" dirty="0">
                <a:latin typeface="+mn-lt"/>
              </a:rPr>
              <a:t>With price stability, changes prices are informative for decision makers</a:t>
            </a:r>
          </a:p>
          <a:p>
            <a:pPr lvl="1">
              <a:spcBef>
                <a:spcPts val="600"/>
              </a:spcBef>
            </a:pPr>
            <a:r>
              <a:rPr lang="en-GB" altLang="en-US" sz="2400" dirty="0">
                <a:latin typeface="+mn-lt"/>
              </a:rPr>
              <a:t>With high inflation, they are not</a:t>
            </a:r>
          </a:p>
          <a:p>
            <a:endParaRPr lang="en-US" dirty="0">
              <a:latin typeface="+mn-lt"/>
            </a:endParaRPr>
          </a:p>
          <a:p>
            <a:r>
              <a:rPr lang="en-US" dirty="0">
                <a:latin typeface="+mn-lt"/>
              </a:rPr>
              <a:t>Inflation tends to rise in periods of rapid </a:t>
            </a:r>
            <a:r>
              <a:rPr lang="en-US" b="1" dirty="0">
                <a:latin typeface="+mn-lt"/>
              </a:rPr>
              <a:t>economic growth</a:t>
            </a:r>
            <a:r>
              <a:rPr lang="en-US" dirty="0">
                <a:latin typeface="+mn-lt"/>
              </a:rPr>
              <a:t>: firms respond to the higher demand, partly by raising output, but partly also by raising prices. </a:t>
            </a:r>
          </a:p>
          <a:p>
            <a:r>
              <a:rPr lang="en-US" dirty="0">
                <a:latin typeface="+mn-lt"/>
              </a:rPr>
              <a:t>Conversely, in a </a:t>
            </a:r>
            <a:r>
              <a:rPr lang="en-US" b="1" dirty="0">
                <a:latin typeface="+mn-lt"/>
              </a:rPr>
              <a:t>recession</a:t>
            </a:r>
            <a:r>
              <a:rPr lang="en-US" dirty="0">
                <a:latin typeface="+mn-lt"/>
              </a:rPr>
              <a:t>, inflation is likely to fall: firms, faced with falling demand and rising stocks, are likely to be unwilling to raise prices and may even cut them. </a:t>
            </a:r>
          </a:p>
          <a:p>
            <a:endParaRPr lang="en-US" dirty="0"/>
          </a:p>
          <a:p>
            <a:endParaRPr lang="en-MY" dirty="0"/>
          </a:p>
        </p:txBody>
      </p:sp>
    </p:spTree>
    <p:extLst>
      <p:ext uri="{BB962C8B-B14F-4D97-AF65-F5344CB8AC3E}">
        <p14:creationId xmlns:p14="http://schemas.microsoft.com/office/powerpoint/2010/main" val="343991645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991668-4FE5-D4F8-9992-E569CF26D466}"/>
              </a:ext>
            </a:extLst>
          </p:cNvPr>
          <p:cNvSpPr>
            <a:spLocks noGrp="1"/>
          </p:cNvSpPr>
          <p:nvPr>
            <p:ph type="title"/>
          </p:nvPr>
        </p:nvSpPr>
        <p:spPr/>
        <p:txBody>
          <a:bodyPr/>
          <a:lstStyle/>
          <a:p>
            <a:r>
              <a:rPr lang="en-GB" altLang="en-US" dirty="0"/>
              <a:t>Inflation</a:t>
            </a:r>
            <a:endParaRPr lang="en-MY" dirty="0"/>
          </a:p>
        </p:txBody>
      </p:sp>
      <p:sp>
        <p:nvSpPr>
          <p:cNvPr id="3" name="Content Placeholder 2">
            <a:extLst>
              <a:ext uri="{FF2B5EF4-FFF2-40B4-BE49-F238E27FC236}">
                <a16:creationId xmlns:a16="http://schemas.microsoft.com/office/drawing/2014/main" id="{37627571-FD9A-B7ED-1CCC-7E9F0F3FFDAF}"/>
              </a:ext>
            </a:extLst>
          </p:cNvPr>
          <p:cNvSpPr>
            <a:spLocks noGrp="1"/>
          </p:cNvSpPr>
          <p:nvPr>
            <p:ph idx="1"/>
          </p:nvPr>
        </p:nvSpPr>
        <p:spPr/>
        <p:txBody>
          <a:bodyPr/>
          <a:lstStyle/>
          <a:p>
            <a:pPr>
              <a:lnSpc>
                <a:spcPct val="100000"/>
              </a:lnSpc>
              <a:spcBef>
                <a:spcPts val="600"/>
              </a:spcBef>
              <a:spcAft>
                <a:spcPts val="0"/>
              </a:spcAft>
            </a:pPr>
            <a:r>
              <a:rPr lang="en-GB" altLang="en-US" dirty="0">
                <a:latin typeface="+mn-lt"/>
              </a:rPr>
              <a:t>Definition: annual or quarterly increase in level of prices</a:t>
            </a:r>
          </a:p>
          <a:p>
            <a:pPr>
              <a:lnSpc>
                <a:spcPct val="100000"/>
              </a:lnSpc>
              <a:spcBef>
                <a:spcPts val="600"/>
              </a:spcBef>
              <a:spcAft>
                <a:spcPts val="0"/>
              </a:spcAft>
            </a:pPr>
            <a:r>
              <a:rPr lang="en-GB" altLang="en-US" b="1" dirty="0">
                <a:latin typeface="+mn-lt"/>
              </a:rPr>
              <a:t>Measures</a:t>
            </a:r>
            <a:r>
              <a:rPr lang="en-GB" altLang="en-US" dirty="0">
                <a:latin typeface="+mn-lt"/>
              </a:rPr>
              <a:t> of inflation</a:t>
            </a:r>
          </a:p>
          <a:p>
            <a:pPr lvl="1">
              <a:spcBef>
                <a:spcPts val="600"/>
              </a:spcBef>
              <a:spcAft>
                <a:spcPts val="0"/>
              </a:spcAft>
            </a:pPr>
            <a:r>
              <a:rPr lang="en-GB" altLang="en-US" b="1" dirty="0">
                <a:latin typeface="+mn-lt"/>
              </a:rPr>
              <a:t>GDP deflator</a:t>
            </a:r>
          </a:p>
          <a:p>
            <a:pPr lvl="2">
              <a:spcBef>
                <a:spcPts val="600"/>
              </a:spcBef>
              <a:spcAft>
                <a:spcPts val="0"/>
              </a:spcAft>
            </a:pPr>
            <a:r>
              <a:rPr lang="en-GB" altLang="en-US" dirty="0">
                <a:latin typeface="+mn-lt"/>
              </a:rPr>
              <a:t>price index based on value of all final transactions in economy</a:t>
            </a:r>
          </a:p>
          <a:p>
            <a:pPr lvl="2">
              <a:spcBef>
                <a:spcPts val="600"/>
              </a:spcBef>
              <a:spcAft>
                <a:spcPts val="0"/>
              </a:spcAft>
            </a:pPr>
            <a:r>
              <a:rPr lang="en-GB" altLang="en-US" dirty="0">
                <a:latin typeface="+mn-lt"/>
              </a:rPr>
              <a:t>Includes capital goods (investment), government purchases, export prices, doesn’t include imports</a:t>
            </a:r>
          </a:p>
          <a:p>
            <a:pPr lvl="1">
              <a:lnSpc>
                <a:spcPct val="100000"/>
              </a:lnSpc>
              <a:spcBef>
                <a:spcPts val="600"/>
              </a:spcBef>
              <a:spcAft>
                <a:spcPts val="0"/>
              </a:spcAft>
            </a:pPr>
            <a:r>
              <a:rPr lang="en-GB" altLang="en-US" b="1" dirty="0">
                <a:latin typeface="+mn-lt"/>
              </a:rPr>
              <a:t>consumer price index</a:t>
            </a:r>
            <a:r>
              <a:rPr lang="en-GB" altLang="en-US" dirty="0">
                <a:latin typeface="+mn-lt"/>
              </a:rPr>
              <a:t>: Consumer Prices Index, includes imports, doesn’t include exports</a:t>
            </a:r>
          </a:p>
          <a:p>
            <a:pPr lvl="1">
              <a:lnSpc>
                <a:spcPct val="100000"/>
              </a:lnSpc>
              <a:spcBef>
                <a:spcPts val="600"/>
              </a:spcBef>
              <a:spcAft>
                <a:spcPts val="0"/>
              </a:spcAft>
            </a:pPr>
            <a:r>
              <a:rPr lang="en-GB" altLang="en-US" b="1" dirty="0">
                <a:latin typeface="+mn-lt"/>
              </a:rPr>
              <a:t>wage inflation </a:t>
            </a:r>
            <a:r>
              <a:rPr lang="en-GB" altLang="en-US" dirty="0">
                <a:latin typeface="+mn-lt"/>
              </a:rPr>
              <a:t>– with difference between rate of wage increases and consumer prices important for well-being</a:t>
            </a:r>
          </a:p>
          <a:p>
            <a:pPr lvl="1">
              <a:lnSpc>
                <a:spcPct val="100000"/>
              </a:lnSpc>
              <a:spcBef>
                <a:spcPts val="600"/>
              </a:spcBef>
              <a:spcAft>
                <a:spcPts val="0"/>
              </a:spcAft>
            </a:pPr>
            <a:r>
              <a:rPr lang="en-GB" altLang="en-US" dirty="0">
                <a:latin typeface="+mn-lt"/>
              </a:rPr>
              <a:t>other measures (e.g. commodity price inflation)</a:t>
            </a:r>
          </a:p>
          <a:p>
            <a:endParaRPr lang="en-MY" dirty="0"/>
          </a:p>
        </p:txBody>
      </p:sp>
    </p:spTree>
    <p:extLst>
      <p:ext uri="{BB962C8B-B14F-4D97-AF65-F5344CB8AC3E}">
        <p14:creationId xmlns:p14="http://schemas.microsoft.com/office/powerpoint/2010/main" val="96492427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2F649A-1EDA-8B98-E1A1-FC64868DD1AB}"/>
              </a:ext>
            </a:extLst>
          </p:cNvPr>
          <p:cNvSpPr>
            <a:spLocks noGrp="1"/>
          </p:cNvSpPr>
          <p:nvPr>
            <p:ph type="title"/>
          </p:nvPr>
        </p:nvSpPr>
        <p:spPr/>
        <p:txBody>
          <a:bodyPr>
            <a:normAutofit fontScale="90000"/>
          </a:bodyPr>
          <a:lstStyle/>
          <a:p>
            <a:pPr algn="ctr"/>
            <a:r>
              <a:rPr lang="en-US" dirty="0"/>
              <a:t>Inflation rates</a:t>
            </a:r>
            <a:br>
              <a:rPr lang="en-US" dirty="0"/>
            </a:br>
            <a:endParaRPr lang="en-US" dirty="0"/>
          </a:p>
        </p:txBody>
      </p:sp>
      <p:sp>
        <p:nvSpPr>
          <p:cNvPr id="3" name="Content Placeholder 2">
            <a:extLst>
              <a:ext uri="{FF2B5EF4-FFF2-40B4-BE49-F238E27FC236}">
                <a16:creationId xmlns:a16="http://schemas.microsoft.com/office/drawing/2014/main" id="{06FEF0C6-B183-C302-188F-BF8FB461E3DB}"/>
              </a:ext>
            </a:extLst>
          </p:cNvPr>
          <p:cNvSpPr>
            <a:spLocks noGrp="1"/>
          </p:cNvSpPr>
          <p:nvPr>
            <p:ph idx="1"/>
          </p:nvPr>
        </p:nvSpPr>
        <p:spPr/>
        <p:txBody>
          <a:bodyPr/>
          <a:lstStyle/>
          <a:p>
            <a:endParaRPr lang="en-US"/>
          </a:p>
        </p:txBody>
      </p:sp>
      <p:graphicFrame>
        <p:nvGraphicFramePr>
          <p:cNvPr id="4" name="Object 2">
            <a:extLst>
              <a:ext uri="{FF2B5EF4-FFF2-40B4-BE49-F238E27FC236}">
                <a16:creationId xmlns:a16="http://schemas.microsoft.com/office/drawing/2014/main" id="{3A177ABA-9494-328A-239D-175E81B5B11A}"/>
              </a:ext>
            </a:extLst>
          </p:cNvPr>
          <p:cNvGraphicFramePr>
            <a:graphicFrameLocks/>
          </p:cNvGraphicFramePr>
          <p:nvPr>
            <p:extLst>
              <p:ext uri="{D42A27DB-BD31-4B8C-83A1-F6EECF244321}">
                <p14:modId xmlns:p14="http://schemas.microsoft.com/office/powerpoint/2010/main" val="1586410325"/>
              </p:ext>
            </p:extLst>
          </p:nvPr>
        </p:nvGraphicFramePr>
        <p:xfrm>
          <a:off x="-450554" y="681036"/>
          <a:ext cx="12127689" cy="5695337"/>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7988891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graphicEl>
                                              <a:chart seriesIdx="0" categoryIdx="-4" bldStep="series"/>
                                            </p:graphicEl>
                                          </p:spTgt>
                                        </p:tgtEl>
                                        <p:attrNameLst>
                                          <p:attrName>style.visibility</p:attrName>
                                        </p:attrNameLst>
                                      </p:cBhvr>
                                      <p:to>
                                        <p:strVal val="visible"/>
                                      </p:to>
                                    </p:set>
                                    <p:animEffect transition="in" filter="wipe(left)">
                                      <p:cBhvr>
                                        <p:cTn id="7" dur="1250"/>
                                        <p:tgtEl>
                                          <p:spTgt spid="4">
                                            <p:graphicEl>
                                              <a:chart seriesIdx="0" categoryIdx="-4" bldStep="series"/>
                                            </p:graphic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
                                            <p:graphicEl>
                                              <a:chart seriesIdx="1" categoryIdx="-4" bldStep="series"/>
                                            </p:graphicEl>
                                          </p:spTgt>
                                        </p:tgtEl>
                                        <p:attrNameLst>
                                          <p:attrName>style.visibility</p:attrName>
                                        </p:attrNameLst>
                                      </p:cBhvr>
                                      <p:to>
                                        <p:strVal val="visible"/>
                                      </p:to>
                                    </p:set>
                                    <p:animEffect transition="in" filter="wipe(left)">
                                      <p:cBhvr>
                                        <p:cTn id="12" dur="1250"/>
                                        <p:tgtEl>
                                          <p:spTgt spid="4">
                                            <p:graphicEl>
                                              <a:chart seriesIdx="1" categoryIdx="-4" bldStep="series"/>
                                            </p:graphic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
                                            <p:graphicEl>
                                              <a:chart seriesIdx="2" categoryIdx="-4" bldStep="series"/>
                                            </p:graphicEl>
                                          </p:spTgt>
                                        </p:tgtEl>
                                        <p:attrNameLst>
                                          <p:attrName>style.visibility</p:attrName>
                                        </p:attrNameLst>
                                      </p:cBhvr>
                                      <p:to>
                                        <p:strVal val="visible"/>
                                      </p:to>
                                    </p:set>
                                    <p:animEffect transition="in" filter="wipe(left)">
                                      <p:cBhvr>
                                        <p:cTn id="17" dur="1250"/>
                                        <p:tgtEl>
                                          <p:spTgt spid="4">
                                            <p:graphicEl>
                                              <a:chart seriesIdx="2" categoryIdx="-4" bldStep="series"/>
                                            </p:graphic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4">
                                            <p:graphicEl>
                                              <a:chart seriesIdx="3" categoryIdx="-4" bldStep="series"/>
                                            </p:graphicEl>
                                          </p:spTgt>
                                        </p:tgtEl>
                                        <p:attrNameLst>
                                          <p:attrName>style.visibility</p:attrName>
                                        </p:attrNameLst>
                                      </p:cBhvr>
                                      <p:to>
                                        <p:strVal val="visible"/>
                                      </p:to>
                                    </p:set>
                                    <p:animEffect transition="in" filter="wipe(left)">
                                      <p:cBhvr>
                                        <p:cTn id="22" dur="1250"/>
                                        <p:tgtEl>
                                          <p:spTgt spid="4">
                                            <p:graphicEl>
                                              <a:chart seriesIdx="3" categoryIdx="-4" bldStep="series"/>
                                            </p:graphic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4">
                                            <p:graphicEl>
                                              <a:chart seriesIdx="4" categoryIdx="-4" bldStep="series"/>
                                            </p:graphicEl>
                                          </p:spTgt>
                                        </p:tgtEl>
                                        <p:attrNameLst>
                                          <p:attrName>style.visibility</p:attrName>
                                        </p:attrNameLst>
                                      </p:cBhvr>
                                      <p:to>
                                        <p:strVal val="visible"/>
                                      </p:to>
                                    </p:set>
                                    <p:animEffect transition="in" filter="wipe(left)">
                                      <p:cBhvr>
                                        <p:cTn id="27" dur="1250"/>
                                        <p:tgtEl>
                                          <p:spTgt spid="4">
                                            <p:graphicEl>
                                              <a:chart seriesIdx="4" categoryIdx="-4" bldStep="series"/>
                                            </p:graphic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4">
                                            <p:graphicEl>
                                              <a:chart seriesIdx="5" categoryIdx="-4" bldStep="series"/>
                                            </p:graphicEl>
                                          </p:spTgt>
                                        </p:tgtEl>
                                        <p:attrNameLst>
                                          <p:attrName>style.visibility</p:attrName>
                                        </p:attrNameLst>
                                      </p:cBhvr>
                                      <p:to>
                                        <p:strVal val="visible"/>
                                      </p:to>
                                    </p:set>
                                    <p:animEffect transition="in" filter="wipe(left)">
                                      <p:cBhvr>
                                        <p:cTn id="32" dur="1250"/>
                                        <p:tgtEl>
                                          <p:spTgt spid="4">
                                            <p:graphicEl>
                                              <a:chart seriesIdx="5" categoryIdx="-4" bldStep="series"/>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uiExpand="1">
        <p:bldSub>
          <a:bldChart bld="series" animBg="0"/>
        </p:bldSub>
      </p:bldGraphic>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947121-E248-50C2-F8F8-ABCDEC7D7BA4}"/>
              </a:ext>
            </a:extLst>
          </p:cNvPr>
          <p:cNvSpPr>
            <a:spLocks noGrp="1"/>
          </p:cNvSpPr>
          <p:nvPr>
            <p:ph type="title"/>
          </p:nvPr>
        </p:nvSpPr>
        <p:spPr/>
        <p:txBody>
          <a:bodyPr>
            <a:normAutofit fontScale="90000"/>
          </a:bodyPr>
          <a:lstStyle/>
          <a:p>
            <a:r>
              <a:rPr lang="en-GB" altLang="en-US" dirty="0"/>
              <a:t>Economic Volatility and the Business Cycle</a:t>
            </a:r>
            <a:endParaRPr lang="en-US" dirty="0"/>
          </a:p>
        </p:txBody>
      </p:sp>
      <p:sp>
        <p:nvSpPr>
          <p:cNvPr id="3" name="Content Placeholder 2">
            <a:extLst>
              <a:ext uri="{FF2B5EF4-FFF2-40B4-BE49-F238E27FC236}">
                <a16:creationId xmlns:a16="http://schemas.microsoft.com/office/drawing/2014/main" id="{F0178633-C83B-582D-1219-977A3DB4A302}"/>
              </a:ext>
            </a:extLst>
          </p:cNvPr>
          <p:cNvSpPr>
            <a:spLocks noGrp="1"/>
          </p:cNvSpPr>
          <p:nvPr>
            <p:ph idx="1"/>
          </p:nvPr>
        </p:nvSpPr>
        <p:spPr/>
        <p:txBody>
          <a:bodyPr/>
          <a:lstStyle/>
          <a:p>
            <a:pPr>
              <a:spcBef>
                <a:spcPct val="15000"/>
              </a:spcBef>
            </a:pPr>
            <a:r>
              <a:rPr lang="en-GB" altLang="en-US" sz="2800" dirty="0">
                <a:latin typeface="+mn-lt"/>
              </a:rPr>
              <a:t>Typically economy shows period in which </a:t>
            </a:r>
          </a:p>
          <a:p>
            <a:pPr lvl="1">
              <a:spcBef>
                <a:spcPct val="15000"/>
              </a:spcBef>
            </a:pPr>
            <a:r>
              <a:rPr lang="en-GB" altLang="en-US" sz="2400" dirty="0">
                <a:latin typeface="+mn-lt"/>
              </a:rPr>
              <a:t>Expansion begins; growth accelerates; peaks out;</a:t>
            </a:r>
          </a:p>
          <a:p>
            <a:pPr lvl="1">
              <a:spcBef>
                <a:spcPct val="15000"/>
              </a:spcBef>
            </a:pPr>
            <a:r>
              <a:rPr lang="en-GB" altLang="en-US" sz="2400" dirty="0">
                <a:latin typeface="+mn-lt"/>
              </a:rPr>
              <a:t>Economy then starts to slow down, contracts in recession, reaches trough</a:t>
            </a:r>
          </a:p>
          <a:p>
            <a:pPr lvl="1">
              <a:spcBef>
                <a:spcPct val="15000"/>
              </a:spcBef>
            </a:pPr>
            <a:endParaRPr lang="en-GB" altLang="en-US" dirty="0">
              <a:latin typeface="+mn-lt"/>
            </a:endParaRPr>
          </a:p>
          <a:p>
            <a:pPr>
              <a:spcBef>
                <a:spcPct val="15000"/>
              </a:spcBef>
            </a:pPr>
            <a:r>
              <a:rPr lang="en-GB" altLang="en-US" sz="2800" dirty="0">
                <a:latin typeface="+mn-lt"/>
              </a:rPr>
              <a:t>Traditional description – business cycle</a:t>
            </a:r>
          </a:p>
          <a:p>
            <a:pPr lvl="1">
              <a:spcBef>
                <a:spcPct val="15000"/>
              </a:spcBef>
            </a:pPr>
            <a:r>
              <a:rPr lang="en-GB" altLang="en-US" sz="2400" dirty="0">
                <a:latin typeface="+mn-lt"/>
              </a:rPr>
              <a:t>Captures fluctuations in actual growth through the phases of expansion and contraction</a:t>
            </a:r>
          </a:p>
          <a:p>
            <a:endParaRPr lang="en-US" dirty="0"/>
          </a:p>
        </p:txBody>
      </p:sp>
    </p:spTree>
    <p:extLst>
      <p:ext uri="{BB962C8B-B14F-4D97-AF65-F5344CB8AC3E}">
        <p14:creationId xmlns:p14="http://schemas.microsoft.com/office/powerpoint/2010/main" val="392424197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79027C65-00BF-4A5D-8855-3B664C57C149}"/>
              </a:ext>
            </a:extLst>
          </p:cNvPr>
          <p:cNvSpPr>
            <a:spLocks noChangeArrowheads="1"/>
          </p:cNvSpPr>
          <p:nvPr/>
        </p:nvSpPr>
        <p:spPr bwMode="auto">
          <a:xfrm>
            <a:off x="2209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a:solidFill>
                  <a:schemeClr val="tx1"/>
                </a:solidFill>
                <a:latin typeface="Times New Roman" panose="02020603050405020304" pitchFamily="18" charset="0"/>
              </a:defRPr>
            </a:lvl1pPr>
            <a:lvl2pPr marL="742950" indent="-285750">
              <a:defRPr sz="2800">
                <a:solidFill>
                  <a:schemeClr val="tx1"/>
                </a:solidFill>
                <a:latin typeface="Times New Roman" panose="02020603050405020304" pitchFamily="18" charset="0"/>
              </a:defRPr>
            </a:lvl2pPr>
            <a:lvl3pPr marL="1143000" indent="-228600">
              <a:defRPr sz="2800">
                <a:solidFill>
                  <a:schemeClr val="tx1"/>
                </a:solidFill>
                <a:latin typeface="Times New Roman" panose="02020603050405020304" pitchFamily="18" charset="0"/>
              </a:defRPr>
            </a:lvl3pPr>
            <a:lvl4pPr marL="1600200" indent="-228600">
              <a:defRPr sz="2800">
                <a:solidFill>
                  <a:schemeClr val="tx1"/>
                </a:solidFill>
                <a:latin typeface="Times New Roman" panose="02020603050405020304" pitchFamily="18" charset="0"/>
              </a:defRPr>
            </a:lvl4pPr>
            <a:lvl5pPr marL="2057400" indent="-228600">
              <a:defRPr sz="28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defRPr>
            </a:lvl9pPr>
          </a:lstStyle>
          <a:p>
            <a:endParaRPr lang="en-GB" altLang="en-US" noProof="1"/>
          </a:p>
        </p:txBody>
      </p:sp>
      <p:sp>
        <p:nvSpPr>
          <p:cNvPr id="14339" name="Rectangle 3">
            <a:extLst>
              <a:ext uri="{FF2B5EF4-FFF2-40B4-BE49-F238E27FC236}">
                <a16:creationId xmlns:a16="http://schemas.microsoft.com/office/drawing/2014/main" id="{F0866B8B-BEBF-42F7-8268-694A3E996809}"/>
              </a:ext>
            </a:extLst>
          </p:cNvPr>
          <p:cNvSpPr>
            <a:spLocks noChangeArrowheads="1"/>
          </p:cNvSpPr>
          <p:nvPr/>
        </p:nvSpPr>
        <p:spPr bwMode="auto">
          <a:xfrm>
            <a:off x="4648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a:solidFill>
                  <a:schemeClr val="tx1"/>
                </a:solidFill>
                <a:latin typeface="Times New Roman" panose="02020603050405020304" pitchFamily="18" charset="0"/>
              </a:defRPr>
            </a:lvl1pPr>
            <a:lvl2pPr marL="742950" indent="-285750">
              <a:defRPr sz="2800">
                <a:solidFill>
                  <a:schemeClr val="tx1"/>
                </a:solidFill>
                <a:latin typeface="Times New Roman" panose="02020603050405020304" pitchFamily="18" charset="0"/>
              </a:defRPr>
            </a:lvl2pPr>
            <a:lvl3pPr marL="1143000" indent="-228600">
              <a:defRPr sz="2800">
                <a:solidFill>
                  <a:schemeClr val="tx1"/>
                </a:solidFill>
                <a:latin typeface="Times New Roman" panose="02020603050405020304" pitchFamily="18" charset="0"/>
              </a:defRPr>
            </a:lvl3pPr>
            <a:lvl4pPr marL="1600200" indent="-228600">
              <a:defRPr sz="2800">
                <a:solidFill>
                  <a:schemeClr val="tx1"/>
                </a:solidFill>
                <a:latin typeface="Times New Roman" panose="02020603050405020304" pitchFamily="18" charset="0"/>
              </a:defRPr>
            </a:lvl4pPr>
            <a:lvl5pPr marL="2057400" indent="-228600">
              <a:defRPr sz="28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defRPr>
            </a:lvl9pPr>
          </a:lstStyle>
          <a:p>
            <a:endParaRPr lang="en-GB" altLang="en-US" noProof="1"/>
          </a:p>
        </p:txBody>
      </p:sp>
      <p:sp>
        <p:nvSpPr>
          <p:cNvPr id="14340" name="Rectangle 4">
            <a:extLst>
              <a:ext uri="{FF2B5EF4-FFF2-40B4-BE49-F238E27FC236}">
                <a16:creationId xmlns:a16="http://schemas.microsoft.com/office/drawing/2014/main" id="{04B69C48-9113-46D0-85E0-26FB0F5E36F4}"/>
              </a:ext>
            </a:extLst>
          </p:cNvPr>
          <p:cNvSpPr>
            <a:spLocks noGrp="1"/>
          </p:cNvSpPr>
          <p:nvPr>
            <p:ph type="title"/>
          </p:nvPr>
        </p:nvSpPr>
        <p:spPr/>
        <p:txBody>
          <a:bodyPr>
            <a:normAutofit/>
          </a:bodyPr>
          <a:lstStyle/>
          <a:p>
            <a:r>
              <a:rPr lang="en-GB" altLang="en-US" dirty="0"/>
              <a:t>The business cycle</a:t>
            </a:r>
          </a:p>
        </p:txBody>
      </p:sp>
      <p:sp>
        <p:nvSpPr>
          <p:cNvPr id="394245" name="Rectangle 5">
            <a:extLst>
              <a:ext uri="{FF2B5EF4-FFF2-40B4-BE49-F238E27FC236}">
                <a16:creationId xmlns:a16="http://schemas.microsoft.com/office/drawing/2014/main" id="{8BD2CBB3-4DA6-4718-8AE1-FF086E3ED012}"/>
              </a:ext>
            </a:extLst>
          </p:cNvPr>
          <p:cNvSpPr>
            <a:spLocks noGrp="1"/>
          </p:cNvSpPr>
          <p:nvPr>
            <p:ph sz="quarter" idx="1"/>
          </p:nvPr>
        </p:nvSpPr>
        <p:spPr/>
        <p:txBody>
          <a:bodyPr>
            <a:normAutofit fontScale="77500" lnSpcReduction="20000"/>
          </a:bodyPr>
          <a:lstStyle/>
          <a:p>
            <a:r>
              <a:rPr lang="en-GB" sz="3100" dirty="0">
                <a:latin typeface="+mn-lt"/>
              </a:rPr>
              <a:t>Actual growth tends to </a:t>
            </a:r>
            <a:r>
              <a:rPr lang="en-GB" sz="3100" b="1" dirty="0">
                <a:latin typeface="+mn-lt"/>
              </a:rPr>
              <a:t>fluctuate</a:t>
            </a:r>
            <a:r>
              <a:rPr lang="en-GB" sz="3100" dirty="0">
                <a:latin typeface="+mn-lt"/>
              </a:rPr>
              <a:t>. This cycle of expansion and slowdown causes fluctuations in the path of output. </a:t>
            </a:r>
          </a:p>
          <a:p>
            <a:pPr lvl="1">
              <a:spcBef>
                <a:spcPct val="15000"/>
              </a:spcBef>
            </a:pPr>
            <a:endParaRPr lang="en-GB" altLang="en-US" sz="2700" b="1" dirty="0">
              <a:latin typeface="+mn-lt"/>
            </a:endParaRPr>
          </a:p>
          <a:p>
            <a:pPr marL="457200" lvl="1" indent="0">
              <a:spcBef>
                <a:spcPct val="15000"/>
              </a:spcBef>
              <a:buNone/>
            </a:pPr>
            <a:r>
              <a:rPr lang="en-GB" altLang="en-US" sz="2700" b="1" dirty="0">
                <a:latin typeface="+mn-lt"/>
              </a:rPr>
              <a:t>4 phases:</a:t>
            </a:r>
          </a:p>
          <a:p>
            <a:pPr marL="971550" lvl="1" indent="-514350">
              <a:spcBef>
                <a:spcPct val="15000"/>
              </a:spcBef>
              <a:buAutoNum type="arabicPeriod"/>
            </a:pPr>
            <a:r>
              <a:rPr lang="en-GB" altLang="en-US" sz="2700" dirty="0">
                <a:latin typeface="+mn-lt"/>
              </a:rPr>
              <a:t>the upturn</a:t>
            </a:r>
          </a:p>
          <a:p>
            <a:pPr marL="971550" lvl="1" indent="-514350">
              <a:spcBef>
                <a:spcPct val="15000"/>
              </a:spcBef>
              <a:buAutoNum type="arabicPeriod"/>
            </a:pPr>
            <a:r>
              <a:rPr lang="en-GB" altLang="en-US" sz="2700" dirty="0">
                <a:latin typeface="+mn-lt"/>
              </a:rPr>
              <a:t>the expansion</a:t>
            </a:r>
          </a:p>
          <a:p>
            <a:pPr marL="971550" lvl="1" indent="-514350">
              <a:spcBef>
                <a:spcPct val="15000"/>
              </a:spcBef>
              <a:buAutoNum type="arabicPeriod"/>
            </a:pPr>
            <a:r>
              <a:rPr lang="en-GB" altLang="en-US" sz="2700" dirty="0">
                <a:latin typeface="+mn-lt"/>
              </a:rPr>
              <a:t>the peaking out</a:t>
            </a:r>
          </a:p>
          <a:p>
            <a:pPr marL="971550" lvl="1" indent="-514350">
              <a:spcBef>
                <a:spcPct val="15000"/>
              </a:spcBef>
              <a:buAutoNum type="arabicPeriod"/>
            </a:pPr>
            <a:r>
              <a:rPr lang="en-GB" altLang="en-US" sz="2700" dirty="0">
                <a:latin typeface="+mn-lt"/>
              </a:rPr>
              <a:t>the slowdown or recession</a:t>
            </a:r>
          </a:p>
          <a:p>
            <a:pPr lvl="2">
              <a:spcBef>
                <a:spcPct val="15000"/>
              </a:spcBef>
            </a:pPr>
            <a:endParaRPr lang="en-GB" altLang="en-US" dirty="0">
              <a:latin typeface="+mn-lt"/>
            </a:endParaRPr>
          </a:p>
          <a:p>
            <a:pPr>
              <a:spcBef>
                <a:spcPct val="15000"/>
              </a:spcBef>
            </a:pPr>
            <a:r>
              <a:rPr lang="en-GB" altLang="en-US" sz="2900" b="1" dirty="0">
                <a:latin typeface="+mn-lt"/>
              </a:rPr>
              <a:t>Long-term output trend</a:t>
            </a:r>
            <a:r>
              <a:rPr lang="en-GB" altLang="en-US" sz="2900" dirty="0">
                <a:latin typeface="+mn-lt"/>
              </a:rPr>
              <a:t>. If firms on average operate with a ‘normal’ degree of capacity utilisation, the trend output line will be the same as the potential output line. If the average level of capacity that is unutilised stays constant from one cycle to another, the trend line will have the same slope as the full-capacity output line.</a:t>
            </a:r>
          </a:p>
          <a:p>
            <a:pPr>
              <a:spcBef>
                <a:spcPct val="15000"/>
              </a:spcBef>
            </a:pPr>
            <a:endParaRPr lang="en-GB" altLang="en-US" sz="2900" dirty="0">
              <a:latin typeface="+mn-lt"/>
            </a:endParaRPr>
          </a:p>
          <a:p>
            <a:pPr>
              <a:spcBef>
                <a:spcPct val="15000"/>
              </a:spcBef>
            </a:pPr>
            <a:r>
              <a:rPr lang="en-GB" altLang="en-US" sz="2900" dirty="0">
                <a:latin typeface="+mn-lt"/>
              </a:rPr>
              <a:t>If unemployment and unused industrial capacity rise from one peak to another, then the trend line will move further away from the full-capacity output line</a:t>
            </a:r>
          </a:p>
        </p:txBody>
      </p:sp>
    </p:spTree>
    <p:extLst>
      <p:ext uri="{BB962C8B-B14F-4D97-AF65-F5344CB8AC3E}">
        <p14:creationId xmlns:p14="http://schemas.microsoft.com/office/powerpoint/2010/main" val="1079992238"/>
      </p:ext>
    </p:extLst>
  </p:cSld>
  <p:clrMapOvr>
    <a:masterClrMapping/>
  </p:clrMapOvr>
  <p:transition spd="med">
    <p:pull dir="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Rectangle 2">
            <a:extLst>
              <a:ext uri="{FF2B5EF4-FFF2-40B4-BE49-F238E27FC236}">
                <a16:creationId xmlns:a16="http://schemas.microsoft.com/office/drawing/2014/main" id="{B8148F4D-2C4B-4EBE-8DE8-51FCD11C9E59}"/>
              </a:ext>
            </a:extLst>
          </p:cNvPr>
          <p:cNvSpPr>
            <a:spLocks noChangeArrowheads="1"/>
          </p:cNvSpPr>
          <p:nvPr/>
        </p:nvSpPr>
        <p:spPr bwMode="auto">
          <a:xfrm>
            <a:off x="2590801" y="717376"/>
            <a:ext cx="6983413" cy="53340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grpSp>
        <p:nvGrpSpPr>
          <p:cNvPr id="25" name="Group 24">
            <a:extLst>
              <a:ext uri="{FF2B5EF4-FFF2-40B4-BE49-F238E27FC236}">
                <a16:creationId xmlns:a16="http://schemas.microsoft.com/office/drawing/2014/main" id="{0254D07D-C722-4408-BA26-98B74F6E1D2C}"/>
              </a:ext>
            </a:extLst>
          </p:cNvPr>
          <p:cNvGrpSpPr/>
          <p:nvPr/>
        </p:nvGrpSpPr>
        <p:grpSpPr>
          <a:xfrm>
            <a:off x="2584175" y="704124"/>
            <a:ext cx="7048775" cy="2985053"/>
            <a:chOff x="2584175" y="596348"/>
            <a:chExt cx="7048775" cy="2985053"/>
          </a:xfrm>
        </p:grpSpPr>
        <p:sp>
          <p:nvSpPr>
            <p:cNvPr id="26" name="Freeform: Shape 25">
              <a:extLst>
                <a:ext uri="{FF2B5EF4-FFF2-40B4-BE49-F238E27FC236}">
                  <a16:creationId xmlns:a16="http://schemas.microsoft.com/office/drawing/2014/main" id="{B6DD43CE-F11A-49FD-998D-17C8E088EB82}"/>
                </a:ext>
              </a:extLst>
            </p:cNvPr>
            <p:cNvSpPr/>
            <p:nvPr/>
          </p:nvSpPr>
          <p:spPr>
            <a:xfrm>
              <a:off x="2584175" y="596348"/>
              <a:ext cx="6990038" cy="2961861"/>
            </a:xfrm>
            <a:custGeom>
              <a:avLst/>
              <a:gdLst>
                <a:gd name="connsiteX0" fmla="*/ 0 w 6977269"/>
                <a:gd name="connsiteY0" fmla="*/ 14909 h 2961861"/>
                <a:gd name="connsiteX1" fmla="*/ 0 w 6977269"/>
                <a:gd name="connsiteY1" fmla="*/ 2961861 h 2961861"/>
                <a:gd name="connsiteX2" fmla="*/ 6977269 w 6977269"/>
                <a:gd name="connsiteY2" fmla="*/ 1157909 h 2961861"/>
                <a:gd name="connsiteX3" fmla="*/ 6972300 w 6977269"/>
                <a:gd name="connsiteY3" fmla="*/ 0 h 2961861"/>
                <a:gd name="connsiteX4" fmla="*/ 0 w 6977269"/>
                <a:gd name="connsiteY4" fmla="*/ 14909 h 29618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77269" h="2961861">
                  <a:moveTo>
                    <a:pt x="0" y="14909"/>
                  </a:moveTo>
                  <a:lnTo>
                    <a:pt x="0" y="2961861"/>
                  </a:lnTo>
                  <a:lnTo>
                    <a:pt x="6977269" y="1157909"/>
                  </a:lnTo>
                  <a:cubicBezTo>
                    <a:pt x="6975613" y="771939"/>
                    <a:pt x="6973956" y="385970"/>
                    <a:pt x="6972300" y="0"/>
                  </a:cubicBezTo>
                  <a:lnTo>
                    <a:pt x="0" y="14909"/>
                  </a:lnTo>
                  <a:close/>
                </a:path>
              </a:pathLst>
            </a:custGeom>
            <a:solidFill>
              <a:srgbClr val="EAEAE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27" name="Group 19">
              <a:extLst>
                <a:ext uri="{FF2B5EF4-FFF2-40B4-BE49-F238E27FC236}">
                  <a16:creationId xmlns:a16="http://schemas.microsoft.com/office/drawing/2014/main" id="{675AAE73-6A1F-4EBE-ACD5-7D912877DCF8}"/>
                </a:ext>
              </a:extLst>
            </p:cNvPr>
            <p:cNvGrpSpPr>
              <a:grpSpLocks/>
            </p:cNvGrpSpPr>
            <p:nvPr/>
          </p:nvGrpSpPr>
          <p:grpSpPr bwMode="auto">
            <a:xfrm>
              <a:off x="2590800" y="1069976"/>
              <a:ext cx="7042150" cy="2511425"/>
              <a:chOff x="672" y="674"/>
              <a:chExt cx="4436" cy="1582"/>
            </a:xfrm>
          </p:grpSpPr>
          <p:sp>
            <p:nvSpPr>
              <p:cNvPr id="28" name="Line 10">
                <a:extLst>
                  <a:ext uri="{FF2B5EF4-FFF2-40B4-BE49-F238E27FC236}">
                    <a16:creationId xmlns:a16="http://schemas.microsoft.com/office/drawing/2014/main" id="{F92A42EF-E5F1-4BA9-A527-50E3DE320C31}"/>
                  </a:ext>
                </a:extLst>
              </p:cNvPr>
              <p:cNvSpPr>
                <a:spLocks noChangeShapeType="1"/>
              </p:cNvSpPr>
              <p:nvPr/>
            </p:nvSpPr>
            <p:spPr bwMode="auto">
              <a:xfrm flipV="1">
                <a:off x="672" y="1100"/>
                <a:ext cx="4383" cy="1156"/>
              </a:xfrm>
              <a:prstGeom prst="line">
                <a:avLst/>
              </a:prstGeom>
              <a:noFill/>
              <a:ln w="381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29" name="Rectangle 11">
                <a:extLst>
                  <a:ext uri="{FF2B5EF4-FFF2-40B4-BE49-F238E27FC236}">
                    <a16:creationId xmlns:a16="http://schemas.microsoft.com/office/drawing/2014/main" id="{237ED9E3-0E83-4876-BBBC-7DA2A23B90F5}"/>
                  </a:ext>
                </a:extLst>
              </p:cNvPr>
              <p:cNvSpPr>
                <a:spLocks noChangeArrowheads="1"/>
              </p:cNvSpPr>
              <p:nvPr/>
            </p:nvSpPr>
            <p:spPr bwMode="auto">
              <a:xfrm>
                <a:off x="4092" y="674"/>
                <a:ext cx="1016" cy="4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defRPr sz="2400">
                    <a:solidFill>
                      <a:schemeClr val="tx1"/>
                    </a:solidFill>
                    <a:latin typeface="Times New Roman" panose="02020603050405020304" pitchFamily="18" charset="0"/>
                  </a:defRPr>
                </a:lvl1pPr>
                <a:lvl2pPr marL="742950" indent="-285750" defTabSz="762000">
                  <a:defRPr sz="2400">
                    <a:solidFill>
                      <a:schemeClr val="tx1"/>
                    </a:solidFill>
                    <a:latin typeface="Times New Roman" panose="02020603050405020304" pitchFamily="18" charset="0"/>
                  </a:defRPr>
                </a:lvl2pPr>
                <a:lvl3pPr marL="1143000" indent="-228600" defTabSz="762000">
                  <a:defRPr sz="2400">
                    <a:solidFill>
                      <a:schemeClr val="tx1"/>
                    </a:solidFill>
                    <a:latin typeface="Times New Roman" panose="02020603050405020304" pitchFamily="18" charset="0"/>
                  </a:defRPr>
                </a:lvl3pPr>
                <a:lvl4pPr marL="1600200" indent="-228600" defTabSz="762000">
                  <a:defRPr sz="2400">
                    <a:solidFill>
                      <a:schemeClr val="tx1"/>
                    </a:solidFill>
                    <a:latin typeface="Times New Roman" panose="02020603050405020304" pitchFamily="18" charset="0"/>
                  </a:defRPr>
                </a:lvl4pPr>
                <a:lvl5pPr marL="2057400" indent="-228600" defTabSz="762000">
                  <a:defRPr sz="2400">
                    <a:solidFill>
                      <a:schemeClr val="tx1"/>
                    </a:solidFill>
                    <a:latin typeface="Times New Roman" panose="02020603050405020304" pitchFamily="18" charset="0"/>
                  </a:defRPr>
                </a:lvl5pPr>
                <a:lvl6pPr marL="2514600" indent="-228600" defTabSz="7620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7620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7620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r"/>
                <a:r>
                  <a:rPr lang="en-GB" altLang="en-US" sz="2000" dirty="0">
                    <a:solidFill>
                      <a:schemeClr val="accent2"/>
                    </a:solidFill>
                    <a:latin typeface="Arial" panose="020B0604020202020204" pitchFamily="34" charset="0"/>
                  </a:rPr>
                  <a:t>Full capacity</a:t>
                </a:r>
              </a:p>
              <a:p>
                <a:pPr algn="r"/>
                <a:r>
                  <a:rPr lang="en-GB" altLang="en-US" sz="2000" dirty="0">
                    <a:solidFill>
                      <a:schemeClr val="accent2"/>
                    </a:solidFill>
                    <a:latin typeface="Arial" panose="020B0604020202020204" pitchFamily="34" charset="0"/>
                  </a:rPr>
                  <a:t>output</a:t>
                </a:r>
              </a:p>
            </p:txBody>
          </p:sp>
        </p:grpSp>
      </p:grpSp>
      <p:sp>
        <p:nvSpPr>
          <p:cNvPr id="40963" name="Rectangle 3">
            <a:extLst>
              <a:ext uri="{FF2B5EF4-FFF2-40B4-BE49-F238E27FC236}">
                <a16:creationId xmlns:a16="http://schemas.microsoft.com/office/drawing/2014/main" id="{C662F78D-2BC7-4FA4-8136-B1C0CC8AEF88}"/>
              </a:ext>
            </a:extLst>
          </p:cNvPr>
          <p:cNvSpPr>
            <a:spLocks noChangeArrowheads="1"/>
          </p:cNvSpPr>
          <p:nvPr/>
        </p:nvSpPr>
        <p:spPr bwMode="auto">
          <a:xfrm>
            <a:off x="2209800" y="6356176"/>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40964" name="Rectangle 4">
            <a:extLst>
              <a:ext uri="{FF2B5EF4-FFF2-40B4-BE49-F238E27FC236}">
                <a16:creationId xmlns:a16="http://schemas.microsoft.com/office/drawing/2014/main" id="{D12994E1-1300-49C0-A847-BFAF52DD1122}"/>
              </a:ext>
            </a:extLst>
          </p:cNvPr>
          <p:cNvSpPr>
            <a:spLocks noChangeArrowheads="1"/>
          </p:cNvSpPr>
          <p:nvPr/>
        </p:nvSpPr>
        <p:spPr bwMode="auto">
          <a:xfrm>
            <a:off x="4648200" y="6356176"/>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40965" name="Line 5">
            <a:extLst>
              <a:ext uri="{FF2B5EF4-FFF2-40B4-BE49-F238E27FC236}">
                <a16:creationId xmlns:a16="http://schemas.microsoft.com/office/drawing/2014/main" id="{346346A4-CDD6-4FBA-B0EA-2D04450CDD06}"/>
              </a:ext>
            </a:extLst>
          </p:cNvPr>
          <p:cNvSpPr>
            <a:spLocks noChangeShapeType="1"/>
          </p:cNvSpPr>
          <p:nvPr/>
        </p:nvSpPr>
        <p:spPr bwMode="auto">
          <a:xfrm>
            <a:off x="2590800" y="717376"/>
            <a:ext cx="0" cy="5334000"/>
          </a:xfrm>
          <a:prstGeom prst="line">
            <a:avLst/>
          </a:prstGeom>
          <a:noFill/>
          <a:ln w="25400">
            <a:solidFill>
              <a:schemeClr val="tx1"/>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40966" name="Line 6">
            <a:extLst>
              <a:ext uri="{FF2B5EF4-FFF2-40B4-BE49-F238E27FC236}">
                <a16:creationId xmlns:a16="http://schemas.microsoft.com/office/drawing/2014/main" id="{3CC6EFF5-A905-47E7-A7DD-573E0D2ADCAB}"/>
              </a:ext>
            </a:extLst>
          </p:cNvPr>
          <p:cNvSpPr>
            <a:spLocks noChangeShapeType="1"/>
          </p:cNvSpPr>
          <p:nvPr/>
        </p:nvSpPr>
        <p:spPr bwMode="auto">
          <a:xfrm>
            <a:off x="2590800" y="6051376"/>
            <a:ext cx="7010400" cy="0"/>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GB"/>
          </a:p>
        </p:txBody>
      </p:sp>
      <p:sp>
        <p:nvSpPr>
          <p:cNvPr id="40967" name="Rectangle 7">
            <a:extLst>
              <a:ext uri="{FF2B5EF4-FFF2-40B4-BE49-F238E27FC236}">
                <a16:creationId xmlns:a16="http://schemas.microsoft.com/office/drawing/2014/main" id="{16CABBCC-D99E-421B-946A-85276BEFD016}"/>
              </a:ext>
            </a:extLst>
          </p:cNvPr>
          <p:cNvSpPr>
            <a:spLocks noChangeArrowheads="1"/>
          </p:cNvSpPr>
          <p:nvPr/>
        </p:nvSpPr>
        <p:spPr bwMode="auto">
          <a:xfrm>
            <a:off x="2270126" y="6005339"/>
            <a:ext cx="384721" cy="4007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defRPr sz="2400">
                <a:solidFill>
                  <a:schemeClr val="tx1"/>
                </a:solidFill>
                <a:latin typeface="Times New Roman" panose="02020603050405020304" pitchFamily="18" charset="0"/>
              </a:defRPr>
            </a:lvl1pPr>
            <a:lvl2pPr marL="742950" indent="-285750" defTabSz="762000">
              <a:defRPr sz="2400">
                <a:solidFill>
                  <a:schemeClr val="tx1"/>
                </a:solidFill>
                <a:latin typeface="Times New Roman" panose="02020603050405020304" pitchFamily="18" charset="0"/>
              </a:defRPr>
            </a:lvl2pPr>
            <a:lvl3pPr marL="1143000" indent="-228600" defTabSz="762000">
              <a:defRPr sz="2400">
                <a:solidFill>
                  <a:schemeClr val="tx1"/>
                </a:solidFill>
                <a:latin typeface="Times New Roman" panose="02020603050405020304" pitchFamily="18" charset="0"/>
              </a:defRPr>
            </a:lvl3pPr>
            <a:lvl4pPr marL="1600200" indent="-228600" defTabSz="762000">
              <a:defRPr sz="2400">
                <a:solidFill>
                  <a:schemeClr val="tx1"/>
                </a:solidFill>
                <a:latin typeface="Times New Roman" panose="02020603050405020304" pitchFamily="18" charset="0"/>
              </a:defRPr>
            </a:lvl4pPr>
            <a:lvl5pPr marL="2057400" indent="-228600" defTabSz="762000">
              <a:defRPr sz="2400">
                <a:solidFill>
                  <a:schemeClr val="tx1"/>
                </a:solidFill>
                <a:latin typeface="Times New Roman" panose="02020603050405020304" pitchFamily="18" charset="0"/>
              </a:defRPr>
            </a:lvl5pPr>
            <a:lvl6pPr marL="2514600" indent="-228600" defTabSz="7620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7620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7620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762000" eaLnBrk="0" fontAlgn="base" hangingPunct="0">
              <a:spcBef>
                <a:spcPct val="0"/>
              </a:spcBef>
              <a:spcAft>
                <a:spcPct val="0"/>
              </a:spcAft>
              <a:defRPr sz="2400">
                <a:solidFill>
                  <a:schemeClr val="tx1"/>
                </a:solidFill>
                <a:latin typeface="Times New Roman" panose="02020603050405020304" pitchFamily="18" charset="0"/>
              </a:defRPr>
            </a:lvl9pPr>
          </a:lstStyle>
          <a:p>
            <a:r>
              <a:rPr lang="en-GB" altLang="en-US" sz="2000">
                <a:latin typeface="Arial" panose="020B0604020202020204" pitchFamily="34" charset="0"/>
              </a:rPr>
              <a:t>O</a:t>
            </a:r>
          </a:p>
        </p:txBody>
      </p:sp>
      <p:sp>
        <p:nvSpPr>
          <p:cNvPr id="40968" name="Rectangle 8">
            <a:extLst>
              <a:ext uri="{FF2B5EF4-FFF2-40B4-BE49-F238E27FC236}">
                <a16:creationId xmlns:a16="http://schemas.microsoft.com/office/drawing/2014/main" id="{1A033EE5-EABC-441C-B61F-AC8AA598F686}"/>
              </a:ext>
            </a:extLst>
          </p:cNvPr>
          <p:cNvSpPr>
            <a:spLocks noChangeArrowheads="1"/>
          </p:cNvSpPr>
          <p:nvPr/>
        </p:nvSpPr>
        <p:spPr bwMode="auto">
          <a:xfrm rot="16200000">
            <a:off x="1043320" y="3087651"/>
            <a:ext cx="2085507" cy="4315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defRPr sz="2400">
                <a:solidFill>
                  <a:schemeClr val="tx1"/>
                </a:solidFill>
                <a:latin typeface="Times New Roman" panose="02020603050405020304" pitchFamily="18" charset="0"/>
              </a:defRPr>
            </a:lvl1pPr>
            <a:lvl2pPr marL="742950" indent="-285750" defTabSz="762000">
              <a:defRPr sz="2400">
                <a:solidFill>
                  <a:schemeClr val="tx1"/>
                </a:solidFill>
                <a:latin typeface="Times New Roman" panose="02020603050405020304" pitchFamily="18" charset="0"/>
              </a:defRPr>
            </a:lvl2pPr>
            <a:lvl3pPr marL="1143000" indent="-228600" defTabSz="762000">
              <a:defRPr sz="2400">
                <a:solidFill>
                  <a:schemeClr val="tx1"/>
                </a:solidFill>
                <a:latin typeface="Times New Roman" panose="02020603050405020304" pitchFamily="18" charset="0"/>
              </a:defRPr>
            </a:lvl3pPr>
            <a:lvl4pPr marL="1600200" indent="-228600" defTabSz="762000">
              <a:defRPr sz="2400">
                <a:solidFill>
                  <a:schemeClr val="tx1"/>
                </a:solidFill>
                <a:latin typeface="Times New Roman" panose="02020603050405020304" pitchFamily="18" charset="0"/>
              </a:defRPr>
            </a:lvl4pPr>
            <a:lvl5pPr marL="2057400" indent="-228600" defTabSz="762000">
              <a:defRPr sz="2400">
                <a:solidFill>
                  <a:schemeClr val="tx1"/>
                </a:solidFill>
                <a:latin typeface="Times New Roman" panose="02020603050405020304" pitchFamily="18" charset="0"/>
              </a:defRPr>
            </a:lvl5pPr>
            <a:lvl6pPr marL="2514600" indent="-228600" defTabSz="7620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7620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7620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762000" eaLnBrk="0" fontAlgn="base" hangingPunct="0">
              <a:spcBef>
                <a:spcPct val="0"/>
              </a:spcBef>
              <a:spcAft>
                <a:spcPct val="0"/>
              </a:spcAft>
              <a:defRPr sz="2400">
                <a:solidFill>
                  <a:schemeClr val="tx1"/>
                </a:solidFill>
                <a:latin typeface="Times New Roman" panose="02020603050405020304" pitchFamily="18" charset="0"/>
              </a:defRPr>
            </a:lvl9pPr>
          </a:lstStyle>
          <a:p>
            <a:r>
              <a:rPr lang="en-GB" altLang="en-US" sz="2200">
                <a:latin typeface="Arial" panose="020B0604020202020204" pitchFamily="34" charset="0"/>
              </a:rPr>
              <a:t>National output</a:t>
            </a:r>
          </a:p>
        </p:txBody>
      </p:sp>
      <p:sp>
        <p:nvSpPr>
          <p:cNvPr id="40969" name="Rectangle 9">
            <a:extLst>
              <a:ext uri="{FF2B5EF4-FFF2-40B4-BE49-F238E27FC236}">
                <a16:creationId xmlns:a16="http://schemas.microsoft.com/office/drawing/2014/main" id="{8FAD9645-39F5-4F86-A846-D8CCB4439834}"/>
              </a:ext>
            </a:extLst>
          </p:cNvPr>
          <p:cNvSpPr>
            <a:spLocks noChangeArrowheads="1"/>
          </p:cNvSpPr>
          <p:nvPr/>
        </p:nvSpPr>
        <p:spPr bwMode="auto">
          <a:xfrm>
            <a:off x="5622925" y="6287915"/>
            <a:ext cx="803874" cy="4315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defRPr sz="2400">
                <a:solidFill>
                  <a:schemeClr val="tx1"/>
                </a:solidFill>
                <a:latin typeface="Times New Roman" panose="02020603050405020304" pitchFamily="18" charset="0"/>
              </a:defRPr>
            </a:lvl1pPr>
            <a:lvl2pPr marL="742950" indent="-285750" defTabSz="762000">
              <a:defRPr sz="2400">
                <a:solidFill>
                  <a:schemeClr val="tx1"/>
                </a:solidFill>
                <a:latin typeface="Times New Roman" panose="02020603050405020304" pitchFamily="18" charset="0"/>
              </a:defRPr>
            </a:lvl2pPr>
            <a:lvl3pPr marL="1143000" indent="-228600" defTabSz="762000">
              <a:defRPr sz="2400">
                <a:solidFill>
                  <a:schemeClr val="tx1"/>
                </a:solidFill>
                <a:latin typeface="Times New Roman" panose="02020603050405020304" pitchFamily="18" charset="0"/>
              </a:defRPr>
            </a:lvl3pPr>
            <a:lvl4pPr marL="1600200" indent="-228600" defTabSz="762000">
              <a:defRPr sz="2400">
                <a:solidFill>
                  <a:schemeClr val="tx1"/>
                </a:solidFill>
                <a:latin typeface="Times New Roman" panose="02020603050405020304" pitchFamily="18" charset="0"/>
              </a:defRPr>
            </a:lvl4pPr>
            <a:lvl5pPr marL="2057400" indent="-228600" defTabSz="762000">
              <a:defRPr sz="2400">
                <a:solidFill>
                  <a:schemeClr val="tx1"/>
                </a:solidFill>
                <a:latin typeface="Times New Roman" panose="02020603050405020304" pitchFamily="18" charset="0"/>
              </a:defRPr>
            </a:lvl5pPr>
            <a:lvl6pPr marL="2514600" indent="-228600" defTabSz="7620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7620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7620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762000" eaLnBrk="0" fontAlgn="base" hangingPunct="0">
              <a:spcBef>
                <a:spcPct val="0"/>
              </a:spcBef>
              <a:spcAft>
                <a:spcPct val="0"/>
              </a:spcAft>
              <a:defRPr sz="2400">
                <a:solidFill>
                  <a:schemeClr val="tx1"/>
                </a:solidFill>
                <a:latin typeface="Times New Roman" panose="02020603050405020304" pitchFamily="18" charset="0"/>
              </a:defRPr>
            </a:lvl9pPr>
          </a:lstStyle>
          <a:p>
            <a:r>
              <a:rPr lang="en-GB" altLang="en-US" sz="2200">
                <a:latin typeface="Arial" panose="020B0604020202020204" pitchFamily="34" charset="0"/>
              </a:rPr>
              <a:t>Time</a:t>
            </a:r>
          </a:p>
        </p:txBody>
      </p:sp>
      <p:sp>
        <p:nvSpPr>
          <p:cNvPr id="40972" name="Rectangle 12">
            <a:extLst>
              <a:ext uri="{FF2B5EF4-FFF2-40B4-BE49-F238E27FC236}">
                <a16:creationId xmlns:a16="http://schemas.microsoft.com/office/drawing/2014/main" id="{DCD8FD85-65CD-400B-A9E9-3B5691B06B8E}"/>
              </a:ext>
            </a:extLst>
          </p:cNvPr>
          <p:cNvSpPr>
            <a:spLocks noChangeArrowheads="1"/>
          </p:cNvSpPr>
          <p:nvPr/>
        </p:nvSpPr>
        <p:spPr bwMode="auto">
          <a:xfrm>
            <a:off x="8772940" y="3260551"/>
            <a:ext cx="899285" cy="7085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defRPr sz="2400">
                <a:solidFill>
                  <a:schemeClr val="tx1"/>
                </a:solidFill>
                <a:latin typeface="Times New Roman" panose="02020603050405020304" pitchFamily="18" charset="0"/>
              </a:defRPr>
            </a:lvl1pPr>
            <a:lvl2pPr marL="742950" indent="-285750" defTabSz="762000">
              <a:defRPr sz="2400">
                <a:solidFill>
                  <a:schemeClr val="tx1"/>
                </a:solidFill>
                <a:latin typeface="Times New Roman" panose="02020603050405020304" pitchFamily="18" charset="0"/>
              </a:defRPr>
            </a:lvl2pPr>
            <a:lvl3pPr marL="1143000" indent="-228600" defTabSz="762000">
              <a:defRPr sz="2400">
                <a:solidFill>
                  <a:schemeClr val="tx1"/>
                </a:solidFill>
                <a:latin typeface="Times New Roman" panose="02020603050405020304" pitchFamily="18" charset="0"/>
              </a:defRPr>
            </a:lvl3pPr>
            <a:lvl4pPr marL="1600200" indent="-228600" defTabSz="762000">
              <a:defRPr sz="2400">
                <a:solidFill>
                  <a:schemeClr val="tx1"/>
                </a:solidFill>
                <a:latin typeface="Times New Roman" panose="02020603050405020304" pitchFamily="18" charset="0"/>
              </a:defRPr>
            </a:lvl4pPr>
            <a:lvl5pPr marL="2057400" indent="-228600" defTabSz="762000">
              <a:defRPr sz="2400">
                <a:solidFill>
                  <a:schemeClr val="tx1"/>
                </a:solidFill>
                <a:latin typeface="Times New Roman" panose="02020603050405020304" pitchFamily="18" charset="0"/>
              </a:defRPr>
            </a:lvl5pPr>
            <a:lvl6pPr marL="2514600" indent="-228600" defTabSz="7620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7620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7620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GB" altLang="en-US" sz="2000">
                <a:solidFill>
                  <a:schemeClr val="tx2"/>
                </a:solidFill>
                <a:latin typeface="Arial" panose="020B0604020202020204" pitchFamily="34" charset="0"/>
              </a:rPr>
              <a:t>Actual</a:t>
            </a:r>
          </a:p>
          <a:p>
            <a:pPr algn="ctr"/>
            <a:r>
              <a:rPr lang="en-GB" altLang="en-US" sz="2000">
                <a:solidFill>
                  <a:schemeClr val="tx2"/>
                </a:solidFill>
                <a:latin typeface="Arial" panose="020B0604020202020204" pitchFamily="34" charset="0"/>
              </a:rPr>
              <a:t>output</a:t>
            </a:r>
          </a:p>
        </p:txBody>
      </p:sp>
      <p:sp>
        <p:nvSpPr>
          <p:cNvPr id="30733" name="Rectangle 13">
            <a:extLst>
              <a:ext uri="{FF2B5EF4-FFF2-40B4-BE49-F238E27FC236}">
                <a16:creationId xmlns:a16="http://schemas.microsoft.com/office/drawing/2014/main" id="{07F003D7-9D5D-491C-9524-DC26C262B2FC}"/>
              </a:ext>
            </a:extLst>
          </p:cNvPr>
          <p:cNvSpPr>
            <a:spLocks noChangeArrowheads="1"/>
          </p:cNvSpPr>
          <p:nvPr/>
        </p:nvSpPr>
        <p:spPr bwMode="auto">
          <a:xfrm>
            <a:off x="3232150" y="4952826"/>
            <a:ext cx="328616" cy="4007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defRPr sz="2400">
                <a:solidFill>
                  <a:schemeClr val="tx1"/>
                </a:solidFill>
                <a:latin typeface="Times New Roman" panose="02020603050405020304" pitchFamily="18" charset="0"/>
              </a:defRPr>
            </a:lvl1pPr>
            <a:lvl2pPr marL="742950" indent="-285750" defTabSz="762000">
              <a:defRPr sz="2400">
                <a:solidFill>
                  <a:schemeClr val="tx1"/>
                </a:solidFill>
                <a:latin typeface="Times New Roman" panose="02020603050405020304" pitchFamily="18" charset="0"/>
              </a:defRPr>
            </a:lvl2pPr>
            <a:lvl3pPr marL="1143000" indent="-228600" defTabSz="762000">
              <a:defRPr sz="2400">
                <a:solidFill>
                  <a:schemeClr val="tx1"/>
                </a:solidFill>
                <a:latin typeface="Times New Roman" panose="02020603050405020304" pitchFamily="18" charset="0"/>
              </a:defRPr>
            </a:lvl3pPr>
            <a:lvl4pPr marL="1600200" indent="-228600" defTabSz="762000">
              <a:defRPr sz="2400">
                <a:solidFill>
                  <a:schemeClr val="tx1"/>
                </a:solidFill>
                <a:latin typeface="Times New Roman" panose="02020603050405020304" pitchFamily="18" charset="0"/>
              </a:defRPr>
            </a:lvl4pPr>
            <a:lvl5pPr marL="2057400" indent="-228600" defTabSz="762000">
              <a:defRPr sz="2400">
                <a:solidFill>
                  <a:schemeClr val="tx1"/>
                </a:solidFill>
                <a:latin typeface="Times New Roman" panose="02020603050405020304" pitchFamily="18" charset="0"/>
              </a:defRPr>
            </a:lvl5pPr>
            <a:lvl6pPr marL="2514600" indent="-228600" defTabSz="7620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7620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7620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762000" eaLnBrk="0" fontAlgn="base" hangingPunct="0">
              <a:spcBef>
                <a:spcPct val="0"/>
              </a:spcBef>
              <a:spcAft>
                <a:spcPct val="0"/>
              </a:spcAft>
              <a:defRPr sz="2400">
                <a:solidFill>
                  <a:schemeClr val="tx1"/>
                </a:solidFill>
                <a:latin typeface="Times New Roman" panose="02020603050405020304" pitchFamily="18" charset="0"/>
              </a:defRPr>
            </a:lvl9pPr>
          </a:lstStyle>
          <a:p>
            <a:r>
              <a:rPr lang="en-GB" altLang="en-US" sz="2000" b="1" dirty="0">
                <a:solidFill>
                  <a:schemeClr val="folHlink"/>
                </a:solidFill>
                <a:latin typeface="Arial" panose="020B0604020202020204" pitchFamily="34" charset="0"/>
              </a:rPr>
              <a:t>1</a:t>
            </a:r>
          </a:p>
        </p:txBody>
      </p:sp>
      <p:sp>
        <p:nvSpPr>
          <p:cNvPr id="30734" name="Rectangle 14">
            <a:extLst>
              <a:ext uri="{FF2B5EF4-FFF2-40B4-BE49-F238E27FC236}">
                <a16:creationId xmlns:a16="http://schemas.microsoft.com/office/drawing/2014/main" id="{34188C2D-5904-4E94-9AFF-1DACB30F592F}"/>
              </a:ext>
            </a:extLst>
          </p:cNvPr>
          <p:cNvSpPr>
            <a:spLocks noChangeArrowheads="1"/>
          </p:cNvSpPr>
          <p:nvPr/>
        </p:nvSpPr>
        <p:spPr bwMode="auto">
          <a:xfrm>
            <a:off x="4276725" y="4071683"/>
            <a:ext cx="383452" cy="4007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defTabSz="762000">
              <a:defRPr sz="2400">
                <a:solidFill>
                  <a:schemeClr val="tx1"/>
                </a:solidFill>
                <a:latin typeface="Times New Roman" panose="02020603050405020304" pitchFamily="18" charset="0"/>
              </a:defRPr>
            </a:lvl1pPr>
            <a:lvl2pPr marL="742950" indent="-285750" defTabSz="762000">
              <a:defRPr sz="2400">
                <a:solidFill>
                  <a:schemeClr val="tx1"/>
                </a:solidFill>
                <a:latin typeface="Times New Roman" panose="02020603050405020304" pitchFamily="18" charset="0"/>
              </a:defRPr>
            </a:lvl2pPr>
            <a:lvl3pPr marL="1143000" indent="-228600" defTabSz="762000">
              <a:defRPr sz="2400">
                <a:solidFill>
                  <a:schemeClr val="tx1"/>
                </a:solidFill>
                <a:latin typeface="Times New Roman" panose="02020603050405020304" pitchFamily="18" charset="0"/>
              </a:defRPr>
            </a:lvl3pPr>
            <a:lvl4pPr marL="1600200" indent="-228600" defTabSz="762000">
              <a:defRPr sz="2400">
                <a:solidFill>
                  <a:schemeClr val="tx1"/>
                </a:solidFill>
                <a:latin typeface="Times New Roman" panose="02020603050405020304" pitchFamily="18" charset="0"/>
              </a:defRPr>
            </a:lvl4pPr>
            <a:lvl5pPr marL="2057400" indent="-228600" defTabSz="762000">
              <a:defRPr sz="2400">
                <a:solidFill>
                  <a:schemeClr val="tx1"/>
                </a:solidFill>
                <a:latin typeface="Times New Roman" panose="02020603050405020304" pitchFamily="18" charset="0"/>
              </a:defRPr>
            </a:lvl5pPr>
            <a:lvl6pPr marL="2514600" indent="-228600" defTabSz="7620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7620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7620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762000" eaLnBrk="0" fontAlgn="base" hangingPunct="0">
              <a:spcBef>
                <a:spcPct val="0"/>
              </a:spcBef>
              <a:spcAft>
                <a:spcPct val="0"/>
              </a:spcAft>
              <a:defRPr sz="2400">
                <a:solidFill>
                  <a:schemeClr val="tx1"/>
                </a:solidFill>
                <a:latin typeface="Times New Roman" panose="02020603050405020304" pitchFamily="18" charset="0"/>
              </a:defRPr>
            </a:lvl9pPr>
          </a:lstStyle>
          <a:p>
            <a:r>
              <a:rPr lang="en-GB" altLang="en-US" sz="2000" b="1" dirty="0">
                <a:solidFill>
                  <a:schemeClr val="accent1"/>
                </a:solidFill>
                <a:latin typeface="Arial" panose="020B0604020202020204" pitchFamily="34" charset="0"/>
              </a:rPr>
              <a:t>2</a:t>
            </a:r>
          </a:p>
        </p:txBody>
      </p:sp>
      <p:sp>
        <p:nvSpPr>
          <p:cNvPr id="30735" name="Rectangle 15">
            <a:extLst>
              <a:ext uri="{FF2B5EF4-FFF2-40B4-BE49-F238E27FC236}">
                <a16:creationId xmlns:a16="http://schemas.microsoft.com/office/drawing/2014/main" id="{FD9C8E32-BF10-4D71-82C4-36941C48691D}"/>
              </a:ext>
            </a:extLst>
          </p:cNvPr>
          <p:cNvSpPr>
            <a:spLocks noChangeArrowheads="1"/>
          </p:cNvSpPr>
          <p:nvPr/>
        </p:nvSpPr>
        <p:spPr bwMode="auto">
          <a:xfrm>
            <a:off x="4794250" y="3311270"/>
            <a:ext cx="383452" cy="4007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defTabSz="762000">
              <a:defRPr sz="2400">
                <a:solidFill>
                  <a:schemeClr val="tx1"/>
                </a:solidFill>
                <a:latin typeface="Times New Roman" panose="02020603050405020304" pitchFamily="18" charset="0"/>
              </a:defRPr>
            </a:lvl1pPr>
            <a:lvl2pPr marL="742950" indent="-285750" defTabSz="762000">
              <a:defRPr sz="2400">
                <a:solidFill>
                  <a:schemeClr val="tx1"/>
                </a:solidFill>
                <a:latin typeface="Times New Roman" panose="02020603050405020304" pitchFamily="18" charset="0"/>
              </a:defRPr>
            </a:lvl2pPr>
            <a:lvl3pPr marL="1143000" indent="-228600" defTabSz="762000">
              <a:defRPr sz="2400">
                <a:solidFill>
                  <a:schemeClr val="tx1"/>
                </a:solidFill>
                <a:latin typeface="Times New Roman" panose="02020603050405020304" pitchFamily="18" charset="0"/>
              </a:defRPr>
            </a:lvl3pPr>
            <a:lvl4pPr marL="1600200" indent="-228600" defTabSz="762000">
              <a:defRPr sz="2400">
                <a:solidFill>
                  <a:schemeClr val="tx1"/>
                </a:solidFill>
                <a:latin typeface="Times New Roman" panose="02020603050405020304" pitchFamily="18" charset="0"/>
              </a:defRPr>
            </a:lvl4pPr>
            <a:lvl5pPr marL="2057400" indent="-228600" defTabSz="762000">
              <a:defRPr sz="2400">
                <a:solidFill>
                  <a:schemeClr val="tx1"/>
                </a:solidFill>
                <a:latin typeface="Times New Roman" panose="02020603050405020304" pitchFamily="18" charset="0"/>
              </a:defRPr>
            </a:lvl5pPr>
            <a:lvl6pPr marL="2514600" indent="-228600" defTabSz="7620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7620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7620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762000" eaLnBrk="0" fontAlgn="base" hangingPunct="0">
              <a:spcBef>
                <a:spcPct val="0"/>
              </a:spcBef>
              <a:spcAft>
                <a:spcPct val="0"/>
              </a:spcAft>
              <a:defRPr sz="2400">
                <a:solidFill>
                  <a:schemeClr val="tx1"/>
                </a:solidFill>
                <a:latin typeface="Times New Roman" panose="02020603050405020304" pitchFamily="18" charset="0"/>
              </a:defRPr>
            </a:lvl9pPr>
          </a:lstStyle>
          <a:p>
            <a:r>
              <a:rPr lang="en-GB" altLang="en-US" sz="2000" b="1">
                <a:solidFill>
                  <a:schemeClr val="hlink"/>
                </a:solidFill>
                <a:latin typeface="Arial" panose="020B0604020202020204" pitchFamily="34" charset="0"/>
              </a:rPr>
              <a:t>3</a:t>
            </a:r>
          </a:p>
        </p:txBody>
      </p:sp>
      <p:sp>
        <p:nvSpPr>
          <p:cNvPr id="30736" name="Rectangle 16">
            <a:extLst>
              <a:ext uri="{FF2B5EF4-FFF2-40B4-BE49-F238E27FC236}">
                <a16:creationId xmlns:a16="http://schemas.microsoft.com/office/drawing/2014/main" id="{C7C76A64-6463-48F5-9EF1-2ADAD380B7EE}"/>
              </a:ext>
            </a:extLst>
          </p:cNvPr>
          <p:cNvSpPr>
            <a:spLocks noChangeArrowheads="1"/>
          </p:cNvSpPr>
          <p:nvPr/>
        </p:nvSpPr>
        <p:spPr bwMode="auto">
          <a:xfrm>
            <a:off x="5505450" y="3805064"/>
            <a:ext cx="383452" cy="4007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defTabSz="762000">
              <a:defRPr sz="2400">
                <a:solidFill>
                  <a:schemeClr val="tx1"/>
                </a:solidFill>
                <a:latin typeface="Times New Roman" panose="02020603050405020304" pitchFamily="18" charset="0"/>
              </a:defRPr>
            </a:lvl1pPr>
            <a:lvl2pPr marL="742950" indent="-285750" defTabSz="762000">
              <a:defRPr sz="2400">
                <a:solidFill>
                  <a:schemeClr val="tx1"/>
                </a:solidFill>
                <a:latin typeface="Times New Roman" panose="02020603050405020304" pitchFamily="18" charset="0"/>
              </a:defRPr>
            </a:lvl2pPr>
            <a:lvl3pPr marL="1143000" indent="-228600" defTabSz="762000">
              <a:defRPr sz="2400">
                <a:solidFill>
                  <a:schemeClr val="tx1"/>
                </a:solidFill>
                <a:latin typeface="Times New Roman" panose="02020603050405020304" pitchFamily="18" charset="0"/>
              </a:defRPr>
            </a:lvl3pPr>
            <a:lvl4pPr marL="1600200" indent="-228600" defTabSz="762000">
              <a:defRPr sz="2400">
                <a:solidFill>
                  <a:schemeClr val="tx1"/>
                </a:solidFill>
                <a:latin typeface="Times New Roman" panose="02020603050405020304" pitchFamily="18" charset="0"/>
              </a:defRPr>
            </a:lvl4pPr>
            <a:lvl5pPr marL="2057400" indent="-228600" defTabSz="762000">
              <a:defRPr sz="2400">
                <a:solidFill>
                  <a:schemeClr val="tx1"/>
                </a:solidFill>
                <a:latin typeface="Times New Roman" panose="02020603050405020304" pitchFamily="18" charset="0"/>
              </a:defRPr>
            </a:lvl5pPr>
            <a:lvl6pPr marL="2514600" indent="-228600" defTabSz="7620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7620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7620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762000" eaLnBrk="0" fontAlgn="base" hangingPunct="0">
              <a:spcBef>
                <a:spcPct val="0"/>
              </a:spcBef>
              <a:spcAft>
                <a:spcPct val="0"/>
              </a:spcAft>
              <a:defRPr sz="2400">
                <a:solidFill>
                  <a:schemeClr val="tx1"/>
                </a:solidFill>
                <a:latin typeface="Times New Roman" panose="02020603050405020304" pitchFamily="18" charset="0"/>
              </a:defRPr>
            </a:lvl9pPr>
          </a:lstStyle>
          <a:p>
            <a:r>
              <a:rPr lang="en-GB" altLang="en-US" sz="2000" b="1" dirty="0">
                <a:latin typeface="Arial" panose="020B0604020202020204" pitchFamily="34" charset="0"/>
              </a:rPr>
              <a:t>4</a:t>
            </a:r>
          </a:p>
        </p:txBody>
      </p:sp>
      <p:grpSp>
        <p:nvGrpSpPr>
          <p:cNvPr id="2" name="Group 23">
            <a:extLst>
              <a:ext uri="{FF2B5EF4-FFF2-40B4-BE49-F238E27FC236}">
                <a16:creationId xmlns:a16="http://schemas.microsoft.com/office/drawing/2014/main" id="{B00F80E0-8821-452C-BCF8-1CCCACD87EBF}"/>
              </a:ext>
            </a:extLst>
          </p:cNvPr>
          <p:cNvGrpSpPr>
            <a:grpSpLocks/>
          </p:cNvGrpSpPr>
          <p:nvPr/>
        </p:nvGrpSpPr>
        <p:grpSpPr bwMode="auto">
          <a:xfrm>
            <a:off x="6415088" y="2601740"/>
            <a:ext cx="2582862" cy="1976437"/>
            <a:chOff x="3081" y="1571"/>
            <a:chExt cx="1627" cy="1245"/>
          </a:xfrm>
        </p:grpSpPr>
        <p:sp>
          <p:nvSpPr>
            <p:cNvPr id="40978" name="Rectangle 17">
              <a:extLst>
                <a:ext uri="{FF2B5EF4-FFF2-40B4-BE49-F238E27FC236}">
                  <a16:creationId xmlns:a16="http://schemas.microsoft.com/office/drawing/2014/main" id="{1C48E3E0-C7BB-42F8-9E7B-536566F86084}"/>
                </a:ext>
              </a:extLst>
            </p:cNvPr>
            <p:cNvSpPr>
              <a:spLocks noChangeArrowheads="1"/>
            </p:cNvSpPr>
            <p:nvPr/>
          </p:nvSpPr>
          <p:spPr bwMode="auto">
            <a:xfrm>
              <a:off x="3081" y="2564"/>
              <a:ext cx="207"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defRPr sz="2400">
                  <a:solidFill>
                    <a:schemeClr val="tx1"/>
                  </a:solidFill>
                  <a:latin typeface="Times New Roman" panose="02020603050405020304" pitchFamily="18" charset="0"/>
                </a:defRPr>
              </a:lvl1pPr>
              <a:lvl2pPr marL="742950" indent="-285750" defTabSz="762000">
                <a:defRPr sz="2400">
                  <a:solidFill>
                    <a:schemeClr val="tx1"/>
                  </a:solidFill>
                  <a:latin typeface="Times New Roman" panose="02020603050405020304" pitchFamily="18" charset="0"/>
                </a:defRPr>
              </a:lvl2pPr>
              <a:lvl3pPr marL="1143000" indent="-228600" defTabSz="762000">
                <a:defRPr sz="2400">
                  <a:solidFill>
                    <a:schemeClr val="tx1"/>
                  </a:solidFill>
                  <a:latin typeface="Times New Roman" panose="02020603050405020304" pitchFamily="18" charset="0"/>
                </a:defRPr>
              </a:lvl3pPr>
              <a:lvl4pPr marL="1600200" indent="-228600" defTabSz="762000">
                <a:defRPr sz="2400">
                  <a:solidFill>
                    <a:schemeClr val="tx1"/>
                  </a:solidFill>
                  <a:latin typeface="Times New Roman" panose="02020603050405020304" pitchFamily="18" charset="0"/>
                </a:defRPr>
              </a:lvl4pPr>
              <a:lvl5pPr marL="2057400" indent="-228600" defTabSz="762000">
                <a:defRPr sz="2400">
                  <a:solidFill>
                    <a:schemeClr val="tx1"/>
                  </a:solidFill>
                  <a:latin typeface="Times New Roman" panose="02020603050405020304" pitchFamily="18" charset="0"/>
                </a:defRPr>
              </a:lvl5pPr>
              <a:lvl6pPr marL="2514600" indent="-228600" defTabSz="7620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7620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7620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762000" eaLnBrk="0" fontAlgn="base" hangingPunct="0">
                <a:spcBef>
                  <a:spcPct val="0"/>
                </a:spcBef>
                <a:spcAft>
                  <a:spcPct val="0"/>
                </a:spcAft>
                <a:defRPr sz="2400">
                  <a:solidFill>
                    <a:schemeClr val="tx1"/>
                  </a:solidFill>
                  <a:latin typeface="Times New Roman" panose="02020603050405020304" pitchFamily="18" charset="0"/>
                </a:defRPr>
              </a:lvl9pPr>
            </a:lstStyle>
            <a:p>
              <a:r>
                <a:rPr lang="en-GB" altLang="en-US" sz="2000" b="1">
                  <a:solidFill>
                    <a:schemeClr val="folHlink"/>
                  </a:solidFill>
                  <a:latin typeface="Arial" panose="020B0604020202020204" pitchFamily="34" charset="0"/>
                </a:rPr>
                <a:t>1</a:t>
              </a:r>
            </a:p>
          </p:txBody>
        </p:sp>
        <p:sp>
          <p:nvSpPr>
            <p:cNvPr id="40979" name="Rectangle 18">
              <a:extLst>
                <a:ext uri="{FF2B5EF4-FFF2-40B4-BE49-F238E27FC236}">
                  <a16:creationId xmlns:a16="http://schemas.microsoft.com/office/drawing/2014/main" id="{9C474B19-CB67-4DF9-8DED-29D1B24E972F}"/>
                </a:ext>
              </a:extLst>
            </p:cNvPr>
            <p:cNvSpPr>
              <a:spLocks noChangeArrowheads="1"/>
            </p:cNvSpPr>
            <p:nvPr/>
          </p:nvSpPr>
          <p:spPr bwMode="auto">
            <a:xfrm>
              <a:off x="3526" y="1933"/>
              <a:ext cx="207"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defRPr sz="2400">
                  <a:solidFill>
                    <a:schemeClr val="tx1"/>
                  </a:solidFill>
                  <a:latin typeface="Times New Roman" panose="02020603050405020304" pitchFamily="18" charset="0"/>
                </a:defRPr>
              </a:lvl1pPr>
              <a:lvl2pPr marL="742950" indent="-285750" defTabSz="762000">
                <a:defRPr sz="2400">
                  <a:solidFill>
                    <a:schemeClr val="tx1"/>
                  </a:solidFill>
                  <a:latin typeface="Times New Roman" panose="02020603050405020304" pitchFamily="18" charset="0"/>
                </a:defRPr>
              </a:lvl2pPr>
              <a:lvl3pPr marL="1143000" indent="-228600" defTabSz="762000">
                <a:defRPr sz="2400">
                  <a:solidFill>
                    <a:schemeClr val="tx1"/>
                  </a:solidFill>
                  <a:latin typeface="Times New Roman" panose="02020603050405020304" pitchFamily="18" charset="0"/>
                </a:defRPr>
              </a:lvl3pPr>
              <a:lvl4pPr marL="1600200" indent="-228600" defTabSz="762000">
                <a:defRPr sz="2400">
                  <a:solidFill>
                    <a:schemeClr val="tx1"/>
                  </a:solidFill>
                  <a:latin typeface="Times New Roman" panose="02020603050405020304" pitchFamily="18" charset="0"/>
                </a:defRPr>
              </a:lvl4pPr>
              <a:lvl5pPr marL="2057400" indent="-228600" defTabSz="762000">
                <a:defRPr sz="2400">
                  <a:solidFill>
                    <a:schemeClr val="tx1"/>
                  </a:solidFill>
                  <a:latin typeface="Times New Roman" panose="02020603050405020304" pitchFamily="18" charset="0"/>
                </a:defRPr>
              </a:lvl5pPr>
              <a:lvl6pPr marL="2514600" indent="-228600" defTabSz="7620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7620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7620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762000" eaLnBrk="0" fontAlgn="base" hangingPunct="0">
                <a:spcBef>
                  <a:spcPct val="0"/>
                </a:spcBef>
                <a:spcAft>
                  <a:spcPct val="0"/>
                </a:spcAft>
                <a:defRPr sz="2400">
                  <a:solidFill>
                    <a:schemeClr val="tx1"/>
                  </a:solidFill>
                  <a:latin typeface="Times New Roman" panose="02020603050405020304" pitchFamily="18" charset="0"/>
                </a:defRPr>
              </a:lvl9pPr>
            </a:lstStyle>
            <a:p>
              <a:r>
                <a:rPr lang="en-GB" altLang="en-US" sz="2000" b="1">
                  <a:solidFill>
                    <a:schemeClr val="accent1"/>
                  </a:solidFill>
                  <a:latin typeface="Arial" panose="020B0604020202020204" pitchFamily="34" charset="0"/>
                </a:rPr>
                <a:t>2</a:t>
              </a:r>
            </a:p>
          </p:txBody>
        </p:sp>
        <p:sp>
          <p:nvSpPr>
            <p:cNvPr id="40980" name="Rectangle 19">
              <a:extLst>
                <a:ext uri="{FF2B5EF4-FFF2-40B4-BE49-F238E27FC236}">
                  <a16:creationId xmlns:a16="http://schemas.microsoft.com/office/drawing/2014/main" id="{785F4E7A-0BA1-47D6-BEBC-581BD8F001C6}"/>
                </a:ext>
              </a:extLst>
            </p:cNvPr>
            <p:cNvSpPr>
              <a:spLocks noChangeArrowheads="1"/>
            </p:cNvSpPr>
            <p:nvPr/>
          </p:nvSpPr>
          <p:spPr bwMode="auto">
            <a:xfrm>
              <a:off x="4061" y="1571"/>
              <a:ext cx="207"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defRPr sz="2400">
                  <a:solidFill>
                    <a:schemeClr val="tx1"/>
                  </a:solidFill>
                  <a:latin typeface="Times New Roman" panose="02020603050405020304" pitchFamily="18" charset="0"/>
                </a:defRPr>
              </a:lvl1pPr>
              <a:lvl2pPr marL="742950" indent="-285750" defTabSz="762000">
                <a:defRPr sz="2400">
                  <a:solidFill>
                    <a:schemeClr val="tx1"/>
                  </a:solidFill>
                  <a:latin typeface="Times New Roman" panose="02020603050405020304" pitchFamily="18" charset="0"/>
                </a:defRPr>
              </a:lvl2pPr>
              <a:lvl3pPr marL="1143000" indent="-228600" defTabSz="762000">
                <a:defRPr sz="2400">
                  <a:solidFill>
                    <a:schemeClr val="tx1"/>
                  </a:solidFill>
                  <a:latin typeface="Times New Roman" panose="02020603050405020304" pitchFamily="18" charset="0"/>
                </a:defRPr>
              </a:lvl3pPr>
              <a:lvl4pPr marL="1600200" indent="-228600" defTabSz="762000">
                <a:defRPr sz="2400">
                  <a:solidFill>
                    <a:schemeClr val="tx1"/>
                  </a:solidFill>
                  <a:latin typeface="Times New Roman" panose="02020603050405020304" pitchFamily="18" charset="0"/>
                </a:defRPr>
              </a:lvl4pPr>
              <a:lvl5pPr marL="2057400" indent="-228600" defTabSz="762000">
                <a:defRPr sz="2400">
                  <a:solidFill>
                    <a:schemeClr val="tx1"/>
                  </a:solidFill>
                  <a:latin typeface="Times New Roman" panose="02020603050405020304" pitchFamily="18" charset="0"/>
                </a:defRPr>
              </a:lvl5pPr>
              <a:lvl6pPr marL="2514600" indent="-228600" defTabSz="7620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7620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7620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762000" eaLnBrk="0" fontAlgn="base" hangingPunct="0">
                <a:spcBef>
                  <a:spcPct val="0"/>
                </a:spcBef>
                <a:spcAft>
                  <a:spcPct val="0"/>
                </a:spcAft>
                <a:defRPr sz="2400">
                  <a:solidFill>
                    <a:schemeClr val="tx1"/>
                  </a:solidFill>
                  <a:latin typeface="Times New Roman" panose="02020603050405020304" pitchFamily="18" charset="0"/>
                </a:defRPr>
              </a:lvl9pPr>
            </a:lstStyle>
            <a:p>
              <a:r>
                <a:rPr lang="en-GB" altLang="en-US" sz="2000" b="1">
                  <a:solidFill>
                    <a:schemeClr val="hlink"/>
                  </a:solidFill>
                  <a:latin typeface="Arial" panose="020B0604020202020204" pitchFamily="34" charset="0"/>
                </a:rPr>
                <a:t>3</a:t>
              </a:r>
            </a:p>
          </p:txBody>
        </p:sp>
        <p:sp>
          <p:nvSpPr>
            <p:cNvPr id="40981" name="Rectangle 20">
              <a:extLst>
                <a:ext uri="{FF2B5EF4-FFF2-40B4-BE49-F238E27FC236}">
                  <a16:creationId xmlns:a16="http://schemas.microsoft.com/office/drawing/2014/main" id="{582ACB8D-F312-4928-B3A5-88DC8522B098}"/>
                </a:ext>
              </a:extLst>
            </p:cNvPr>
            <p:cNvSpPr>
              <a:spLocks noChangeArrowheads="1"/>
            </p:cNvSpPr>
            <p:nvPr/>
          </p:nvSpPr>
          <p:spPr bwMode="auto">
            <a:xfrm>
              <a:off x="4501" y="1794"/>
              <a:ext cx="207"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defRPr sz="2400">
                  <a:solidFill>
                    <a:schemeClr val="tx1"/>
                  </a:solidFill>
                  <a:latin typeface="Times New Roman" panose="02020603050405020304" pitchFamily="18" charset="0"/>
                </a:defRPr>
              </a:lvl1pPr>
              <a:lvl2pPr marL="742950" indent="-285750" defTabSz="762000">
                <a:defRPr sz="2400">
                  <a:solidFill>
                    <a:schemeClr val="tx1"/>
                  </a:solidFill>
                  <a:latin typeface="Times New Roman" panose="02020603050405020304" pitchFamily="18" charset="0"/>
                </a:defRPr>
              </a:lvl2pPr>
              <a:lvl3pPr marL="1143000" indent="-228600" defTabSz="762000">
                <a:defRPr sz="2400">
                  <a:solidFill>
                    <a:schemeClr val="tx1"/>
                  </a:solidFill>
                  <a:latin typeface="Times New Roman" panose="02020603050405020304" pitchFamily="18" charset="0"/>
                </a:defRPr>
              </a:lvl3pPr>
              <a:lvl4pPr marL="1600200" indent="-228600" defTabSz="762000">
                <a:defRPr sz="2400">
                  <a:solidFill>
                    <a:schemeClr val="tx1"/>
                  </a:solidFill>
                  <a:latin typeface="Times New Roman" panose="02020603050405020304" pitchFamily="18" charset="0"/>
                </a:defRPr>
              </a:lvl4pPr>
              <a:lvl5pPr marL="2057400" indent="-228600" defTabSz="762000">
                <a:defRPr sz="2400">
                  <a:solidFill>
                    <a:schemeClr val="tx1"/>
                  </a:solidFill>
                  <a:latin typeface="Times New Roman" panose="02020603050405020304" pitchFamily="18" charset="0"/>
                </a:defRPr>
              </a:lvl5pPr>
              <a:lvl6pPr marL="2514600" indent="-228600" defTabSz="7620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7620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7620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762000" eaLnBrk="0" fontAlgn="base" hangingPunct="0">
                <a:spcBef>
                  <a:spcPct val="0"/>
                </a:spcBef>
                <a:spcAft>
                  <a:spcPct val="0"/>
                </a:spcAft>
                <a:defRPr sz="2400">
                  <a:solidFill>
                    <a:schemeClr val="tx1"/>
                  </a:solidFill>
                  <a:latin typeface="Times New Roman" panose="02020603050405020304" pitchFamily="18" charset="0"/>
                </a:defRPr>
              </a:lvl9pPr>
            </a:lstStyle>
            <a:p>
              <a:r>
                <a:rPr lang="en-GB" altLang="en-US" sz="2000" b="1">
                  <a:latin typeface="Arial" panose="020B0604020202020204" pitchFamily="34" charset="0"/>
                </a:rPr>
                <a:t>4</a:t>
              </a:r>
            </a:p>
          </p:txBody>
        </p:sp>
      </p:grpSp>
      <p:sp>
        <p:nvSpPr>
          <p:cNvPr id="40982" name="Freeform 22">
            <a:extLst>
              <a:ext uri="{FF2B5EF4-FFF2-40B4-BE49-F238E27FC236}">
                <a16:creationId xmlns:a16="http://schemas.microsoft.com/office/drawing/2014/main" id="{51759411-231E-435D-ACFD-BAAEE5097E9C}"/>
              </a:ext>
            </a:extLst>
          </p:cNvPr>
          <p:cNvSpPr>
            <a:spLocks/>
          </p:cNvSpPr>
          <p:nvPr/>
        </p:nvSpPr>
        <p:spPr bwMode="auto">
          <a:xfrm>
            <a:off x="2617788" y="2549351"/>
            <a:ext cx="6845300" cy="2338388"/>
          </a:xfrm>
          <a:custGeom>
            <a:avLst/>
            <a:gdLst>
              <a:gd name="T0" fmla="*/ 0 w 4312"/>
              <a:gd name="T1" fmla="*/ 2147483647 h 1739"/>
              <a:gd name="T2" fmla="*/ 534273081 w 4312"/>
              <a:gd name="T3" fmla="*/ 2147483647 h 1739"/>
              <a:gd name="T4" fmla="*/ 1176912039 w 4312"/>
              <a:gd name="T5" fmla="*/ 2147483647 h 1739"/>
              <a:gd name="T6" fmla="*/ 1794351231 w 4312"/>
              <a:gd name="T7" fmla="*/ 2147483647 h 1739"/>
              <a:gd name="T8" fmla="*/ 2147483647 w 4312"/>
              <a:gd name="T9" fmla="*/ 2147483647 h 1739"/>
              <a:gd name="T10" fmla="*/ 2147483647 w 4312"/>
              <a:gd name="T11" fmla="*/ 1918445114 h 1739"/>
              <a:gd name="T12" fmla="*/ 2147483647 w 4312"/>
              <a:gd name="T13" fmla="*/ 1234964682 h 1739"/>
              <a:gd name="T14" fmla="*/ 2147483647 w 4312"/>
              <a:gd name="T15" fmla="*/ 994481915 h 1739"/>
              <a:gd name="T16" fmla="*/ 2147483647 w 4312"/>
              <a:gd name="T17" fmla="*/ 1195186548 h 1739"/>
              <a:gd name="T18" fmla="*/ 2147483647 w 4312"/>
              <a:gd name="T19" fmla="*/ 1777409027 h 1739"/>
              <a:gd name="T20" fmla="*/ 2147483647 w 4312"/>
              <a:gd name="T21" fmla="*/ 2059481202 h 1739"/>
              <a:gd name="T22" fmla="*/ 2147483647 w 4312"/>
              <a:gd name="T23" fmla="*/ 2147483647 h 1739"/>
              <a:gd name="T24" fmla="*/ 2147483647 w 4312"/>
              <a:gd name="T25" fmla="*/ 2147483647 h 1739"/>
              <a:gd name="T26" fmla="*/ 2147483647 w 4312"/>
              <a:gd name="T27" fmla="*/ 1918445114 h 1739"/>
              <a:gd name="T28" fmla="*/ 2147483647 w 4312"/>
              <a:gd name="T29" fmla="*/ 1435669651 h 1739"/>
              <a:gd name="T30" fmla="*/ 2147483647 w 4312"/>
              <a:gd name="T31" fmla="*/ 1014370982 h 1739"/>
              <a:gd name="T32" fmla="*/ 2147483647 w 4312"/>
              <a:gd name="T33" fmla="*/ 573183415 h 1739"/>
              <a:gd name="T34" fmla="*/ 2147483647 w 4312"/>
              <a:gd name="T35" fmla="*/ 171774023 h 1739"/>
              <a:gd name="T36" fmla="*/ 2147483647 w 4312"/>
              <a:gd name="T37" fmla="*/ 10848829 h 1739"/>
              <a:gd name="T38" fmla="*/ 2147483647 w 4312"/>
              <a:gd name="T39" fmla="*/ 110296892 h 1739"/>
              <a:gd name="T40" fmla="*/ 2147483647 w 4312"/>
              <a:gd name="T41" fmla="*/ 432147327 h 1739"/>
              <a:gd name="T42" fmla="*/ 2147483647 w 4312"/>
              <a:gd name="T43" fmla="*/ 714218326 h 1739"/>
              <a:gd name="T44" fmla="*/ 2147483647 w 4312"/>
              <a:gd name="T45" fmla="*/ 793777282 h 1739"/>
              <a:gd name="T46" fmla="*/ 2147483647 w 4312"/>
              <a:gd name="T47" fmla="*/ 833556761 h 1739"/>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4312"/>
              <a:gd name="T73" fmla="*/ 0 h 1739"/>
              <a:gd name="T74" fmla="*/ 4312 w 4312"/>
              <a:gd name="T75" fmla="*/ 1739 h 1739"/>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4312" h="1739">
                <a:moveTo>
                  <a:pt x="0" y="1483"/>
                </a:moveTo>
                <a:cubicBezTo>
                  <a:pt x="67" y="1568"/>
                  <a:pt x="134" y="1653"/>
                  <a:pt x="212" y="1694"/>
                </a:cubicBezTo>
                <a:cubicBezTo>
                  <a:pt x="290" y="1735"/>
                  <a:pt x="384" y="1739"/>
                  <a:pt x="467" y="1728"/>
                </a:cubicBezTo>
                <a:cubicBezTo>
                  <a:pt x="550" y="1717"/>
                  <a:pt x="632" y="1687"/>
                  <a:pt x="712" y="1628"/>
                </a:cubicBezTo>
                <a:cubicBezTo>
                  <a:pt x="792" y="1569"/>
                  <a:pt x="886" y="1466"/>
                  <a:pt x="945" y="1372"/>
                </a:cubicBezTo>
                <a:cubicBezTo>
                  <a:pt x="1004" y="1278"/>
                  <a:pt x="1021" y="1176"/>
                  <a:pt x="1067" y="1061"/>
                </a:cubicBezTo>
                <a:cubicBezTo>
                  <a:pt x="1113" y="946"/>
                  <a:pt x="1151" y="768"/>
                  <a:pt x="1223" y="683"/>
                </a:cubicBezTo>
                <a:cubicBezTo>
                  <a:pt x="1295" y="598"/>
                  <a:pt x="1412" y="554"/>
                  <a:pt x="1501" y="550"/>
                </a:cubicBezTo>
                <a:cubicBezTo>
                  <a:pt x="1590" y="546"/>
                  <a:pt x="1673" y="589"/>
                  <a:pt x="1756" y="661"/>
                </a:cubicBezTo>
                <a:cubicBezTo>
                  <a:pt x="1839" y="733"/>
                  <a:pt x="1933" y="903"/>
                  <a:pt x="2001" y="983"/>
                </a:cubicBezTo>
                <a:cubicBezTo>
                  <a:pt x="2069" y="1063"/>
                  <a:pt x="2112" y="1102"/>
                  <a:pt x="2167" y="1139"/>
                </a:cubicBezTo>
                <a:cubicBezTo>
                  <a:pt x="2222" y="1176"/>
                  <a:pt x="2265" y="1197"/>
                  <a:pt x="2334" y="1206"/>
                </a:cubicBezTo>
                <a:cubicBezTo>
                  <a:pt x="2403" y="1215"/>
                  <a:pt x="2496" y="1218"/>
                  <a:pt x="2579" y="1194"/>
                </a:cubicBezTo>
                <a:cubicBezTo>
                  <a:pt x="2662" y="1170"/>
                  <a:pt x="2760" y="1128"/>
                  <a:pt x="2834" y="1061"/>
                </a:cubicBezTo>
                <a:cubicBezTo>
                  <a:pt x="2908" y="994"/>
                  <a:pt x="2980" y="877"/>
                  <a:pt x="3023" y="794"/>
                </a:cubicBezTo>
                <a:cubicBezTo>
                  <a:pt x="3066" y="711"/>
                  <a:pt x="3070" y="640"/>
                  <a:pt x="3090" y="561"/>
                </a:cubicBezTo>
                <a:cubicBezTo>
                  <a:pt x="3110" y="482"/>
                  <a:pt x="3115" y="395"/>
                  <a:pt x="3145" y="317"/>
                </a:cubicBezTo>
                <a:cubicBezTo>
                  <a:pt x="3175" y="239"/>
                  <a:pt x="3218" y="147"/>
                  <a:pt x="3268" y="95"/>
                </a:cubicBezTo>
                <a:cubicBezTo>
                  <a:pt x="3318" y="43"/>
                  <a:pt x="3369" y="12"/>
                  <a:pt x="3445" y="6"/>
                </a:cubicBezTo>
                <a:cubicBezTo>
                  <a:pt x="3521" y="0"/>
                  <a:pt x="3647" y="22"/>
                  <a:pt x="3723" y="61"/>
                </a:cubicBezTo>
                <a:cubicBezTo>
                  <a:pt x="3799" y="100"/>
                  <a:pt x="3849" y="183"/>
                  <a:pt x="3901" y="239"/>
                </a:cubicBezTo>
                <a:cubicBezTo>
                  <a:pt x="3953" y="295"/>
                  <a:pt x="3993" y="362"/>
                  <a:pt x="4034" y="395"/>
                </a:cubicBezTo>
                <a:cubicBezTo>
                  <a:pt x="4075" y="428"/>
                  <a:pt x="4099" y="428"/>
                  <a:pt x="4145" y="439"/>
                </a:cubicBezTo>
                <a:cubicBezTo>
                  <a:pt x="4191" y="450"/>
                  <a:pt x="4251" y="455"/>
                  <a:pt x="4312" y="461"/>
                </a:cubicBezTo>
              </a:path>
            </a:pathLst>
          </a:custGeom>
          <a:noFill/>
          <a:ln w="38100" cap="flat" cmpd="sng">
            <a:solidFill>
              <a:schemeClr val="tx2"/>
            </a:solidFill>
            <a:prstDash val="solid"/>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en-GB"/>
          </a:p>
        </p:txBody>
      </p:sp>
      <p:sp>
        <p:nvSpPr>
          <p:cNvPr id="31" name="Rectangle 11">
            <a:extLst>
              <a:ext uri="{FF2B5EF4-FFF2-40B4-BE49-F238E27FC236}">
                <a16:creationId xmlns:a16="http://schemas.microsoft.com/office/drawing/2014/main" id="{B40172CE-7F4B-4FC2-BA2E-051225445BBB}"/>
              </a:ext>
            </a:extLst>
          </p:cNvPr>
          <p:cNvSpPr>
            <a:spLocks noChangeArrowheads="1"/>
          </p:cNvSpPr>
          <p:nvPr/>
        </p:nvSpPr>
        <p:spPr bwMode="auto">
          <a:xfrm>
            <a:off x="1" y="1"/>
            <a:ext cx="12192000" cy="569708"/>
          </a:xfrm>
          <a:prstGeom prst="rect">
            <a:avLst/>
          </a:prstGeom>
          <a:noFill/>
          <a:ln w="9525">
            <a:noFill/>
            <a:miter lim="800000"/>
            <a:headEnd/>
            <a:tailEnd/>
          </a:ln>
          <a:effectLst>
            <a:outerShdw dist="12700" dir="2700000" algn="ctr" rotWithShape="0">
              <a:schemeClr val="tx1"/>
            </a:outerShdw>
          </a:effectLst>
        </p:spPr>
        <p:txBody>
          <a:bodyPr wrap="square" lIns="92075" tIns="91440" rIns="92075" bIns="46038">
            <a:spAutoFit/>
          </a:bodyPr>
          <a:lstStyle>
            <a:lvl1pPr defTabSz="762000">
              <a:defRPr sz="2400">
                <a:solidFill>
                  <a:schemeClr val="tx1"/>
                </a:solidFill>
                <a:latin typeface="Times New Roman" panose="02020603050405020304" pitchFamily="18" charset="0"/>
              </a:defRPr>
            </a:lvl1pPr>
            <a:lvl2pPr marL="742950" indent="-285750" defTabSz="762000">
              <a:defRPr sz="2400">
                <a:solidFill>
                  <a:schemeClr val="tx1"/>
                </a:solidFill>
                <a:latin typeface="Times New Roman" panose="02020603050405020304" pitchFamily="18" charset="0"/>
              </a:defRPr>
            </a:lvl2pPr>
            <a:lvl3pPr marL="1143000" indent="-228600" defTabSz="762000">
              <a:defRPr sz="2400">
                <a:solidFill>
                  <a:schemeClr val="tx1"/>
                </a:solidFill>
                <a:latin typeface="Times New Roman" panose="02020603050405020304" pitchFamily="18" charset="0"/>
              </a:defRPr>
            </a:lvl3pPr>
            <a:lvl4pPr marL="1600200" indent="-228600" defTabSz="762000">
              <a:defRPr sz="2400">
                <a:solidFill>
                  <a:schemeClr val="tx1"/>
                </a:solidFill>
                <a:latin typeface="Times New Roman" panose="02020603050405020304" pitchFamily="18" charset="0"/>
              </a:defRPr>
            </a:lvl4pPr>
            <a:lvl5pPr marL="2057400" indent="-228600" defTabSz="762000">
              <a:defRPr sz="2400">
                <a:solidFill>
                  <a:schemeClr val="tx1"/>
                </a:solidFill>
                <a:latin typeface="Times New Roman" panose="02020603050405020304" pitchFamily="18" charset="0"/>
              </a:defRPr>
            </a:lvl5pPr>
            <a:lvl6pPr marL="2514600" indent="-228600" defTabSz="7620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7620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7620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GB" altLang="en-US" sz="2800" b="1" dirty="0">
                <a:latin typeface="Arial" panose="020B0604020202020204" pitchFamily="34" charset="0"/>
              </a:rPr>
              <a:t>A hypothetical business cycle</a:t>
            </a:r>
          </a:p>
        </p:txBody>
      </p:sp>
    </p:spTree>
    <p:extLst>
      <p:ext uri="{BB962C8B-B14F-4D97-AF65-F5344CB8AC3E}">
        <p14:creationId xmlns:p14="http://schemas.microsoft.com/office/powerpoint/2010/main" val="402832643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5" presetClass="entr" presetSubtype="0" fill="hold" grpId="0" nodeType="clickEffect">
                                  <p:stCondLst>
                                    <p:cond delay="0"/>
                                  </p:stCondLst>
                                  <p:childTnLst>
                                    <p:set>
                                      <p:cBhvr>
                                        <p:cTn id="6" dur="1" fill="hold">
                                          <p:stCondLst>
                                            <p:cond delay="0"/>
                                          </p:stCondLst>
                                        </p:cTn>
                                        <p:tgtEl>
                                          <p:spTgt spid="30733"/>
                                        </p:tgtEl>
                                        <p:attrNameLst>
                                          <p:attrName>style.visibility</p:attrName>
                                        </p:attrNameLst>
                                      </p:cBhvr>
                                      <p:to>
                                        <p:strVal val="visible"/>
                                      </p:to>
                                    </p:set>
                                    <p:anim calcmode="lin" valueType="num">
                                      <p:cBhvr>
                                        <p:cTn id="7" dur="750" fill="hold"/>
                                        <p:tgtEl>
                                          <p:spTgt spid="30733"/>
                                        </p:tgtEl>
                                        <p:attrNameLst>
                                          <p:attrName>ppt_w</p:attrName>
                                        </p:attrNameLst>
                                      </p:cBhvr>
                                      <p:tavLst>
                                        <p:tav tm="0">
                                          <p:val>
                                            <p:fltVal val="0"/>
                                          </p:val>
                                        </p:tav>
                                        <p:tav tm="100000">
                                          <p:val>
                                            <p:strVal val="#ppt_w"/>
                                          </p:val>
                                        </p:tav>
                                      </p:tavLst>
                                    </p:anim>
                                    <p:anim calcmode="lin" valueType="num">
                                      <p:cBhvr>
                                        <p:cTn id="8" dur="750" fill="hold"/>
                                        <p:tgtEl>
                                          <p:spTgt spid="30733"/>
                                        </p:tgtEl>
                                        <p:attrNameLst>
                                          <p:attrName>ppt_h</p:attrName>
                                        </p:attrNameLst>
                                      </p:cBhvr>
                                      <p:tavLst>
                                        <p:tav tm="0">
                                          <p:val>
                                            <p:fltVal val="0"/>
                                          </p:val>
                                        </p:tav>
                                        <p:tav tm="100000">
                                          <p:val>
                                            <p:strVal val="#ppt_h"/>
                                          </p:val>
                                        </p:tav>
                                      </p:tavLst>
                                    </p:anim>
                                    <p:anim calcmode="lin" valueType="num">
                                      <p:cBhvr>
                                        <p:cTn id="9" dur="750" fill="hold"/>
                                        <p:tgtEl>
                                          <p:spTgt spid="30733"/>
                                        </p:tgtEl>
                                        <p:attrNameLst>
                                          <p:attrName>ppt_x</p:attrName>
                                        </p:attrNameLst>
                                      </p:cBhvr>
                                      <p:tavLst>
                                        <p:tav tm="0" fmla="#ppt_x+(cos(-2*pi*(1-$))*-#ppt_x-sin(-2*pi*(1-$))*(1-#ppt_y))*(1-$)">
                                          <p:val>
                                            <p:fltVal val="0"/>
                                          </p:val>
                                        </p:tav>
                                        <p:tav tm="100000">
                                          <p:val>
                                            <p:fltVal val="1"/>
                                          </p:val>
                                        </p:tav>
                                      </p:tavLst>
                                    </p:anim>
                                    <p:anim calcmode="lin" valueType="num">
                                      <p:cBhvr>
                                        <p:cTn id="10" dur="750" fill="hold"/>
                                        <p:tgtEl>
                                          <p:spTgt spid="30733"/>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1" fill="hold">
                      <p:stCondLst>
                        <p:cond delay="indefinite"/>
                      </p:stCondLst>
                      <p:childTnLst>
                        <p:par>
                          <p:cTn id="12" fill="hold">
                            <p:stCondLst>
                              <p:cond delay="0"/>
                            </p:stCondLst>
                            <p:childTnLst>
                              <p:par>
                                <p:cTn id="13" presetID="15" presetClass="entr" presetSubtype="0" fill="hold" grpId="0" nodeType="clickEffect">
                                  <p:stCondLst>
                                    <p:cond delay="0"/>
                                  </p:stCondLst>
                                  <p:childTnLst>
                                    <p:set>
                                      <p:cBhvr>
                                        <p:cTn id="14" dur="1" fill="hold">
                                          <p:stCondLst>
                                            <p:cond delay="0"/>
                                          </p:stCondLst>
                                        </p:cTn>
                                        <p:tgtEl>
                                          <p:spTgt spid="30734"/>
                                        </p:tgtEl>
                                        <p:attrNameLst>
                                          <p:attrName>style.visibility</p:attrName>
                                        </p:attrNameLst>
                                      </p:cBhvr>
                                      <p:to>
                                        <p:strVal val="visible"/>
                                      </p:to>
                                    </p:set>
                                    <p:anim calcmode="lin" valueType="num">
                                      <p:cBhvr>
                                        <p:cTn id="15" dur="750" fill="hold"/>
                                        <p:tgtEl>
                                          <p:spTgt spid="30734"/>
                                        </p:tgtEl>
                                        <p:attrNameLst>
                                          <p:attrName>ppt_w</p:attrName>
                                        </p:attrNameLst>
                                      </p:cBhvr>
                                      <p:tavLst>
                                        <p:tav tm="0">
                                          <p:val>
                                            <p:fltVal val="0"/>
                                          </p:val>
                                        </p:tav>
                                        <p:tav tm="100000">
                                          <p:val>
                                            <p:strVal val="#ppt_w"/>
                                          </p:val>
                                        </p:tav>
                                      </p:tavLst>
                                    </p:anim>
                                    <p:anim calcmode="lin" valueType="num">
                                      <p:cBhvr>
                                        <p:cTn id="16" dur="750" fill="hold"/>
                                        <p:tgtEl>
                                          <p:spTgt spid="30734"/>
                                        </p:tgtEl>
                                        <p:attrNameLst>
                                          <p:attrName>ppt_h</p:attrName>
                                        </p:attrNameLst>
                                      </p:cBhvr>
                                      <p:tavLst>
                                        <p:tav tm="0">
                                          <p:val>
                                            <p:fltVal val="0"/>
                                          </p:val>
                                        </p:tav>
                                        <p:tav tm="100000">
                                          <p:val>
                                            <p:strVal val="#ppt_h"/>
                                          </p:val>
                                        </p:tav>
                                      </p:tavLst>
                                    </p:anim>
                                    <p:anim calcmode="lin" valueType="num">
                                      <p:cBhvr>
                                        <p:cTn id="17" dur="750" fill="hold"/>
                                        <p:tgtEl>
                                          <p:spTgt spid="30734"/>
                                        </p:tgtEl>
                                        <p:attrNameLst>
                                          <p:attrName>ppt_x</p:attrName>
                                        </p:attrNameLst>
                                      </p:cBhvr>
                                      <p:tavLst>
                                        <p:tav tm="0" fmla="#ppt_x+(cos(-2*pi*(1-$))*-#ppt_x-sin(-2*pi*(1-$))*(1-#ppt_y))*(1-$)">
                                          <p:val>
                                            <p:fltVal val="0"/>
                                          </p:val>
                                        </p:tav>
                                        <p:tav tm="100000">
                                          <p:val>
                                            <p:fltVal val="1"/>
                                          </p:val>
                                        </p:tav>
                                      </p:tavLst>
                                    </p:anim>
                                    <p:anim calcmode="lin" valueType="num">
                                      <p:cBhvr>
                                        <p:cTn id="18" dur="750" fill="hold"/>
                                        <p:tgtEl>
                                          <p:spTgt spid="30734"/>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9" fill="hold">
                      <p:stCondLst>
                        <p:cond delay="indefinite"/>
                      </p:stCondLst>
                      <p:childTnLst>
                        <p:par>
                          <p:cTn id="20" fill="hold">
                            <p:stCondLst>
                              <p:cond delay="0"/>
                            </p:stCondLst>
                            <p:childTnLst>
                              <p:par>
                                <p:cTn id="21" presetID="15" presetClass="entr" presetSubtype="0" fill="hold" grpId="0" nodeType="clickEffect">
                                  <p:stCondLst>
                                    <p:cond delay="0"/>
                                  </p:stCondLst>
                                  <p:childTnLst>
                                    <p:set>
                                      <p:cBhvr>
                                        <p:cTn id="22" dur="1" fill="hold">
                                          <p:stCondLst>
                                            <p:cond delay="0"/>
                                          </p:stCondLst>
                                        </p:cTn>
                                        <p:tgtEl>
                                          <p:spTgt spid="30735"/>
                                        </p:tgtEl>
                                        <p:attrNameLst>
                                          <p:attrName>style.visibility</p:attrName>
                                        </p:attrNameLst>
                                      </p:cBhvr>
                                      <p:to>
                                        <p:strVal val="visible"/>
                                      </p:to>
                                    </p:set>
                                    <p:anim calcmode="lin" valueType="num">
                                      <p:cBhvr>
                                        <p:cTn id="23" dur="750" fill="hold"/>
                                        <p:tgtEl>
                                          <p:spTgt spid="30735"/>
                                        </p:tgtEl>
                                        <p:attrNameLst>
                                          <p:attrName>ppt_w</p:attrName>
                                        </p:attrNameLst>
                                      </p:cBhvr>
                                      <p:tavLst>
                                        <p:tav tm="0">
                                          <p:val>
                                            <p:fltVal val="0"/>
                                          </p:val>
                                        </p:tav>
                                        <p:tav tm="100000">
                                          <p:val>
                                            <p:strVal val="#ppt_w"/>
                                          </p:val>
                                        </p:tav>
                                      </p:tavLst>
                                    </p:anim>
                                    <p:anim calcmode="lin" valueType="num">
                                      <p:cBhvr>
                                        <p:cTn id="24" dur="750" fill="hold"/>
                                        <p:tgtEl>
                                          <p:spTgt spid="30735"/>
                                        </p:tgtEl>
                                        <p:attrNameLst>
                                          <p:attrName>ppt_h</p:attrName>
                                        </p:attrNameLst>
                                      </p:cBhvr>
                                      <p:tavLst>
                                        <p:tav tm="0">
                                          <p:val>
                                            <p:fltVal val="0"/>
                                          </p:val>
                                        </p:tav>
                                        <p:tav tm="100000">
                                          <p:val>
                                            <p:strVal val="#ppt_h"/>
                                          </p:val>
                                        </p:tav>
                                      </p:tavLst>
                                    </p:anim>
                                    <p:anim calcmode="lin" valueType="num">
                                      <p:cBhvr>
                                        <p:cTn id="25" dur="750" fill="hold"/>
                                        <p:tgtEl>
                                          <p:spTgt spid="30735"/>
                                        </p:tgtEl>
                                        <p:attrNameLst>
                                          <p:attrName>ppt_x</p:attrName>
                                        </p:attrNameLst>
                                      </p:cBhvr>
                                      <p:tavLst>
                                        <p:tav tm="0" fmla="#ppt_x+(cos(-2*pi*(1-$))*-#ppt_x-sin(-2*pi*(1-$))*(1-#ppt_y))*(1-$)">
                                          <p:val>
                                            <p:fltVal val="0"/>
                                          </p:val>
                                        </p:tav>
                                        <p:tav tm="100000">
                                          <p:val>
                                            <p:fltVal val="1"/>
                                          </p:val>
                                        </p:tav>
                                      </p:tavLst>
                                    </p:anim>
                                    <p:anim calcmode="lin" valueType="num">
                                      <p:cBhvr>
                                        <p:cTn id="26" dur="750" fill="hold"/>
                                        <p:tgtEl>
                                          <p:spTgt spid="30735"/>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27" fill="hold">
                      <p:stCondLst>
                        <p:cond delay="indefinite"/>
                      </p:stCondLst>
                      <p:childTnLst>
                        <p:par>
                          <p:cTn id="28" fill="hold">
                            <p:stCondLst>
                              <p:cond delay="0"/>
                            </p:stCondLst>
                            <p:childTnLst>
                              <p:par>
                                <p:cTn id="29" presetID="15" presetClass="entr" presetSubtype="0" fill="hold" grpId="0" nodeType="clickEffect">
                                  <p:stCondLst>
                                    <p:cond delay="0"/>
                                  </p:stCondLst>
                                  <p:childTnLst>
                                    <p:set>
                                      <p:cBhvr>
                                        <p:cTn id="30" dur="1" fill="hold">
                                          <p:stCondLst>
                                            <p:cond delay="0"/>
                                          </p:stCondLst>
                                        </p:cTn>
                                        <p:tgtEl>
                                          <p:spTgt spid="30736"/>
                                        </p:tgtEl>
                                        <p:attrNameLst>
                                          <p:attrName>style.visibility</p:attrName>
                                        </p:attrNameLst>
                                      </p:cBhvr>
                                      <p:to>
                                        <p:strVal val="visible"/>
                                      </p:to>
                                    </p:set>
                                    <p:anim calcmode="lin" valueType="num">
                                      <p:cBhvr>
                                        <p:cTn id="31" dur="750" fill="hold"/>
                                        <p:tgtEl>
                                          <p:spTgt spid="30736"/>
                                        </p:tgtEl>
                                        <p:attrNameLst>
                                          <p:attrName>ppt_w</p:attrName>
                                        </p:attrNameLst>
                                      </p:cBhvr>
                                      <p:tavLst>
                                        <p:tav tm="0">
                                          <p:val>
                                            <p:fltVal val="0"/>
                                          </p:val>
                                        </p:tav>
                                        <p:tav tm="100000">
                                          <p:val>
                                            <p:strVal val="#ppt_w"/>
                                          </p:val>
                                        </p:tav>
                                      </p:tavLst>
                                    </p:anim>
                                    <p:anim calcmode="lin" valueType="num">
                                      <p:cBhvr>
                                        <p:cTn id="32" dur="750" fill="hold"/>
                                        <p:tgtEl>
                                          <p:spTgt spid="30736"/>
                                        </p:tgtEl>
                                        <p:attrNameLst>
                                          <p:attrName>ppt_h</p:attrName>
                                        </p:attrNameLst>
                                      </p:cBhvr>
                                      <p:tavLst>
                                        <p:tav tm="0">
                                          <p:val>
                                            <p:fltVal val="0"/>
                                          </p:val>
                                        </p:tav>
                                        <p:tav tm="100000">
                                          <p:val>
                                            <p:strVal val="#ppt_h"/>
                                          </p:val>
                                        </p:tav>
                                      </p:tavLst>
                                    </p:anim>
                                    <p:anim calcmode="lin" valueType="num">
                                      <p:cBhvr>
                                        <p:cTn id="33" dur="750" fill="hold"/>
                                        <p:tgtEl>
                                          <p:spTgt spid="30736"/>
                                        </p:tgtEl>
                                        <p:attrNameLst>
                                          <p:attrName>ppt_x</p:attrName>
                                        </p:attrNameLst>
                                      </p:cBhvr>
                                      <p:tavLst>
                                        <p:tav tm="0" fmla="#ppt_x+(cos(-2*pi*(1-$))*-#ppt_x-sin(-2*pi*(1-$))*(1-#ppt_y))*(1-$)">
                                          <p:val>
                                            <p:fltVal val="0"/>
                                          </p:val>
                                        </p:tav>
                                        <p:tav tm="100000">
                                          <p:val>
                                            <p:fltVal val="1"/>
                                          </p:val>
                                        </p:tav>
                                      </p:tavLst>
                                    </p:anim>
                                    <p:anim calcmode="lin" valueType="num">
                                      <p:cBhvr>
                                        <p:cTn id="34" dur="750" fill="hold"/>
                                        <p:tgtEl>
                                          <p:spTgt spid="30736"/>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35" fill="hold" nodeType="clickPar">
                      <p:stCondLst>
                        <p:cond delay="indefinite"/>
                      </p:stCondLst>
                      <p:childTnLst>
                        <p:par>
                          <p:cTn id="36" fill="hold" nodeType="withGroup">
                            <p:stCondLst>
                              <p:cond delay="0"/>
                            </p:stCondLst>
                            <p:childTnLst>
                              <p:par>
                                <p:cTn id="37" presetID="9" presetClass="entr" presetSubtype="0" fill="hold" nodeType="clickEffect">
                                  <p:stCondLst>
                                    <p:cond delay="0"/>
                                  </p:stCondLst>
                                  <p:childTnLst>
                                    <p:set>
                                      <p:cBhvr>
                                        <p:cTn id="38" dur="1" fill="hold">
                                          <p:stCondLst>
                                            <p:cond delay="0"/>
                                          </p:stCondLst>
                                        </p:cTn>
                                        <p:tgtEl>
                                          <p:spTgt spid="2"/>
                                        </p:tgtEl>
                                        <p:attrNameLst>
                                          <p:attrName>style.visibility</p:attrName>
                                        </p:attrNameLst>
                                      </p:cBhvr>
                                      <p:to>
                                        <p:strVal val="visible"/>
                                      </p:to>
                                    </p:set>
                                    <p:animEffect transition="in" filter="dissolve">
                                      <p:cBhvr>
                                        <p:cTn id="3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33" grpId="0" autoUpdateAnimBg="0"/>
      <p:bldP spid="30734" grpId="0" autoUpdateAnimBg="0"/>
      <p:bldP spid="30735" grpId="0" autoUpdateAnimBg="0"/>
      <p:bldP spid="30736" grpId="0" autoUpdateAnimBg="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7CC288DD-3171-4D88-9EBF-FEE6DDFAB6E8}"/>
              </a:ext>
            </a:extLst>
          </p:cNvPr>
          <p:cNvSpPr>
            <a:spLocks noChangeArrowheads="1"/>
          </p:cNvSpPr>
          <p:nvPr/>
        </p:nvSpPr>
        <p:spPr bwMode="auto">
          <a:xfrm>
            <a:off x="2590801" y="717376"/>
            <a:ext cx="6983413" cy="53340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grpSp>
        <p:nvGrpSpPr>
          <p:cNvPr id="19" name="Group 18">
            <a:extLst>
              <a:ext uri="{FF2B5EF4-FFF2-40B4-BE49-F238E27FC236}">
                <a16:creationId xmlns:a16="http://schemas.microsoft.com/office/drawing/2014/main" id="{C64E7AB9-0E87-440D-8428-A7602A1A633E}"/>
              </a:ext>
            </a:extLst>
          </p:cNvPr>
          <p:cNvGrpSpPr/>
          <p:nvPr/>
        </p:nvGrpSpPr>
        <p:grpSpPr>
          <a:xfrm>
            <a:off x="2589198" y="704124"/>
            <a:ext cx="7048776" cy="2985053"/>
            <a:chOff x="2584174" y="596348"/>
            <a:chExt cx="7048776" cy="2985053"/>
          </a:xfrm>
        </p:grpSpPr>
        <p:sp>
          <p:nvSpPr>
            <p:cNvPr id="20" name="Freeform: Shape 19">
              <a:extLst>
                <a:ext uri="{FF2B5EF4-FFF2-40B4-BE49-F238E27FC236}">
                  <a16:creationId xmlns:a16="http://schemas.microsoft.com/office/drawing/2014/main" id="{30F04E4B-AE52-4535-A25C-250891207641}"/>
                </a:ext>
              </a:extLst>
            </p:cNvPr>
            <p:cNvSpPr/>
            <p:nvPr/>
          </p:nvSpPr>
          <p:spPr>
            <a:xfrm>
              <a:off x="2584174" y="596348"/>
              <a:ext cx="6983413" cy="2961861"/>
            </a:xfrm>
            <a:custGeom>
              <a:avLst/>
              <a:gdLst>
                <a:gd name="connsiteX0" fmla="*/ 0 w 6977269"/>
                <a:gd name="connsiteY0" fmla="*/ 14909 h 2961861"/>
                <a:gd name="connsiteX1" fmla="*/ 0 w 6977269"/>
                <a:gd name="connsiteY1" fmla="*/ 2961861 h 2961861"/>
                <a:gd name="connsiteX2" fmla="*/ 6977269 w 6977269"/>
                <a:gd name="connsiteY2" fmla="*/ 1157909 h 2961861"/>
                <a:gd name="connsiteX3" fmla="*/ 6972300 w 6977269"/>
                <a:gd name="connsiteY3" fmla="*/ 0 h 2961861"/>
                <a:gd name="connsiteX4" fmla="*/ 0 w 6977269"/>
                <a:gd name="connsiteY4" fmla="*/ 14909 h 29618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77269" h="2961861">
                  <a:moveTo>
                    <a:pt x="0" y="14909"/>
                  </a:moveTo>
                  <a:lnTo>
                    <a:pt x="0" y="2961861"/>
                  </a:lnTo>
                  <a:lnTo>
                    <a:pt x="6977269" y="1157909"/>
                  </a:lnTo>
                  <a:cubicBezTo>
                    <a:pt x="6975613" y="771939"/>
                    <a:pt x="6973956" y="385970"/>
                    <a:pt x="6972300" y="0"/>
                  </a:cubicBezTo>
                  <a:lnTo>
                    <a:pt x="0" y="14909"/>
                  </a:lnTo>
                  <a:close/>
                </a:path>
              </a:pathLst>
            </a:custGeom>
            <a:solidFill>
              <a:srgbClr val="EAEAE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21" name="Group 19">
              <a:extLst>
                <a:ext uri="{FF2B5EF4-FFF2-40B4-BE49-F238E27FC236}">
                  <a16:creationId xmlns:a16="http://schemas.microsoft.com/office/drawing/2014/main" id="{57B9A58A-F53C-41EC-AEF0-95593B007B90}"/>
                </a:ext>
              </a:extLst>
            </p:cNvPr>
            <p:cNvGrpSpPr>
              <a:grpSpLocks/>
            </p:cNvGrpSpPr>
            <p:nvPr/>
          </p:nvGrpSpPr>
          <p:grpSpPr bwMode="auto">
            <a:xfrm>
              <a:off x="2590800" y="1069976"/>
              <a:ext cx="7042150" cy="2511425"/>
              <a:chOff x="672" y="674"/>
              <a:chExt cx="4436" cy="1582"/>
            </a:xfrm>
          </p:grpSpPr>
          <p:sp>
            <p:nvSpPr>
              <p:cNvPr id="22" name="Line 10">
                <a:extLst>
                  <a:ext uri="{FF2B5EF4-FFF2-40B4-BE49-F238E27FC236}">
                    <a16:creationId xmlns:a16="http://schemas.microsoft.com/office/drawing/2014/main" id="{D7412731-579C-4497-951C-44BE4D54D0B7}"/>
                  </a:ext>
                </a:extLst>
              </p:cNvPr>
              <p:cNvSpPr>
                <a:spLocks noChangeShapeType="1"/>
              </p:cNvSpPr>
              <p:nvPr/>
            </p:nvSpPr>
            <p:spPr bwMode="auto">
              <a:xfrm flipV="1">
                <a:off x="672" y="1100"/>
                <a:ext cx="4383" cy="1156"/>
              </a:xfrm>
              <a:prstGeom prst="line">
                <a:avLst/>
              </a:prstGeom>
              <a:noFill/>
              <a:ln w="381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23" name="Rectangle 11">
                <a:extLst>
                  <a:ext uri="{FF2B5EF4-FFF2-40B4-BE49-F238E27FC236}">
                    <a16:creationId xmlns:a16="http://schemas.microsoft.com/office/drawing/2014/main" id="{508C25D5-6B24-4A0F-A0E7-25EAEFD07C37}"/>
                  </a:ext>
                </a:extLst>
              </p:cNvPr>
              <p:cNvSpPr>
                <a:spLocks noChangeArrowheads="1"/>
              </p:cNvSpPr>
              <p:nvPr/>
            </p:nvSpPr>
            <p:spPr bwMode="auto">
              <a:xfrm>
                <a:off x="4092" y="674"/>
                <a:ext cx="1016" cy="4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defRPr sz="2400">
                    <a:solidFill>
                      <a:schemeClr val="tx1"/>
                    </a:solidFill>
                    <a:latin typeface="Times New Roman" panose="02020603050405020304" pitchFamily="18" charset="0"/>
                  </a:defRPr>
                </a:lvl1pPr>
                <a:lvl2pPr marL="742950" indent="-285750" defTabSz="762000">
                  <a:defRPr sz="2400">
                    <a:solidFill>
                      <a:schemeClr val="tx1"/>
                    </a:solidFill>
                    <a:latin typeface="Times New Roman" panose="02020603050405020304" pitchFamily="18" charset="0"/>
                  </a:defRPr>
                </a:lvl2pPr>
                <a:lvl3pPr marL="1143000" indent="-228600" defTabSz="762000">
                  <a:defRPr sz="2400">
                    <a:solidFill>
                      <a:schemeClr val="tx1"/>
                    </a:solidFill>
                    <a:latin typeface="Times New Roman" panose="02020603050405020304" pitchFamily="18" charset="0"/>
                  </a:defRPr>
                </a:lvl3pPr>
                <a:lvl4pPr marL="1600200" indent="-228600" defTabSz="762000">
                  <a:defRPr sz="2400">
                    <a:solidFill>
                      <a:schemeClr val="tx1"/>
                    </a:solidFill>
                    <a:latin typeface="Times New Roman" panose="02020603050405020304" pitchFamily="18" charset="0"/>
                  </a:defRPr>
                </a:lvl4pPr>
                <a:lvl5pPr marL="2057400" indent="-228600" defTabSz="762000">
                  <a:defRPr sz="2400">
                    <a:solidFill>
                      <a:schemeClr val="tx1"/>
                    </a:solidFill>
                    <a:latin typeface="Times New Roman" panose="02020603050405020304" pitchFamily="18" charset="0"/>
                  </a:defRPr>
                </a:lvl5pPr>
                <a:lvl6pPr marL="2514600" indent="-228600" defTabSz="7620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7620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7620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r"/>
                <a:r>
                  <a:rPr lang="en-GB" altLang="en-US" sz="2000" dirty="0">
                    <a:solidFill>
                      <a:schemeClr val="accent2"/>
                    </a:solidFill>
                    <a:latin typeface="Arial" panose="020B0604020202020204" pitchFamily="34" charset="0"/>
                  </a:rPr>
                  <a:t>Full capacity</a:t>
                </a:r>
              </a:p>
              <a:p>
                <a:pPr algn="r"/>
                <a:r>
                  <a:rPr lang="en-GB" altLang="en-US" sz="2000" dirty="0">
                    <a:solidFill>
                      <a:schemeClr val="accent2"/>
                    </a:solidFill>
                    <a:latin typeface="Arial" panose="020B0604020202020204" pitchFamily="34" charset="0"/>
                  </a:rPr>
                  <a:t>output</a:t>
                </a:r>
              </a:p>
            </p:txBody>
          </p:sp>
        </p:grpSp>
      </p:grpSp>
      <p:sp>
        <p:nvSpPr>
          <p:cNvPr id="43011" name="Rectangle 3">
            <a:extLst>
              <a:ext uri="{FF2B5EF4-FFF2-40B4-BE49-F238E27FC236}">
                <a16:creationId xmlns:a16="http://schemas.microsoft.com/office/drawing/2014/main" id="{ED35EC77-947B-4755-9987-0F02AD9C2BFA}"/>
              </a:ext>
            </a:extLst>
          </p:cNvPr>
          <p:cNvSpPr>
            <a:spLocks noChangeArrowheads="1"/>
          </p:cNvSpPr>
          <p:nvPr/>
        </p:nvSpPr>
        <p:spPr bwMode="auto">
          <a:xfrm>
            <a:off x="2209800" y="6356176"/>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43012" name="Rectangle 4">
            <a:extLst>
              <a:ext uri="{FF2B5EF4-FFF2-40B4-BE49-F238E27FC236}">
                <a16:creationId xmlns:a16="http://schemas.microsoft.com/office/drawing/2014/main" id="{34C96A85-592B-427E-8D04-E3F870E314B8}"/>
              </a:ext>
            </a:extLst>
          </p:cNvPr>
          <p:cNvSpPr>
            <a:spLocks noChangeArrowheads="1"/>
          </p:cNvSpPr>
          <p:nvPr/>
        </p:nvSpPr>
        <p:spPr bwMode="auto">
          <a:xfrm>
            <a:off x="4648200" y="6356176"/>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43013" name="Line 5">
            <a:extLst>
              <a:ext uri="{FF2B5EF4-FFF2-40B4-BE49-F238E27FC236}">
                <a16:creationId xmlns:a16="http://schemas.microsoft.com/office/drawing/2014/main" id="{51F34DA2-5912-432E-B79B-1DE1FA41C579}"/>
              </a:ext>
            </a:extLst>
          </p:cNvPr>
          <p:cNvSpPr>
            <a:spLocks noChangeShapeType="1"/>
          </p:cNvSpPr>
          <p:nvPr/>
        </p:nvSpPr>
        <p:spPr bwMode="auto">
          <a:xfrm>
            <a:off x="2590800" y="717376"/>
            <a:ext cx="0" cy="5334000"/>
          </a:xfrm>
          <a:prstGeom prst="line">
            <a:avLst/>
          </a:prstGeom>
          <a:noFill/>
          <a:ln w="25400">
            <a:solidFill>
              <a:schemeClr val="tx1"/>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43014" name="Line 6">
            <a:extLst>
              <a:ext uri="{FF2B5EF4-FFF2-40B4-BE49-F238E27FC236}">
                <a16:creationId xmlns:a16="http://schemas.microsoft.com/office/drawing/2014/main" id="{2292DC8E-FECB-424E-AB5C-30B2E2BBA3BC}"/>
              </a:ext>
            </a:extLst>
          </p:cNvPr>
          <p:cNvSpPr>
            <a:spLocks noChangeShapeType="1"/>
          </p:cNvSpPr>
          <p:nvPr/>
        </p:nvSpPr>
        <p:spPr bwMode="auto">
          <a:xfrm>
            <a:off x="2590800" y="6051376"/>
            <a:ext cx="7010400" cy="0"/>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GB"/>
          </a:p>
        </p:txBody>
      </p:sp>
      <p:sp>
        <p:nvSpPr>
          <p:cNvPr id="43015" name="Rectangle 7">
            <a:extLst>
              <a:ext uri="{FF2B5EF4-FFF2-40B4-BE49-F238E27FC236}">
                <a16:creationId xmlns:a16="http://schemas.microsoft.com/office/drawing/2014/main" id="{7D9035AA-603D-447B-8B91-0868F0B637C6}"/>
              </a:ext>
            </a:extLst>
          </p:cNvPr>
          <p:cNvSpPr>
            <a:spLocks noChangeArrowheads="1"/>
          </p:cNvSpPr>
          <p:nvPr/>
        </p:nvSpPr>
        <p:spPr bwMode="auto">
          <a:xfrm>
            <a:off x="2270126" y="6005339"/>
            <a:ext cx="384721" cy="4007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defRPr sz="2400">
                <a:solidFill>
                  <a:schemeClr val="tx1"/>
                </a:solidFill>
                <a:latin typeface="Times New Roman" panose="02020603050405020304" pitchFamily="18" charset="0"/>
              </a:defRPr>
            </a:lvl1pPr>
            <a:lvl2pPr marL="742950" indent="-285750" defTabSz="762000">
              <a:defRPr sz="2400">
                <a:solidFill>
                  <a:schemeClr val="tx1"/>
                </a:solidFill>
                <a:latin typeface="Times New Roman" panose="02020603050405020304" pitchFamily="18" charset="0"/>
              </a:defRPr>
            </a:lvl2pPr>
            <a:lvl3pPr marL="1143000" indent="-228600" defTabSz="762000">
              <a:defRPr sz="2400">
                <a:solidFill>
                  <a:schemeClr val="tx1"/>
                </a:solidFill>
                <a:latin typeface="Times New Roman" panose="02020603050405020304" pitchFamily="18" charset="0"/>
              </a:defRPr>
            </a:lvl3pPr>
            <a:lvl4pPr marL="1600200" indent="-228600" defTabSz="762000">
              <a:defRPr sz="2400">
                <a:solidFill>
                  <a:schemeClr val="tx1"/>
                </a:solidFill>
                <a:latin typeface="Times New Roman" panose="02020603050405020304" pitchFamily="18" charset="0"/>
              </a:defRPr>
            </a:lvl4pPr>
            <a:lvl5pPr marL="2057400" indent="-228600" defTabSz="762000">
              <a:defRPr sz="2400">
                <a:solidFill>
                  <a:schemeClr val="tx1"/>
                </a:solidFill>
                <a:latin typeface="Times New Roman" panose="02020603050405020304" pitchFamily="18" charset="0"/>
              </a:defRPr>
            </a:lvl5pPr>
            <a:lvl6pPr marL="2514600" indent="-228600" defTabSz="7620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7620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7620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762000" eaLnBrk="0" fontAlgn="base" hangingPunct="0">
              <a:spcBef>
                <a:spcPct val="0"/>
              </a:spcBef>
              <a:spcAft>
                <a:spcPct val="0"/>
              </a:spcAft>
              <a:defRPr sz="2400">
                <a:solidFill>
                  <a:schemeClr val="tx1"/>
                </a:solidFill>
                <a:latin typeface="Times New Roman" panose="02020603050405020304" pitchFamily="18" charset="0"/>
              </a:defRPr>
            </a:lvl9pPr>
          </a:lstStyle>
          <a:p>
            <a:r>
              <a:rPr lang="en-GB" altLang="en-US" sz="2000">
                <a:latin typeface="Arial" panose="020B0604020202020204" pitchFamily="34" charset="0"/>
              </a:rPr>
              <a:t>O</a:t>
            </a:r>
          </a:p>
        </p:txBody>
      </p:sp>
      <p:sp>
        <p:nvSpPr>
          <p:cNvPr id="43017" name="Rectangle 9">
            <a:extLst>
              <a:ext uri="{FF2B5EF4-FFF2-40B4-BE49-F238E27FC236}">
                <a16:creationId xmlns:a16="http://schemas.microsoft.com/office/drawing/2014/main" id="{80E6C3DD-02FC-4177-86FC-24D3E81441AF}"/>
              </a:ext>
            </a:extLst>
          </p:cNvPr>
          <p:cNvSpPr>
            <a:spLocks noChangeArrowheads="1"/>
          </p:cNvSpPr>
          <p:nvPr/>
        </p:nvSpPr>
        <p:spPr bwMode="auto">
          <a:xfrm>
            <a:off x="5622925" y="6287915"/>
            <a:ext cx="803874" cy="4315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defRPr sz="2400">
                <a:solidFill>
                  <a:schemeClr val="tx1"/>
                </a:solidFill>
                <a:latin typeface="Times New Roman" panose="02020603050405020304" pitchFamily="18" charset="0"/>
              </a:defRPr>
            </a:lvl1pPr>
            <a:lvl2pPr marL="742950" indent="-285750" defTabSz="762000">
              <a:defRPr sz="2400">
                <a:solidFill>
                  <a:schemeClr val="tx1"/>
                </a:solidFill>
                <a:latin typeface="Times New Roman" panose="02020603050405020304" pitchFamily="18" charset="0"/>
              </a:defRPr>
            </a:lvl2pPr>
            <a:lvl3pPr marL="1143000" indent="-228600" defTabSz="762000">
              <a:defRPr sz="2400">
                <a:solidFill>
                  <a:schemeClr val="tx1"/>
                </a:solidFill>
                <a:latin typeface="Times New Roman" panose="02020603050405020304" pitchFamily="18" charset="0"/>
              </a:defRPr>
            </a:lvl3pPr>
            <a:lvl4pPr marL="1600200" indent="-228600" defTabSz="762000">
              <a:defRPr sz="2400">
                <a:solidFill>
                  <a:schemeClr val="tx1"/>
                </a:solidFill>
                <a:latin typeface="Times New Roman" panose="02020603050405020304" pitchFamily="18" charset="0"/>
              </a:defRPr>
            </a:lvl4pPr>
            <a:lvl5pPr marL="2057400" indent="-228600" defTabSz="762000">
              <a:defRPr sz="2400">
                <a:solidFill>
                  <a:schemeClr val="tx1"/>
                </a:solidFill>
                <a:latin typeface="Times New Roman" panose="02020603050405020304" pitchFamily="18" charset="0"/>
              </a:defRPr>
            </a:lvl5pPr>
            <a:lvl6pPr marL="2514600" indent="-228600" defTabSz="7620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7620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7620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762000" eaLnBrk="0" fontAlgn="base" hangingPunct="0">
              <a:spcBef>
                <a:spcPct val="0"/>
              </a:spcBef>
              <a:spcAft>
                <a:spcPct val="0"/>
              </a:spcAft>
              <a:defRPr sz="2400">
                <a:solidFill>
                  <a:schemeClr val="tx1"/>
                </a:solidFill>
                <a:latin typeface="Times New Roman" panose="02020603050405020304" pitchFamily="18" charset="0"/>
              </a:defRPr>
            </a:lvl9pPr>
          </a:lstStyle>
          <a:p>
            <a:r>
              <a:rPr lang="en-GB" altLang="en-US" sz="2200">
                <a:latin typeface="Arial" panose="020B0604020202020204" pitchFamily="34" charset="0"/>
              </a:rPr>
              <a:t>Time</a:t>
            </a:r>
          </a:p>
        </p:txBody>
      </p:sp>
      <p:sp>
        <p:nvSpPr>
          <p:cNvPr id="43020" name="Rectangle 12">
            <a:extLst>
              <a:ext uri="{FF2B5EF4-FFF2-40B4-BE49-F238E27FC236}">
                <a16:creationId xmlns:a16="http://schemas.microsoft.com/office/drawing/2014/main" id="{8362AB76-FD06-489E-B4FD-BAD8120DE61B}"/>
              </a:ext>
            </a:extLst>
          </p:cNvPr>
          <p:cNvSpPr>
            <a:spLocks noChangeArrowheads="1"/>
          </p:cNvSpPr>
          <p:nvPr/>
        </p:nvSpPr>
        <p:spPr bwMode="auto">
          <a:xfrm>
            <a:off x="8772940" y="3260551"/>
            <a:ext cx="899285" cy="7085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defRPr sz="2400">
                <a:solidFill>
                  <a:schemeClr val="tx1"/>
                </a:solidFill>
                <a:latin typeface="Times New Roman" panose="02020603050405020304" pitchFamily="18" charset="0"/>
              </a:defRPr>
            </a:lvl1pPr>
            <a:lvl2pPr marL="742950" indent="-285750" defTabSz="762000">
              <a:defRPr sz="2400">
                <a:solidFill>
                  <a:schemeClr val="tx1"/>
                </a:solidFill>
                <a:latin typeface="Times New Roman" panose="02020603050405020304" pitchFamily="18" charset="0"/>
              </a:defRPr>
            </a:lvl2pPr>
            <a:lvl3pPr marL="1143000" indent="-228600" defTabSz="762000">
              <a:defRPr sz="2400">
                <a:solidFill>
                  <a:schemeClr val="tx1"/>
                </a:solidFill>
                <a:latin typeface="Times New Roman" panose="02020603050405020304" pitchFamily="18" charset="0"/>
              </a:defRPr>
            </a:lvl3pPr>
            <a:lvl4pPr marL="1600200" indent="-228600" defTabSz="762000">
              <a:defRPr sz="2400">
                <a:solidFill>
                  <a:schemeClr val="tx1"/>
                </a:solidFill>
                <a:latin typeface="Times New Roman" panose="02020603050405020304" pitchFamily="18" charset="0"/>
              </a:defRPr>
            </a:lvl4pPr>
            <a:lvl5pPr marL="2057400" indent="-228600" defTabSz="762000">
              <a:defRPr sz="2400">
                <a:solidFill>
                  <a:schemeClr val="tx1"/>
                </a:solidFill>
                <a:latin typeface="Times New Roman" panose="02020603050405020304" pitchFamily="18" charset="0"/>
              </a:defRPr>
            </a:lvl5pPr>
            <a:lvl6pPr marL="2514600" indent="-228600" defTabSz="7620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7620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7620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GB" altLang="en-US" sz="2000">
                <a:solidFill>
                  <a:schemeClr val="tx2"/>
                </a:solidFill>
                <a:latin typeface="Arial" panose="020B0604020202020204" pitchFamily="34" charset="0"/>
              </a:rPr>
              <a:t>Actual</a:t>
            </a:r>
          </a:p>
          <a:p>
            <a:pPr algn="ctr"/>
            <a:r>
              <a:rPr lang="en-GB" altLang="en-US" sz="2000">
                <a:solidFill>
                  <a:schemeClr val="tx2"/>
                </a:solidFill>
                <a:latin typeface="Arial" panose="020B0604020202020204" pitchFamily="34" charset="0"/>
              </a:rPr>
              <a:t>output</a:t>
            </a:r>
          </a:p>
        </p:txBody>
      </p:sp>
      <p:sp>
        <p:nvSpPr>
          <p:cNvPr id="43021" name="Freeform 14">
            <a:extLst>
              <a:ext uri="{FF2B5EF4-FFF2-40B4-BE49-F238E27FC236}">
                <a16:creationId xmlns:a16="http://schemas.microsoft.com/office/drawing/2014/main" id="{BF4CF473-38F4-4E40-9835-C5EAD1CC554D}"/>
              </a:ext>
            </a:extLst>
          </p:cNvPr>
          <p:cNvSpPr>
            <a:spLocks/>
          </p:cNvSpPr>
          <p:nvPr/>
        </p:nvSpPr>
        <p:spPr bwMode="auto">
          <a:xfrm>
            <a:off x="2617788" y="2549351"/>
            <a:ext cx="6845300" cy="2338388"/>
          </a:xfrm>
          <a:custGeom>
            <a:avLst/>
            <a:gdLst>
              <a:gd name="T0" fmla="*/ 0 w 4312"/>
              <a:gd name="T1" fmla="*/ 2147483647 h 1739"/>
              <a:gd name="T2" fmla="*/ 534273081 w 4312"/>
              <a:gd name="T3" fmla="*/ 2147483647 h 1739"/>
              <a:gd name="T4" fmla="*/ 1176912039 w 4312"/>
              <a:gd name="T5" fmla="*/ 2147483647 h 1739"/>
              <a:gd name="T6" fmla="*/ 1794351231 w 4312"/>
              <a:gd name="T7" fmla="*/ 2147483647 h 1739"/>
              <a:gd name="T8" fmla="*/ 2147483647 w 4312"/>
              <a:gd name="T9" fmla="*/ 2147483647 h 1739"/>
              <a:gd name="T10" fmla="*/ 2147483647 w 4312"/>
              <a:gd name="T11" fmla="*/ 1918445114 h 1739"/>
              <a:gd name="T12" fmla="*/ 2147483647 w 4312"/>
              <a:gd name="T13" fmla="*/ 1234964682 h 1739"/>
              <a:gd name="T14" fmla="*/ 2147483647 w 4312"/>
              <a:gd name="T15" fmla="*/ 994481915 h 1739"/>
              <a:gd name="T16" fmla="*/ 2147483647 w 4312"/>
              <a:gd name="T17" fmla="*/ 1195186548 h 1739"/>
              <a:gd name="T18" fmla="*/ 2147483647 w 4312"/>
              <a:gd name="T19" fmla="*/ 1777409027 h 1739"/>
              <a:gd name="T20" fmla="*/ 2147483647 w 4312"/>
              <a:gd name="T21" fmla="*/ 2059481202 h 1739"/>
              <a:gd name="T22" fmla="*/ 2147483647 w 4312"/>
              <a:gd name="T23" fmla="*/ 2147483647 h 1739"/>
              <a:gd name="T24" fmla="*/ 2147483647 w 4312"/>
              <a:gd name="T25" fmla="*/ 2147483647 h 1739"/>
              <a:gd name="T26" fmla="*/ 2147483647 w 4312"/>
              <a:gd name="T27" fmla="*/ 1918445114 h 1739"/>
              <a:gd name="T28" fmla="*/ 2147483647 w 4312"/>
              <a:gd name="T29" fmla="*/ 1435669651 h 1739"/>
              <a:gd name="T30" fmla="*/ 2147483647 w 4312"/>
              <a:gd name="T31" fmla="*/ 1014370982 h 1739"/>
              <a:gd name="T32" fmla="*/ 2147483647 w 4312"/>
              <a:gd name="T33" fmla="*/ 573183415 h 1739"/>
              <a:gd name="T34" fmla="*/ 2147483647 w 4312"/>
              <a:gd name="T35" fmla="*/ 171774023 h 1739"/>
              <a:gd name="T36" fmla="*/ 2147483647 w 4312"/>
              <a:gd name="T37" fmla="*/ 10848829 h 1739"/>
              <a:gd name="T38" fmla="*/ 2147483647 w 4312"/>
              <a:gd name="T39" fmla="*/ 110296892 h 1739"/>
              <a:gd name="T40" fmla="*/ 2147483647 w 4312"/>
              <a:gd name="T41" fmla="*/ 432147327 h 1739"/>
              <a:gd name="T42" fmla="*/ 2147483647 w 4312"/>
              <a:gd name="T43" fmla="*/ 714218326 h 1739"/>
              <a:gd name="T44" fmla="*/ 2147483647 w 4312"/>
              <a:gd name="T45" fmla="*/ 793777282 h 1739"/>
              <a:gd name="T46" fmla="*/ 2147483647 w 4312"/>
              <a:gd name="T47" fmla="*/ 833556761 h 1739"/>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4312"/>
              <a:gd name="T73" fmla="*/ 0 h 1739"/>
              <a:gd name="T74" fmla="*/ 4312 w 4312"/>
              <a:gd name="T75" fmla="*/ 1739 h 1739"/>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4312" h="1739">
                <a:moveTo>
                  <a:pt x="0" y="1483"/>
                </a:moveTo>
                <a:cubicBezTo>
                  <a:pt x="67" y="1568"/>
                  <a:pt x="134" y="1653"/>
                  <a:pt x="212" y="1694"/>
                </a:cubicBezTo>
                <a:cubicBezTo>
                  <a:pt x="290" y="1735"/>
                  <a:pt x="384" y="1739"/>
                  <a:pt x="467" y="1728"/>
                </a:cubicBezTo>
                <a:cubicBezTo>
                  <a:pt x="550" y="1717"/>
                  <a:pt x="632" y="1687"/>
                  <a:pt x="712" y="1628"/>
                </a:cubicBezTo>
                <a:cubicBezTo>
                  <a:pt x="792" y="1569"/>
                  <a:pt x="886" y="1466"/>
                  <a:pt x="945" y="1372"/>
                </a:cubicBezTo>
                <a:cubicBezTo>
                  <a:pt x="1004" y="1278"/>
                  <a:pt x="1021" y="1176"/>
                  <a:pt x="1067" y="1061"/>
                </a:cubicBezTo>
                <a:cubicBezTo>
                  <a:pt x="1113" y="946"/>
                  <a:pt x="1151" y="768"/>
                  <a:pt x="1223" y="683"/>
                </a:cubicBezTo>
                <a:cubicBezTo>
                  <a:pt x="1295" y="598"/>
                  <a:pt x="1412" y="554"/>
                  <a:pt x="1501" y="550"/>
                </a:cubicBezTo>
                <a:cubicBezTo>
                  <a:pt x="1590" y="546"/>
                  <a:pt x="1673" y="589"/>
                  <a:pt x="1756" y="661"/>
                </a:cubicBezTo>
                <a:cubicBezTo>
                  <a:pt x="1839" y="733"/>
                  <a:pt x="1933" y="903"/>
                  <a:pt x="2001" y="983"/>
                </a:cubicBezTo>
                <a:cubicBezTo>
                  <a:pt x="2069" y="1063"/>
                  <a:pt x="2112" y="1102"/>
                  <a:pt x="2167" y="1139"/>
                </a:cubicBezTo>
                <a:cubicBezTo>
                  <a:pt x="2222" y="1176"/>
                  <a:pt x="2265" y="1197"/>
                  <a:pt x="2334" y="1206"/>
                </a:cubicBezTo>
                <a:cubicBezTo>
                  <a:pt x="2403" y="1215"/>
                  <a:pt x="2496" y="1218"/>
                  <a:pt x="2579" y="1194"/>
                </a:cubicBezTo>
                <a:cubicBezTo>
                  <a:pt x="2662" y="1170"/>
                  <a:pt x="2760" y="1128"/>
                  <a:pt x="2834" y="1061"/>
                </a:cubicBezTo>
                <a:cubicBezTo>
                  <a:pt x="2908" y="994"/>
                  <a:pt x="2980" y="877"/>
                  <a:pt x="3023" y="794"/>
                </a:cubicBezTo>
                <a:cubicBezTo>
                  <a:pt x="3066" y="711"/>
                  <a:pt x="3070" y="640"/>
                  <a:pt x="3090" y="561"/>
                </a:cubicBezTo>
                <a:cubicBezTo>
                  <a:pt x="3110" y="482"/>
                  <a:pt x="3115" y="395"/>
                  <a:pt x="3145" y="317"/>
                </a:cubicBezTo>
                <a:cubicBezTo>
                  <a:pt x="3175" y="239"/>
                  <a:pt x="3218" y="147"/>
                  <a:pt x="3268" y="95"/>
                </a:cubicBezTo>
                <a:cubicBezTo>
                  <a:pt x="3318" y="43"/>
                  <a:pt x="3369" y="12"/>
                  <a:pt x="3445" y="6"/>
                </a:cubicBezTo>
                <a:cubicBezTo>
                  <a:pt x="3521" y="0"/>
                  <a:pt x="3647" y="22"/>
                  <a:pt x="3723" y="61"/>
                </a:cubicBezTo>
                <a:cubicBezTo>
                  <a:pt x="3799" y="100"/>
                  <a:pt x="3849" y="183"/>
                  <a:pt x="3901" y="239"/>
                </a:cubicBezTo>
                <a:cubicBezTo>
                  <a:pt x="3953" y="295"/>
                  <a:pt x="3993" y="362"/>
                  <a:pt x="4034" y="395"/>
                </a:cubicBezTo>
                <a:cubicBezTo>
                  <a:pt x="4075" y="428"/>
                  <a:pt x="4099" y="428"/>
                  <a:pt x="4145" y="439"/>
                </a:cubicBezTo>
                <a:cubicBezTo>
                  <a:pt x="4191" y="450"/>
                  <a:pt x="4251" y="455"/>
                  <a:pt x="4312" y="461"/>
                </a:cubicBezTo>
              </a:path>
            </a:pathLst>
          </a:custGeom>
          <a:noFill/>
          <a:ln w="38100" cap="flat" cmpd="sng">
            <a:solidFill>
              <a:schemeClr val="tx2"/>
            </a:solidFill>
            <a:prstDash val="solid"/>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en-GB"/>
          </a:p>
        </p:txBody>
      </p:sp>
      <p:grpSp>
        <p:nvGrpSpPr>
          <p:cNvPr id="2" name="Group 17">
            <a:extLst>
              <a:ext uri="{FF2B5EF4-FFF2-40B4-BE49-F238E27FC236}">
                <a16:creationId xmlns:a16="http://schemas.microsoft.com/office/drawing/2014/main" id="{C8E036E8-B057-4DC1-81F8-BCB60ABE1456}"/>
              </a:ext>
            </a:extLst>
          </p:cNvPr>
          <p:cNvGrpSpPr>
            <a:grpSpLocks/>
          </p:cNvGrpSpPr>
          <p:nvPr/>
        </p:nvGrpSpPr>
        <p:grpSpPr bwMode="auto">
          <a:xfrm>
            <a:off x="2584450" y="2073102"/>
            <a:ext cx="7042150" cy="2514600"/>
            <a:chOff x="668" y="1238"/>
            <a:chExt cx="4436" cy="1584"/>
          </a:xfrm>
        </p:grpSpPr>
        <p:sp>
          <p:nvSpPr>
            <p:cNvPr id="43023" name="Line 15">
              <a:extLst>
                <a:ext uri="{FF2B5EF4-FFF2-40B4-BE49-F238E27FC236}">
                  <a16:creationId xmlns:a16="http://schemas.microsoft.com/office/drawing/2014/main" id="{4DC05930-0173-4DBD-BE01-BC07D5981443}"/>
                </a:ext>
              </a:extLst>
            </p:cNvPr>
            <p:cNvSpPr>
              <a:spLocks noChangeShapeType="1"/>
            </p:cNvSpPr>
            <p:nvPr/>
          </p:nvSpPr>
          <p:spPr bwMode="auto">
            <a:xfrm flipV="1">
              <a:off x="668" y="1711"/>
              <a:ext cx="4355" cy="1111"/>
            </a:xfrm>
            <a:prstGeom prst="line">
              <a:avLst/>
            </a:prstGeom>
            <a:noFill/>
            <a:ln w="38100">
              <a:solidFill>
                <a:schemeClr val="folHlink"/>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43024" name="Rectangle 16">
              <a:extLst>
                <a:ext uri="{FF2B5EF4-FFF2-40B4-BE49-F238E27FC236}">
                  <a16:creationId xmlns:a16="http://schemas.microsoft.com/office/drawing/2014/main" id="{7B821F12-452F-4BA6-BD1A-FB2E818CACB8}"/>
                </a:ext>
              </a:extLst>
            </p:cNvPr>
            <p:cNvSpPr>
              <a:spLocks noChangeArrowheads="1"/>
            </p:cNvSpPr>
            <p:nvPr/>
          </p:nvSpPr>
          <p:spPr bwMode="auto">
            <a:xfrm>
              <a:off x="4539" y="1238"/>
              <a:ext cx="565" cy="4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defRPr sz="2400">
                  <a:solidFill>
                    <a:schemeClr val="tx1"/>
                  </a:solidFill>
                  <a:latin typeface="Times New Roman" panose="02020603050405020304" pitchFamily="18" charset="0"/>
                </a:defRPr>
              </a:lvl1pPr>
              <a:lvl2pPr marL="742950" indent="-285750" defTabSz="762000">
                <a:defRPr sz="2400">
                  <a:solidFill>
                    <a:schemeClr val="tx1"/>
                  </a:solidFill>
                  <a:latin typeface="Times New Roman" panose="02020603050405020304" pitchFamily="18" charset="0"/>
                </a:defRPr>
              </a:lvl2pPr>
              <a:lvl3pPr marL="1143000" indent="-228600" defTabSz="762000">
                <a:defRPr sz="2400">
                  <a:solidFill>
                    <a:schemeClr val="tx1"/>
                  </a:solidFill>
                  <a:latin typeface="Times New Roman" panose="02020603050405020304" pitchFamily="18" charset="0"/>
                </a:defRPr>
              </a:lvl3pPr>
              <a:lvl4pPr marL="1600200" indent="-228600" defTabSz="762000">
                <a:defRPr sz="2400">
                  <a:solidFill>
                    <a:schemeClr val="tx1"/>
                  </a:solidFill>
                  <a:latin typeface="Times New Roman" panose="02020603050405020304" pitchFamily="18" charset="0"/>
                </a:defRPr>
              </a:lvl4pPr>
              <a:lvl5pPr marL="2057400" indent="-228600" defTabSz="762000">
                <a:defRPr sz="2400">
                  <a:solidFill>
                    <a:schemeClr val="tx1"/>
                  </a:solidFill>
                  <a:latin typeface="Times New Roman" panose="02020603050405020304" pitchFamily="18" charset="0"/>
                </a:defRPr>
              </a:lvl5pPr>
              <a:lvl6pPr marL="2514600" indent="-228600" defTabSz="7620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7620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7620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GB" altLang="en-US" sz="2000">
                  <a:solidFill>
                    <a:schemeClr val="folHlink"/>
                  </a:solidFill>
                  <a:latin typeface="Arial" panose="020B0604020202020204" pitchFamily="34" charset="0"/>
                </a:rPr>
                <a:t>Trend</a:t>
              </a:r>
            </a:p>
            <a:p>
              <a:pPr algn="ctr"/>
              <a:r>
                <a:rPr lang="en-GB" altLang="en-US" sz="2000">
                  <a:solidFill>
                    <a:schemeClr val="folHlink"/>
                  </a:solidFill>
                  <a:latin typeface="Arial" panose="020B0604020202020204" pitchFamily="34" charset="0"/>
                </a:rPr>
                <a:t>output</a:t>
              </a:r>
            </a:p>
          </p:txBody>
        </p:sp>
      </p:grpSp>
      <p:sp>
        <p:nvSpPr>
          <p:cNvPr id="24" name="Rectangle 8">
            <a:extLst>
              <a:ext uri="{FF2B5EF4-FFF2-40B4-BE49-F238E27FC236}">
                <a16:creationId xmlns:a16="http://schemas.microsoft.com/office/drawing/2014/main" id="{849612D0-3266-4ACA-AAC6-1E7DE29C403B}"/>
              </a:ext>
            </a:extLst>
          </p:cNvPr>
          <p:cNvSpPr>
            <a:spLocks noChangeArrowheads="1"/>
          </p:cNvSpPr>
          <p:nvPr/>
        </p:nvSpPr>
        <p:spPr bwMode="auto">
          <a:xfrm rot="16200000">
            <a:off x="1043320" y="3087651"/>
            <a:ext cx="2085507" cy="4315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defRPr sz="2400">
                <a:solidFill>
                  <a:schemeClr val="tx1"/>
                </a:solidFill>
                <a:latin typeface="Times New Roman" panose="02020603050405020304" pitchFamily="18" charset="0"/>
              </a:defRPr>
            </a:lvl1pPr>
            <a:lvl2pPr marL="742950" indent="-285750" defTabSz="762000">
              <a:defRPr sz="2400">
                <a:solidFill>
                  <a:schemeClr val="tx1"/>
                </a:solidFill>
                <a:latin typeface="Times New Roman" panose="02020603050405020304" pitchFamily="18" charset="0"/>
              </a:defRPr>
            </a:lvl2pPr>
            <a:lvl3pPr marL="1143000" indent="-228600" defTabSz="762000">
              <a:defRPr sz="2400">
                <a:solidFill>
                  <a:schemeClr val="tx1"/>
                </a:solidFill>
                <a:latin typeface="Times New Roman" panose="02020603050405020304" pitchFamily="18" charset="0"/>
              </a:defRPr>
            </a:lvl3pPr>
            <a:lvl4pPr marL="1600200" indent="-228600" defTabSz="762000">
              <a:defRPr sz="2400">
                <a:solidFill>
                  <a:schemeClr val="tx1"/>
                </a:solidFill>
                <a:latin typeface="Times New Roman" panose="02020603050405020304" pitchFamily="18" charset="0"/>
              </a:defRPr>
            </a:lvl4pPr>
            <a:lvl5pPr marL="2057400" indent="-228600" defTabSz="762000">
              <a:defRPr sz="2400">
                <a:solidFill>
                  <a:schemeClr val="tx1"/>
                </a:solidFill>
                <a:latin typeface="Times New Roman" panose="02020603050405020304" pitchFamily="18" charset="0"/>
              </a:defRPr>
            </a:lvl5pPr>
            <a:lvl6pPr marL="2514600" indent="-228600" defTabSz="7620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7620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7620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762000" eaLnBrk="0" fontAlgn="base" hangingPunct="0">
              <a:spcBef>
                <a:spcPct val="0"/>
              </a:spcBef>
              <a:spcAft>
                <a:spcPct val="0"/>
              </a:spcAft>
              <a:defRPr sz="2400">
                <a:solidFill>
                  <a:schemeClr val="tx1"/>
                </a:solidFill>
                <a:latin typeface="Times New Roman" panose="02020603050405020304" pitchFamily="18" charset="0"/>
              </a:defRPr>
            </a:lvl9pPr>
          </a:lstStyle>
          <a:p>
            <a:r>
              <a:rPr lang="en-GB" altLang="en-US" sz="2200">
                <a:latin typeface="Arial" panose="020B0604020202020204" pitchFamily="34" charset="0"/>
              </a:rPr>
              <a:t>National output</a:t>
            </a:r>
          </a:p>
        </p:txBody>
      </p:sp>
      <p:sp>
        <p:nvSpPr>
          <p:cNvPr id="25" name="Rectangle 11">
            <a:extLst>
              <a:ext uri="{FF2B5EF4-FFF2-40B4-BE49-F238E27FC236}">
                <a16:creationId xmlns:a16="http://schemas.microsoft.com/office/drawing/2014/main" id="{F0C8BBB7-A2CB-4C83-95E6-1ADB9B5B3855}"/>
              </a:ext>
            </a:extLst>
          </p:cNvPr>
          <p:cNvSpPr>
            <a:spLocks noChangeArrowheads="1"/>
          </p:cNvSpPr>
          <p:nvPr/>
        </p:nvSpPr>
        <p:spPr bwMode="auto">
          <a:xfrm>
            <a:off x="1" y="1"/>
            <a:ext cx="12192000" cy="569708"/>
          </a:xfrm>
          <a:prstGeom prst="rect">
            <a:avLst/>
          </a:prstGeom>
          <a:noFill/>
          <a:ln w="9525">
            <a:noFill/>
            <a:miter lim="800000"/>
            <a:headEnd/>
            <a:tailEnd/>
          </a:ln>
          <a:effectLst>
            <a:outerShdw dist="12700" dir="2700000" algn="ctr" rotWithShape="0">
              <a:schemeClr val="tx1"/>
            </a:outerShdw>
          </a:effectLst>
        </p:spPr>
        <p:txBody>
          <a:bodyPr wrap="square" lIns="92075" tIns="91440" rIns="92075" bIns="46038">
            <a:spAutoFit/>
          </a:bodyPr>
          <a:lstStyle>
            <a:lvl1pPr defTabSz="762000">
              <a:defRPr sz="2400">
                <a:solidFill>
                  <a:schemeClr val="tx1"/>
                </a:solidFill>
                <a:latin typeface="Times New Roman" panose="02020603050405020304" pitchFamily="18" charset="0"/>
              </a:defRPr>
            </a:lvl1pPr>
            <a:lvl2pPr marL="742950" indent="-285750" defTabSz="762000">
              <a:defRPr sz="2400">
                <a:solidFill>
                  <a:schemeClr val="tx1"/>
                </a:solidFill>
                <a:latin typeface="Times New Roman" panose="02020603050405020304" pitchFamily="18" charset="0"/>
              </a:defRPr>
            </a:lvl2pPr>
            <a:lvl3pPr marL="1143000" indent="-228600" defTabSz="762000">
              <a:defRPr sz="2400">
                <a:solidFill>
                  <a:schemeClr val="tx1"/>
                </a:solidFill>
                <a:latin typeface="Times New Roman" panose="02020603050405020304" pitchFamily="18" charset="0"/>
              </a:defRPr>
            </a:lvl3pPr>
            <a:lvl4pPr marL="1600200" indent="-228600" defTabSz="762000">
              <a:defRPr sz="2400">
                <a:solidFill>
                  <a:schemeClr val="tx1"/>
                </a:solidFill>
                <a:latin typeface="Times New Roman" panose="02020603050405020304" pitchFamily="18" charset="0"/>
              </a:defRPr>
            </a:lvl4pPr>
            <a:lvl5pPr marL="2057400" indent="-228600" defTabSz="762000">
              <a:defRPr sz="2400">
                <a:solidFill>
                  <a:schemeClr val="tx1"/>
                </a:solidFill>
                <a:latin typeface="Times New Roman" panose="02020603050405020304" pitchFamily="18" charset="0"/>
              </a:defRPr>
            </a:lvl5pPr>
            <a:lvl6pPr marL="2514600" indent="-228600" defTabSz="7620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7620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7620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GB" altLang="en-US" sz="2800" b="1" dirty="0">
                <a:latin typeface="Arial" panose="020B0604020202020204" pitchFamily="34" charset="0"/>
              </a:rPr>
              <a:t>A hypothetical business cycle</a:t>
            </a:r>
          </a:p>
        </p:txBody>
      </p:sp>
    </p:spTree>
    <p:extLst>
      <p:ext uri="{BB962C8B-B14F-4D97-AF65-F5344CB8AC3E}">
        <p14:creationId xmlns:p14="http://schemas.microsoft.com/office/powerpoint/2010/main" val="3996265707"/>
      </p:ext>
    </p:extLst>
  </p:cSld>
  <p:clrMapOvr>
    <a:masterClrMapping/>
  </p:clrMapOvr>
  <p:transition spd="med">
    <p:pull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14605F-C40E-BBD9-10FF-669FCB03CB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9A2CA4-7E47-B3FD-C24D-4D7FD55C4926}"/>
              </a:ext>
            </a:extLst>
          </p:cNvPr>
          <p:cNvSpPr>
            <a:spLocks noGrp="1"/>
          </p:cNvSpPr>
          <p:nvPr>
            <p:ph type="title"/>
          </p:nvPr>
        </p:nvSpPr>
        <p:spPr/>
        <p:txBody>
          <a:bodyPr>
            <a:normAutofit/>
          </a:bodyPr>
          <a:lstStyle/>
          <a:p>
            <a:r>
              <a:rPr lang="en-GB" altLang="en-US" dirty="0"/>
              <a:t>Actual versus potential growth</a:t>
            </a:r>
            <a:endParaRPr lang="en-US" dirty="0"/>
          </a:p>
        </p:txBody>
      </p:sp>
      <p:sp>
        <p:nvSpPr>
          <p:cNvPr id="3" name="Content Placeholder 2">
            <a:extLst>
              <a:ext uri="{FF2B5EF4-FFF2-40B4-BE49-F238E27FC236}">
                <a16:creationId xmlns:a16="http://schemas.microsoft.com/office/drawing/2014/main" id="{6EB61A77-1706-7313-679B-471689D4F0C1}"/>
              </a:ext>
            </a:extLst>
          </p:cNvPr>
          <p:cNvSpPr>
            <a:spLocks noGrp="1"/>
          </p:cNvSpPr>
          <p:nvPr>
            <p:ph idx="1"/>
          </p:nvPr>
        </p:nvSpPr>
        <p:spPr/>
        <p:txBody>
          <a:bodyPr/>
          <a:lstStyle/>
          <a:p>
            <a:r>
              <a:rPr lang="en-GB" sz="2500" b="0" dirty="0">
                <a:effectLst/>
                <a:latin typeface="+mn-lt"/>
              </a:rPr>
              <a:t>The published statistics on growth show </a:t>
            </a:r>
            <a:r>
              <a:rPr lang="en-GB" sz="2500" b="1" dirty="0">
                <a:effectLst/>
                <a:latin typeface="+mn-lt"/>
              </a:rPr>
              <a:t>actual growth: </a:t>
            </a:r>
            <a:r>
              <a:rPr lang="en-GB" sz="2500" b="0" dirty="0">
                <a:effectLst/>
                <a:latin typeface="+mn-lt"/>
              </a:rPr>
              <a:t>the percentage change in national output over a period of time. This usually is measured over a year (12 months) or a quarter (3 months). </a:t>
            </a:r>
          </a:p>
          <a:p>
            <a:endParaRPr lang="en-GB" sz="2500" dirty="0">
              <a:latin typeface="+mn-lt"/>
            </a:endParaRPr>
          </a:p>
          <a:p>
            <a:r>
              <a:rPr lang="en-GB" sz="2500" b="1" i="1" dirty="0">
                <a:effectLst/>
                <a:latin typeface="+mn-lt"/>
              </a:rPr>
              <a:t>Potential growth </a:t>
            </a:r>
            <a:r>
              <a:rPr lang="en-GB" sz="2500" b="0" dirty="0">
                <a:effectLst/>
                <a:latin typeface="+mn-lt"/>
              </a:rPr>
              <a:t>is the speed at which the economy </a:t>
            </a:r>
            <a:r>
              <a:rPr lang="en-GB" sz="2500" b="1" i="1" dirty="0">
                <a:effectLst/>
                <a:latin typeface="+mn-lt"/>
              </a:rPr>
              <a:t>could</a:t>
            </a:r>
            <a:r>
              <a:rPr lang="en-GB" sz="2500" b="0" i="1" dirty="0">
                <a:effectLst/>
                <a:latin typeface="+mn-lt"/>
              </a:rPr>
              <a:t> </a:t>
            </a:r>
            <a:r>
              <a:rPr lang="en-GB" sz="2500" b="0" dirty="0">
                <a:effectLst/>
                <a:latin typeface="+mn-lt"/>
              </a:rPr>
              <a:t>grow. It is the percentage increase in the economy’s </a:t>
            </a:r>
            <a:r>
              <a:rPr lang="en-GB" sz="2500" b="0" i="1" dirty="0">
                <a:effectLst/>
                <a:latin typeface="+mn-lt"/>
              </a:rPr>
              <a:t>capacity </a:t>
            </a:r>
            <a:r>
              <a:rPr lang="en-GB" sz="2500" b="0" dirty="0">
                <a:effectLst/>
                <a:latin typeface="+mn-lt"/>
              </a:rPr>
              <a:t>to produce over a period of time: the rate of growth in </a:t>
            </a:r>
            <a:r>
              <a:rPr lang="en-GB" sz="2500" b="1" i="1" dirty="0">
                <a:effectLst/>
                <a:latin typeface="+mn-lt"/>
              </a:rPr>
              <a:t>potential output</a:t>
            </a:r>
            <a:r>
              <a:rPr lang="en-GB" sz="2500" b="0" dirty="0">
                <a:effectLst/>
                <a:latin typeface="+mn-lt"/>
              </a:rPr>
              <a:t>. </a:t>
            </a:r>
            <a:endParaRPr lang="en-GB" sz="2500" dirty="0">
              <a:latin typeface="+mn-lt"/>
            </a:endParaRPr>
          </a:p>
          <a:p>
            <a:endParaRPr lang="en-US" dirty="0"/>
          </a:p>
        </p:txBody>
      </p:sp>
    </p:spTree>
    <p:extLst>
      <p:ext uri="{BB962C8B-B14F-4D97-AF65-F5344CB8AC3E}">
        <p14:creationId xmlns:p14="http://schemas.microsoft.com/office/powerpoint/2010/main" val="365979770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EA2EEA-67BF-829E-C937-A4B4099208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16C721-7652-FBF7-C589-7376F07079A0}"/>
              </a:ext>
            </a:extLst>
          </p:cNvPr>
          <p:cNvSpPr>
            <a:spLocks noGrp="1"/>
          </p:cNvSpPr>
          <p:nvPr>
            <p:ph type="title"/>
          </p:nvPr>
        </p:nvSpPr>
        <p:spPr/>
        <p:txBody>
          <a:bodyPr>
            <a:normAutofit/>
          </a:bodyPr>
          <a:lstStyle/>
          <a:p>
            <a:r>
              <a:rPr lang="en-GB" altLang="en-US" dirty="0"/>
              <a:t>Potential output</a:t>
            </a:r>
            <a:endParaRPr lang="en-US" dirty="0"/>
          </a:p>
        </p:txBody>
      </p:sp>
      <p:sp>
        <p:nvSpPr>
          <p:cNvPr id="3" name="Content Placeholder 2">
            <a:extLst>
              <a:ext uri="{FF2B5EF4-FFF2-40B4-BE49-F238E27FC236}">
                <a16:creationId xmlns:a16="http://schemas.microsoft.com/office/drawing/2014/main" id="{A4CB3517-EA55-02B8-0A1F-913D2F3AEAC4}"/>
              </a:ext>
            </a:extLst>
          </p:cNvPr>
          <p:cNvSpPr>
            <a:spLocks noGrp="1"/>
          </p:cNvSpPr>
          <p:nvPr>
            <p:ph idx="1"/>
          </p:nvPr>
        </p:nvSpPr>
        <p:spPr/>
        <p:txBody>
          <a:bodyPr>
            <a:normAutofit/>
          </a:bodyPr>
          <a:lstStyle/>
          <a:p>
            <a:r>
              <a:rPr lang="en-GB" sz="2500" b="1" dirty="0">
                <a:effectLst/>
                <a:latin typeface="+mn-lt"/>
              </a:rPr>
              <a:t>Potential output </a:t>
            </a:r>
            <a:r>
              <a:rPr lang="en-GB" sz="2500" b="0" dirty="0">
                <a:effectLst/>
                <a:latin typeface="+mn-lt"/>
              </a:rPr>
              <a:t>(i.e. potential GDP) is the level of output when the economy is operating at ‘normal capacity utilisation’. </a:t>
            </a:r>
          </a:p>
          <a:p>
            <a:r>
              <a:rPr lang="en-GB" sz="2500" b="0" dirty="0">
                <a:effectLst/>
                <a:latin typeface="+mn-lt"/>
              </a:rPr>
              <a:t>This allows for firms having a </a:t>
            </a:r>
            <a:r>
              <a:rPr lang="en-GB" sz="2500" b="1" dirty="0">
                <a:effectLst/>
                <a:latin typeface="+mn-lt"/>
              </a:rPr>
              <a:t>planned degree of spare capacity </a:t>
            </a:r>
            <a:r>
              <a:rPr lang="en-GB" sz="2500" b="0" dirty="0">
                <a:effectLst/>
                <a:latin typeface="+mn-lt"/>
              </a:rPr>
              <a:t>to meet unexpected demand or for hold-ups in supply. </a:t>
            </a:r>
          </a:p>
          <a:p>
            <a:r>
              <a:rPr lang="en-GB" sz="2500" b="0" dirty="0">
                <a:effectLst/>
                <a:latin typeface="+mn-lt"/>
              </a:rPr>
              <a:t>It also allows for some </a:t>
            </a:r>
            <a:r>
              <a:rPr lang="en-GB" sz="2500" b="1" dirty="0">
                <a:effectLst/>
                <a:latin typeface="+mn-lt"/>
              </a:rPr>
              <a:t>unemployment</a:t>
            </a:r>
            <a:r>
              <a:rPr lang="en-GB" sz="2500" b="0" dirty="0">
                <a:effectLst/>
                <a:latin typeface="+mn-lt"/>
              </a:rPr>
              <a:t> as people move from job to job.</a:t>
            </a:r>
          </a:p>
          <a:p>
            <a:r>
              <a:rPr lang="en-GB" sz="2500" b="0" dirty="0">
                <a:effectLst/>
                <a:latin typeface="+mn-lt"/>
              </a:rPr>
              <a:t>Because potential output is normal-capacity output, it is somewhat </a:t>
            </a:r>
            <a:r>
              <a:rPr lang="en-GB" sz="2500" b="1" dirty="0">
                <a:effectLst/>
                <a:latin typeface="+mn-lt"/>
              </a:rPr>
              <a:t>below full-capacity output</a:t>
            </a:r>
            <a:r>
              <a:rPr lang="en-GB" sz="2500" b="0" dirty="0">
                <a:effectLst/>
                <a:latin typeface="+mn-lt"/>
              </a:rPr>
              <a:t>, which is the absolute maximum that could be produced with firms working flat-out. </a:t>
            </a:r>
          </a:p>
          <a:p>
            <a:endParaRPr lang="en-GB" sz="2500" dirty="0"/>
          </a:p>
          <a:p>
            <a:endParaRPr lang="en-US" dirty="0"/>
          </a:p>
        </p:txBody>
      </p:sp>
    </p:spTree>
    <p:extLst>
      <p:ext uri="{BB962C8B-B14F-4D97-AF65-F5344CB8AC3E}">
        <p14:creationId xmlns:p14="http://schemas.microsoft.com/office/powerpoint/2010/main" val="24170345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7D0A25-85C0-58C1-DF04-D10C1FD611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76B4BC-BC7D-C443-1D26-B22356E679BB}"/>
              </a:ext>
            </a:extLst>
          </p:cNvPr>
          <p:cNvSpPr>
            <a:spLocks noGrp="1"/>
          </p:cNvSpPr>
          <p:nvPr>
            <p:ph type="title"/>
          </p:nvPr>
        </p:nvSpPr>
        <p:spPr/>
        <p:txBody>
          <a:bodyPr>
            <a:normAutofit/>
          </a:bodyPr>
          <a:lstStyle/>
          <a:p>
            <a:r>
              <a:rPr lang="en-GB" dirty="0"/>
              <a:t>Output gap</a:t>
            </a:r>
            <a:endParaRPr lang="en-US" dirty="0"/>
          </a:p>
        </p:txBody>
      </p:sp>
      <p:sp>
        <p:nvSpPr>
          <p:cNvPr id="3" name="Content Placeholder 2">
            <a:extLst>
              <a:ext uri="{FF2B5EF4-FFF2-40B4-BE49-F238E27FC236}">
                <a16:creationId xmlns:a16="http://schemas.microsoft.com/office/drawing/2014/main" id="{A7D61B1C-1938-A28F-8E4C-AC0D3988B81F}"/>
              </a:ext>
            </a:extLst>
          </p:cNvPr>
          <p:cNvSpPr>
            <a:spLocks noGrp="1"/>
          </p:cNvSpPr>
          <p:nvPr>
            <p:ph idx="1"/>
          </p:nvPr>
        </p:nvSpPr>
        <p:spPr/>
        <p:txBody>
          <a:bodyPr>
            <a:normAutofit/>
          </a:bodyPr>
          <a:lstStyle/>
          <a:p>
            <a:r>
              <a:rPr lang="en-GB" sz="2500" b="0" dirty="0">
                <a:effectLst/>
                <a:latin typeface="+mn-lt"/>
              </a:rPr>
              <a:t>The difference between actual and potential output is known as the </a:t>
            </a:r>
            <a:r>
              <a:rPr lang="en-GB" sz="2500" b="1" i="1" dirty="0">
                <a:effectLst/>
                <a:latin typeface="+mn-lt"/>
              </a:rPr>
              <a:t>output gap</a:t>
            </a:r>
            <a:r>
              <a:rPr lang="en-GB" sz="2500" b="0" dirty="0">
                <a:effectLst/>
                <a:latin typeface="+mn-lt"/>
              </a:rPr>
              <a:t>. </a:t>
            </a:r>
          </a:p>
          <a:p>
            <a:r>
              <a:rPr lang="en-GB" sz="2500" b="0" dirty="0">
                <a:effectLst/>
                <a:latin typeface="+mn-lt"/>
              </a:rPr>
              <a:t>If actual output exceeds potential output, the output gap is </a:t>
            </a:r>
            <a:r>
              <a:rPr lang="en-GB" sz="2500" b="1" dirty="0">
                <a:effectLst/>
                <a:latin typeface="+mn-lt"/>
              </a:rPr>
              <a:t>positive</a:t>
            </a:r>
            <a:r>
              <a:rPr lang="en-GB" sz="2500" b="0" dirty="0">
                <a:effectLst/>
                <a:latin typeface="+mn-lt"/>
              </a:rPr>
              <a:t>: the economy is operating above normal capacity utilisation. </a:t>
            </a:r>
          </a:p>
          <a:p>
            <a:r>
              <a:rPr lang="en-GB" sz="2500" b="0" dirty="0">
                <a:effectLst/>
                <a:latin typeface="+mn-lt"/>
              </a:rPr>
              <a:t>If actual output is below potential output, the output gap is </a:t>
            </a:r>
            <a:r>
              <a:rPr lang="en-GB" sz="2500" b="1" dirty="0">
                <a:effectLst/>
                <a:latin typeface="+mn-lt"/>
              </a:rPr>
              <a:t>negative</a:t>
            </a:r>
            <a:r>
              <a:rPr lang="en-GB" sz="2500" b="0" dirty="0">
                <a:effectLst/>
                <a:latin typeface="+mn-lt"/>
              </a:rPr>
              <a:t>: the economy is operating below normal capacity utilisation. </a:t>
            </a:r>
          </a:p>
          <a:p>
            <a:pPr marL="0" indent="0">
              <a:buNone/>
            </a:pPr>
            <a:endParaRPr lang="en-US" dirty="0"/>
          </a:p>
        </p:txBody>
      </p:sp>
    </p:spTree>
    <p:extLst>
      <p:ext uri="{BB962C8B-B14F-4D97-AF65-F5344CB8AC3E}">
        <p14:creationId xmlns:p14="http://schemas.microsoft.com/office/powerpoint/2010/main" val="213601044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1" name="Rectangle 3">
            <a:extLst>
              <a:ext uri="{FF2B5EF4-FFF2-40B4-BE49-F238E27FC236}">
                <a16:creationId xmlns:a16="http://schemas.microsoft.com/office/drawing/2014/main" id="{ED35EC77-947B-4755-9987-0F02AD9C2BFA}"/>
              </a:ext>
            </a:extLst>
          </p:cNvPr>
          <p:cNvSpPr>
            <a:spLocks noChangeArrowheads="1"/>
          </p:cNvSpPr>
          <p:nvPr/>
        </p:nvSpPr>
        <p:spPr bwMode="auto">
          <a:xfrm>
            <a:off x="2209800" y="6356176"/>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43012" name="Rectangle 4">
            <a:extLst>
              <a:ext uri="{FF2B5EF4-FFF2-40B4-BE49-F238E27FC236}">
                <a16:creationId xmlns:a16="http://schemas.microsoft.com/office/drawing/2014/main" id="{34C96A85-592B-427E-8D04-E3F870E314B8}"/>
              </a:ext>
            </a:extLst>
          </p:cNvPr>
          <p:cNvSpPr>
            <a:spLocks noChangeArrowheads="1"/>
          </p:cNvSpPr>
          <p:nvPr/>
        </p:nvSpPr>
        <p:spPr bwMode="auto">
          <a:xfrm>
            <a:off x="4648200" y="6356176"/>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43013" name="Line 5">
            <a:extLst>
              <a:ext uri="{FF2B5EF4-FFF2-40B4-BE49-F238E27FC236}">
                <a16:creationId xmlns:a16="http://schemas.microsoft.com/office/drawing/2014/main" id="{51F34DA2-5912-432E-B79B-1DE1FA41C579}"/>
              </a:ext>
            </a:extLst>
          </p:cNvPr>
          <p:cNvSpPr>
            <a:spLocks noChangeShapeType="1"/>
          </p:cNvSpPr>
          <p:nvPr/>
        </p:nvSpPr>
        <p:spPr bwMode="auto">
          <a:xfrm>
            <a:off x="2590800" y="717376"/>
            <a:ext cx="0" cy="5334000"/>
          </a:xfrm>
          <a:prstGeom prst="line">
            <a:avLst/>
          </a:prstGeom>
          <a:noFill/>
          <a:ln w="25400">
            <a:solidFill>
              <a:schemeClr val="tx1"/>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43014" name="Line 6">
            <a:extLst>
              <a:ext uri="{FF2B5EF4-FFF2-40B4-BE49-F238E27FC236}">
                <a16:creationId xmlns:a16="http://schemas.microsoft.com/office/drawing/2014/main" id="{2292DC8E-FECB-424E-AB5C-30B2E2BBA3BC}"/>
              </a:ext>
            </a:extLst>
          </p:cNvPr>
          <p:cNvSpPr>
            <a:spLocks noChangeShapeType="1"/>
          </p:cNvSpPr>
          <p:nvPr/>
        </p:nvSpPr>
        <p:spPr bwMode="auto">
          <a:xfrm>
            <a:off x="2590800" y="6051376"/>
            <a:ext cx="7010400" cy="0"/>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GB"/>
          </a:p>
        </p:txBody>
      </p:sp>
      <p:sp>
        <p:nvSpPr>
          <p:cNvPr id="43015" name="Rectangle 7">
            <a:extLst>
              <a:ext uri="{FF2B5EF4-FFF2-40B4-BE49-F238E27FC236}">
                <a16:creationId xmlns:a16="http://schemas.microsoft.com/office/drawing/2014/main" id="{7D9035AA-603D-447B-8B91-0868F0B637C6}"/>
              </a:ext>
            </a:extLst>
          </p:cNvPr>
          <p:cNvSpPr>
            <a:spLocks noChangeArrowheads="1"/>
          </p:cNvSpPr>
          <p:nvPr/>
        </p:nvSpPr>
        <p:spPr bwMode="auto">
          <a:xfrm>
            <a:off x="2270126" y="6005339"/>
            <a:ext cx="384721" cy="4007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defRPr sz="2400">
                <a:solidFill>
                  <a:schemeClr val="tx1"/>
                </a:solidFill>
                <a:latin typeface="Times New Roman" panose="02020603050405020304" pitchFamily="18" charset="0"/>
              </a:defRPr>
            </a:lvl1pPr>
            <a:lvl2pPr marL="742950" indent="-285750" defTabSz="762000">
              <a:defRPr sz="2400">
                <a:solidFill>
                  <a:schemeClr val="tx1"/>
                </a:solidFill>
                <a:latin typeface="Times New Roman" panose="02020603050405020304" pitchFamily="18" charset="0"/>
              </a:defRPr>
            </a:lvl2pPr>
            <a:lvl3pPr marL="1143000" indent="-228600" defTabSz="762000">
              <a:defRPr sz="2400">
                <a:solidFill>
                  <a:schemeClr val="tx1"/>
                </a:solidFill>
                <a:latin typeface="Times New Roman" panose="02020603050405020304" pitchFamily="18" charset="0"/>
              </a:defRPr>
            </a:lvl3pPr>
            <a:lvl4pPr marL="1600200" indent="-228600" defTabSz="762000">
              <a:defRPr sz="2400">
                <a:solidFill>
                  <a:schemeClr val="tx1"/>
                </a:solidFill>
                <a:latin typeface="Times New Roman" panose="02020603050405020304" pitchFamily="18" charset="0"/>
              </a:defRPr>
            </a:lvl4pPr>
            <a:lvl5pPr marL="2057400" indent="-228600" defTabSz="762000">
              <a:defRPr sz="2400">
                <a:solidFill>
                  <a:schemeClr val="tx1"/>
                </a:solidFill>
                <a:latin typeface="Times New Roman" panose="02020603050405020304" pitchFamily="18" charset="0"/>
              </a:defRPr>
            </a:lvl5pPr>
            <a:lvl6pPr marL="2514600" indent="-228600" defTabSz="7620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7620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7620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762000" eaLnBrk="0" fontAlgn="base" hangingPunct="0">
              <a:spcBef>
                <a:spcPct val="0"/>
              </a:spcBef>
              <a:spcAft>
                <a:spcPct val="0"/>
              </a:spcAft>
              <a:defRPr sz="2400">
                <a:solidFill>
                  <a:schemeClr val="tx1"/>
                </a:solidFill>
                <a:latin typeface="Times New Roman" panose="02020603050405020304" pitchFamily="18" charset="0"/>
              </a:defRPr>
            </a:lvl9pPr>
          </a:lstStyle>
          <a:p>
            <a:r>
              <a:rPr lang="en-GB" altLang="en-US" sz="2000">
                <a:latin typeface="Arial" panose="020B0604020202020204" pitchFamily="34" charset="0"/>
              </a:rPr>
              <a:t>O</a:t>
            </a:r>
          </a:p>
        </p:txBody>
      </p:sp>
      <p:sp>
        <p:nvSpPr>
          <p:cNvPr id="43017" name="Rectangle 9">
            <a:extLst>
              <a:ext uri="{FF2B5EF4-FFF2-40B4-BE49-F238E27FC236}">
                <a16:creationId xmlns:a16="http://schemas.microsoft.com/office/drawing/2014/main" id="{80E6C3DD-02FC-4177-86FC-24D3E81441AF}"/>
              </a:ext>
            </a:extLst>
          </p:cNvPr>
          <p:cNvSpPr>
            <a:spLocks noChangeArrowheads="1"/>
          </p:cNvSpPr>
          <p:nvPr/>
        </p:nvSpPr>
        <p:spPr bwMode="auto">
          <a:xfrm>
            <a:off x="5622925" y="6287915"/>
            <a:ext cx="803874" cy="4315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defRPr sz="2400">
                <a:solidFill>
                  <a:schemeClr val="tx1"/>
                </a:solidFill>
                <a:latin typeface="Times New Roman" panose="02020603050405020304" pitchFamily="18" charset="0"/>
              </a:defRPr>
            </a:lvl1pPr>
            <a:lvl2pPr marL="742950" indent="-285750" defTabSz="762000">
              <a:defRPr sz="2400">
                <a:solidFill>
                  <a:schemeClr val="tx1"/>
                </a:solidFill>
                <a:latin typeface="Times New Roman" panose="02020603050405020304" pitchFamily="18" charset="0"/>
              </a:defRPr>
            </a:lvl2pPr>
            <a:lvl3pPr marL="1143000" indent="-228600" defTabSz="762000">
              <a:defRPr sz="2400">
                <a:solidFill>
                  <a:schemeClr val="tx1"/>
                </a:solidFill>
                <a:latin typeface="Times New Roman" panose="02020603050405020304" pitchFamily="18" charset="0"/>
              </a:defRPr>
            </a:lvl3pPr>
            <a:lvl4pPr marL="1600200" indent="-228600" defTabSz="762000">
              <a:defRPr sz="2400">
                <a:solidFill>
                  <a:schemeClr val="tx1"/>
                </a:solidFill>
                <a:latin typeface="Times New Roman" panose="02020603050405020304" pitchFamily="18" charset="0"/>
              </a:defRPr>
            </a:lvl4pPr>
            <a:lvl5pPr marL="2057400" indent="-228600" defTabSz="762000">
              <a:defRPr sz="2400">
                <a:solidFill>
                  <a:schemeClr val="tx1"/>
                </a:solidFill>
                <a:latin typeface="Times New Roman" panose="02020603050405020304" pitchFamily="18" charset="0"/>
              </a:defRPr>
            </a:lvl5pPr>
            <a:lvl6pPr marL="2514600" indent="-228600" defTabSz="7620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7620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7620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762000" eaLnBrk="0" fontAlgn="base" hangingPunct="0">
              <a:spcBef>
                <a:spcPct val="0"/>
              </a:spcBef>
              <a:spcAft>
                <a:spcPct val="0"/>
              </a:spcAft>
              <a:defRPr sz="2400">
                <a:solidFill>
                  <a:schemeClr val="tx1"/>
                </a:solidFill>
                <a:latin typeface="Times New Roman" panose="02020603050405020304" pitchFamily="18" charset="0"/>
              </a:defRPr>
            </a:lvl9pPr>
          </a:lstStyle>
          <a:p>
            <a:r>
              <a:rPr lang="en-GB" altLang="en-US" sz="2200">
                <a:latin typeface="Arial" panose="020B0604020202020204" pitchFamily="34" charset="0"/>
              </a:rPr>
              <a:t>Time</a:t>
            </a:r>
          </a:p>
        </p:txBody>
      </p:sp>
      <p:sp>
        <p:nvSpPr>
          <p:cNvPr id="43020" name="Rectangle 12">
            <a:extLst>
              <a:ext uri="{FF2B5EF4-FFF2-40B4-BE49-F238E27FC236}">
                <a16:creationId xmlns:a16="http://schemas.microsoft.com/office/drawing/2014/main" id="{8362AB76-FD06-489E-B4FD-BAD8120DE61B}"/>
              </a:ext>
            </a:extLst>
          </p:cNvPr>
          <p:cNvSpPr>
            <a:spLocks noChangeArrowheads="1"/>
          </p:cNvSpPr>
          <p:nvPr/>
        </p:nvSpPr>
        <p:spPr bwMode="auto">
          <a:xfrm>
            <a:off x="8772940" y="3260551"/>
            <a:ext cx="899285" cy="7085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defRPr sz="2400">
                <a:solidFill>
                  <a:schemeClr val="tx1"/>
                </a:solidFill>
                <a:latin typeface="Times New Roman" panose="02020603050405020304" pitchFamily="18" charset="0"/>
              </a:defRPr>
            </a:lvl1pPr>
            <a:lvl2pPr marL="742950" indent="-285750" defTabSz="762000">
              <a:defRPr sz="2400">
                <a:solidFill>
                  <a:schemeClr val="tx1"/>
                </a:solidFill>
                <a:latin typeface="Times New Roman" panose="02020603050405020304" pitchFamily="18" charset="0"/>
              </a:defRPr>
            </a:lvl2pPr>
            <a:lvl3pPr marL="1143000" indent="-228600" defTabSz="762000">
              <a:defRPr sz="2400">
                <a:solidFill>
                  <a:schemeClr val="tx1"/>
                </a:solidFill>
                <a:latin typeface="Times New Roman" panose="02020603050405020304" pitchFamily="18" charset="0"/>
              </a:defRPr>
            </a:lvl3pPr>
            <a:lvl4pPr marL="1600200" indent="-228600" defTabSz="762000">
              <a:defRPr sz="2400">
                <a:solidFill>
                  <a:schemeClr val="tx1"/>
                </a:solidFill>
                <a:latin typeface="Times New Roman" panose="02020603050405020304" pitchFamily="18" charset="0"/>
              </a:defRPr>
            </a:lvl4pPr>
            <a:lvl5pPr marL="2057400" indent="-228600" defTabSz="762000">
              <a:defRPr sz="2400">
                <a:solidFill>
                  <a:schemeClr val="tx1"/>
                </a:solidFill>
                <a:latin typeface="Times New Roman" panose="02020603050405020304" pitchFamily="18" charset="0"/>
              </a:defRPr>
            </a:lvl5pPr>
            <a:lvl6pPr marL="2514600" indent="-228600" defTabSz="7620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7620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7620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GB" altLang="en-US" sz="2000">
                <a:solidFill>
                  <a:schemeClr val="tx2"/>
                </a:solidFill>
                <a:latin typeface="Arial" panose="020B0604020202020204" pitchFamily="34" charset="0"/>
              </a:rPr>
              <a:t>Actual</a:t>
            </a:r>
          </a:p>
          <a:p>
            <a:pPr algn="ctr"/>
            <a:r>
              <a:rPr lang="en-GB" altLang="en-US" sz="2000">
                <a:solidFill>
                  <a:schemeClr val="tx2"/>
                </a:solidFill>
                <a:latin typeface="Arial" panose="020B0604020202020204" pitchFamily="34" charset="0"/>
              </a:rPr>
              <a:t>output</a:t>
            </a:r>
          </a:p>
        </p:txBody>
      </p:sp>
      <p:sp>
        <p:nvSpPr>
          <p:cNvPr id="43021" name="Freeform 14">
            <a:extLst>
              <a:ext uri="{FF2B5EF4-FFF2-40B4-BE49-F238E27FC236}">
                <a16:creationId xmlns:a16="http://schemas.microsoft.com/office/drawing/2014/main" id="{BF4CF473-38F4-4E40-9835-C5EAD1CC554D}"/>
              </a:ext>
            </a:extLst>
          </p:cNvPr>
          <p:cNvSpPr>
            <a:spLocks/>
          </p:cNvSpPr>
          <p:nvPr/>
        </p:nvSpPr>
        <p:spPr bwMode="auto">
          <a:xfrm>
            <a:off x="2617788" y="2549351"/>
            <a:ext cx="6845300" cy="2338388"/>
          </a:xfrm>
          <a:custGeom>
            <a:avLst/>
            <a:gdLst>
              <a:gd name="T0" fmla="*/ 0 w 4312"/>
              <a:gd name="T1" fmla="*/ 2147483647 h 1739"/>
              <a:gd name="T2" fmla="*/ 534273081 w 4312"/>
              <a:gd name="T3" fmla="*/ 2147483647 h 1739"/>
              <a:gd name="T4" fmla="*/ 1176912039 w 4312"/>
              <a:gd name="T5" fmla="*/ 2147483647 h 1739"/>
              <a:gd name="T6" fmla="*/ 1794351231 w 4312"/>
              <a:gd name="T7" fmla="*/ 2147483647 h 1739"/>
              <a:gd name="T8" fmla="*/ 2147483647 w 4312"/>
              <a:gd name="T9" fmla="*/ 2147483647 h 1739"/>
              <a:gd name="T10" fmla="*/ 2147483647 w 4312"/>
              <a:gd name="T11" fmla="*/ 1918445114 h 1739"/>
              <a:gd name="T12" fmla="*/ 2147483647 w 4312"/>
              <a:gd name="T13" fmla="*/ 1234964682 h 1739"/>
              <a:gd name="T14" fmla="*/ 2147483647 w 4312"/>
              <a:gd name="T15" fmla="*/ 994481915 h 1739"/>
              <a:gd name="T16" fmla="*/ 2147483647 w 4312"/>
              <a:gd name="T17" fmla="*/ 1195186548 h 1739"/>
              <a:gd name="T18" fmla="*/ 2147483647 w 4312"/>
              <a:gd name="T19" fmla="*/ 1777409027 h 1739"/>
              <a:gd name="T20" fmla="*/ 2147483647 w 4312"/>
              <a:gd name="T21" fmla="*/ 2059481202 h 1739"/>
              <a:gd name="T22" fmla="*/ 2147483647 w 4312"/>
              <a:gd name="T23" fmla="*/ 2147483647 h 1739"/>
              <a:gd name="T24" fmla="*/ 2147483647 w 4312"/>
              <a:gd name="T25" fmla="*/ 2147483647 h 1739"/>
              <a:gd name="T26" fmla="*/ 2147483647 w 4312"/>
              <a:gd name="T27" fmla="*/ 1918445114 h 1739"/>
              <a:gd name="T28" fmla="*/ 2147483647 w 4312"/>
              <a:gd name="T29" fmla="*/ 1435669651 h 1739"/>
              <a:gd name="T30" fmla="*/ 2147483647 w 4312"/>
              <a:gd name="T31" fmla="*/ 1014370982 h 1739"/>
              <a:gd name="T32" fmla="*/ 2147483647 w 4312"/>
              <a:gd name="T33" fmla="*/ 573183415 h 1739"/>
              <a:gd name="T34" fmla="*/ 2147483647 w 4312"/>
              <a:gd name="T35" fmla="*/ 171774023 h 1739"/>
              <a:gd name="T36" fmla="*/ 2147483647 w 4312"/>
              <a:gd name="T37" fmla="*/ 10848829 h 1739"/>
              <a:gd name="T38" fmla="*/ 2147483647 w 4312"/>
              <a:gd name="T39" fmla="*/ 110296892 h 1739"/>
              <a:gd name="T40" fmla="*/ 2147483647 w 4312"/>
              <a:gd name="T41" fmla="*/ 432147327 h 1739"/>
              <a:gd name="T42" fmla="*/ 2147483647 w 4312"/>
              <a:gd name="T43" fmla="*/ 714218326 h 1739"/>
              <a:gd name="T44" fmla="*/ 2147483647 w 4312"/>
              <a:gd name="T45" fmla="*/ 793777282 h 1739"/>
              <a:gd name="T46" fmla="*/ 2147483647 w 4312"/>
              <a:gd name="T47" fmla="*/ 833556761 h 1739"/>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4312"/>
              <a:gd name="T73" fmla="*/ 0 h 1739"/>
              <a:gd name="T74" fmla="*/ 4312 w 4312"/>
              <a:gd name="T75" fmla="*/ 1739 h 1739"/>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4312" h="1739">
                <a:moveTo>
                  <a:pt x="0" y="1483"/>
                </a:moveTo>
                <a:cubicBezTo>
                  <a:pt x="67" y="1568"/>
                  <a:pt x="134" y="1653"/>
                  <a:pt x="212" y="1694"/>
                </a:cubicBezTo>
                <a:cubicBezTo>
                  <a:pt x="290" y="1735"/>
                  <a:pt x="384" y="1739"/>
                  <a:pt x="467" y="1728"/>
                </a:cubicBezTo>
                <a:cubicBezTo>
                  <a:pt x="550" y="1717"/>
                  <a:pt x="632" y="1687"/>
                  <a:pt x="712" y="1628"/>
                </a:cubicBezTo>
                <a:cubicBezTo>
                  <a:pt x="792" y="1569"/>
                  <a:pt x="886" y="1466"/>
                  <a:pt x="945" y="1372"/>
                </a:cubicBezTo>
                <a:cubicBezTo>
                  <a:pt x="1004" y="1278"/>
                  <a:pt x="1021" y="1176"/>
                  <a:pt x="1067" y="1061"/>
                </a:cubicBezTo>
                <a:cubicBezTo>
                  <a:pt x="1113" y="946"/>
                  <a:pt x="1151" y="768"/>
                  <a:pt x="1223" y="683"/>
                </a:cubicBezTo>
                <a:cubicBezTo>
                  <a:pt x="1295" y="598"/>
                  <a:pt x="1412" y="554"/>
                  <a:pt x="1501" y="550"/>
                </a:cubicBezTo>
                <a:cubicBezTo>
                  <a:pt x="1590" y="546"/>
                  <a:pt x="1673" y="589"/>
                  <a:pt x="1756" y="661"/>
                </a:cubicBezTo>
                <a:cubicBezTo>
                  <a:pt x="1839" y="733"/>
                  <a:pt x="1933" y="903"/>
                  <a:pt x="2001" y="983"/>
                </a:cubicBezTo>
                <a:cubicBezTo>
                  <a:pt x="2069" y="1063"/>
                  <a:pt x="2112" y="1102"/>
                  <a:pt x="2167" y="1139"/>
                </a:cubicBezTo>
                <a:cubicBezTo>
                  <a:pt x="2222" y="1176"/>
                  <a:pt x="2265" y="1197"/>
                  <a:pt x="2334" y="1206"/>
                </a:cubicBezTo>
                <a:cubicBezTo>
                  <a:pt x="2403" y="1215"/>
                  <a:pt x="2496" y="1218"/>
                  <a:pt x="2579" y="1194"/>
                </a:cubicBezTo>
                <a:cubicBezTo>
                  <a:pt x="2662" y="1170"/>
                  <a:pt x="2760" y="1128"/>
                  <a:pt x="2834" y="1061"/>
                </a:cubicBezTo>
                <a:cubicBezTo>
                  <a:pt x="2908" y="994"/>
                  <a:pt x="2980" y="877"/>
                  <a:pt x="3023" y="794"/>
                </a:cubicBezTo>
                <a:cubicBezTo>
                  <a:pt x="3066" y="711"/>
                  <a:pt x="3070" y="640"/>
                  <a:pt x="3090" y="561"/>
                </a:cubicBezTo>
                <a:cubicBezTo>
                  <a:pt x="3110" y="482"/>
                  <a:pt x="3115" y="395"/>
                  <a:pt x="3145" y="317"/>
                </a:cubicBezTo>
                <a:cubicBezTo>
                  <a:pt x="3175" y="239"/>
                  <a:pt x="3218" y="147"/>
                  <a:pt x="3268" y="95"/>
                </a:cubicBezTo>
                <a:cubicBezTo>
                  <a:pt x="3318" y="43"/>
                  <a:pt x="3369" y="12"/>
                  <a:pt x="3445" y="6"/>
                </a:cubicBezTo>
                <a:cubicBezTo>
                  <a:pt x="3521" y="0"/>
                  <a:pt x="3647" y="22"/>
                  <a:pt x="3723" y="61"/>
                </a:cubicBezTo>
                <a:cubicBezTo>
                  <a:pt x="3799" y="100"/>
                  <a:pt x="3849" y="183"/>
                  <a:pt x="3901" y="239"/>
                </a:cubicBezTo>
                <a:cubicBezTo>
                  <a:pt x="3953" y="295"/>
                  <a:pt x="3993" y="362"/>
                  <a:pt x="4034" y="395"/>
                </a:cubicBezTo>
                <a:cubicBezTo>
                  <a:pt x="4075" y="428"/>
                  <a:pt x="4099" y="428"/>
                  <a:pt x="4145" y="439"/>
                </a:cubicBezTo>
                <a:cubicBezTo>
                  <a:pt x="4191" y="450"/>
                  <a:pt x="4251" y="455"/>
                  <a:pt x="4312" y="461"/>
                </a:cubicBezTo>
              </a:path>
            </a:pathLst>
          </a:custGeom>
          <a:noFill/>
          <a:ln w="38100" cap="flat" cmpd="sng">
            <a:solidFill>
              <a:schemeClr val="tx2"/>
            </a:solidFill>
            <a:prstDash val="solid"/>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en-GB"/>
          </a:p>
        </p:txBody>
      </p:sp>
      <p:grpSp>
        <p:nvGrpSpPr>
          <p:cNvPr id="2" name="Group 17">
            <a:extLst>
              <a:ext uri="{FF2B5EF4-FFF2-40B4-BE49-F238E27FC236}">
                <a16:creationId xmlns:a16="http://schemas.microsoft.com/office/drawing/2014/main" id="{C8E036E8-B057-4DC1-81F8-BCB60ABE1456}"/>
              </a:ext>
            </a:extLst>
          </p:cNvPr>
          <p:cNvGrpSpPr>
            <a:grpSpLocks/>
          </p:cNvGrpSpPr>
          <p:nvPr/>
        </p:nvGrpSpPr>
        <p:grpSpPr bwMode="auto">
          <a:xfrm>
            <a:off x="2584450" y="2073102"/>
            <a:ext cx="7042150" cy="2514600"/>
            <a:chOff x="668" y="1238"/>
            <a:chExt cx="4436" cy="1584"/>
          </a:xfrm>
        </p:grpSpPr>
        <p:sp>
          <p:nvSpPr>
            <p:cNvPr id="43023" name="Line 15">
              <a:extLst>
                <a:ext uri="{FF2B5EF4-FFF2-40B4-BE49-F238E27FC236}">
                  <a16:creationId xmlns:a16="http://schemas.microsoft.com/office/drawing/2014/main" id="{4DC05930-0173-4DBD-BE01-BC07D5981443}"/>
                </a:ext>
              </a:extLst>
            </p:cNvPr>
            <p:cNvSpPr>
              <a:spLocks noChangeShapeType="1"/>
            </p:cNvSpPr>
            <p:nvPr/>
          </p:nvSpPr>
          <p:spPr bwMode="auto">
            <a:xfrm flipV="1">
              <a:off x="668" y="1711"/>
              <a:ext cx="4355" cy="1111"/>
            </a:xfrm>
            <a:prstGeom prst="line">
              <a:avLst/>
            </a:prstGeom>
            <a:noFill/>
            <a:ln w="38100">
              <a:solidFill>
                <a:schemeClr val="folHlink"/>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43024" name="Rectangle 16">
              <a:extLst>
                <a:ext uri="{FF2B5EF4-FFF2-40B4-BE49-F238E27FC236}">
                  <a16:creationId xmlns:a16="http://schemas.microsoft.com/office/drawing/2014/main" id="{7B821F12-452F-4BA6-BD1A-FB2E818CACB8}"/>
                </a:ext>
              </a:extLst>
            </p:cNvPr>
            <p:cNvSpPr>
              <a:spLocks noChangeArrowheads="1"/>
            </p:cNvSpPr>
            <p:nvPr/>
          </p:nvSpPr>
          <p:spPr bwMode="auto">
            <a:xfrm>
              <a:off x="4539" y="1238"/>
              <a:ext cx="565" cy="4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defRPr sz="2400">
                  <a:solidFill>
                    <a:schemeClr val="tx1"/>
                  </a:solidFill>
                  <a:latin typeface="Times New Roman" panose="02020603050405020304" pitchFamily="18" charset="0"/>
                </a:defRPr>
              </a:lvl1pPr>
              <a:lvl2pPr marL="742950" indent="-285750" defTabSz="762000">
                <a:defRPr sz="2400">
                  <a:solidFill>
                    <a:schemeClr val="tx1"/>
                  </a:solidFill>
                  <a:latin typeface="Times New Roman" panose="02020603050405020304" pitchFamily="18" charset="0"/>
                </a:defRPr>
              </a:lvl2pPr>
              <a:lvl3pPr marL="1143000" indent="-228600" defTabSz="762000">
                <a:defRPr sz="2400">
                  <a:solidFill>
                    <a:schemeClr val="tx1"/>
                  </a:solidFill>
                  <a:latin typeface="Times New Roman" panose="02020603050405020304" pitchFamily="18" charset="0"/>
                </a:defRPr>
              </a:lvl3pPr>
              <a:lvl4pPr marL="1600200" indent="-228600" defTabSz="762000">
                <a:defRPr sz="2400">
                  <a:solidFill>
                    <a:schemeClr val="tx1"/>
                  </a:solidFill>
                  <a:latin typeface="Times New Roman" panose="02020603050405020304" pitchFamily="18" charset="0"/>
                </a:defRPr>
              </a:lvl4pPr>
              <a:lvl5pPr marL="2057400" indent="-228600" defTabSz="762000">
                <a:defRPr sz="2400">
                  <a:solidFill>
                    <a:schemeClr val="tx1"/>
                  </a:solidFill>
                  <a:latin typeface="Times New Roman" panose="02020603050405020304" pitchFamily="18" charset="0"/>
                </a:defRPr>
              </a:lvl5pPr>
              <a:lvl6pPr marL="2514600" indent="-228600" defTabSz="7620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7620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7620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GB" altLang="en-US" sz="2000">
                  <a:solidFill>
                    <a:schemeClr val="folHlink"/>
                  </a:solidFill>
                  <a:latin typeface="Arial" panose="020B0604020202020204" pitchFamily="34" charset="0"/>
                </a:rPr>
                <a:t>Trend</a:t>
              </a:r>
            </a:p>
            <a:p>
              <a:pPr algn="ctr"/>
              <a:r>
                <a:rPr lang="en-GB" altLang="en-US" sz="2000">
                  <a:solidFill>
                    <a:schemeClr val="folHlink"/>
                  </a:solidFill>
                  <a:latin typeface="Arial" panose="020B0604020202020204" pitchFamily="34" charset="0"/>
                </a:rPr>
                <a:t>output</a:t>
              </a:r>
            </a:p>
          </p:txBody>
        </p:sp>
      </p:grpSp>
      <p:sp>
        <p:nvSpPr>
          <p:cNvPr id="24" name="Rectangle 8">
            <a:extLst>
              <a:ext uri="{FF2B5EF4-FFF2-40B4-BE49-F238E27FC236}">
                <a16:creationId xmlns:a16="http://schemas.microsoft.com/office/drawing/2014/main" id="{849612D0-3266-4ACA-AAC6-1E7DE29C403B}"/>
              </a:ext>
            </a:extLst>
          </p:cNvPr>
          <p:cNvSpPr>
            <a:spLocks noChangeArrowheads="1"/>
          </p:cNvSpPr>
          <p:nvPr/>
        </p:nvSpPr>
        <p:spPr bwMode="auto">
          <a:xfrm rot="16200000">
            <a:off x="1043320" y="3087651"/>
            <a:ext cx="2085507" cy="4315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defRPr sz="2400">
                <a:solidFill>
                  <a:schemeClr val="tx1"/>
                </a:solidFill>
                <a:latin typeface="Times New Roman" panose="02020603050405020304" pitchFamily="18" charset="0"/>
              </a:defRPr>
            </a:lvl1pPr>
            <a:lvl2pPr marL="742950" indent="-285750" defTabSz="762000">
              <a:defRPr sz="2400">
                <a:solidFill>
                  <a:schemeClr val="tx1"/>
                </a:solidFill>
                <a:latin typeface="Times New Roman" panose="02020603050405020304" pitchFamily="18" charset="0"/>
              </a:defRPr>
            </a:lvl2pPr>
            <a:lvl3pPr marL="1143000" indent="-228600" defTabSz="762000">
              <a:defRPr sz="2400">
                <a:solidFill>
                  <a:schemeClr val="tx1"/>
                </a:solidFill>
                <a:latin typeface="Times New Roman" panose="02020603050405020304" pitchFamily="18" charset="0"/>
              </a:defRPr>
            </a:lvl3pPr>
            <a:lvl4pPr marL="1600200" indent="-228600" defTabSz="762000">
              <a:defRPr sz="2400">
                <a:solidFill>
                  <a:schemeClr val="tx1"/>
                </a:solidFill>
                <a:latin typeface="Times New Roman" panose="02020603050405020304" pitchFamily="18" charset="0"/>
              </a:defRPr>
            </a:lvl4pPr>
            <a:lvl5pPr marL="2057400" indent="-228600" defTabSz="762000">
              <a:defRPr sz="2400">
                <a:solidFill>
                  <a:schemeClr val="tx1"/>
                </a:solidFill>
                <a:latin typeface="Times New Roman" panose="02020603050405020304" pitchFamily="18" charset="0"/>
              </a:defRPr>
            </a:lvl5pPr>
            <a:lvl6pPr marL="2514600" indent="-228600" defTabSz="7620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7620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7620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762000" eaLnBrk="0" fontAlgn="base" hangingPunct="0">
              <a:spcBef>
                <a:spcPct val="0"/>
              </a:spcBef>
              <a:spcAft>
                <a:spcPct val="0"/>
              </a:spcAft>
              <a:defRPr sz="2400">
                <a:solidFill>
                  <a:schemeClr val="tx1"/>
                </a:solidFill>
                <a:latin typeface="Times New Roman" panose="02020603050405020304" pitchFamily="18" charset="0"/>
              </a:defRPr>
            </a:lvl9pPr>
          </a:lstStyle>
          <a:p>
            <a:r>
              <a:rPr lang="en-GB" altLang="en-US" sz="2200">
                <a:latin typeface="Arial" panose="020B0604020202020204" pitchFamily="34" charset="0"/>
              </a:rPr>
              <a:t>National output</a:t>
            </a:r>
          </a:p>
        </p:txBody>
      </p:sp>
      <p:sp>
        <p:nvSpPr>
          <p:cNvPr id="25" name="Rectangle 11">
            <a:extLst>
              <a:ext uri="{FF2B5EF4-FFF2-40B4-BE49-F238E27FC236}">
                <a16:creationId xmlns:a16="http://schemas.microsoft.com/office/drawing/2014/main" id="{F0C8BBB7-A2CB-4C83-95E6-1ADB9B5B3855}"/>
              </a:ext>
            </a:extLst>
          </p:cNvPr>
          <p:cNvSpPr>
            <a:spLocks noChangeArrowheads="1"/>
          </p:cNvSpPr>
          <p:nvPr/>
        </p:nvSpPr>
        <p:spPr bwMode="auto">
          <a:xfrm>
            <a:off x="1" y="1"/>
            <a:ext cx="12192000" cy="569708"/>
          </a:xfrm>
          <a:prstGeom prst="rect">
            <a:avLst/>
          </a:prstGeom>
          <a:noFill/>
          <a:ln w="9525">
            <a:noFill/>
            <a:miter lim="800000"/>
            <a:headEnd/>
            <a:tailEnd/>
          </a:ln>
          <a:effectLst>
            <a:outerShdw dist="12700" dir="2700000" algn="ctr" rotWithShape="0">
              <a:schemeClr val="tx1"/>
            </a:outerShdw>
          </a:effectLst>
        </p:spPr>
        <p:txBody>
          <a:bodyPr wrap="square" lIns="92075" tIns="91440" rIns="92075" bIns="46038">
            <a:spAutoFit/>
          </a:bodyPr>
          <a:lstStyle>
            <a:lvl1pPr defTabSz="762000">
              <a:defRPr sz="2400">
                <a:solidFill>
                  <a:schemeClr val="tx1"/>
                </a:solidFill>
                <a:latin typeface="Times New Roman" panose="02020603050405020304" pitchFamily="18" charset="0"/>
              </a:defRPr>
            </a:lvl1pPr>
            <a:lvl2pPr marL="742950" indent="-285750" defTabSz="762000">
              <a:defRPr sz="2400">
                <a:solidFill>
                  <a:schemeClr val="tx1"/>
                </a:solidFill>
                <a:latin typeface="Times New Roman" panose="02020603050405020304" pitchFamily="18" charset="0"/>
              </a:defRPr>
            </a:lvl2pPr>
            <a:lvl3pPr marL="1143000" indent="-228600" defTabSz="762000">
              <a:defRPr sz="2400">
                <a:solidFill>
                  <a:schemeClr val="tx1"/>
                </a:solidFill>
                <a:latin typeface="Times New Roman" panose="02020603050405020304" pitchFamily="18" charset="0"/>
              </a:defRPr>
            </a:lvl3pPr>
            <a:lvl4pPr marL="1600200" indent="-228600" defTabSz="762000">
              <a:defRPr sz="2400">
                <a:solidFill>
                  <a:schemeClr val="tx1"/>
                </a:solidFill>
                <a:latin typeface="Times New Roman" panose="02020603050405020304" pitchFamily="18" charset="0"/>
              </a:defRPr>
            </a:lvl4pPr>
            <a:lvl5pPr marL="2057400" indent="-228600" defTabSz="762000">
              <a:defRPr sz="2400">
                <a:solidFill>
                  <a:schemeClr val="tx1"/>
                </a:solidFill>
                <a:latin typeface="Times New Roman" panose="02020603050405020304" pitchFamily="18" charset="0"/>
              </a:defRPr>
            </a:lvl5pPr>
            <a:lvl6pPr marL="2514600" indent="-228600" defTabSz="7620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7620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7620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GB" altLang="en-US" sz="2800" b="1" dirty="0">
                <a:latin typeface="Arial" panose="020B0604020202020204" pitchFamily="34" charset="0"/>
              </a:rPr>
              <a:t>A hypothetical business cycle</a:t>
            </a:r>
          </a:p>
        </p:txBody>
      </p:sp>
      <p:grpSp>
        <p:nvGrpSpPr>
          <p:cNvPr id="9" name="Group 8">
            <a:extLst>
              <a:ext uri="{FF2B5EF4-FFF2-40B4-BE49-F238E27FC236}">
                <a16:creationId xmlns:a16="http://schemas.microsoft.com/office/drawing/2014/main" id="{34A9F0A2-87B0-02DF-77E1-CDF38ECF79C6}"/>
              </a:ext>
            </a:extLst>
          </p:cNvPr>
          <p:cNvGrpSpPr/>
          <p:nvPr/>
        </p:nvGrpSpPr>
        <p:grpSpPr>
          <a:xfrm>
            <a:off x="5161869" y="1617489"/>
            <a:ext cx="2551824" cy="1643062"/>
            <a:chOff x="5161869" y="1617489"/>
            <a:chExt cx="2551824" cy="1643062"/>
          </a:xfrm>
        </p:grpSpPr>
        <p:sp>
          <p:nvSpPr>
            <p:cNvPr id="3" name="TextBox 2">
              <a:extLst>
                <a:ext uri="{FF2B5EF4-FFF2-40B4-BE49-F238E27FC236}">
                  <a16:creationId xmlns:a16="http://schemas.microsoft.com/office/drawing/2014/main" id="{8C9576A5-44F6-52EC-7C28-2379E7BD7765}"/>
                </a:ext>
              </a:extLst>
            </p:cNvPr>
            <p:cNvSpPr txBox="1"/>
            <p:nvPr/>
          </p:nvSpPr>
          <p:spPr>
            <a:xfrm>
              <a:off x="5161869" y="1617489"/>
              <a:ext cx="2529860" cy="830997"/>
            </a:xfrm>
            <a:prstGeom prst="rect">
              <a:avLst/>
            </a:prstGeom>
            <a:noFill/>
          </p:spPr>
          <p:txBody>
            <a:bodyPr wrap="none" rtlCol="0">
              <a:spAutoFit/>
            </a:bodyPr>
            <a:lstStyle/>
            <a:p>
              <a:pPr algn="ctr"/>
              <a:r>
                <a:rPr lang="en-GB" dirty="0">
                  <a:solidFill>
                    <a:schemeClr val="tx2">
                      <a:lumMod val="75000"/>
                    </a:schemeClr>
                  </a:solidFill>
                  <a:latin typeface="+mj-lt"/>
                </a:rPr>
                <a:t>Output gap</a:t>
              </a:r>
              <a:br>
                <a:rPr lang="en-GB" dirty="0">
                  <a:solidFill>
                    <a:schemeClr val="tx2">
                      <a:lumMod val="75000"/>
                    </a:schemeClr>
                  </a:solidFill>
                  <a:latin typeface="+mj-lt"/>
                </a:rPr>
              </a:br>
              <a:r>
                <a:rPr lang="en-GB" dirty="0">
                  <a:solidFill>
                    <a:schemeClr val="tx2">
                      <a:lumMod val="75000"/>
                    </a:schemeClr>
                  </a:solidFill>
                  <a:latin typeface="+mj-lt"/>
                </a:rPr>
                <a:t>greater than zero</a:t>
              </a:r>
            </a:p>
          </p:txBody>
        </p:sp>
        <p:cxnSp>
          <p:nvCxnSpPr>
            <p:cNvPr id="5" name="Straight Arrow Connector 4">
              <a:extLst>
                <a:ext uri="{FF2B5EF4-FFF2-40B4-BE49-F238E27FC236}">
                  <a16:creationId xmlns:a16="http://schemas.microsoft.com/office/drawing/2014/main" id="{4DF937E2-B5DD-E7E9-844E-283A390F31C1}"/>
                </a:ext>
              </a:extLst>
            </p:cNvPr>
            <p:cNvCxnSpPr>
              <a:cxnSpLocks/>
            </p:cNvCxnSpPr>
            <p:nvPr/>
          </p:nvCxnSpPr>
          <p:spPr>
            <a:xfrm flipH="1">
              <a:off x="5247275" y="2427114"/>
              <a:ext cx="448675" cy="833437"/>
            </a:xfrm>
            <a:prstGeom prst="straightConnector1">
              <a:avLst/>
            </a:prstGeom>
            <a:ln w="28575">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EBDB2966-E3E3-769A-B075-450C9D219CF9}"/>
                </a:ext>
              </a:extLst>
            </p:cNvPr>
            <p:cNvCxnSpPr>
              <a:cxnSpLocks/>
            </p:cNvCxnSpPr>
            <p:nvPr/>
          </p:nvCxnSpPr>
          <p:spPr>
            <a:xfrm>
              <a:off x="7138696" y="2410998"/>
              <a:ext cx="574997" cy="370129"/>
            </a:xfrm>
            <a:prstGeom prst="straightConnector1">
              <a:avLst/>
            </a:prstGeom>
            <a:ln w="28575">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8" name="Group 17">
            <a:extLst>
              <a:ext uri="{FF2B5EF4-FFF2-40B4-BE49-F238E27FC236}">
                <a16:creationId xmlns:a16="http://schemas.microsoft.com/office/drawing/2014/main" id="{F373A279-4781-9BF2-CA8A-27C7DFA2A5E6}"/>
              </a:ext>
            </a:extLst>
          </p:cNvPr>
          <p:cNvGrpSpPr/>
          <p:nvPr/>
        </p:nvGrpSpPr>
        <p:grpSpPr>
          <a:xfrm>
            <a:off x="4114800" y="4255916"/>
            <a:ext cx="2514600" cy="1067535"/>
            <a:chOff x="4114800" y="4255916"/>
            <a:chExt cx="2514600" cy="1067535"/>
          </a:xfrm>
        </p:grpSpPr>
        <p:sp>
          <p:nvSpPr>
            <p:cNvPr id="11" name="TextBox 10">
              <a:extLst>
                <a:ext uri="{FF2B5EF4-FFF2-40B4-BE49-F238E27FC236}">
                  <a16:creationId xmlns:a16="http://schemas.microsoft.com/office/drawing/2014/main" id="{0C6F8CD1-2838-C669-B68D-FED2B675F9DA}"/>
                </a:ext>
              </a:extLst>
            </p:cNvPr>
            <p:cNvSpPr txBox="1"/>
            <p:nvPr/>
          </p:nvSpPr>
          <p:spPr>
            <a:xfrm>
              <a:off x="4409701" y="4492454"/>
              <a:ext cx="2101857" cy="830997"/>
            </a:xfrm>
            <a:prstGeom prst="rect">
              <a:avLst/>
            </a:prstGeom>
            <a:noFill/>
          </p:spPr>
          <p:txBody>
            <a:bodyPr wrap="none" rtlCol="0">
              <a:spAutoFit/>
            </a:bodyPr>
            <a:lstStyle/>
            <a:p>
              <a:pPr algn="ctr"/>
              <a:r>
                <a:rPr lang="en-GB" dirty="0">
                  <a:solidFill>
                    <a:srgbClr val="C00000"/>
                  </a:solidFill>
                  <a:latin typeface="+mj-lt"/>
                </a:rPr>
                <a:t>Output gap</a:t>
              </a:r>
              <a:br>
                <a:rPr lang="en-GB" dirty="0">
                  <a:solidFill>
                    <a:srgbClr val="C00000"/>
                  </a:solidFill>
                  <a:latin typeface="+mj-lt"/>
                </a:rPr>
              </a:br>
              <a:r>
                <a:rPr lang="en-GB" dirty="0">
                  <a:solidFill>
                    <a:srgbClr val="C00000"/>
                  </a:solidFill>
                  <a:latin typeface="+mj-lt"/>
                </a:rPr>
                <a:t>less than zero</a:t>
              </a:r>
            </a:p>
          </p:txBody>
        </p:sp>
        <p:cxnSp>
          <p:nvCxnSpPr>
            <p:cNvPr id="12" name="Straight Arrow Connector 11">
              <a:extLst>
                <a:ext uri="{FF2B5EF4-FFF2-40B4-BE49-F238E27FC236}">
                  <a16:creationId xmlns:a16="http://schemas.microsoft.com/office/drawing/2014/main" id="{93E37D65-9EAE-5AB8-5231-FDA2426BA01A}"/>
                </a:ext>
              </a:extLst>
            </p:cNvPr>
            <p:cNvCxnSpPr>
              <a:cxnSpLocks/>
            </p:cNvCxnSpPr>
            <p:nvPr/>
          </p:nvCxnSpPr>
          <p:spPr>
            <a:xfrm flipH="1" flipV="1">
              <a:off x="4114800" y="4587703"/>
              <a:ext cx="410693" cy="157956"/>
            </a:xfrm>
            <a:prstGeom prst="straightConnector1">
              <a:avLst/>
            </a:prstGeom>
            <a:ln w="28575">
              <a:tailEnd type="triangle"/>
            </a:ln>
          </p:spPr>
          <p:style>
            <a:lnRef idx="1">
              <a:schemeClr val="accent2"/>
            </a:lnRef>
            <a:fillRef idx="0">
              <a:schemeClr val="accent2"/>
            </a:fillRef>
            <a:effectRef idx="0">
              <a:schemeClr val="accent2"/>
            </a:effectRef>
            <a:fontRef idx="minor">
              <a:schemeClr val="tx1"/>
            </a:fontRef>
          </p:style>
        </p:cxnSp>
        <p:cxnSp>
          <p:nvCxnSpPr>
            <p:cNvPr id="13" name="Straight Arrow Connector 12">
              <a:extLst>
                <a:ext uri="{FF2B5EF4-FFF2-40B4-BE49-F238E27FC236}">
                  <a16:creationId xmlns:a16="http://schemas.microsoft.com/office/drawing/2014/main" id="{FECA1C07-7F5E-6981-0D53-E04A0B5355CC}"/>
                </a:ext>
              </a:extLst>
            </p:cNvPr>
            <p:cNvCxnSpPr>
              <a:cxnSpLocks/>
            </p:cNvCxnSpPr>
            <p:nvPr/>
          </p:nvCxnSpPr>
          <p:spPr>
            <a:xfrm flipV="1">
              <a:off x="6317406" y="4255916"/>
              <a:ext cx="311994" cy="489621"/>
            </a:xfrm>
            <a:prstGeom prst="straightConnector1">
              <a:avLst/>
            </a:prstGeom>
            <a:ln w="28575">
              <a:tailEnd type="triangle"/>
            </a:ln>
          </p:spPr>
          <p:style>
            <a:lnRef idx="1">
              <a:schemeClr val="accent2"/>
            </a:lnRef>
            <a:fillRef idx="0">
              <a:schemeClr val="accent2"/>
            </a:fillRef>
            <a:effectRef idx="0">
              <a:schemeClr val="accent2"/>
            </a:effectRef>
            <a:fontRef idx="minor">
              <a:schemeClr val="tx1"/>
            </a:fontRef>
          </p:style>
        </p:cxnSp>
      </p:grpSp>
    </p:spTree>
    <p:extLst>
      <p:ext uri="{BB962C8B-B14F-4D97-AF65-F5344CB8AC3E}">
        <p14:creationId xmlns:p14="http://schemas.microsoft.com/office/powerpoint/2010/main" val="1907022833"/>
      </p:ext>
    </p:extLst>
  </p:cSld>
  <p:clrMapOvr>
    <a:masterClrMapping/>
  </p:clrMapOvr>
  <p:transition spd="med">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nodeType="afterEffect">
                                  <p:stCondLst>
                                    <p:cond delay="2000"/>
                                  </p:stCondLst>
                                  <p:childTnLst>
                                    <p:set>
                                      <p:cBhvr>
                                        <p:cTn id="12" dur="1" fill="hold">
                                          <p:stCondLst>
                                            <p:cond delay="0"/>
                                          </p:stCondLst>
                                        </p:cTn>
                                        <p:tgtEl>
                                          <p:spTgt spid="18"/>
                                        </p:tgtEl>
                                        <p:attrNameLst>
                                          <p:attrName>style.visibility</p:attrName>
                                        </p:attrNameLst>
                                      </p:cBhvr>
                                      <p:to>
                                        <p:strVal val="visible"/>
                                      </p:to>
                                    </p:set>
                                    <p:animEffect transition="in" filter="fade">
                                      <p:cBhvr>
                                        <p:cTn id="13" dur="1000"/>
                                        <p:tgtEl>
                                          <p:spTgt spid="18"/>
                                        </p:tgtEl>
                                      </p:cBhvr>
                                    </p:animEffect>
                                    <p:anim calcmode="lin" valueType="num">
                                      <p:cBhvr>
                                        <p:cTn id="14" dur="1000" fill="hold"/>
                                        <p:tgtEl>
                                          <p:spTgt spid="18"/>
                                        </p:tgtEl>
                                        <p:attrNameLst>
                                          <p:attrName>ppt_x</p:attrName>
                                        </p:attrNameLst>
                                      </p:cBhvr>
                                      <p:tavLst>
                                        <p:tav tm="0">
                                          <p:val>
                                            <p:strVal val="#ppt_x"/>
                                          </p:val>
                                        </p:tav>
                                        <p:tav tm="100000">
                                          <p:val>
                                            <p:strVal val="#ppt_x"/>
                                          </p:val>
                                        </p:tav>
                                      </p:tavLst>
                                    </p:anim>
                                    <p:anim calcmode="lin" valueType="num">
                                      <p:cBhvr>
                                        <p:cTn id="15"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Text Box 5">
            <a:extLst>
              <a:ext uri="{FF2B5EF4-FFF2-40B4-BE49-F238E27FC236}">
                <a16:creationId xmlns:a16="http://schemas.microsoft.com/office/drawing/2014/main" id="{D4E4D1A5-F780-4E0F-8553-0DFD80CE91FE}"/>
              </a:ext>
            </a:extLst>
          </p:cNvPr>
          <p:cNvSpPr txBox="1">
            <a:spLocks noChangeArrowheads="1"/>
          </p:cNvSpPr>
          <p:nvPr/>
        </p:nvSpPr>
        <p:spPr bwMode="auto">
          <a:xfrm>
            <a:off x="0" y="1"/>
            <a:ext cx="12192000" cy="615553"/>
          </a:xfrm>
          <a:prstGeom prst="rect">
            <a:avLst/>
          </a:prstGeom>
          <a:noFill/>
          <a:ln>
            <a:noFill/>
          </a:ln>
          <a:effectLst>
            <a:outerShdw dist="12700" dir="2700000" algn="tl" rotWithShape="0">
              <a:prstClr val="black"/>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137160">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GB" altLang="en-US" sz="2800" b="1" dirty="0">
                <a:latin typeface="Arial" panose="020B0604020202020204" pitchFamily="34" charset="0"/>
              </a:rPr>
              <a:t>Output Gaps, 1970</a:t>
            </a:r>
            <a:r>
              <a:rPr lang="en-GB" altLang="en-US" sz="2800" b="1" dirty="0">
                <a:latin typeface="Arial" panose="020B0604020202020204" pitchFamily="34" charset="0"/>
                <a:cs typeface="Arial" panose="020B0604020202020204" pitchFamily="34" charset="0"/>
              </a:rPr>
              <a:t>–</a:t>
            </a:r>
            <a:r>
              <a:rPr lang="en-GB" altLang="en-US" sz="2800" b="1" dirty="0">
                <a:latin typeface="Arial" panose="020B0604020202020204" pitchFamily="34" charset="0"/>
              </a:rPr>
              <a:t>2023</a:t>
            </a:r>
          </a:p>
        </p:txBody>
      </p:sp>
      <p:sp>
        <p:nvSpPr>
          <p:cNvPr id="5" name="Text Box 10">
            <a:extLst>
              <a:ext uri="{FF2B5EF4-FFF2-40B4-BE49-F238E27FC236}">
                <a16:creationId xmlns:a16="http://schemas.microsoft.com/office/drawing/2014/main" id="{0578E109-44CC-4061-8F75-C9BF8337D1E6}"/>
              </a:ext>
            </a:extLst>
          </p:cNvPr>
          <p:cNvSpPr txBox="1">
            <a:spLocks noChangeArrowheads="1"/>
          </p:cNvSpPr>
          <p:nvPr/>
        </p:nvSpPr>
        <p:spPr bwMode="auto">
          <a:xfrm>
            <a:off x="773724" y="6333268"/>
            <a:ext cx="9894278" cy="489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GB"/>
            </a:defPPr>
            <a:lvl1pPr algn="l" rtl="0" eaLnBrk="0" fontAlgn="base" hangingPunct="0">
              <a:spcBef>
                <a:spcPct val="0"/>
              </a:spcBef>
              <a:spcAft>
                <a:spcPct val="0"/>
              </a:spcAft>
              <a:defRPr sz="2400" kern="1200">
                <a:solidFill>
                  <a:schemeClr val="hlink"/>
                </a:solidFill>
                <a:latin typeface="Arial" panose="020B0604020202020204" pitchFamily="34" charset="0"/>
                <a:ea typeface="+mn-ea"/>
                <a:cs typeface="+mn-cs"/>
              </a:defRPr>
            </a:lvl1pPr>
            <a:lvl2pPr marL="457200" algn="l" rtl="0" eaLnBrk="0" fontAlgn="base" hangingPunct="0">
              <a:spcBef>
                <a:spcPct val="0"/>
              </a:spcBef>
              <a:spcAft>
                <a:spcPct val="0"/>
              </a:spcAft>
              <a:defRPr sz="2400" kern="1200">
                <a:solidFill>
                  <a:schemeClr val="hlink"/>
                </a:solidFill>
                <a:latin typeface="Arial" panose="020B0604020202020204" pitchFamily="34" charset="0"/>
                <a:ea typeface="+mn-ea"/>
                <a:cs typeface="+mn-cs"/>
              </a:defRPr>
            </a:lvl2pPr>
            <a:lvl3pPr marL="914400" algn="l" rtl="0" eaLnBrk="0" fontAlgn="base" hangingPunct="0">
              <a:spcBef>
                <a:spcPct val="0"/>
              </a:spcBef>
              <a:spcAft>
                <a:spcPct val="0"/>
              </a:spcAft>
              <a:defRPr sz="2400" kern="1200">
                <a:solidFill>
                  <a:schemeClr val="hlink"/>
                </a:solidFill>
                <a:latin typeface="Arial" panose="020B0604020202020204" pitchFamily="34" charset="0"/>
                <a:ea typeface="+mn-ea"/>
                <a:cs typeface="+mn-cs"/>
              </a:defRPr>
            </a:lvl3pPr>
            <a:lvl4pPr marL="1371600" algn="l" rtl="0" eaLnBrk="0" fontAlgn="base" hangingPunct="0">
              <a:spcBef>
                <a:spcPct val="0"/>
              </a:spcBef>
              <a:spcAft>
                <a:spcPct val="0"/>
              </a:spcAft>
              <a:defRPr sz="2400" kern="1200">
                <a:solidFill>
                  <a:schemeClr val="hlink"/>
                </a:solidFill>
                <a:latin typeface="Arial" panose="020B0604020202020204" pitchFamily="34" charset="0"/>
                <a:ea typeface="+mn-ea"/>
                <a:cs typeface="+mn-cs"/>
              </a:defRPr>
            </a:lvl4pPr>
            <a:lvl5pPr marL="1828800" algn="l" rtl="0" eaLnBrk="0" fontAlgn="base" hangingPunct="0">
              <a:spcBef>
                <a:spcPct val="0"/>
              </a:spcBef>
              <a:spcAft>
                <a:spcPct val="0"/>
              </a:spcAft>
              <a:defRPr sz="2400" kern="1200">
                <a:solidFill>
                  <a:schemeClr val="hlink"/>
                </a:solidFill>
                <a:latin typeface="Arial" panose="020B0604020202020204" pitchFamily="34" charset="0"/>
                <a:ea typeface="+mn-ea"/>
                <a:cs typeface="+mn-cs"/>
              </a:defRPr>
            </a:lvl5pPr>
            <a:lvl6pPr marL="2286000" algn="l" defTabSz="914400" rtl="0" eaLnBrk="1" latinLnBrk="0" hangingPunct="1">
              <a:defRPr sz="2400" kern="1200">
                <a:solidFill>
                  <a:schemeClr val="hlink"/>
                </a:solidFill>
                <a:latin typeface="Arial" panose="020B0604020202020204" pitchFamily="34" charset="0"/>
                <a:ea typeface="+mn-ea"/>
                <a:cs typeface="+mn-cs"/>
              </a:defRPr>
            </a:lvl6pPr>
            <a:lvl7pPr marL="2743200" algn="l" defTabSz="914400" rtl="0" eaLnBrk="1" latinLnBrk="0" hangingPunct="1">
              <a:defRPr sz="2400" kern="1200">
                <a:solidFill>
                  <a:schemeClr val="hlink"/>
                </a:solidFill>
                <a:latin typeface="Arial" panose="020B0604020202020204" pitchFamily="34" charset="0"/>
                <a:ea typeface="+mn-ea"/>
                <a:cs typeface="+mn-cs"/>
              </a:defRPr>
            </a:lvl7pPr>
            <a:lvl8pPr marL="3200400" algn="l" defTabSz="914400" rtl="0" eaLnBrk="1" latinLnBrk="0" hangingPunct="1">
              <a:defRPr sz="2400" kern="1200">
                <a:solidFill>
                  <a:schemeClr val="hlink"/>
                </a:solidFill>
                <a:latin typeface="Arial" panose="020B0604020202020204" pitchFamily="34" charset="0"/>
                <a:ea typeface="+mn-ea"/>
                <a:cs typeface="+mn-cs"/>
              </a:defRPr>
            </a:lvl8pPr>
            <a:lvl9pPr marL="3657600" algn="l" defTabSz="914400" rtl="0" eaLnBrk="1" latinLnBrk="0" hangingPunct="1">
              <a:defRPr sz="2400" kern="1200">
                <a:solidFill>
                  <a:schemeClr val="hlink"/>
                </a:solidFill>
                <a:latin typeface="Arial" panose="020B0604020202020204" pitchFamily="34" charset="0"/>
                <a:ea typeface="+mn-ea"/>
                <a:cs typeface="+mn-cs"/>
              </a:defRPr>
            </a:lvl9pPr>
          </a:lstStyle>
          <a:p>
            <a:pPr>
              <a:spcBef>
                <a:spcPct val="15000"/>
              </a:spcBef>
            </a:pPr>
            <a:r>
              <a:rPr lang="en-GB" altLang="en-US" sz="1200" i="1" dirty="0">
                <a:solidFill>
                  <a:schemeClr val="bg1">
                    <a:lumMod val="50000"/>
                  </a:schemeClr>
                </a:solidFill>
                <a:latin typeface="Arial" panose="020B0604020202020204" pitchFamily="34" charset="0"/>
              </a:rPr>
              <a:t>Note:  </a:t>
            </a:r>
            <a:r>
              <a:rPr lang="en-GB" altLang="en-US" sz="1200" dirty="0">
                <a:solidFill>
                  <a:schemeClr val="bg1">
                    <a:lumMod val="50000"/>
                  </a:schemeClr>
                </a:solidFill>
                <a:latin typeface="Arial" panose="020B0604020202020204" pitchFamily="34" charset="0"/>
              </a:rPr>
              <a:t>Figures for Germany based on West Germany up to 1991; Figures from 2022 based on forecasts</a:t>
            </a:r>
          </a:p>
          <a:p>
            <a:pPr>
              <a:spcBef>
                <a:spcPct val="15000"/>
              </a:spcBef>
            </a:pPr>
            <a:r>
              <a:rPr lang="en-GB" altLang="en-US" sz="1200" i="1" dirty="0">
                <a:solidFill>
                  <a:schemeClr val="bg1">
                    <a:lumMod val="50000"/>
                  </a:schemeClr>
                </a:solidFill>
                <a:latin typeface="Arial" panose="020B0604020202020204" pitchFamily="34" charset="0"/>
              </a:rPr>
              <a:t>Source:  </a:t>
            </a:r>
            <a:r>
              <a:rPr lang="en-GB" altLang="en-US" sz="1200" dirty="0">
                <a:solidFill>
                  <a:schemeClr val="bg1">
                    <a:lumMod val="50000"/>
                  </a:schemeClr>
                </a:solidFill>
                <a:latin typeface="Arial" panose="020B0604020202020204" pitchFamily="34" charset="0"/>
              </a:rPr>
              <a:t>Based on data from</a:t>
            </a:r>
            <a:r>
              <a:rPr lang="en-GB" altLang="en-US" sz="1200" i="1" dirty="0">
                <a:solidFill>
                  <a:schemeClr val="bg1">
                    <a:lumMod val="50000"/>
                  </a:schemeClr>
                </a:solidFill>
                <a:latin typeface="Arial" panose="020B0604020202020204" pitchFamily="34" charset="0"/>
              </a:rPr>
              <a:t> </a:t>
            </a:r>
            <a:r>
              <a:rPr lang="en-GB" altLang="en-US" sz="1200" i="1" dirty="0">
                <a:solidFill>
                  <a:schemeClr val="bg1">
                    <a:lumMod val="50000"/>
                  </a:schemeClr>
                </a:solidFill>
                <a:latin typeface="Arial" panose="020B0604020202020204" pitchFamily="34" charset="0"/>
                <a:hlinkClick r:id="rId3">
                  <a:extLst>
                    <a:ext uri="{A12FA001-AC4F-418D-AE19-62706E023703}">
                      <ahyp:hlinkClr xmlns:ahyp="http://schemas.microsoft.com/office/drawing/2018/hyperlinkcolor" val="tx"/>
                    </a:ext>
                  </a:extLst>
                </a:hlinkClick>
              </a:rPr>
              <a:t>AMECO database </a:t>
            </a:r>
            <a:r>
              <a:rPr lang="en-GB" altLang="en-US" sz="1200" dirty="0">
                <a:solidFill>
                  <a:schemeClr val="bg1">
                    <a:lumMod val="50000"/>
                  </a:schemeClr>
                </a:solidFill>
                <a:latin typeface="Arial" panose="020B0604020202020204" pitchFamily="34" charset="0"/>
              </a:rPr>
              <a:t>(European Commission, DGECFIN, May 2022)</a:t>
            </a:r>
            <a:r>
              <a:rPr lang="en-GB" altLang="en-US" sz="1200" i="1" dirty="0">
                <a:solidFill>
                  <a:schemeClr val="bg1">
                    <a:lumMod val="50000"/>
                  </a:schemeClr>
                </a:solidFill>
                <a:latin typeface="Arial" panose="020B0604020202020204" pitchFamily="34" charset="0"/>
              </a:rPr>
              <a:t> </a:t>
            </a:r>
            <a:r>
              <a:rPr lang="en-GB" altLang="en-US" sz="1200" dirty="0">
                <a:solidFill>
                  <a:schemeClr val="bg1">
                    <a:lumMod val="50000"/>
                  </a:schemeClr>
                </a:solidFill>
                <a:latin typeface="Arial" panose="020B0604020202020204" pitchFamily="34" charset="0"/>
              </a:rPr>
              <a:t>and various forecasts</a:t>
            </a:r>
            <a:endParaRPr lang="en-GB" altLang="en-US" sz="1200" i="1" dirty="0">
              <a:solidFill>
                <a:schemeClr val="bg1">
                  <a:lumMod val="50000"/>
                </a:schemeClr>
              </a:solidFill>
              <a:latin typeface="Arial" panose="020B0604020202020204" pitchFamily="34" charset="0"/>
            </a:endParaRPr>
          </a:p>
        </p:txBody>
      </p:sp>
      <p:graphicFrame>
        <p:nvGraphicFramePr>
          <p:cNvPr id="6" name="Object 3">
            <a:extLst>
              <a:ext uri="{FF2B5EF4-FFF2-40B4-BE49-F238E27FC236}">
                <a16:creationId xmlns:a16="http://schemas.microsoft.com/office/drawing/2014/main" id="{525DFDA4-AA03-4986-9143-B90E9DECA4FD}"/>
              </a:ext>
            </a:extLst>
          </p:cNvPr>
          <p:cNvGraphicFramePr>
            <a:graphicFrameLocks noChangeAspect="1"/>
          </p:cNvGraphicFramePr>
          <p:nvPr/>
        </p:nvGraphicFramePr>
        <p:xfrm>
          <a:off x="0" y="437292"/>
          <a:ext cx="12192000" cy="5895975"/>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4067421921"/>
      </p:ext>
    </p:extLst>
  </p:cSld>
  <p:clrMapOvr>
    <a:masterClrMapping/>
  </p:clrMapOvr>
  <p:transition spd="med">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
                                            <p:graphicEl>
                                              <a:chart seriesIdx="0" categoryIdx="-4" bldStep="series"/>
                                            </p:graphicEl>
                                          </p:spTgt>
                                        </p:tgtEl>
                                        <p:attrNameLst>
                                          <p:attrName>style.visibility</p:attrName>
                                        </p:attrNameLst>
                                      </p:cBhvr>
                                      <p:to>
                                        <p:strVal val="visible"/>
                                      </p:to>
                                    </p:set>
                                    <p:animEffect transition="in" filter="wipe(left)">
                                      <p:cBhvr>
                                        <p:cTn id="7" dur="1250"/>
                                        <p:tgtEl>
                                          <p:spTgt spid="6">
                                            <p:graphicEl>
                                              <a:chart seriesIdx="0" categoryIdx="-4" bldStep="series"/>
                                            </p:graphic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
                                            <p:graphicEl>
                                              <a:chart seriesIdx="1" categoryIdx="-4" bldStep="series"/>
                                            </p:graphicEl>
                                          </p:spTgt>
                                        </p:tgtEl>
                                        <p:attrNameLst>
                                          <p:attrName>style.visibility</p:attrName>
                                        </p:attrNameLst>
                                      </p:cBhvr>
                                      <p:to>
                                        <p:strVal val="visible"/>
                                      </p:to>
                                    </p:set>
                                    <p:animEffect transition="in" filter="wipe(left)">
                                      <p:cBhvr>
                                        <p:cTn id="12" dur="1250"/>
                                        <p:tgtEl>
                                          <p:spTgt spid="6">
                                            <p:graphicEl>
                                              <a:chart seriesIdx="1" categoryIdx="-4" bldStep="series"/>
                                            </p:graphic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
                                            <p:graphicEl>
                                              <a:chart seriesIdx="2" categoryIdx="-4" bldStep="series"/>
                                            </p:graphicEl>
                                          </p:spTgt>
                                        </p:tgtEl>
                                        <p:attrNameLst>
                                          <p:attrName>style.visibility</p:attrName>
                                        </p:attrNameLst>
                                      </p:cBhvr>
                                      <p:to>
                                        <p:strVal val="visible"/>
                                      </p:to>
                                    </p:set>
                                    <p:animEffect transition="in" filter="wipe(left)">
                                      <p:cBhvr>
                                        <p:cTn id="17" dur="1250"/>
                                        <p:tgtEl>
                                          <p:spTgt spid="6">
                                            <p:graphicEl>
                                              <a:chart seriesIdx="2" categoryIdx="-4" bldStep="series"/>
                                            </p:graphic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6">
                                            <p:graphicEl>
                                              <a:chart seriesIdx="3" categoryIdx="-4" bldStep="series"/>
                                            </p:graphicEl>
                                          </p:spTgt>
                                        </p:tgtEl>
                                        <p:attrNameLst>
                                          <p:attrName>style.visibility</p:attrName>
                                        </p:attrNameLst>
                                      </p:cBhvr>
                                      <p:to>
                                        <p:strVal val="visible"/>
                                      </p:to>
                                    </p:set>
                                    <p:animEffect transition="in" filter="wipe(left)">
                                      <p:cBhvr>
                                        <p:cTn id="22" dur="1250"/>
                                        <p:tgtEl>
                                          <p:spTgt spid="6">
                                            <p:graphicEl>
                                              <a:chart seriesIdx="3" categoryIdx="-4" bldStep="series"/>
                                            </p:graphic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6">
                                            <p:graphicEl>
                                              <a:chart seriesIdx="4" categoryIdx="-4" bldStep="series"/>
                                            </p:graphicEl>
                                          </p:spTgt>
                                        </p:tgtEl>
                                        <p:attrNameLst>
                                          <p:attrName>style.visibility</p:attrName>
                                        </p:attrNameLst>
                                      </p:cBhvr>
                                      <p:to>
                                        <p:strVal val="visible"/>
                                      </p:to>
                                    </p:set>
                                    <p:animEffect transition="in" filter="wipe(left)">
                                      <p:cBhvr>
                                        <p:cTn id="27" dur="1250"/>
                                        <p:tgtEl>
                                          <p:spTgt spid="6">
                                            <p:graphicEl>
                                              <a:chart seriesIdx="4" categoryIdx="-4" bldStep="series"/>
                                            </p:graphic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6">
                                            <p:graphicEl>
                                              <a:chart seriesIdx="5" categoryIdx="-4" bldStep="series"/>
                                            </p:graphicEl>
                                          </p:spTgt>
                                        </p:tgtEl>
                                        <p:attrNameLst>
                                          <p:attrName>style.visibility</p:attrName>
                                        </p:attrNameLst>
                                      </p:cBhvr>
                                      <p:to>
                                        <p:strVal val="visible"/>
                                      </p:to>
                                    </p:set>
                                    <p:animEffect transition="in" filter="wipe(left)">
                                      <p:cBhvr>
                                        <p:cTn id="32" dur="1250"/>
                                        <p:tgtEl>
                                          <p:spTgt spid="6">
                                            <p:graphicEl>
                                              <a:chart seriesIdx="5" categoryIdx="-4" bldStep="series"/>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uiExpand="1">
        <p:bldSub>
          <a:bldChart bld="series" animBg="0"/>
        </p:bldSub>
      </p:bldGraphic>
    </p:bldLst>
  </p:timing>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967E8A7B-5D6F-43B5-A51B-961D9E2388D7}"/>
              </a:ext>
            </a:extLst>
          </p:cNvPr>
          <p:cNvSpPr>
            <a:spLocks noChangeArrowheads="1"/>
          </p:cNvSpPr>
          <p:nvPr/>
        </p:nvSpPr>
        <p:spPr bwMode="auto">
          <a:xfrm>
            <a:off x="2209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a:solidFill>
                  <a:schemeClr val="tx1"/>
                </a:solidFill>
                <a:latin typeface="Times New Roman" panose="02020603050405020304" pitchFamily="18" charset="0"/>
              </a:defRPr>
            </a:lvl1pPr>
            <a:lvl2pPr marL="742950" indent="-285750">
              <a:defRPr sz="2800">
                <a:solidFill>
                  <a:schemeClr val="tx1"/>
                </a:solidFill>
                <a:latin typeface="Times New Roman" panose="02020603050405020304" pitchFamily="18" charset="0"/>
              </a:defRPr>
            </a:lvl2pPr>
            <a:lvl3pPr marL="1143000" indent="-228600">
              <a:defRPr sz="2800">
                <a:solidFill>
                  <a:schemeClr val="tx1"/>
                </a:solidFill>
                <a:latin typeface="Times New Roman" panose="02020603050405020304" pitchFamily="18" charset="0"/>
              </a:defRPr>
            </a:lvl3pPr>
            <a:lvl4pPr marL="1600200" indent="-228600">
              <a:defRPr sz="2800">
                <a:solidFill>
                  <a:schemeClr val="tx1"/>
                </a:solidFill>
                <a:latin typeface="Times New Roman" panose="02020603050405020304" pitchFamily="18" charset="0"/>
              </a:defRPr>
            </a:lvl4pPr>
            <a:lvl5pPr marL="2057400" indent="-228600">
              <a:defRPr sz="28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defRPr>
            </a:lvl9pPr>
          </a:lstStyle>
          <a:p>
            <a:endParaRPr lang="en-GB" altLang="en-US" noProof="1"/>
          </a:p>
        </p:txBody>
      </p:sp>
      <p:sp>
        <p:nvSpPr>
          <p:cNvPr id="47108" name="Rectangle 4">
            <a:extLst>
              <a:ext uri="{FF2B5EF4-FFF2-40B4-BE49-F238E27FC236}">
                <a16:creationId xmlns:a16="http://schemas.microsoft.com/office/drawing/2014/main" id="{92D0EF3D-4C90-490E-B2BC-F4B6FF720145}"/>
              </a:ext>
            </a:extLst>
          </p:cNvPr>
          <p:cNvSpPr>
            <a:spLocks noGrp="1"/>
          </p:cNvSpPr>
          <p:nvPr>
            <p:ph type="title"/>
          </p:nvPr>
        </p:nvSpPr>
        <p:spPr/>
        <p:txBody>
          <a:bodyPr/>
          <a:lstStyle/>
          <a:p>
            <a:r>
              <a:rPr lang="en-GB" altLang="en-US" dirty="0"/>
              <a:t>The Circular Flow of Income</a:t>
            </a:r>
          </a:p>
        </p:txBody>
      </p:sp>
      <p:sp>
        <p:nvSpPr>
          <p:cNvPr id="416773" name="Rectangle 5">
            <a:extLst>
              <a:ext uri="{FF2B5EF4-FFF2-40B4-BE49-F238E27FC236}">
                <a16:creationId xmlns:a16="http://schemas.microsoft.com/office/drawing/2014/main" id="{ACC89C59-919E-4E4B-9A02-2DAB4135B90D}"/>
              </a:ext>
            </a:extLst>
          </p:cNvPr>
          <p:cNvSpPr>
            <a:spLocks noGrp="1"/>
          </p:cNvSpPr>
          <p:nvPr>
            <p:ph sz="quarter" idx="1"/>
          </p:nvPr>
        </p:nvSpPr>
        <p:spPr>
          <a:xfrm>
            <a:off x="426720" y="1638808"/>
            <a:ext cx="11338560" cy="4182872"/>
          </a:xfrm>
        </p:spPr>
        <p:txBody>
          <a:bodyPr/>
          <a:lstStyle/>
          <a:p>
            <a:pPr marL="0" indent="0">
              <a:lnSpc>
                <a:spcPct val="80000"/>
              </a:lnSpc>
              <a:spcBef>
                <a:spcPct val="45000"/>
              </a:spcBef>
              <a:buNone/>
            </a:pPr>
            <a:r>
              <a:rPr lang="en-GB" altLang="en-US" dirty="0">
                <a:latin typeface="+mn-lt"/>
              </a:rPr>
              <a:t>The Inner Flow </a:t>
            </a:r>
            <a:r>
              <a:rPr lang="en-GB" altLang="en-US" dirty="0">
                <a:latin typeface="+mn-lt"/>
                <a:sym typeface="Wingdings" panose="05000000000000000000" pitchFamily="2" charset="2"/>
              </a:rPr>
              <a:t> </a:t>
            </a:r>
            <a:r>
              <a:rPr lang="en-GB" altLang="en-US" dirty="0">
                <a:latin typeface="+mn-lt"/>
              </a:rPr>
              <a:t>Two parties: households and firms</a:t>
            </a:r>
          </a:p>
          <a:p>
            <a:pPr>
              <a:lnSpc>
                <a:spcPct val="80000"/>
              </a:lnSpc>
              <a:spcBef>
                <a:spcPct val="45000"/>
              </a:spcBef>
            </a:pPr>
            <a:r>
              <a:rPr lang="en-GB" dirty="0">
                <a:latin typeface="+mn-lt"/>
              </a:rPr>
              <a:t>Firms pay money to households in the form of </a:t>
            </a:r>
            <a:r>
              <a:rPr lang="en-GB" b="1" dirty="0">
                <a:latin typeface="+mn-lt"/>
              </a:rPr>
              <a:t>wages and salaries, dividends on shares, interest and rent</a:t>
            </a:r>
            <a:r>
              <a:rPr lang="en-GB" dirty="0">
                <a:latin typeface="+mn-lt"/>
              </a:rPr>
              <a:t>. These payments are in return for the services of the factors of production – </a:t>
            </a:r>
            <a:r>
              <a:rPr lang="en-GB" b="1" dirty="0">
                <a:latin typeface="+mn-lt"/>
              </a:rPr>
              <a:t>labour, capital and land </a:t>
            </a:r>
            <a:r>
              <a:rPr lang="en-GB" dirty="0">
                <a:latin typeface="+mn-lt"/>
              </a:rPr>
              <a:t>– that are supplied by households. </a:t>
            </a:r>
          </a:p>
          <a:p>
            <a:pPr>
              <a:lnSpc>
                <a:spcPct val="80000"/>
              </a:lnSpc>
              <a:spcBef>
                <a:spcPct val="45000"/>
              </a:spcBef>
            </a:pPr>
            <a:r>
              <a:rPr lang="en-GB" dirty="0">
                <a:latin typeface="+mn-lt"/>
              </a:rPr>
              <a:t>Households, in turn, pay money to domestic firms when they </a:t>
            </a:r>
            <a:r>
              <a:rPr lang="en-GB" b="1" i="1" dirty="0">
                <a:latin typeface="+mn-lt"/>
              </a:rPr>
              <a:t>consume domestically produced goods and services</a:t>
            </a:r>
            <a:r>
              <a:rPr lang="en-GB" dirty="0">
                <a:latin typeface="+mn-lt"/>
              </a:rPr>
              <a:t>. </a:t>
            </a:r>
          </a:p>
          <a:p>
            <a:pPr>
              <a:lnSpc>
                <a:spcPct val="80000"/>
              </a:lnSpc>
              <a:spcBef>
                <a:spcPct val="45000"/>
              </a:spcBef>
            </a:pPr>
            <a:r>
              <a:rPr lang="en-GB" dirty="0">
                <a:latin typeface="+mn-lt"/>
              </a:rPr>
              <a:t>There is thus a circular flow of payments from firms to households to firms and so on. </a:t>
            </a:r>
          </a:p>
          <a:p>
            <a:pPr>
              <a:lnSpc>
                <a:spcPct val="80000"/>
              </a:lnSpc>
              <a:spcBef>
                <a:spcPct val="45000"/>
              </a:spcBef>
            </a:pPr>
            <a:endParaRPr lang="en-GB" altLang="en-US" sz="2400" dirty="0"/>
          </a:p>
        </p:txBody>
      </p:sp>
    </p:spTree>
    <p:extLst>
      <p:ext uri="{BB962C8B-B14F-4D97-AF65-F5344CB8AC3E}">
        <p14:creationId xmlns:p14="http://schemas.microsoft.com/office/powerpoint/2010/main" val="1841230259"/>
      </p:ext>
    </p:extLst>
  </p:cSld>
  <p:clrMapOvr>
    <a:masterClrMapping/>
  </p:clrMapOvr>
  <p:transition spd="med">
    <p:pull dir="r"/>
  </p:transition>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967E8A7B-5D6F-43B5-A51B-961D9E2388D7}"/>
              </a:ext>
            </a:extLst>
          </p:cNvPr>
          <p:cNvSpPr>
            <a:spLocks noChangeArrowheads="1"/>
          </p:cNvSpPr>
          <p:nvPr/>
        </p:nvSpPr>
        <p:spPr bwMode="auto">
          <a:xfrm>
            <a:off x="2209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a:solidFill>
                  <a:schemeClr val="tx1"/>
                </a:solidFill>
                <a:latin typeface="Times New Roman" panose="02020603050405020304" pitchFamily="18" charset="0"/>
              </a:defRPr>
            </a:lvl1pPr>
            <a:lvl2pPr marL="742950" indent="-285750">
              <a:defRPr sz="2800">
                <a:solidFill>
                  <a:schemeClr val="tx1"/>
                </a:solidFill>
                <a:latin typeface="Times New Roman" panose="02020603050405020304" pitchFamily="18" charset="0"/>
              </a:defRPr>
            </a:lvl2pPr>
            <a:lvl3pPr marL="1143000" indent="-228600">
              <a:defRPr sz="2800">
                <a:solidFill>
                  <a:schemeClr val="tx1"/>
                </a:solidFill>
                <a:latin typeface="Times New Roman" panose="02020603050405020304" pitchFamily="18" charset="0"/>
              </a:defRPr>
            </a:lvl3pPr>
            <a:lvl4pPr marL="1600200" indent="-228600">
              <a:defRPr sz="2800">
                <a:solidFill>
                  <a:schemeClr val="tx1"/>
                </a:solidFill>
                <a:latin typeface="Times New Roman" panose="02020603050405020304" pitchFamily="18" charset="0"/>
              </a:defRPr>
            </a:lvl4pPr>
            <a:lvl5pPr marL="2057400" indent="-228600">
              <a:defRPr sz="28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defRPr>
            </a:lvl9pPr>
          </a:lstStyle>
          <a:p>
            <a:endParaRPr lang="en-GB" altLang="en-US" noProof="1"/>
          </a:p>
        </p:txBody>
      </p:sp>
      <p:sp>
        <p:nvSpPr>
          <p:cNvPr id="47107" name="Rectangle 3">
            <a:extLst>
              <a:ext uri="{FF2B5EF4-FFF2-40B4-BE49-F238E27FC236}">
                <a16:creationId xmlns:a16="http://schemas.microsoft.com/office/drawing/2014/main" id="{1F11D304-246E-4EED-BBF2-E1A85B7F1867}"/>
              </a:ext>
            </a:extLst>
          </p:cNvPr>
          <p:cNvSpPr>
            <a:spLocks noChangeArrowheads="1"/>
          </p:cNvSpPr>
          <p:nvPr/>
        </p:nvSpPr>
        <p:spPr bwMode="auto">
          <a:xfrm>
            <a:off x="4648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a:solidFill>
                  <a:schemeClr val="tx1"/>
                </a:solidFill>
                <a:latin typeface="Times New Roman" panose="02020603050405020304" pitchFamily="18" charset="0"/>
              </a:defRPr>
            </a:lvl1pPr>
            <a:lvl2pPr marL="742950" indent="-285750">
              <a:defRPr sz="2800">
                <a:solidFill>
                  <a:schemeClr val="tx1"/>
                </a:solidFill>
                <a:latin typeface="Times New Roman" panose="02020603050405020304" pitchFamily="18" charset="0"/>
              </a:defRPr>
            </a:lvl2pPr>
            <a:lvl3pPr marL="1143000" indent="-228600">
              <a:defRPr sz="2800">
                <a:solidFill>
                  <a:schemeClr val="tx1"/>
                </a:solidFill>
                <a:latin typeface="Times New Roman" panose="02020603050405020304" pitchFamily="18" charset="0"/>
              </a:defRPr>
            </a:lvl3pPr>
            <a:lvl4pPr marL="1600200" indent="-228600">
              <a:defRPr sz="2800">
                <a:solidFill>
                  <a:schemeClr val="tx1"/>
                </a:solidFill>
                <a:latin typeface="Times New Roman" panose="02020603050405020304" pitchFamily="18" charset="0"/>
              </a:defRPr>
            </a:lvl4pPr>
            <a:lvl5pPr marL="2057400" indent="-228600">
              <a:defRPr sz="28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defRPr>
            </a:lvl9pPr>
          </a:lstStyle>
          <a:p>
            <a:endParaRPr lang="en-GB" altLang="en-US" noProof="1"/>
          </a:p>
        </p:txBody>
      </p:sp>
      <p:sp>
        <p:nvSpPr>
          <p:cNvPr id="47108" name="Rectangle 4">
            <a:extLst>
              <a:ext uri="{FF2B5EF4-FFF2-40B4-BE49-F238E27FC236}">
                <a16:creationId xmlns:a16="http://schemas.microsoft.com/office/drawing/2014/main" id="{92D0EF3D-4C90-490E-B2BC-F4B6FF720145}"/>
              </a:ext>
            </a:extLst>
          </p:cNvPr>
          <p:cNvSpPr>
            <a:spLocks noGrp="1"/>
          </p:cNvSpPr>
          <p:nvPr>
            <p:ph type="title"/>
          </p:nvPr>
        </p:nvSpPr>
        <p:spPr/>
        <p:txBody>
          <a:bodyPr/>
          <a:lstStyle/>
          <a:p>
            <a:r>
              <a:rPr lang="en-GB" altLang="en-US"/>
              <a:t>The Circular Flow of Income</a:t>
            </a:r>
          </a:p>
        </p:txBody>
      </p:sp>
      <p:sp>
        <p:nvSpPr>
          <p:cNvPr id="416773" name="Rectangle 5">
            <a:extLst>
              <a:ext uri="{FF2B5EF4-FFF2-40B4-BE49-F238E27FC236}">
                <a16:creationId xmlns:a16="http://schemas.microsoft.com/office/drawing/2014/main" id="{ACC89C59-919E-4E4B-9A02-2DAB4135B90D}"/>
              </a:ext>
            </a:extLst>
          </p:cNvPr>
          <p:cNvSpPr>
            <a:spLocks noGrp="1"/>
          </p:cNvSpPr>
          <p:nvPr>
            <p:ph sz="quarter" idx="1"/>
          </p:nvPr>
        </p:nvSpPr>
        <p:spPr>
          <a:xfrm>
            <a:off x="402336" y="1527048"/>
            <a:ext cx="11338560" cy="4866664"/>
          </a:xfrm>
        </p:spPr>
        <p:txBody>
          <a:bodyPr/>
          <a:lstStyle/>
          <a:p>
            <a:pPr>
              <a:lnSpc>
                <a:spcPct val="80000"/>
              </a:lnSpc>
              <a:spcBef>
                <a:spcPct val="45000"/>
              </a:spcBef>
            </a:pPr>
            <a:r>
              <a:rPr lang="en-GB" altLang="en-US" dirty="0"/>
              <a:t>The inner flow</a:t>
            </a:r>
          </a:p>
        </p:txBody>
      </p:sp>
      <p:grpSp>
        <p:nvGrpSpPr>
          <p:cNvPr id="14" name="Group 14">
            <a:extLst>
              <a:ext uri="{FF2B5EF4-FFF2-40B4-BE49-F238E27FC236}">
                <a16:creationId xmlns:a16="http://schemas.microsoft.com/office/drawing/2014/main" id="{4212DB47-E5FE-C1EF-56ED-CD6A508387D7}"/>
              </a:ext>
            </a:extLst>
          </p:cNvPr>
          <p:cNvGrpSpPr>
            <a:grpSpLocks/>
          </p:cNvGrpSpPr>
          <p:nvPr/>
        </p:nvGrpSpPr>
        <p:grpSpPr bwMode="auto">
          <a:xfrm>
            <a:off x="4265191" y="2365246"/>
            <a:ext cx="1476375" cy="2886263"/>
            <a:chOff x="78" y="1157"/>
            <a:chExt cx="930" cy="2585"/>
          </a:xfrm>
        </p:grpSpPr>
        <p:sp>
          <p:nvSpPr>
            <p:cNvPr id="15" name="Arc 3">
              <a:extLst>
                <a:ext uri="{FF2B5EF4-FFF2-40B4-BE49-F238E27FC236}">
                  <a16:creationId xmlns:a16="http://schemas.microsoft.com/office/drawing/2014/main" id="{EE16B93F-2945-56A3-09AB-985E10A11BCC}"/>
                </a:ext>
              </a:extLst>
            </p:cNvPr>
            <p:cNvSpPr>
              <a:spLocks/>
            </p:cNvSpPr>
            <p:nvPr/>
          </p:nvSpPr>
          <p:spPr bwMode="auto">
            <a:xfrm>
              <a:off x="78" y="1157"/>
              <a:ext cx="919" cy="2585"/>
            </a:xfrm>
            <a:custGeom>
              <a:avLst/>
              <a:gdLst>
                <a:gd name="G0" fmla="+- 21600 0 0"/>
                <a:gd name="G1" fmla="+- 21510 0 0"/>
                <a:gd name="G2" fmla="+- 21600 0 0"/>
                <a:gd name="T0" fmla="*/ 21365 w 21600"/>
                <a:gd name="T1" fmla="*/ 43109 h 43109"/>
                <a:gd name="T2" fmla="*/ 19626 w 21600"/>
                <a:gd name="T3" fmla="*/ 0 h 43109"/>
                <a:gd name="T4" fmla="*/ 21600 w 21600"/>
                <a:gd name="T5" fmla="*/ 21510 h 43109"/>
              </a:gdLst>
              <a:ahLst/>
              <a:cxnLst>
                <a:cxn ang="0">
                  <a:pos x="T0" y="T1"/>
                </a:cxn>
                <a:cxn ang="0">
                  <a:pos x="T2" y="T3"/>
                </a:cxn>
                <a:cxn ang="0">
                  <a:pos x="T4" y="T5"/>
                </a:cxn>
              </a:cxnLst>
              <a:rect l="0" t="0" r="r" b="b"/>
              <a:pathLst>
                <a:path w="21600" h="43109" fill="none" extrusionOk="0">
                  <a:moveTo>
                    <a:pt x="21365" y="43108"/>
                  </a:moveTo>
                  <a:cubicBezTo>
                    <a:pt x="9528" y="42979"/>
                    <a:pt x="0" y="33347"/>
                    <a:pt x="0" y="21510"/>
                  </a:cubicBezTo>
                  <a:cubicBezTo>
                    <a:pt x="0" y="10345"/>
                    <a:pt x="8508" y="1020"/>
                    <a:pt x="19626" y="0"/>
                  </a:cubicBezTo>
                </a:path>
                <a:path w="21600" h="43109" stroke="0" extrusionOk="0">
                  <a:moveTo>
                    <a:pt x="21365" y="43108"/>
                  </a:moveTo>
                  <a:cubicBezTo>
                    <a:pt x="9528" y="42979"/>
                    <a:pt x="0" y="33347"/>
                    <a:pt x="0" y="21510"/>
                  </a:cubicBezTo>
                  <a:cubicBezTo>
                    <a:pt x="0" y="10345"/>
                    <a:pt x="8508" y="1020"/>
                    <a:pt x="19626" y="0"/>
                  </a:cubicBezTo>
                  <a:lnTo>
                    <a:pt x="21600" y="21510"/>
                  </a:lnTo>
                  <a:close/>
                </a:path>
              </a:pathLst>
            </a:custGeom>
            <a:noFill/>
            <a:ln w="38100" cap="rnd">
              <a:solidFill>
                <a:schemeClr val="tx2"/>
              </a:solidFill>
              <a:round/>
              <a:headEnd type="stealth" w="med" len="lg"/>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28398" dir="1593903" algn="ctr" rotWithShape="0">
                      <a:schemeClr val="bg2"/>
                    </a:outerShdw>
                  </a:effectLst>
                </a14:hiddenEffects>
              </a:ext>
            </a:extLst>
          </p:spPr>
          <p:txBody>
            <a:bodyPr wrap="none" anchor="ctr"/>
            <a:lstStyle/>
            <a:p>
              <a:endParaRPr lang="en-GB"/>
            </a:p>
          </p:txBody>
        </p:sp>
        <p:sp>
          <p:nvSpPr>
            <p:cNvPr id="16" name="Rectangle 5">
              <a:extLst>
                <a:ext uri="{FF2B5EF4-FFF2-40B4-BE49-F238E27FC236}">
                  <a16:creationId xmlns:a16="http://schemas.microsoft.com/office/drawing/2014/main" id="{6E0D950F-A7E7-1102-8177-83BE89E1007A}"/>
                </a:ext>
              </a:extLst>
            </p:cNvPr>
            <p:cNvSpPr>
              <a:spLocks noChangeArrowheads="1"/>
            </p:cNvSpPr>
            <p:nvPr/>
          </p:nvSpPr>
          <p:spPr bwMode="auto">
            <a:xfrm>
              <a:off x="137" y="2207"/>
              <a:ext cx="871" cy="446"/>
            </a:xfrm>
            <a:prstGeom prst="rect">
              <a:avLst/>
            </a:prstGeom>
            <a:noFill/>
            <a:ln>
              <a:noFill/>
            </a:ln>
            <a:effectLst>
              <a:outerShdw dist="7620"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92075" tIns="46038" rIns="92075" bIns="46038">
              <a:spAutoFit/>
            </a:bodyPr>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GB" altLang="en-US" sz="2000" b="1" dirty="0">
                  <a:solidFill>
                    <a:schemeClr val="tx2"/>
                  </a:solidFill>
                  <a:latin typeface="Arial" panose="020B0604020202020204" pitchFamily="34" charset="0"/>
                </a:rPr>
                <a:t>Factor</a:t>
              </a:r>
            </a:p>
            <a:p>
              <a:pPr algn="ctr"/>
              <a:r>
                <a:rPr lang="en-GB" altLang="en-US" sz="2000" b="1" dirty="0">
                  <a:solidFill>
                    <a:schemeClr val="tx2"/>
                  </a:solidFill>
                  <a:latin typeface="Arial" panose="020B0604020202020204" pitchFamily="34" charset="0"/>
                </a:rPr>
                <a:t>payments</a:t>
              </a:r>
            </a:p>
          </p:txBody>
        </p:sp>
      </p:grpSp>
      <p:grpSp>
        <p:nvGrpSpPr>
          <p:cNvPr id="17" name="Group 15">
            <a:extLst>
              <a:ext uri="{FF2B5EF4-FFF2-40B4-BE49-F238E27FC236}">
                <a16:creationId xmlns:a16="http://schemas.microsoft.com/office/drawing/2014/main" id="{1985F316-A728-C682-FB3E-38B6293D6225}"/>
              </a:ext>
            </a:extLst>
          </p:cNvPr>
          <p:cNvGrpSpPr>
            <a:grpSpLocks/>
          </p:cNvGrpSpPr>
          <p:nvPr/>
        </p:nvGrpSpPr>
        <p:grpSpPr bwMode="auto">
          <a:xfrm>
            <a:off x="6941717" y="2377947"/>
            <a:ext cx="2333626" cy="2917526"/>
            <a:chOff x="1764" y="1165"/>
            <a:chExt cx="1470" cy="2613"/>
          </a:xfrm>
        </p:grpSpPr>
        <p:sp>
          <p:nvSpPr>
            <p:cNvPr id="18" name="Arc 4">
              <a:extLst>
                <a:ext uri="{FF2B5EF4-FFF2-40B4-BE49-F238E27FC236}">
                  <a16:creationId xmlns:a16="http://schemas.microsoft.com/office/drawing/2014/main" id="{1AF14796-E030-5DA3-87F1-5D470F32277D}"/>
                </a:ext>
              </a:extLst>
            </p:cNvPr>
            <p:cNvSpPr>
              <a:spLocks/>
            </p:cNvSpPr>
            <p:nvPr/>
          </p:nvSpPr>
          <p:spPr bwMode="auto">
            <a:xfrm>
              <a:off x="2130" y="1165"/>
              <a:ext cx="1104" cy="2613"/>
            </a:xfrm>
            <a:custGeom>
              <a:avLst/>
              <a:gdLst>
                <a:gd name="G0" fmla="+- 0 0 0"/>
                <a:gd name="G1" fmla="+- 21440 0 0"/>
                <a:gd name="G2" fmla="+- 21600 0 0"/>
                <a:gd name="T0" fmla="*/ 2620 w 21600"/>
                <a:gd name="T1" fmla="*/ 0 h 42815"/>
                <a:gd name="T2" fmla="*/ 3111 w 21600"/>
                <a:gd name="T3" fmla="*/ 42815 h 42815"/>
                <a:gd name="T4" fmla="*/ 0 w 21600"/>
                <a:gd name="T5" fmla="*/ 21440 h 42815"/>
              </a:gdLst>
              <a:ahLst/>
              <a:cxnLst>
                <a:cxn ang="0">
                  <a:pos x="T0" y="T1"/>
                </a:cxn>
                <a:cxn ang="0">
                  <a:pos x="T2" y="T3"/>
                </a:cxn>
                <a:cxn ang="0">
                  <a:pos x="T4" y="T5"/>
                </a:cxn>
              </a:cxnLst>
              <a:rect l="0" t="0" r="r" b="b"/>
              <a:pathLst>
                <a:path w="21600" h="42815" fill="none" extrusionOk="0">
                  <a:moveTo>
                    <a:pt x="2620" y="-1"/>
                  </a:moveTo>
                  <a:cubicBezTo>
                    <a:pt x="13455" y="1323"/>
                    <a:pt x="21600" y="10523"/>
                    <a:pt x="21600" y="21440"/>
                  </a:cubicBezTo>
                  <a:cubicBezTo>
                    <a:pt x="21600" y="32167"/>
                    <a:pt x="13726" y="41269"/>
                    <a:pt x="3110" y="42814"/>
                  </a:cubicBezTo>
                </a:path>
                <a:path w="21600" h="42815" stroke="0" extrusionOk="0">
                  <a:moveTo>
                    <a:pt x="2620" y="-1"/>
                  </a:moveTo>
                  <a:cubicBezTo>
                    <a:pt x="13455" y="1323"/>
                    <a:pt x="21600" y="10523"/>
                    <a:pt x="21600" y="21440"/>
                  </a:cubicBezTo>
                  <a:cubicBezTo>
                    <a:pt x="21600" y="32167"/>
                    <a:pt x="13726" y="41269"/>
                    <a:pt x="3110" y="42814"/>
                  </a:cubicBezTo>
                  <a:lnTo>
                    <a:pt x="0" y="21440"/>
                  </a:lnTo>
                  <a:close/>
                </a:path>
              </a:pathLst>
            </a:custGeom>
            <a:noFill/>
            <a:ln w="38100" cap="rnd">
              <a:solidFill>
                <a:schemeClr val="tx2"/>
              </a:solidFill>
              <a:round/>
              <a:headEnd type="stealth" w="med" len="lg"/>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28398" dir="1593903" algn="ctr" rotWithShape="0">
                      <a:schemeClr val="bg2"/>
                    </a:outerShdw>
                  </a:effectLst>
                </a14:hiddenEffects>
              </a:ext>
            </a:extLst>
          </p:spPr>
          <p:txBody>
            <a:bodyPr wrap="none" anchor="ctr"/>
            <a:lstStyle/>
            <a:p>
              <a:endParaRPr lang="en-GB"/>
            </a:p>
          </p:txBody>
        </p:sp>
        <p:sp>
          <p:nvSpPr>
            <p:cNvPr id="19" name="Rectangle 6">
              <a:extLst>
                <a:ext uri="{FF2B5EF4-FFF2-40B4-BE49-F238E27FC236}">
                  <a16:creationId xmlns:a16="http://schemas.microsoft.com/office/drawing/2014/main" id="{2477FC51-8409-20DF-4607-B8A41D6CB822}"/>
                </a:ext>
              </a:extLst>
            </p:cNvPr>
            <p:cNvSpPr>
              <a:spLocks noChangeArrowheads="1"/>
            </p:cNvSpPr>
            <p:nvPr/>
          </p:nvSpPr>
          <p:spPr bwMode="auto">
            <a:xfrm>
              <a:off x="1764" y="1889"/>
              <a:ext cx="1430" cy="834"/>
            </a:xfrm>
            <a:prstGeom prst="rect">
              <a:avLst/>
            </a:prstGeom>
            <a:noFill/>
            <a:ln>
              <a:noFill/>
            </a:ln>
            <a:effectLst>
              <a:outerShdw dist="7620"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92075" tIns="46038" rIns="92075" bIns="46038">
              <a:spAutoFit/>
            </a:bodyPr>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GB" altLang="en-US" sz="2000" b="1" dirty="0">
                  <a:solidFill>
                    <a:schemeClr val="tx2"/>
                  </a:solidFill>
                  <a:latin typeface="Arial" panose="020B0604020202020204" pitchFamily="34" charset="0"/>
                </a:rPr>
                <a:t>Consumption of</a:t>
              </a:r>
            </a:p>
            <a:p>
              <a:pPr algn="ctr"/>
              <a:r>
                <a:rPr lang="en-GB" altLang="en-US" sz="2000" b="1" dirty="0">
                  <a:solidFill>
                    <a:schemeClr val="tx2"/>
                  </a:solidFill>
                  <a:latin typeface="Arial" panose="020B0604020202020204" pitchFamily="34" charset="0"/>
                </a:rPr>
                <a:t>domestically</a:t>
              </a:r>
            </a:p>
            <a:p>
              <a:pPr algn="ctr"/>
              <a:r>
                <a:rPr lang="en-GB" altLang="en-US" sz="2000" b="1" dirty="0">
                  <a:solidFill>
                    <a:schemeClr val="tx2"/>
                  </a:solidFill>
                  <a:latin typeface="Arial" panose="020B0604020202020204" pitchFamily="34" charset="0"/>
                </a:rPr>
                <a:t>produced goods</a:t>
              </a:r>
            </a:p>
            <a:p>
              <a:pPr algn="ctr"/>
              <a:r>
                <a:rPr lang="en-GB" altLang="en-US" sz="2000" b="1" dirty="0">
                  <a:solidFill>
                    <a:schemeClr val="tx2"/>
                  </a:solidFill>
                  <a:latin typeface="Arial" panose="020B0604020202020204" pitchFamily="34" charset="0"/>
                </a:rPr>
                <a:t>and services (C</a:t>
              </a:r>
              <a:r>
                <a:rPr lang="en-GB" altLang="en-US" sz="2000" b="1" baseline="-25000" dirty="0">
                  <a:solidFill>
                    <a:schemeClr val="tx2"/>
                  </a:solidFill>
                  <a:latin typeface="Arial" panose="020B0604020202020204" pitchFamily="34" charset="0"/>
                </a:rPr>
                <a:t>d</a:t>
              </a:r>
              <a:r>
                <a:rPr lang="en-GB" altLang="en-US" sz="2000" b="1" dirty="0">
                  <a:solidFill>
                    <a:schemeClr val="tx2"/>
                  </a:solidFill>
                  <a:latin typeface="Arial" panose="020B0604020202020204" pitchFamily="34" charset="0"/>
                </a:rPr>
                <a:t>)</a:t>
              </a:r>
            </a:p>
          </p:txBody>
        </p:sp>
      </p:grpSp>
      <p:graphicFrame>
        <p:nvGraphicFramePr>
          <p:cNvPr id="20" name="Object 8">
            <a:extLst>
              <a:ext uri="{FF2B5EF4-FFF2-40B4-BE49-F238E27FC236}">
                <a16:creationId xmlns:a16="http://schemas.microsoft.com/office/drawing/2014/main" id="{8F8BE555-85BF-5B61-554F-1D55EB1C237E}"/>
              </a:ext>
            </a:extLst>
          </p:cNvPr>
          <p:cNvGraphicFramePr>
            <a:graphicFrameLocks noChangeAspect="1"/>
          </p:cNvGraphicFramePr>
          <p:nvPr/>
        </p:nvGraphicFramePr>
        <p:xfrm>
          <a:off x="5507409" y="1825553"/>
          <a:ext cx="2449512" cy="1311938"/>
        </p:xfrm>
        <a:graphic>
          <a:graphicData uri="http://schemas.openxmlformats.org/presentationml/2006/ole">
            <mc:AlternateContent xmlns:mc="http://schemas.openxmlformats.org/markup-compatibility/2006">
              <mc:Choice xmlns:v="urn:schemas-microsoft-com:vml" Requires="v">
                <p:oleObj name="Clip" r:id="rId3" imgW="5905440" imgH="3697560" progId="MS_ClipArt_Gallery.2">
                  <p:embed/>
                </p:oleObj>
              </mc:Choice>
              <mc:Fallback>
                <p:oleObj name="Clip" r:id="rId3" imgW="5905440" imgH="3697560" progId="MS_ClipArt_Gallery.2">
                  <p:embed/>
                  <p:pic>
                    <p:nvPicPr>
                      <p:cNvPr id="20" name="Object 8">
                        <a:extLst>
                          <a:ext uri="{FF2B5EF4-FFF2-40B4-BE49-F238E27FC236}">
                            <a16:creationId xmlns:a16="http://schemas.microsoft.com/office/drawing/2014/main" id="{8F8BE555-85BF-5B61-554F-1D55EB1C237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07409" y="1825553"/>
                        <a:ext cx="2449512" cy="1311938"/>
                      </a:xfrm>
                      <a:prstGeom prst="rect">
                        <a:avLst/>
                      </a:prstGeom>
                      <a:noFill/>
                      <a:ln>
                        <a:noFill/>
                      </a:ln>
                      <a:effectLst/>
                    </p:spPr>
                  </p:pic>
                </p:oleObj>
              </mc:Fallback>
            </mc:AlternateContent>
          </a:graphicData>
        </a:graphic>
      </p:graphicFrame>
      <p:sp>
        <p:nvSpPr>
          <p:cNvPr id="21" name="AutoShape 12" descr="Parchment">
            <a:extLst>
              <a:ext uri="{FF2B5EF4-FFF2-40B4-BE49-F238E27FC236}">
                <a16:creationId xmlns:a16="http://schemas.microsoft.com/office/drawing/2014/main" id="{899137E8-2E81-254C-73E2-02F69331066A}"/>
              </a:ext>
            </a:extLst>
          </p:cNvPr>
          <p:cNvSpPr>
            <a:spLocks noChangeArrowheads="1"/>
          </p:cNvSpPr>
          <p:nvPr/>
        </p:nvSpPr>
        <p:spPr bwMode="auto">
          <a:xfrm>
            <a:off x="7827540" y="1886924"/>
            <a:ext cx="2286000" cy="428752"/>
          </a:xfrm>
          <a:prstGeom prst="roundRect">
            <a:avLst>
              <a:gd name="adj" fmla="val 16667"/>
            </a:avLst>
          </a:prstGeom>
          <a:blipFill dpi="0" rotWithShape="0">
            <a:blip r:embed="rId5"/>
            <a:srcRect/>
            <a:tile tx="0" ty="0" sx="100000" sy="100000" flip="none" algn="tl"/>
          </a:blipFill>
          <a:ln w="28575">
            <a:solidFill>
              <a:schemeClr va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sz="2800" b="1" dirty="0">
                <a:solidFill>
                  <a:schemeClr val="accent1"/>
                </a:solidFill>
                <a:latin typeface="Arial" panose="020B0604020202020204" pitchFamily="34" charset="0"/>
              </a:rPr>
              <a:t>Firms</a:t>
            </a:r>
          </a:p>
        </p:txBody>
      </p:sp>
      <p:sp>
        <p:nvSpPr>
          <p:cNvPr id="22" name="AutoShape 13" descr="Parchment">
            <a:extLst>
              <a:ext uri="{FF2B5EF4-FFF2-40B4-BE49-F238E27FC236}">
                <a16:creationId xmlns:a16="http://schemas.microsoft.com/office/drawing/2014/main" id="{CEFB53C9-1E04-8392-8E7B-F72B8B6D19DE}"/>
              </a:ext>
            </a:extLst>
          </p:cNvPr>
          <p:cNvSpPr>
            <a:spLocks noChangeArrowheads="1"/>
          </p:cNvSpPr>
          <p:nvPr/>
        </p:nvSpPr>
        <p:spPr bwMode="auto">
          <a:xfrm>
            <a:off x="7827540" y="5393139"/>
            <a:ext cx="2286000" cy="428752"/>
          </a:xfrm>
          <a:prstGeom prst="roundRect">
            <a:avLst>
              <a:gd name="adj" fmla="val 16667"/>
            </a:avLst>
          </a:prstGeom>
          <a:blipFill dpi="0" rotWithShape="0">
            <a:blip r:embed="rId5"/>
            <a:srcRect/>
            <a:tile tx="0" ty="0" sx="100000" sy="100000" flip="none" algn="tl"/>
          </a:blipFill>
          <a:ln w="28575">
            <a:solidFill>
              <a:schemeClr va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sz="2800" b="1" dirty="0">
                <a:solidFill>
                  <a:schemeClr val="accent1"/>
                </a:solidFill>
                <a:latin typeface="Arial" panose="020B0604020202020204" pitchFamily="34" charset="0"/>
              </a:rPr>
              <a:t>Households</a:t>
            </a:r>
          </a:p>
        </p:txBody>
      </p:sp>
      <p:graphicFrame>
        <p:nvGraphicFramePr>
          <p:cNvPr id="23" name="Object 26">
            <a:extLst>
              <a:ext uri="{FF2B5EF4-FFF2-40B4-BE49-F238E27FC236}">
                <a16:creationId xmlns:a16="http://schemas.microsoft.com/office/drawing/2014/main" id="{890FF254-17E0-3F5A-6C6C-10B566524A1B}"/>
              </a:ext>
            </a:extLst>
          </p:cNvPr>
          <p:cNvGraphicFramePr>
            <a:graphicFrameLocks noChangeAspect="1"/>
          </p:cNvGraphicFramePr>
          <p:nvPr/>
        </p:nvGraphicFramePr>
        <p:xfrm>
          <a:off x="5724104" y="4370385"/>
          <a:ext cx="2428875" cy="1451506"/>
        </p:xfrm>
        <a:graphic>
          <a:graphicData uri="http://schemas.openxmlformats.org/presentationml/2006/ole">
            <mc:AlternateContent xmlns:mc="http://schemas.openxmlformats.org/markup-compatibility/2006">
              <mc:Choice xmlns:v="urn:schemas-microsoft-com:vml" Requires="v">
                <p:oleObj name="Clip" r:id="rId6" imgW="1107720" imgH="1631880" progId="MS_ClipArt_Gallery.2">
                  <p:embed/>
                </p:oleObj>
              </mc:Choice>
              <mc:Fallback>
                <p:oleObj name="Clip" r:id="rId6" imgW="1107720" imgH="1631880" progId="MS_ClipArt_Gallery.2">
                  <p:embed/>
                  <p:pic>
                    <p:nvPicPr>
                      <p:cNvPr id="23" name="Object 26">
                        <a:extLst>
                          <a:ext uri="{FF2B5EF4-FFF2-40B4-BE49-F238E27FC236}">
                            <a16:creationId xmlns:a16="http://schemas.microsoft.com/office/drawing/2014/main" id="{890FF254-17E0-3F5A-6C6C-10B566524A1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t="7588" r="3009" b="17120"/>
                      <a:stretch>
                        <a:fillRect/>
                      </a:stretch>
                    </p:blipFill>
                    <p:spPr bwMode="auto">
                      <a:xfrm>
                        <a:off x="5724104" y="4370385"/>
                        <a:ext cx="2428875" cy="1451506"/>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887216306"/>
      </p:ext>
    </p:extLst>
  </p:cSld>
  <p:clrMapOvr>
    <a:masterClrMapping/>
  </p:clrMapOvr>
  <p:transition spd="med">
    <p:pull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416773">
                                            <p:txEl>
                                              <p:pRg st="0" end="0"/>
                                            </p:txEl>
                                          </p:spTgt>
                                        </p:tgtEl>
                                        <p:attrNameLst>
                                          <p:attrName>style.visibility</p:attrName>
                                        </p:attrNameLst>
                                      </p:cBhvr>
                                      <p:to>
                                        <p:strVal val="visible"/>
                                      </p:to>
                                    </p:set>
                                    <p:anim calcmode="lin" valueType="num">
                                      <p:cBhvr additive="base">
                                        <p:cTn id="7" dur="500"/>
                                        <p:tgtEl>
                                          <p:spTgt spid="416773">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416773">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7" presetClass="entr" presetSubtype="10" fill="hold" grpId="0" nodeType="clickEffect">
                                  <p:stCondLst>
                                    <p:cond delay="0"/>
                                  </p:stCondLst>
                                  <p:childTnLst>
                                    <p:set>
                                      <p:cBhvr>
                                        <p:cTn id="12" dur="1" fill="hold">
                                          <p:stCondLst>
                                            <p:cond delay="0"/>
                                          </p:stCondLst>
                                        </p:cTn>
                                        <p:tgtEl>
                                          <p:spTgt spid="21"/>
                                        </p:tgtEl>
                                        <p:attrNameLst>
                                          <p:attrName>style.visibility</p:attrName>
                                        </p:attrNameLst>
                                      </p:cBhvr>
                                      <p:to>
                                        <p:strVal val="visible"/>
                                      </p:to>
                                    </p:set>
                                    <p:anim calcmode="lin" valueType="num">
                                      <p:cBhvr>
                                        <p:cTn id="13" dur="500" fill="hold"/>
                                        <p:tgtEl>
                                          <p:spTgt spid="21"/>
                                        </p:tgtEl>
                                        <p:attrNameLst>
                                          <p:attrName>ppt_w</p:attrName>
                                        </p:attrNameLst>
                                      </p:cBhvr>
                                      <p:tavLst>
                                        <p:tav tm="0">
                                          <p:val>
                                            <p:fltVal val="0"/>
                                          </p:val>
                                        </p:tav>
                                        <p:tav tm="100000">
                                          <p:val>
                                            <p:strVal val="#ppt_w"/>
                                          </p:val>
                                        </p:tav>
                                      </p:tavLst>
                                    </p:anim>
                                    <p:anim calcmode="lin" valueType="num">
                                      <p:cBhvr>
                                        <p:cTn id="14" dur="500" fill="hold"/>
                                        <p:tgtEl>
                                          <p:spTgt spid="21"/>
                                        </p:tgtEl>
                                        <p:attrNameLst>
                                          <p:attrName>ppt_h</p:attrName>
                                        </p:attrNameLst>
                                      </p:cBhvr>
                                      <p:tavLst>
                                        <p:tav tm="0">
                                          <p:val>
                                            <p:strVal val="#ppt_h"/>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ID="17" presetClass="entr" presetSubtype="10" fill="hold" grpId="0" nodeType="clickEffect">
                                  <p:stCondLst>
                                    <p:cond delay="0"/>
                                  </p:stCondLst>
                                  <p:childTnLst>
                                    <p:set>
                                      <p:cBhvr>
                                        <p:cTn id="18" dur="1" fill="hold">
                                          <p:stCondLst>
                                            <p:cond delay="0"/>
                                          </p:stCondLst>
                                        </p:cTn>
                                        <p:tgtEl>
                                          <p:spTgt spid="22"/>
                                        </p:tgtEl>
                                        <p:attrNameLst>
                                          <p:attrName>style.visibility</p:attrName>
                                        </p:attrNameLst>
                                      </p:cBhvr>
                                      <p:to>
                                        <p:strVal val="visible"/>
                                      </p:to>
                                    </p:set>
                                    <p:anim calcmode="lin" valueType="num">
                                      <p:cBhvr>
                                        <p:cTn id="19" dur="500" fill="hold"/>
                                        <p:tgtEl>
                                          <p:spTgt spid="22"/>
                                        </p:tgtEl>
                                        <p:attrNameLst>
                                          <p:attrName>ppt_w</p:attrName>
                                        </p:attrNameLst>
                                      </p:cBhvr>
                                      <p:tavLst>
                                        <p:tav tm="0">
                                          <p:val>
                                            <p:fltVal val="0"/>
                                          </p:val>
                                        </p:tav>
                                        <p:tav tm="100000">
                                          <p:val>
                                            <p:strVal val="#ppt_w"/>
                                          </p:val>
                                        </p:tav>
                                      </p:tavLst>
                                    </p:anim>
                                    <p:anim calcmode="lin" valueType="num">
                                      <p:cBhvr>
                                        <p:cTn id="20" dur="500" fill="hold"/>
                                        <p:tgtEl>
                                          <p:spTgt spid="22"/>
                                        </p:tgtEl>
                                        <p:attrNameLst>
                                          <p:attrName>ppt_h</p:attrName>
                                        </p:attrNameLst>
                                      </p:cBhvr>
                                      <p:tavLst>
                                        <p:tav tm="0">
                                          <p:val>
                                            <p:strVal val="#ppt_h"/>
                                          </p:val>
                                        </p:tav>
                                        <p:tav tm="100000">
                                          <p:val>
                                            <p:strVal val="#ppt_h"/>
                                          </p:val>
                                        </p:tav>
                                      </p:tavLst>
                                    </p:anim>
                                  </p:childTnLst>
                                </p:cTn>
                              </p:par>
                            </p:childTnLst>
                          </p:cTn>
                        </p:par>
                      </p:childTnLst>
                    </p:cTn>
                  </p:par>
                  <p:par>
                    <p:cTn id="21" fill="hold">
                      <p:stCondLst>
                        <p:cond delay="indefinite"/>
                      </p:stCondLst>
                      <p:childTnLst>
                        <p:par>
                          <p:cTn id="22" fill="hold">
                            <p:stCondLst>
                              <p:cond delay="0"/>
                            </p:stCondLst>
                            <p:childTnLst>
                              <p:par>
                                <p:cTn id="23" presetID="22" presetClass="entr" presetSubtype="4" fill="hold" nodeType="clickEffect">
                                  <p:stCondLst>
                                    <p:cond delay="0"/>
                                  </p:stCondLst>
                                  <p:childTnLst>
                                    <p:set>
                                      <p:cBhvr>
                                        <p:cTn id="24" dur="1" fill="hold">
                                          <p:stCondLst>
                                            <p:cond delay="0"/>
                                          </p:stCondLst>
                                        </p:cTn>
                                        <p:tgtEl>
                                          <p:spTgt spid="17"/>
                                        </p:tgtEl>
                                        <p:attrNameLst>
                                          <p:attrName>style.visibility</p:attrName>
                                        </p:attrNameLst>
                                      </p:cBhvr>
                                      <p:to>
                                        <p:strVal val="visible"/>
                                      </p:to>
                                    </p:set>
                                    <p:animEffect transition="in" filter="wipe(down)">
                                      <p:cBhvr>
                                        <p:cTn id="25" dur="500"/>
                                        <p:tgtEl>
                                          <p:spTgt spid="17"/>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1" fill="hold" nodeType="click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wipe(up)">
                                      <p:cBhvr>
                                        <p:cTn id="30"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6773" grpId="0" build="p" bldLvl="2" autoUpdateAnimBg="0"/>
      <p:bldP spid="21" grpId="0" animBg="1" autoUpdateAnimBg="0"/>
      <p:bldP spid="22" grpId="0" animBg="1" autoUpdateAnimBg="0"/>
    </p:bldLst>
  </p:timing>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2A4C2E66-1229-CD3B-C34E-110A2844B880}"/>
            </a:ext>
          </a:extLst>
        </p:cNvPr>
        <p:cNvGrpSpPr/>
        <p:nvPr/>
      </p:nvGrpSpPr>
      <p:grpSpPr>
        <a:xfrm>
          <a:off x="0" y="0"/>
          <a:ext cx="0" cy="0"/>
          <a:chOff x="0" y="0"/>
          <a:chExt cx="0" cy="0"/>
        </a:xfrm>
      </p:grpSpPr>
      <p:sp>
        <p:nvSpPr>
          <p:cNvPr id="47106" name="Rectangle 2">
            <a:extLst>
              <a:ext uri="{FF2B5EF4-FFF2-40B4-BE49-F238E27FC236}">
                <a16:creationId xmlns:a16="http://schemas.microsoft.com/office/drawing/2014/main" id="{EA078A51-F2AA-D24E-76E8-D2F8FAD746EF}"/>
              </a:ext>
            </a:extLst>
          </p:cNvPr>
          <p:cNvSpPr>
            <a:spLocks noChangeArrowheads="1"/>
          </p:cNvSpPr>
          <p:nvPr/>
        </p:nvSpPr>
        <p:spPr bwMode="auto">
          <a:xfrm>
            <a:off x="2209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a:solidFill>
                  <a:schemeClr val="tx1"/>
                </a:solidFill>
                <a:latin typeface="Times New Roman" panose="02020603050405020304" pitchFamily="18" charset="0"/>
              </a:defRPr>
            </a:lvl1pPr>
            <a:lvl2pPr marL="742950" indent="-285750">
              <a:defRPr sz="2800">
                <a:solidFill>
                  <a:schemeClr val="tx1"/>
                </a:solidFill>
                <a:latin typeface="Times New Roman" panose="02020603050405020304" pitchFamily="18" charset="0"/>
              </a:defRPr>
            </a:lvl2pPr>
            <a:lvl3pPr marL="1143000" indent="-228600">
              <a:defRPr sz="2800">
                <a:solidFill>
                  <a:schemeClr val="tx1"/>
                </a:solidFill>
                <a:latin typeface="Times New Roman" panose="02020603050405020304" pitchFamily="18" charset="0"/>
              </a:defRPr>
            </a:lvl3pPr>
            <a:lvl4pPr marL="1600200" indent="-228600">
              <a:defRPr sz="2800">
                <a:solidFill>
                  <a:schemeClr val="tx1"/>
                </a:solidFill>
                <a:latin typeface="Times New Roman" panose="02020603050405020304" pitchFamily="18" charset="0"/>
              </a:defRPr>
            </a:lvl4pPr>
            <a:lvl5pPr marL="2057400" indent="-228600">
              <a:defRPr sz="28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defRPr>
            </a:lvl9pPr>
          </a:lstStyle>
          <a:p>
            <a:endParaRPr lang="en-GB" altLang="en-US" noProof="1"/>
          </a:p>
        </p:txBody>
      </p:sp>
      <p:sp>
        <p:nvSpPr>
          <p:cNvPr id="47108" name="Rectangle 4">
            <a:extLst>
              <a:ext uri="{FF2B5EF4-FFF2-40B4-BE49-F238E27FC236}">
                <a16:creationId xmlns:a16="http://schemas.microsoft.com/office/drawing/2014/main" id="{E94D069E-3E22-722A-7265-7A2D5765870E}"/>
              </a:ext>
            </a:extLst>
          </p:cNvPr>
          <p:cNvSpPr>
            <a:spLocks noGrp="1"/>
          </p:cNvSpPr>
          <p:nvPr>
            <p:ph type="title"/>
          </p:nvPr>
        </p:nvSpPr>
        <p:spPr/>
        <p:txBody>
          <a:bodyPr/>
          <a:lstStyle/>
          <a:p>
            <a:r>
              <a:rPr lang="en-GB" altLang="en-US"/>
              <a:t>The Circular Flow of Income</a:t>
            </a:r>
          </a:p>
        </p:txBody>
      </p:sp>
      <p:sp>
        <p:nvSpPr>
          <p:cNvPr id="416773" name="Rectangle 5">
            <a:extLst>
              <a:ext uri="{FF2B5EF4-FFF2-40B4-BE49-F238E27FC236}">
                <a16:creationId xmlns:a16="http://schemas.microsoft.com/office/drawing/2014/main" id="{549CE8F2-C893-C90C-344E-4146FF65089A}"/>
              </a:ext>
            </a:extLst>
          </p:cNvPr>
          <p:cNvSpPr>
            <a:spLocks noGrp="1"/>
          </p:cNvSpPr>
          <p:nvPr>
            <p:ph sz="quarter" idx="1"/>
          </p:nvPr>
        </p:nvSpPr>
        <p:spPr>
          <a:xfrm>
            <a:off x="402336" y="1527048"/>
            <a:ext cx="11338560" cy="4866664"/>
          </a:xfrm>
        </p:spPr>
        <p:txBody>
          <a:bodyPr/>
          <a:lstStyle/>
          <a:p>
            <a:pPr>
              <a:lnSpc>
                <a:spcPct val="80000"/>
              </a:lnSpc>
              <a:spcBef>
                <a:spcPct val="45000"/>
              </a:spcBef>
            </a:pPr>
            <a:r>
              <a:rPr lang="en-GB" altLang="en-US" sz="2400" b="1" dirty="0">
                <a:latin typeface="+mn-lt"/>
              </a:rPr>
              <a:t>Withdrawals</a:t>
            </a:r>
          </a:p>
          <a:p>
            <a:pPr lvl="1">
              <a:lnSpc>
                <a:spcPct val="80000"/>
              </a:lnSpc>
              <a:spcBef>
                <a:spcPct val="45000"/>
              </a:spcBef>
            </a:pPr>
            <a:r>
              <a:rPr lang="en-GB" altLang="en-US" sz="2400" dirty="0">
                <a:latin typeface="+mn-lt"/>
              </a:rPr>
              <a:t>net saving (</a:t>
            </a:r>
            <a:r>
              <a:rPr lang="en-GB" altLang="en-US" sz="2400" i="1" dirty="0">
                <a:latin typeface="+mn-lt"/>
              </a:rPr>
              <a:t>S</a:t>
            </a:r>
            <a:r>
              <a:rPr lang="en-GB" altLang="en-US" sz="2400" dirty="0">
                <a:latin typeface="+mn-lt"/>
              </a:rPr>
              <a:t>) – out of wage income – reducing consumption – bank deposits</a:t>
            </a:r>
          </a:p>
          <a:p>
            <a:pPr lvl="1">
              <a:lnSpc>
                <a:spcPct val="80000"/>
              </a:lnSpc>
              <a:spcBef>
                <a:spcPct val="45000"/>
              </a:spcBef>
            </a:pPr>
            <a:r>
              <a:rPr lang="en-GB" altLang="en-US" sz="2400" dirty="0">
                <a:latin typeface="+mn-lt"/>
              </a:rPr>
              <a:t>net taxes (</a:t>
            </a:r>
            <a:r>
              <a:rPr lang="en-GB" altLang="en-US" sz="2400" i="1" dirty="0">
                <a:latin typeface="+mn-lt"/>
              </a:rPr>
              <a:t>T</a:t>
            </a:r>
            <a:r>
              <a:rPr lang="en-GB" altLang="en-US" sz="2400" dirty="0">
                <a:latin typeface="+mn-lt"/>
              </a:rPr>
              <a:t>) – charge against income</a:t>
            </a:r>
          </a:p>
          <a:p>
            <a:pPr lvl="1">
              <a:lnSpc>
                <a:spcPct val="80000"/>
              </a:lnSpc>
              <a:spcBef>
                <a:spcPct val="45000"/>
              </a:spcBef>
            </a:pPr>
            <a:r>
              <a:rPr lang="en-GB" altLang="en-US" sz="2400" dirty="0">
                <a:latin typeface="+mn-lt"/>
              </a:rPr>
              <a:t>imports (</a:t>
            </a:r>
            <a:r>
              <a:rPr lang="en-GB" altLang="en-US" sz="2400" i="1" dirty="0">
                <a:latin typeface="+mn-lt"/>
              </a:rPr>
              <a:t>M</a:t>
            </a:r>
            <a:r>
              <a:rPr lang="en-GB" altLang="en-US" sz="2400" dirty="0">
                <a:latin typeface="+mn-lt"/>
              </a:rPr>
              <a:t>) – money flowing to other countries to pay for goods and services</a:t>
            </a:r>
          </a:p>
          <a:p>
            <a:pPr>
              <a:lnSpc>
                <a:spcPct val="80000"/>
              </a:lnSpc>
              <a:spcBef>
                <a:spcPct val="45000"/>
              </a:spcBef>
            </a:pPr>
            <a:r>
              <a:rPr lang="en-GB" altLang="en-US" sz="2400" b="1" dirty="0">
                <a:latin typeface="+mn-lt"/>
              </a:rPr>
              <a:t>Injections</a:t>
            </a:r>
          </a:p>
          <a:p>
            <a:pPr lvl="1">
              <a:lnSpc>
                <a:spcPct val="80000"/>
              </a:lnSpc>
              <a:spcBef>
                <a:spcPct val="45000"/>
              </a:spcBef>
            </a:pPr>
            <a:r>
              <a:rPr lang="en-GB" altLang="en-US" sz="2400" dirty="0">
                <a:latin typeface="+mn-lt"/>
              </a:rPr>
              <a:t>investment (</a:t>
            </a:r>
            <a:r>
              <a:rPr lang="en-GB" altLang="en-US" sz="2400" i="1" dirty="0">
                <a:latin typeface="+mn-lt"/>
              </a:rPr>
              <a:t>I</a:t>
            </a:r>
            <a:r>
              <a:rPr lang="en-GB" altLang="en-US" sz="2400" baseline="-25000" dirty="0">
                <a:latin typeface="+mn-lt"/>
              </a:rPr>
              <a:t>d</a:t>
            </a:r>
            <a:r>
              <a:rPr lang="en-GB" altLang="en-US" sz="2400" dirty="0">
                <a:latin typeface="+mn-lt"/>
              </a:rPr>
              <a:t>) – bank lending used by firms for capital investment</a:t>
            </a:r>
          </a:p>
          <a:p>
            <a:pPr lvl="1">
              <a:lnSpc>
                <a:spcPct val="80000"/>
              </a:lnSpc>
              <a:spcBef>
                <a:spcPct val="45000"/>
              </a:spcBef>
            </a:pPr>
            <a:r>
              <a:rPr lang="en-GB" altLang="en-US" sz="2400" dirty="0">
                <a:latin typeface="+mn-lt"/>
              </a:rPr>
              <a:t>government expenditure (</a:t>
            </a:r>
            <a:r>
              <a:rPr lang="en-GB" altLang="en-US" sz="2400" i="1" dirty="0">
                <a:latin typeface="+mn-lt"/>
              </a:rPr>
              <a:t>G</a:t>
            </a:r>
            <a:r>
              <a:rPr lang="en-GB" altLang="en-US" sz="2400" baseline="-25000" dirty="0">
                <a:latin typeface="+mn-lt"/>
              </a:rPr>
              <a:t>d</a:t>
            </a:r>
            <a:r>
              <a:rPr lang="en-GB" altLang="en-US" sz="2400" dirty="0">
                <a:latin typeface="+mn-lt"/>
              </a:rPr>
              <a:t>) – government purchase of goods and services – </a:t>
            </a:r>
            <a:r>
              <a:rPr lang="en-GB" altLang="en-US" sz="2400" i="1" dirty="0">
                <a:solidFill>
                  <a:srgbClr val="C00000"/>
                </a:solidFill>
                <a:latin typeface="+mn-lt"/>
              </a:rPr>
              <a:t>not transfer payments such as pensions and social entitlements </a:t>
            </a:r>
          </a:p>
          <a:p>
            <a:pPr lvl="1">
              <a:lnSpc>
                <a:spcPct val="80000"/>
              </a:lnSpc>
              <a:spcBef>
                <a:spcPct val="45000"/>
              </a:spcBef>
            </a:pPr>
            <a:r>
              <a:rPr lang="en-GB" altLang="en-US" sz="2400" dirty="0">
                <a:latin typeface="+mn-lt"/>
              </a:rPr>
              <a:t>export expenditure (</a:t>
            </a:r>
            <a:r>
              <a:rPr lang="en-GB" altLang="en-US" sz="2400" i="1" dirty="0" err="1">
                <a:latin typeface="+mn-lt"/>
              </a:rPr>
              <a:t>X</a:t>
            </a:r>
            <a:r>
              <a:rPr lang="en-GB" altLang="en-US" sz="2400" baseline="-25000" dirty="0" err="1">
                <a:latin typeface="+mn-lt"/>
              </a:rPr>
              <a:t>d</a:t>
            </a:r>
            <a:r>
              <a:rPr lang="en-GB" altLang="en-US" sz="2400" dirty="0">
                <a:latin typeface="+mn-lt"/>
              </a:rPr>
              <a:t>) – money flowing from other countries to pay for goods and services</a:t>
            </a:r>
          </a:p>
        </p:txBody>
      </p:sp>
    </p:spTree>
    <p:extLst>
      <p:ext uri="{BB962C8B-B14F-4D97-AF65-F5344CB8AC3E}">
        <p14:creationId xmlns:p14="http://schemas.microsoft.com/office/powerpoint/2010/main" val="3435926411"/>
      </p:ext>
    </p:extLst>
  </p:cSld>
  <p:clrMapOvr>
    <a:masterClrMapping/>
  </p:clrMapOvr>
  <p:transition spd="med">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16773">
                                            <p:txEl>
                                              <p:pRg st="0" end="0"/>
                                            </p:txEl>
                                          </p:spTgt>
                                        </p:tgtEl>
                                        <p:attrNameLst>
                                          <p:attrName>style.visibility</p:attrName>
                                        </p:attrNameLst>
                                      </p:cBhvr>
                                      <p:to>
                                        <p:strVal val="visible"/>
                                      </p:to>
                                    </p:set>
                                    <p:animEffect transition="in" filter="fade">
                                      <p:cBhvr>
                                        <p:cTn id="7" dur="1000"/>
                                        <p:tgtEl>
                                          <p:spTgt spid="416773">
                                            <p:txEl>
                                              <p:pRg st="0" end="0"/>
                                            </p:txEl>
                                          </p:spTgt>
                                        </p:tgtEl>
                                      </p:cBhvr>
                                    </p:animEffect>
                                    <p:anim calcmode="lin" valueType="num">
                                      <p:cBhvr>
                                        <p:cTn id="8" dur="1000" fill="hold"/>
                                        <p:tgtEl>
                                          <p:spTgt spid="41677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1677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416773">
                                            <p:txEl>
                                              <p:pRg st="1" end="1"/>
                                            </p:txEl>
                                          </p:spTgt>
                                        </p:tgtEl>
                                        <p:attrNameLst>
                                          <p:attrName>style.visibility</p:attrName>
                                        </p:attrNameLst>
                                      </p:cBhvr>
                                      <p:to>
                                        <p:strVal val="visible"/>
                                      </p:to>
                                    </p:set>
                                    <p:animEffect transition="in" filter="fade">
                                      <p:cBhvr>
                                        <p:cTn id="12" dur="1000"/>
                                        <p:tgtEl>
                                          <p:spTgt spid="416773">
                                            <p:txEl>
                                              <p:pRg st="1" end="1"/>
                                            </p:txEl>
                                          </p:spTgt>
                                        </p:tgtEl>
                                      </p:cBhvr>
                                    </p:animEffect>
                                    <p:anim calcmode="lin" valueType="num">
                                      <p:cBhvr>
                                        <p:cTn id="13" dur="1000" fill="hold"/>
                                        <p:tgtEl>
                                          <p:spTgt spid="41677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416773">
                                            <p:txEl>
                                              <p:pRg st="1" end="1"/>
                                            </p:txEl>
                                          </p:spTgt>
                                        </p:tgtEl>
                                        <p:attrNameLst>
                                          <p:attrName>ppt_y</p:attrName>
                                        </p:attrNameLst>
                                      </p:cBhvr>
                                      <p:tavLst>
                                        <p:tav tm="0">
                                          <p:val>
                                            <p:strVal val="#ppt_y+.1"/>
                                          </p:val>
                                        </p:tav>
                                        <p:tav tm="100000">
                                          <p:val>
                                            <p:strVal val="#ppt_y"/>
                                          </p:val>
                                        </p:tav>
                                      </p:tavLst>
                                    </p:anim>
                                  </p:childTnLst>
                                </p:cTn>
                              </p:par>
                            </p:childTnLst>
                          </p:cTn>
                        </p:par>
                        <p:par>
                          <p:cTn id="15" fill="hold">
                            <p:stCondLst>
                              <p:cond delay="1000"/>
                            </p:stCondLst>
                            <p:childTnLst>
                              <p:par>
                                <p:cTn id="16" presetID="42" presetClass="entr" presetSubtype="0" fill="hold" grpId="0" nodeType="afterEffect">
                                  <p:stCondLst>
                                    <p:cond delay="2000"/>
                                  </p:stCondLst>
                                  <p:childTnLst>
                                    <p:set>
                                      <p:cBhvr>
                                        <p:cTn id="17" dur="1" fill="hold">
                                          <p:stCondLst>
                                            <p:cond delay="0"/>
                                          </p:stCondLst>
                                        </p:cTn>
                                        <p:tgtEl>
                                          <p:spTgt spid="416773">
                                            <p:txEl>
                                              <p:pRg st="2" end="2"/>
                                            </p:txEl>
                                          </p:spTgt>
                                        </p:tgtEl>
                                        <p:attrNameLst>
                                          <p:attrName>style.visibility</p:attrName>
                                        </p:attrNameLst>
                                      </p:cBhvr>
                                      <p:to>
                                        <p:strVal val="visible"/>
                                      </p:to>
                                    </p:set>
                                    <p:animEffect transition="in" filter="fade">
                                      <p:cBhvr>
                                        <p:cTn id="18" dur="1000"/>
                                        <p:tgtEl>
                                          <p:spTgt spid="416773">
                                            <p:txEl>
                                              <p:pRg st="2" end="2"/>
                                            </p:txEl>
                                          </p:spTgt>
                                        </p:tgtEl>
                                      </p:cBhvr>
                                    </p:animEffect>
                                    <p:anim calcmode="lin" valueType="num">
                                      <p:cBhvr>
                                        <p:cTn id="19" dur="1000" fill="hold"/>
                                        <p:tgtEl>
                                          <p:spTgt spid="416773">
                                            <p:txEl>
                                              <p:pRg st="2" end="2"/>
                                            </p:txEl>
                                          </p:spTgt>
                                        </p:tgtEl>
                                        <p:attrNameLst>
                                          <p:attrName>ppt_x</p:attrName>
                                        </p:attrNameLst>
                                      </p:cBhvr>
                                      <p:tavLst>
                                        <p:tav tm="0">
                                          <p:val>
                                            <p:strVal val="#ppt_x"/>
                                          </p:val>
                                        </p:tav>
                                        <p:tav tm="100000">
                                          <p:val>
                                            <p:strVal val="#ppt_x"/>
                                          </p:val>
                                        </p:tav>
                                      </p:tavLst>
                                    </p:anim>
                                    <p:anim calcmode="lin" valueType="num">
                                      <p:cBhvr>
                                        <p:cTn id="20" dur="1000" fill="hold"/>
                                        <p:tgtEl>
                                          <p:spTgt spid="416773">
                                            <p:txEl>
                                              <p:pRg st="2" end="2"/>
                                            </p:txEl>
                                          </p:spTgt>
                                        </p:tgtEl>
                                        <p:attrNameLst>
                                          <p:attrName>ppt_y</p:attrName>
                                        </p:attrNameLst>
                                      </p:cBhvr>
                                      <p:tavLst>
                                        <p:tav tm="0">
                                          <p:val>
                                            <p:strVal val="#ppt_y+.1"/>
                                          </p:val>
                                        </p:tav>
                                        <p:tav tm="100000">
                                          <p:val>
                                            <p:strVal val="#ppt_y"/>
                                          </p:val>
                                        </p:tav>
                                      </p:tavLst>
                                    </p:anim>
                                  </p:childTnLst>
                                </p:cTn>
                              </p:par>
                            </p:childTnLst>
                          </p:cTn>
                        </p:par>
                        <p:par>
                          <p:cTn id="21" fill="hold">
                            <p:stCondLst>
                              <p:cond delay="4000"/>
                            </p:stCondLst>
                            <p:childTnLst>
                              <p:par>
                                <p:cTn id="22" presetID="42" presetClass="entr" presetSubtype="0" fill="hold" grpId="0" nodeType="afterEffect">
                                  <p:stCondLst>
                                    <p:cond delay="2000"/>
                                  </p:stCondLst>
                                  <p:childTnLst>
                                    <p:set>
                                      <p:cBhvr>
                                        <p:cTn id="23" dur="1" fill="hold">
                                          <p:stCondLst>
                                            <p:cond delay="0"/>
                                          </p:stCondLst>
                                        </p:cTn>
                                        <p:tgtEl>
                                          <p:spTgt spid="416773">
                                            <p:txEl>
                                              <p:pRg st="3" end="3"/>
                                            </p:txEl>
                                          </p:spTgt>
                                        </p:tgtEl>
                                        <p:attrNameLst>
                                          <p:attrName>style.visibility</p:attrName>
                                        </p:attrNameLst>
                                      </p:cBhvr>
                                      <p:to>
                                        <p:strVal val="visible"/>
                                      </p:to>
                                    </p:set>
                                    <p:animEffect transition="in" filter="fade">
                                      <p:cBhvr>
                                        <p:cTn id="24" dur="1000"/>
                                        <p:tgtEl>
                                          <p:spTgt spid="416773">
                                            <p:txEl>
                                              <p:pRg st="3" end="3"/>
                                            </p:txEl>
                                          </p:spTgt>
                                        </p:tgtEl>
                                      </p:cBhvr>
                                    </p:animEffect>
                                    <p:anim calcmode="lin" valueType="num">
                                      <p:cBhvr>
                                        <p:cTn id="25" dur="1000" fill="hold"/>
                                        <p:tgtEl>
                                          <p:spTgt spid="416773">
                                            <p:txEl>
                                              <p:pRg st="3" end="3"/>
                                            </p:txEl>
                                          </p:spTgt>
                                        </p:tgtEl>
                                        <p:attrNameLst>
                                          <p:attrName>ppt_x</p:attrName>
                                        </p:attrNameLst>
                                      </p:cBhvr>
                                      <p:tavLst>
                                        <p:tav tm="0">
                                          <p:val>
                                            <p:strVal val="#ppt_x"/>
                                          </p:val>
                                        </p:tav>
                                        <p:tav tm="100000">
                                          <p:val>
                                            <p:strVal val="#ppt_x"/>
                                          </p:val>
                                        </p:tav>
                                      </p:tavLst>
                                    </p:anim>
                                    <p:anim calcmode="lin" valueType="num">
                                      <p:cBhvr>
                                        <p:cTn id="26" dur="1000" fill="hold"/>
                                        <p:tgtEl>
                                          <p:spTgt spid="41677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416773">
                                            <p:txEl>
                                              <p:pRg st="4" end="4"/>
                                            </p:txEl>
                                          </p:spTgt>
                                        </p:tgtEl>
                                        <p:attrNameLst>
                                          <p:attrName>style.visibility</p:attrName>
                                        </p:attrNameLst>
                                      </p:cBhvr>
                                      <p:to>
                                        <p:strVal val="visible"/>
                                      </p:to>
                                    </p:set>
                                    <p:animEffect transition="in" filter="fade">
                                      <p:cBhvr>
                                        <p:cTn id="31" dur="1000"/>
                                        <p:tgtEl>
                                          <p:spTgt spid="416773">
                                            <p:txEl>
                                              <p:pRg st="4" end="4"/>
                                            </p:txEl>
                                          </p:spTgt>
                                        </p:tgtEl>
                                      </p:cBhvr>
                                    </p:animEffect>
                                    <p:anim calcmode="lin" valueType="num">
                                      <p:cBhvr>
                                        <p:cTn id="32" dur="1000" fill="hold"/>
                                        <p:tgtEl>
                                          <p:spTgt spid="416773">
                                            <p:txEl>
                                              <p:pRg st="4" end="4"/>
                                            </p:txEl>
                                          </p:spTgt>
                                        </p:tgtEl>
                                        <p:attrNameLst>
                                          <p:attrName>ppt_x</p:attrName>
                                        </p:attrNameLst>
                                      </p:cBhvr>
                                      <p:tavLst>
                                        <p:tav tm="0">
                                          <p:val>
                                            <p:strVal val="#ppt_x"/>
                                          </p:val>
                                        </p:tav>
                                        <p:tav tm="100000">
                                          <p:val>
                                            <p:strVal val="#ppt_x"/>
                                          </p:val>
                                        </p:tav>
                                      </p:tavLst>
                                    </p:anim>
                                    <p:anim calcmode="lin" valueType="num">
                                      <p:cBhvr>
                                        <p:cTn id="33" dur="1000" fill="hold"/>
                                        <p:tgtEl>
                                          <p:spTgt spid="416773">
                                            <p:txEl>
                                              <p:pRg st="4" end="4"/>
                                            </p:txEl>
                                          </p:spTgt>
                                        </p:tgtEl>
                                        <p:attrNameLst>
                                          <p:attrName>ppt_y</p:attrName>
                                        </p:attrNameLst>
                                      </p:cBhvr>
                                      <p:tavLst>
                                        <p:tav tm="0">
                                          <p:val>
                                            <p:strVal val="#ppt_y+.1"/>
                                          </p:val>
                                        </p:tav>
                                        <p:tav tm="100000">
                                          <p:val>
                                            <p:strVal val="#ppt_y"/>
                                          </p:val>
                                        </p:tav>
                                      </p:tavLst>
                                    </p:anim>
                                  </p:childTnLst>
                                </p:cTn>
                              </p:par>
                              <p:par>
                                <p:cTn id="34" presetID="42" presetClass="entr" presetSubtype="0" fill="hold" grpId="0" nodeType="withEffect">
                                  <p:stCondLst>
                                    <p:cond delay="0"/>
                                  </p:stCondLst>
                                  <p:childTnLst>
                                    <p:set>
                                      <p:cBhvr>
                                        <p:cTn id="35" dur="1" fill="hold">
                                          <p:stCondLst>
                                            <p:cond delay="0"/>
                                          </p:stCondLst>
                                        </p:cTn>
                                        <p:tgtEl>
                                          <p:spTgt spid="416773">
                                            <p:txEl>
                                              <p:pRg st="5" end="5"/>
                                            </p:txEl>
                                          </p:spTgt>
                                        </p:tgtEl>
                                        <p:attrNameLst>
                                          <p:attrName>style.visibility</p:attrName>
                                        </p:attrNameLst>
                                      </p:cBhvr>
                                      <p:to>
                                        <p:strVal val="visible"/>
                                      </p:to>
                                    </p:set>
                                    <p:animEffect transition="in" filter="fade">
                                      <p:cBhvr>
                                        <p:cTn id="36" dur="1000"/>
                                        <p:tgtEl>
                                          <p:spTgt spid="416773">
                                            <p:txEl>
                                              <p:pRg st="5" end="5"/>
                                            </p:txEl>
                                          </p:spTgt>
                                        </p:tgtEl>
                                      </p:cBhvr>
                                    </p:animEffect>
                                    <p:anim calcmode="lin" valueType="num">
                                      <p:cBhvr>
                                        <p:cTn id="37" dur="1000" fill="hold"/>
                                        <p:tgtEl>
                                          <p:spTgt spid="416773">
                                            <p:txEl>
                                              <p:pRg st="5" end="5"/>
                                            </p:txEl>
                                          </p:spTgt>
                                        </p:tgtEl>
                                        <p:attrNameLst>
                                          <p:attrName>ppt_x</p:attrName>
                                        </p:attrNameLst>
                                      </p:cBhvr>
                                      <p:tavLst>
                                        <p:tav tm="0">
                                          <p:val>
                                            <p:strVal val="#ppt_x"/>
                                          </p:val>
                                        </p:tav>
                                        <p:tav tm="100000">
                                          <p:val>
                                            <p:strVal val="#ppt_x"/>
                                          </p:val>
                                        </p:tav>
                                      </p:tavLst>
                                    </p:anim>
                                    <p:anim calcmode="lin" valueType="num">
                                      <p:cBhvr>
                                        <p:cTn id="38" dur="1000" fill="hold"/>
                                        <p:tgtEl>
                                          <p:spTgt spid="416773">
                                            <p:txEl>
                                              <p:pRg st="5" end="5"/>
                                            </p:txEl>
                                          </p:spTgt>
                                        </p:tgtEl>
                                        <p:attrNameLst>
                                          <p:attrName>ppt_y</p:attrName>
                                        </p:attrNameLst>
                                      </p:cBhvr>
                                      <p:tavLst>
                                        <p:tav tm="0">
                                          <p:val>
                                            <p:strVal val="#ppt_y+.1"/>
                                          </p:val>
                                        </p:tav>
                                        <p:tav tm="100000">
                                          <p:val>
                                            <p:strVal val="#ppt_y"/>
                                          </p:val>
                                        </p:tav>
                                      </p:tavLst>
                                    </p:anim>
                                  </p:childTnLst>
                                </p:cTn>
                              </p:par>
                            </p:childTnLst>
                          </p:cTn>
                        </p:par>
                        <p:par>
                          <p:cTn id="39" fill="hold">
                            <p:stCondLst>
                              <p:cond delay="1000"/>
                            </p:stCondLst>
                            <p:childTnLst>
                              <p:par>
                                <p:cTn id="40" presetID="42" presetClass="entr" presetSubtype="0" fill="hold" grpId="0" nodeType="afterEffect">
                                  <p:stCondLst>
                                    <p:cond delay="2000"/>
                                  </p:stCondLst>
                                  <p:childTnLst>
                                    <p:set>
                                      <p:cBhvr>
                                        <p:cTn id="41" dur="1" fill="hold">
                                          <p:stCondLst>
                                            <p:cond delay="0"/>
                                          </p:stCondLst>
                                        </p:cTn>
                                        <p:tgtEl>
                                          <p:spTgt spid="416773">
                                            <p:txEl>
                                              <p:pRg st="6" end="6"/>
                                            </p:txEl>
                                          </p:spTgt>
                                        </p:tgtEl>
                                        <p:attrNameLst>
                                          <p:attrName>style.visibility</p:attrName>
                                        </p:attrNameLst>
                                      </p:cBhvr>
                                      <p:to>
                                        <p:strVal val="visible"/>
                                      </p:to>
                                    </p:set>
                                    <p:animEffect transition="in" filter="fade">
                                      <p:cBhvr>
                                        <p:cTn id="42" dur="1000"/>
                                        <p:tgtEl>
                                          <p:spTgt spid="416773">
                                            <p:txEl>
                                              <p:pRg st="6" end="6"/>
                                            </p:txEl>
                                          </p:spTgt>
                                        </p:tgtEl>
                                      </p:cBhvr>
                                    </p:animEffect>
                                    <p:anim calcmode="lin" valueType="num">
                                      <p:cBhvr>
                                        <p:cTn id="43" dur="1000" fill="hold"/>
                                        <p:tgtEl>
                                          <p:spTgt spid="416773">
                                            <p:txEl>
                                              <p:pRg st="6" end="6"/>
                                            </p:txEl>
                                          </p:spTgt>
                                        </p:tgtEl>
                                        <p:attrNameLst>
                                          <p:attrName>ppt_x</p:attrName>
                                        </p:attrNameLst>
                                      </p:cBhvr>
                                      <p:tavLst>
                                        <p:tav tm="0">
                                          <p:val>
                                            <p:strVal val="#ppt_x"/>
                                          </p:val>
                                        </p:tav>
                                        <p:tav tm="100000">
                                          <p:val>
                                            <p:strVal val="#ppt_x"/>
                                          </p:val>
                                        </p:tav>
                                      </p:tavLst>
                                    </p:anim>
                                    <p:anim calcmode="lin" valueType="num">
                                      <p:cBhvr>
                                        <p:cTn id="44" dur="1000" fill="hold"/>
                                        <p:tgtEl>
                                          <p:spTgt spid="416773">
                                            <p:txEl>
                                              <p:pRg st="6" end="6"/>
                                            </p:txEl>
                                          </p:spTgt>
                                        </p:tgtEl>
                                        <p:attrNameLst>
                                          <p:attrName>ppt_y</p:attrName>
                                        </p:attrNameLst>
                                      </p:cBhvr>
                                      <p:tavLst>
                                        <p:tav tm="0">
                                          <p:val>
                                            <p:strVal val="#ppt_y+.1"/>
                                          </p:val>
                                        </p:tav>
                                        <p:tav tm="100000">
                                          <p:val>
                                            <p:strVal val="#ppt_y"/>
                                          </p:val>
                                        </p:tav>
                                      </p:tavLst>
                                    </p:anim>
                                  </p:childTnLst>
                                </p:cTn>
                              </p:par>
                            </p:childTnLst>
                          </p:cTn>
                        </p:par>
                        <p:par>
                          <p:cTn id="45" fill="hold">
                            <p:stCondLst>
                              <p:cond delay="4000"/>
                            </p:stCondLst>
                            <p:childTnLst>
                              <p:par>
                                <p:cTn id="46" presetID="42" presetClass="entr" presetSubtype="0" fill="hold" grpId="0" nodeType="afterEffect">
                                  <p:stCondLst>
                                    <p:cond delay="2000"/>
                                  </p:stCondLst>
                                  <p:childTnLst>
                                    <p:set>
                                      <p:cBhvr>
                                        <p:cTn id="47" dur="1" fill="hold">
                                          <p:stCondLst>
                                            <p:cond delay="0"/>
                                          </p:stCondLst>
                                        </p:cTn>
                                        <p:tgtEl>
                                          <p:spTgt spid="416773">
                                            <p:txEl>
                                              <p:pRg st="7" end="7"/>
                                            </p:txEl>
                                          </p:spTgt>
                                        </p:tgtEl>
                                        <p:attrNameLst>
                                          <p:attrName>style.visibility</p:attrName>
                                        </p:attrNameLst>
                                      </p:cBhvr>
                                      <p:to>
                                        <p:strVal val="visible"/>
                                      </p:to>
                                    </p:set>
                                    <p:animEffect transition="in" filter="fade">
                                      <p:cBhvr>
                                        <p:cTn id="48" dur="1000"/>
                                        <p:tgtEl>
                                          <p:spTgt spid="416773">
                                            <p:txEl>
                                              <p:pRg st="7" end="7"/>
                                            </p:txEl>
                                          </p:spTgt>
                                        </p:tgtEl>
                                      </p:cBhvr>
                                    </p:animEffect>
                                    <p:anim calcmode="lin" valueType="num">
                                      <p:cBhvr>
                                        <p:cTn id="49" dur="1000" fill="hold"/>
                                        <p:tgtEl>
                                          <p:spTgt spid="416773">
                                            <p:txEl>
                                              <p:pRg st="7" end="7"/>
                                            </p:txEl>
                                          </p:spTgt>
                                        </p:tgtEl>
                                        <p:attrNameLst>
                                          <p:attrName>ppt_x</p:attrName>
                                        </p:attrNameLst>
                                      </p:cBhvr>
                                      <p:tavLst>
                                        <p:tav tm="0">
                                          <p:val>
                                            <p:strVal val="#ppt_x"/>
                                          </p:val>
                                        </p:tav>
                                        <p:tav tm="100000">
                                          <p:val>
                                            <p:strVal val="#ppt_x"/>
                                          </p:val>
                                        </p:tav>
                                      </p:tavLst>
                                    </p:anim>
                                    <p:anim calcmode="lin" valueType="num">
                                      <p:cBhvr>
                                        <p:cTn id="50" dur="1000" fill="hold"/>
                                        <p:tgtEl>
                                          <p:spTgt spid="416773">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6773" grpId="0" uiExpand="1" build="p"/>
    </p:bldLst>
  </p:timing>
</p:sld>
</file>

<file path=ppt/slides/slide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967E8A7B-5D6F-43B5-A51B-961D9E2388D7}"/>
              </a:ext>
            </a:extLst>
          </p:cNvPr>
          <p:cNvSpPr>
            <a:spLocks noChangeArrowheads="1"/>
          </p:cNvSpPr>
          <p:nvPr/>
        </p:nvSpPr>
        <p:spPr bwMode="auto">
          <a:xfrm>
            <a:off x="2209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a:solidFill>
                  <a:schemeClr val="tx1"/>
                </a:solidFill>
                <a:latin typeface="Times New Roman" panose="02020603050405020304" pitchFamily="18" charset="0"/>
              </a:defRPr>
            </a:lvl1pPr>
            <a:lvl2pPr marL="742950" indent="-285750">
              <a:defRPr sz="2800">
                <a:solidFill>
                  <a:schemeClr val="tx1"/>
                </a:solidFill>
                <a:latin typeface="Times New Roman" panose="02020603050405020304" pitchFamily="18" charset="0"/>
              </a:defRPr>
            </a:lvl2pPr>
            <a:lvl3pPr marL="1143000" indent="-228600">
              <a:defRPr sz="2800">
                <a:solidFill>
                  <a:schemeClr val="tx1"/>
                </a:solidFill>
                <a:latin typeface="Times New Roman" panose="02020603050405020304" pitchFamily="18" charset="0"/>
              </a:defRPr>
            </a:lvl3pPr>
            <a:lvl4pPr marL="1600200" indent="-228600">
              <a:defRPr sz="2800">
                <a:solidFill>
                  <a:schemeClr val="tx1"/>
                </a:solidFill>
                <a:latin typeface="Times New Roman" panose="02020603050405020304" pitchFamily="18" charset="0"/>
              </a:defRPr>
            </a:lvl4pPr>
            <a:lvl5pPr marL="2057400" indent="-228600">
              <a:defRPr sz="28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defRPr>
            </a:lvl9pPr>
          </a:lstStyle>
          <a:p>
            <a:endParaRPr lang="en-GB" altLang="en-US" noProof="1"/>
          </a:p>
        </p:txBody>
      </p:sp>
      <p:sp>
        <p:nvSpPr>
          <p:cNvPr id="47107" name="Rectangle 3">
            <a:extLst>
              <a:ext uri="{FF2B5EF4-FFF2-40B4-BE49-F238E27FC236}">
                <a16:creationId xmlns:a16="http://schemas.microsoft.com/office/drawing/2014/main" id="{1F11D304-246E-4EED-BBF2-E1A85B7F1867}"/>
              </a:ext>
            </a:extLst>
          </p:cNvPr>
          <p:cNvSpPr>
            <a:spLocks noChangeArrowheads="1"/>
          </p:cNvSpPr>
          <p:nvPr/>
        </p:nvSpPr>
        <p:spPr bwMode="auto">
          <a:xfrm>
            <a:off x="4648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a:solidFill>
                  <a:schemeClr val="tx1"/>
                </a:solidFill>
                <a:latin typeface="Times New Roman" panose="02020603050405020304" pitchFamily="18" charset="0"/>
              </a:defRPr>
            </a:lvl1pPr>
            <a:lvl2pPr marL="742950" indent="-285750">
              <a:defRPr sz="2800">
                <a:solidFill>
                  <a:schemeClr val="tx1"/>
                </a:solidFill>
                <a:latin typeface="Times New Roman" panose="02020603050405020304" pitchFamily="18" charset="0"/>
              </a:defRPr>
            </a:lvl2pPr>
            <a:lvl3pPr marL="1143000" indent="-228600">
              <a:defRPr sz="2800">
                <a:solidFill>
                  <a:schemeClr val="tx1"/>
                </a:solidFill>
                <a:latin typeface="Times New Roman" panose="02020603050405020304" pitchFamily="18" charset="0"/>
              </a:defRPr>
            </a:lvl3pPr>
            <a:lvl4pPr marL="1600200" indent="-228600">
              <a:defRPr sz="2800">
                <a:solidFill>
                  <a:schemeClr val="tx1"/>
                </a:solidFill>
                <a:latin typeface="Times New Roman" panose="02020603050405020304" pitchFamily="18" charset="0"/>
              </a:defRPr>
            </a:lvl4pPr>
            <a:lvl5pPr marL="2057400" indent="-228600">
              <a:defRPr sz="28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defRPr>
            </a:lvl9pPr>
          </a:lstStyle>
          <a:p>
            <a:endParaRPr lang="en-GB" altLang="en-US" noProof="1"/>
          </a:p>
        </p:txBody>
      </p:sp>
      <p:sp>
        <p:nvSpPr>
          <p:cNvPr id="47108" name="Rectangle 4">
            <a:extLst>
              <a:ext uri="{FF2B5EF4-FFF2-40B4-BE49-F238E27FC236}">
                <a16:creationId xmlns:a16="http://schemas.microsoft.com/office/drawing/2014/main" id="{92D0EF3D-4C90-490E-B2BC-F4B6FF720145}"/>
              </a:ext>
            </a:extLst>
          </p:cNvPr>
          <p:cNvSpPr>
            <a:spLocks noGrp="1"/>
          </p:cNvSpPr>
          <p:nvPr>
            <p:ph type="title"/>
          </p:nvPr>
        </p:nvSpPr>
        <p:spPr/>
        <p:txBody>
          <a:bodyPr/>
          <a:lstStyle/>
          <a:p>
            <a:r>
              <a:rPr lang="en-GB" altLang="en-US"/>
              <a:t>The Circular Flow of Income</a:t>
            </a:r>
          </a:p>
        </p:txBody>
      </p:sp>
      <p:sp>
        <p:nvSpPr>
          <p:cNvPr id="416773" name="Rectangle 5">
            <a:extLst>
              <a:ext uri="{FF2B5EF4-FFF2-40B4-BE49-F238E27FC236}">
                <a16:creationId xmlns:a16="http://schemas.microsoft.com/office/drawing/2014/main" id="{ACC89C59-919E-4E4B-9A02-2DAB4135B90D}"/>
              </a:ext>
            </a:extLst>
          </p:cNvPr>
          <p:cNvSpPr>
            <a:spLocks noGrp="1"/>
          </p:cNvSpPr>
          <p:nvPr>
            <p:ph sz="quarter" idx="1"/>
          </p:nvPr>
        </p:nvSpPr>
        <p:spPr>
          <a:xfrm>
            <a:off x="402336" y="1527048"/>
            <a:ext cx="11338560" cy="4866664"/>
          </a:xfrm>
        </p:spPr>
        <p:txBody>
          <a:bodyPr/>
          <a:lstStyle/>
          <a:p>
            <a:pPr>
              <a:lnSpc>
                <a:spcPct val="80000"/>
              </a:lnSpc>
              <a:spcBef>
                <a:spcPct val="45000"/>
              </a:spcBef>
            </a:pPr>
            <a:r>
              <a:rPr lang="en-GB" altLang="en-US" sz="2400" dirty="0"/>
              <a:t>The inner flow</a:t>
            </a:r>
          </a:p>
          <a:p>
            <a:pPr>
              <a:lnSpc>
                <a:spcPct val="80000"/>
              </a:lnSpc>
              <a:spcBef>
                <a:spcPct val="45000"/>
              </a:spcBef>
            </a:pPr>
            <a:r>
              <a:rPr lang="en-GB" altLang="en-US" sz="2400" dirty="0"/>
              <a:t>Withdrawals</a:t>
            </a:r>
          </a:p>
          <a:p>
            <a:pPr lvl="1">
              <a:lnSpc>
                <a:spcPct val="80000"/>
              </a:lnSpc>
              <a:spcBef>
                <a:spcPct val="45000"/>
              </a:spcBef>
            </a:pPr>
            <a:r>
              <a:rPr lang="en-GB" altLang="en-US" sz="2400" dirty="0"/>
              <a:t>net saving (</a:t>
            </a:r>
            <a:r>
              <a:rPr lang="en-GB" altLang="en-US" sz="2400" i="1" dirty="0"/>
              <a:t>S</a:t>
            </a:r>
            <a:r>
              <a:rPr lang="en-GB" altLang="en-US" sz="2400" dirty="0"/>
              <a:t>)</a:t>
            </a:r>
          </a:p>
          <a:p>
            <a:pPr lvl="1">
              <a:lnSpc>
                <a:spcPct val="80000"/>
              </a:lnSpc>
              <a:spcBef>
                <a:spcPct val="45000"/>
              </a:spcBef>
            </a:pPr>
            <a:r>
              <a:rPr lang="en-GB" altLang="en-US" sz="2400" dirty="0"/>
              <a:t>net taxes (</a:t>
            </a:r>
            <a:r>
              <a:rPr lang="en-GB" altLang="en-US" sz="2400" i="1" dirty="0"/>
              <a:t>T</a:t>
            </a:r>
            <a:r>
              <a:rPr lang="en-GB" altLang="en-US" sz="2400" dirty="0"/>
              <a:t>)</a:t>
            </a:r>
          </a:p>
          <a:p>
            <a:pPr lvl="1">
              <a:lnSpc>
                <a:spcPct val="80000"/>
              </a:lnSpc>
              <a:spcBef>
                <a:spcPct val="45000"/>
              </a:spcBef>
            </a:pPr>
            <a:r>
              <a:rPr lang="en-GB" altLang="en-US" sz="2400" dirty="0"/>
              <a:t>imports (</a:t>
            </a:r>
            <a:r>
              <a:rPr lang="en-GB" altLang="en-US" sz="2400" i="1" dirty="0"/>
              <a:t>M</a:t>
            </a:r>
            <a:r>
              <a:rPr lang="en-GB" altLang="en-US" sz="2400" dirty="0"/>
              <a:t>)</a:t>
            </a:r>
          </a:p>
          <a:p>
            <a:pPr>
              <a:lnSpc>
                <a:spcPct val="80000"/>
              </a:lnSpc>
              <a:spcBef>
                <a:spcPct val="45000"/>
              </a:spcBef>
            </a:pPr>
            <a:r>
              <a:rPr lang="en-GB" altLang="en-US" sz="2400" dirty="0"/>
              <a:t>Injections</a:t>
            </a:r>
          </a:p>
          <a:p>
            <a:pPr lvl="1">
              <a:lnSpc>
                <a:spcPct val="80000"/>
              </a:lnSpc>
              <a:spcBef>
                <a:spcPct val="45000"/>
              </a:spcBef>
            </a:pPr>
            <a:r>
              <a:rPr lang="en-GB" altLang="en-US" sz="2400" dirty="0"/>
              <a:t>investment (</a:t>
            </a:r>
            <a:r>
              <a:rPr lang="en-GB" altLang="en-US" sz="2400" i="1" dirty="0"/>
              <a:t>I</a:t>
            </a:r>
            <a:r>
              <a:rPr lang="en-GB" altLang="en-US" sz="2400" baseline="-25000" dirty="0"/>
              <a:t>d</a:t>
            </a:r>
            <a:r>
              <a:rPr lang="en-GB" altLang="en-US" sz="2400" dirty="0"/>
              <a:t>)</a:t>
            </a:r>
          </a:p>
          <a:p>
            <a:pPr lvl="1">
              <a:lnSpc>
                <a:spcPct val="80000"/>
              </a:lnSpc>
              <a:spcBef>
                <a:spcPct val="45000"/>
              </a:spcBef>
            </a:pPr>
            <a:r>
              <a:rPr lang="en-GB" altLang="en-US" sz="2400" dirty="0"/>
              <a:t>government </a:t>
            </a:r>
            <a:br>
              <a:rPr lang="en-GB" altLang="en-US" sz="2400" dirty="0"/>
            </a:br>
            <a:r>
              <a:rPr lang="en-GB" altLang="en-US" sz="2400" dirty="0"/>
              <a:t>expenditure (</a:t>
            </a:r>
            <a:r>
              <a:rPr lang="en-GB" altLang="en-US" sz="2400" i="1" dirty="0"/>
              <a:t>G</a:t>
            </a:r>
            <a:r>
              <a:rPr lang="en-GB" altLang="en-US" sz="2400" baseline="-25000" dirty="0"/>
              <a:t>d</a:t>
            </a:r>
            <a:r>
              <a:rPr lang="en-GB" altLang="en-US" sz="2400" dirty="0"/>
              <a:t>)</a:t>
            </a:r>
          </a:p>
          <a:p>
            <a:pPr lvl="1">
              <a:lnSpc>
                <a:spcPct val="80000"/>
              </a:lnSpc>
              <a:spcBef>
                <a:spcPct val="45000"/>
              </a:spcBef>
            </a:pPr>
            <a:r>
              <a:rPr lang="en-GB" altLang="en-US" sz="2400" dirty="0"/>
              <a:t>export expenditure (</a:t>
            </a:r>
            <a:r>
              <a:rPr lang="en-GB" altLang="en-US" sz="2400" i="1" dirty="0" err="1"/>
              <a:t>X</a:t>
            </a:r>
            <a:r>
              <a:rPr lang="en-GB" altLang="en-US" sz="2400" baseline="-25000" dirty="0" err="1"/>
              <a:t>d</a:t>
            </a:r>
            <a:r>
              <a:rPr lang="en-GB" altLang="en-US" sz="2400" dirty="0"/>
              <a:t>)</a:t>
            </a:r>
          </a:p>
        </p:txBody>
      </p:sp>
      <p:sp>
        <p:nvSpPr>
          <p:cNvPr id="2" name="Arc 3">
            <a:extLst>
              <a:ext uri="{FF2B5EF4-FFF2-40B4-BE49-F238E27FC236}">
                <a16:creationId xmlns:a16="http://schemas.microsoft.com/office/drawing/2014/main" id="{2571D5B0-C705-2EB7-1828-504D8A2C0990}"/>
              </a:ext>
            </a:extLst>
          </p:cNvPr>
          <p:cNvSpPr>
            <a:spLocks/>
          </p:cNvSpPr>
          <p:nvPr/>
        </p:nvSpPr>
        <p:spPr bwMode="auto">
          <a:xfrm>
            <a:off x="2981676" y="2134763"/>
            <a:ext cx="1458913" cy="3263900"/>
          </a:xfrm>
          <a:custGeom>
            <a:avLst/>
            <a:gdLst>
              <a:gd name="G0" fmla="+- 21600 0 0"/>
              <a:gd name="G1" fmla="+- 21510 0 0"/>
              <a:gd name="G2" fmla="+- 21600 0 0"/>
              <a:gd name="T0" fmla="*/ 21365 w 21600"/>
              <a:gd name="T1" fmla="*/ 43109 h 43109"/>
              <a:gd name="T2" fmla="*/ 19626 w 21600"/>
              <a:gd name="T3" fmla="*/ 0 h 43109"/>
              <a:gd name="T4" fmla="*/ 21600 w 21600"/>
              <a:gd name="T5" fmla="*/ 21510 h 43109"/>
            </a:gdLst>
            <a:ahLst/>
            <a:cxnLst>
              <a:cxn ang="0">
                <a:pos x="T0" y="T1"/>
              </a:cxn>
              <a:cxn ang="0">
                <a:pos x="T2" y="T3"/>
              </a:cxn>
              <a:cxn ang="0">
                <a:pos x="T4" y="T5"/>
              </a:cxn>
            </a:cxnLst>
            <a:rect l="0" t="0" r="r" b="b"/>
            <a:pathLst>
              <a:path w="21600" h="43109" fill="none" extrusionOk="0">
                <a:moveTo>
                  <a:pt x="21365" y="43108"/>
                </a:moveTo>
                <a:cubicBezTo>
                  <a:pt x="9528" y="42979"/>
                  <a:pt x="0" y="33347"/>
                  <a:pt x="0" y="21510"/>
                </a:cubicBezTo>
                <a:cubicBezTo>
                  <a:pt x="0" y="10345"/>
                  <a:pt x="8508" y="1020"/>
                  <a:pt x="19626" y="0"/>
                </a:cubicBezTo>
              </a:path>
              <a:path w="21600" h="43109" stroke="0" extrusionOk="0">
                <a:moveTo>
                  <a:pt x="21365" y="43108"/>
                </a:moveTo>
                <a:cubicBezTo>
                  <a:pt x="9528" y="42979"/>
                  <a:pt x="0" y="33347"/>
                  <a:pt x="0" y="21510"/>
                </a:cubicBezTo>
                <a:cubicBezTo>
                  <a:pt x="0" y="10345"/>
                  <a:pt x="8508" y="1020"/>
                  <a:pt x="19626" y="0"/>
                </a:cubicBezTo>
                <a:lnTo>
                  <a:pt x="21600" y="21510"/>
                </a:lnTo>
                <a:close/>
              </a:path>
            </a:pathLst>
          </a:custGeom>
          <a:noFill/>
          <a:ln w="38100" cap="rnd">
            <a:solidFill>
              <a:schemeClr val="tx2"/>
            </a:solidFill>
            <a:round/>
            <a:headEnd type="stealth" w="med" len="lg"/>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 name="Arc 4">
            <a:extLst>
              <a:ext uri="{FF2B5EF4-FFF2-40B4-BE49-F238E27FC236}">
                <a16:creationId xmlns:a16="http://schemas.microsoft.com/office/drawing/2014/main" id="{BF4C7450-8D03-7C4F-E2E5-AEB3209EBD38}"/>
              </a:ext>
            </a:extLst>
          </p:cNvPr>
          <p:cNvSpPr>
            <a:spLocks/>
          </p:cNvSpPr>
          <p:nvPr/>
        </p:nvSpPr>
        <p:spPr bwMode="auto">
          <a:xfrm>
            <a:off x="6239225" y="2147463"/>
            <a:ext cx="1752600" cy="3299254"/>
          </a:xfrm>
          <a:custGeom>
            <a:avLst/>
            <a:gdLst>
              <a:gd name="G0" fmla="+- 0 0 0"/>
              <a:gd name="G1" fmla="+- 21440 0 0"/>
              <a:gd name="G2" fmla="+- 21600 0 0"/>
              <a:gd name="T0" fmla="*/ 2620 w 21600"/>
              <a:gd name="T1" fmla="*/ 0 h 42815"/>
              <a:gd name="T2" fmla="*/ 3111 w 21600"/>
              <a:gd name="T3" fmla="*/ 42815 h 42815"/>
              <a:gd name="T4" fmla="*/ 0 w 21600"/>
              <a:gd name="T5" fmla="*/ 21440 h 42815"/>
            </a:gdLst>
            <a:ahLst/>
            <a:cxnLst>
              <a:cxn ang="0">
                <a:pos x="T0" y="T1"/>
              </a:cxn>
              <a:cxn ang="0">
                <a:pos x="T2" y="T3"/>
              </a:cxn>
              <a:cxn ang="0">
                <a:pos x="T4" y="T5"/>
              </a:cxn>
            </a:cxnLst>
            <a:rect l="0" t="0" r="r" b="b"/>
            <a:pathLst>
              <a:path w="21600" h="42815" fill="none" extrusionOk="0">
                <a:moveTo>
                  <a:pt x="2620" y="-1"/>
                </a:moveTo>
                <a:cubicBezTo>
                  <a:pt x="13455" y="1323"/>
                  <a:pt x="21600" y="10523"/>
                  <a:pt x="21600" y="21440"/>
                </a:cubicBezTo>
                <a:cubicBezTo>
                  <a:pt x="21600" y="32167"/>
                  <a:pt x="13726" y="41269"/>
                  <a:pt x="3110" y="42814"/>
                </a:cubicBezTo>
              </a:path>
              <a:path w="21600" h="42815" stroke="0" extrusionOk="0">
                <a:moveTo>
                  <a:pt x="2620" y="-1"/>
                </a:moveTo>
                <a:cubicBezTo>
                  <a:pt x="13455" y="1323"/>
                  <a:pt x="21600" y="10523"/>
                  <a:pt x="21600" y="21440"/>
                </a:cubicBezTo>
                <a:cubicBezTo>
                  <a:pt x="21600" y="32167"/>
                  <a:pt x="13726" y="41269"/>
                  <a:pt x="3110" y="42814"/>
                </a:cubicBezTo>
                <a:lnTo>
                  <a:pt x="0" y="21440"/>
                </a:lnTo>
                <a:close/>
              </a:path>
            </a:pathLst>
          </a:custGeom>
          <a:noFill/>
          <a:ln w="38100" cap="rnd">
            <a:solidFill>
              <a:schemeClr val="tx2"/>
            </a:solidFill>
            <a:round/>
            <a:headEnd type="stealth" w="med" len="lg"/>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 name="Rectangle 11">
            <a:extLst>
              <a:ext uri="{FF2B5EF4-FFF2-40B4-BE49-F238E27FC236}">
                <a16:creationId xmlns:a16="http://schemas.microsoft.com/office/drawing/2014/main" id="{B664FF36-F182-561C-0B73-F361334D1A61}"/>
              </a:ext>
            </a:extLst>
          </p:cNvPr>
          <p:cNvSpPr>
            <a:spLocks noChangeArrowheads="1"/>
          </p:cNvSpPr>
          <p:nvPr/>
        </p:nvSpPr>
        <p:spPr bwMode="auto">
          <a:xfrm>
            <a:off x="2954463" y="3378590"/>
            <a:ext cx="1383392" cy="708528"/>
          </a:xfrm>
          <a:prstGeom prst="rect">
            <a:avLst/>
          </a:prstGeom>
          <a:noFill/>
          <a:ln>
            <a:noFill/>
          </a:ln>
          <a:effectLst>
            <a:outerShdw dist="7620" dir="2700000" algn="tl" rotWithShape="0">
              <a:prstClr val="black"/>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92075" tIns="46038" rIns="92075" bIns="46038">
            <a:spAutoFit/>
          </a:bodyPr>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GB" altLang="en-US" sz="2000" b="1" dirty="0">
                <a:solidFill>
                  <a:schemeClr val="tx2"/>
                </a:solidFill>
                <a:latin typeface="Arial" panose="020B0604020202020204" pitchFamily="34" charset="0"/>
              </a:rPr>
              <a:t>Factor</a:t>
            </a:r>
          </a:p>
          <a:p>
            <a:pPr algn="ctr"/>
            <a:r>
              <a:rPr lang="en-GB" altLang="en-US" sz="2000" b="1" dirty="0">
                <a:solidFill>
                  <a:schemeClr val="tx2"/>
                </a:solidFill>
                <a:latin typeface="Arial" panose="020B0604020202020204" pitchFamily="34" charset="0"/>
              </a:rPr>
              <a:t>payments</a:t>
            </a:r>
          </a:p>
        </p:txBody>
      </p:sp>
      <p:sp>
        <p:nvSpPr>
          <p:cNvPr id="5" name="Rectangle 12">
            <a:extLst>
              <a:ext uri="{FF2B5EF4-FFF2-40B4-BE49-F238E27FC236}">
                <a16:creationId xmlns:a16="http://schemas.microsoft.com/office/drawing/2014/main" id="{AA47A1CC-EF64-F41D-919A-6DE608C3A88C}"/>
              </a:ext>
            </a:extLst>
          </p:cNvPr>
          <p:cNvSpPr>
            <a:spLocks noChangeArrowheads="1"/>
          </p:cNvSpPr>
          <p:nvPr/>
        </p:nvSpPr>
        <p:spPr bwMode="auto">
          <a:xfrm>
            <a:off x="5680930" y="3159624"/>
            <a:ext cx="2269852" cy="1324081"/>
          </a:xfrm>
          <a:prstGeom prst="rect">
            <a:avLst/>
          </a:prstGeom>
          <a:noFill/>
          <a:ln>
            <a:noFill/>
          </a:ln>
          <a:effectLst>
            <a:outerShdw dist="7620" dir="2700000" algn="tl" rotWithShape="0">
              <a:prstClr val="black"/>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92075" tIns="46038" rIns="92075" bIns="46038">
            <a:spAutoFit/>
          </a:bodyPr>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GB" altLang="en-US" sz="2000" b="1" dirty="0">
                <a:solidFill>
                  <a:schemeClr val="tx2"/>
                </a:solidFill>
                <a:latin typeface="Arial" panose="020B0604020202020204" pitchFamily="34" charset="0"/>
              </a:rPr>
              <a:t>Consumption of</a:t>
            </a:r>
          </a:p>
          <a:p>
            <a:pPr algn="ctr"/>
            <a:r>
              <a:rPr lang="en-GB" altLang="en-US" sz="2000" b="1" dirty="0">
                <a:solidFill>
                  <a:schemeClr val="tx2"/>
                </a:solidFill>
                <a:latin typeface="Arial" panose="020B0604020202020204" pitchFamily="34" charset="0"/>
              </a:rPr>
              <a:t>domestically</a:t>
            </a:r>
          </a:p>
          <a:p>
            <a:pPr algn="ctr"/>
            <a:r>
              <a:rPr lang="en-GB" altLang="en-US" sz="2000" b="1" dirty="0">
                <a:solidFill>
                  <a:schemeClr val="tx2"/>
                </a:solidFill>
                <a:latin typeface="Arial" panose="020B0604020202020204" pitchFamily="34" charset="0"/>
              </a:rPr>
              <a:t>produced goods</a:t>
            </a:r>
          </a:p>
          <a:p>
            <a:pPr algn="ctr"/>
            <a:r>
              <a:rPr lang="en-GB" altLang="en-US" sz="2000" b="1" dirty="0">
                <a:solidFill>
                  <a:schemeClr val="tx2"/>
                </a:solidFill>
                <a:latin typeface="Arial" panose="020B0604020202020204" pitchFamily="34" charset="0"/>
              </a:rPr>
              <a:t>and services (C</a:t>
            </a:r>
            <a:r>
              <a:rPr lang="en-GB" altLang="en-US" sz="2000" b="1" baseline="-25000" dirty="0">
                <a:solidFill>
                  <a:schemeClr val="tx2"/>
                </a:solidFill>
                <a:latin typeface="Arial" panose="020B0604020202020204" pitchFamily="34" charset="0"/>
              </a:rPr>
              <a:t>d</a:t>
            </a:r>
            <a:r>
              <a:rPr lang="en-GB" altLang="en-US" sz="2000" b="1" dirty="0">
                <a:solidFill>
                  <a:schemeClr val="tx2"/>
                </a:solidFill>
                <a:latin typeface="Arial" panose="020B0604020202020204" pitchFamily="34" charset="0"/>
              </a:rPr>
              <a:t>)</a:t>
            </a:r>
          </a:p>
        </p:txBody>
      </p:sp>
      <p:grpSp>
        <p:nvGrpSpPr>
          <p:cNvPr id="6" name="Group 28">
            <a:extLst>
              <a:ext uri="{FF2B5EF4-FFF2-40B4-BE49-F238E27FC236}">
                <a16:creationId xmlns:a16="http://schemas.microsoft.com/office/drawing/2014/main" id="{A64CD884-4D2B-619D-07EE-CD19F8FCC496}"/>
              </a:ext>
            </a:extLst>
          </p:cNvPr>
          <p:cNvGrpSpPr>
            <a:grpSpLocks/>
          </p:cNvGrpSpPr>
          <p:nvPr/>
        </p:nvGrpSpPr>
        <p:grpSpPr bwMode="auto">
          <a:xfrm>
            <a:off x="6020151" y="2023636"/>
            <a:ext cx="3233738" cy="2419350"/>
            <a:chOff x="1992" y="1087"/>
            <a:chExt cx="2037" cy="1524"/>
          </a:xfrm>
          <a:effectLst>
            <a:outerShdw dist="7620" dir="2700000" algn="tl" rotWithShape="0">
              <a:prstClr val="black"/>
            </a:outerShdw>
          </a:effectLst>
        </p:grpSpPr>
        <p:sp>
          <p:nvSpPr>
            <p:cNvPr id="7" name="Arc 5">
              <a:extLst>
                <a:ext uri="{FF2B5EF4-FFF2-40B4-BE49-F238E27FC236}">
                  <a16:creationId xmlns:a16="http://schemas.microsoft.com/office/drawing/2014/main" id="{E65BF5D1-F561-11D4-7806-F60C657C105B}"/>
                </a:ext>
              </a:extLst>
            </p:cNvPr>
            <p:cNvSpPr>
              <a:spLocks/>
            </p:cNvSpPr>
            <p:nvPr/>
          </p:nvSpPr>
          <p:spPr bwMode="auto">
            <a:xfrm>
              <a:off x="1992" y="1087"/>
              <a:ext cx="1753" cy="1524"/>
            </a:xfrm>
            <a:custGeom>
              <a:avLst/>
              <a:gdLst>
                <a:gd name="G0" fmla="+- 0 0 0"/>
                <a:gd name="G1" fmla="+- 21440 0 0"/>
                <a:gd name="G2" fmla="+- 21600 0 0"/>
                <a:gd name="T0" fmla="*/ 2626 w 20935"/>
                <a:gd name="T1" fmla="*/ 0 h 21440"/>
                <a:gd name="T2" fmla="*/ 20935 w 20935"/>
                <a:gd name="T3" fmla="*/ 16120 h 21440"/>
                <a:gd name="T4" fmla="*/ 0 w 20935"/>
                <a:gd name="T5" fmla="*/ 21440 h 21440"/>
              </a:gdLst>
              <a:ahLst/>
              <a:cxnLst>
                <a:cxn ang="0">
                  <a:pos x="T0" y="T1"/>
                </a:cxn>
                <a:cxn ang="0">
                  <a:pos x="T2" y="T3"/>
                </a:cxn>
                <a:cxn ang="0">
                  <a:pos x="T4" y="T5"/>
                </a:cxn>
              </a:cxnLst>
              <a:rect l="0" t="0" r="r" b="b"/>
              <a:pathLst>
                <a:path w="20935" h="21440" fill="none" extrusionOk="0">
                  <a:moveTo>
                    <a:pt x="2625" y="0"/>
                  </a:moveTo>
                  <a:cubicBezTo>
                    <a:pt x="11469" y="1083"/>
                    <a:pt x="18740" y="7485"/>
                    <a:pt x="20934" y="16120"/>
                  </a:cubicBezTo>
                </a:path>
                <a:path w="20935" h="21440" stroke="0" extrusionOk="0">
                  <a:moveTo>
                    <a:pt x="2625" y="0"/>
                  </a:moveTo>
                  <a:cubicBezTo>
                    <a:pt x="11469" y="1083"/>
                    <a:pt x="18740" y="7485"/>
                    <a:pt x="20934" y="16120"/>
                  </a:cubicBezTo>
                  <a:lnTo>
                    <a:pt x="0" y="21440"/>
                  </a:lnTo>
                  <a:close/>
                </a:path>
              </a:pathLst>
            </a:custGeom>
            <a:noFill/>
            <a:ln w="38100" cap="rnd">
              <a:solidFill>
                <a:schemeClr val="folHlink"/>
              </a:solidFill>
              <a:round/>
              <a:headEnd type="stealth" w="med" len="lg"/>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8" name="Rectangle 16">
              <a:extLst>
                <a:ext uri="{FF2B5EF4-FFF2-40B4-BE49-F238E27FC236}">
                  <a16:creationId xmlns:a16="http://schemas.microsoft.com/office/drawing/2014/main" id="{0A18B282-2F1A-AF62-C5CE-152E63F3E9D7}"/>
                </a:ext>
              </a:extLst>
            </p:cNvPr>
            <p:cNvSpPr>
              <a:spLocks noChangeArrowheads="1"/>
            </p:cNvSpPr>
            <p:nvPr/>
          </p:nvSpPr>
          <p:spPr bwMode="auto">
            <a:xfrm>
              <a:off x="2907" y="1505"/>
              <a:ext cx="1122" cy="233"/>
            </a:xfrm>
            <a:prstGeom prst="rect">
              <a:avLst/>
            </a:prstGeom>
            <a:noFill/>
            <a:ln>
              <a:noFill/>
            </a:ln>
            <a:effectLst>
              <a:outerShdw dist="7620" dir="2700000" algn="ctr" rotWithShape="0">
                <a:schemeClr val="hlink"/>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92075" tIns="46038" rIns="92075" bIns="46038">
              <a:spAutoFit/>
            </a:bodyPr>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GB" altLang="en-US" sz="1800" b="1" dirty="0">
                  <a:solidFill>
                    <a:srgbClr val="003300"/>
                  </a:solidFill>
                  <a:latin typeface="Arial" panose="020B0604020202020204" pitchFamily="34" charset="0"/>
                </a:rPr>
                <a:t>Investment (</a:t>
              </a:r>
              <a:r>
                <a:rPr lang="en-GB" altLang="en-US" sz="1800" b="1" i="1" dirty="0">
                  <a:solidFill>
                    <a:srgbClr val="003300"/>
                  </a:solidFill>
                  <a:latin typeface="Arial" panose="020B0604020202020204" pitchFamily="34" charset="0"/>
                </a:rPr>
                <a:t>I</a:t>
              </a:r>
              <a:r>
                <a:rPr lang="en-GB" altLang="en-US" sz="1800" b="1" baseline="-25000" dirty="0">
                  <a:solidFill>
                    <a:srgbClr val="003300"/>
                  </a:solidFill>
                  <a:latin typeface="Arial" panose="020B0604020202020204" pitchFamily="34" charset="0"/>
                </a:rPr>
                <a:t>d</a:t>
              </a:r>
              <a:r>
                <a:rPr lang="en-GB" altLang="en-US" sz="1800" b="1" dirty="0">
                  <a:solidFill>
                    <a:srgbClr val="003300"/>
                  </a:solidFill>
                  <a:latin typeface="Arial" panose="020B0604020202020204" pitchFamily="34" charset="0"/>
                </a:rPr>
                <a:t>)</a:t>
              </a:r>
            </a:p>
          </p:txBody>
        </p:sp>
      </p:grpSp>
      <p:grpSp>
        <p:nvGrpSpPr>
          <p:cNvPr id="9" name="Group 30">
            <a:extLst>
              <a:ext uri="{FF2B5EF4-FFF2-40B4-BE49-F238E27FC236}">
                <a16:creationId xmlns:a16="http://schemas.microsoft.com/office/drawing/2014/main" id="{84E4F97F-554E-581A-60E7-F9F94F8E37DB}"/>
              </a:ext>
            </a:extLst>
          </p:cNvPr>
          <p:cNvGrpSpPr>
            <a:grpSpLocks/>
          </p:cNvGrpSpPr>
          <p:nvPr/>
        </p:nvGrpSpPr>
        <p:grpSpPr bwMode="auto">
          <a:xfrm>
            <a:off x="5964588" y="1909337"/>
            <a:ext cx="4710113" cy="2478087"/>
            <a:chOff x="1957" y="1015"/>
            <a:chExt cx="2967" cy="1561"/>
          </a:xfrm>
          <a:effectLst>
            <a:outerShdw dist="7620" dir="2700000" algn="tl" rotWithShape="0">
              <a:prstClr val="black"/>
            </a:outerShdw>
          </a:effectLst>
        </p:grpSpPr>
        <p:sp>
          <p:nvSpPr>
            <p:cNvPr id="10" name="Arc 7">
              <a:extLst>
                <a:ext uri="{FF2B5EF4-FFF2-40B4-BE49-F238E27FC236}">
                  <a16:creationId xmlns:a16="http://schemas.microsoft.com/office/drawing/2014/main" id="{313F3311-B8E3-57CA-9013-32941BE29202}"/>
                </a:ext>
              </a:extLst>
            </p:cNvPr>
            <p:cNvSpPr>
              <a:spLocks/>
            </p:cNvSpPr>
            <p:nvPr/>
          </p:nvSpPr>
          <p:spPr bwMode="auto">
            <a:xfrm>
              <a:off x="1957" y="1015"/>
              <a:ext cx="2590" cy="1561"/>
            </a:xfrm>
            <a:custGeom>
              <a:avLst/>
              <a:gdLst>
                <a:gd name="G0" fmla="+- 0 0 0"/>
                <a:gd name="G1" fmla="+- 21440 0 0"/>
                <a:gd name="G2" fmla="+- 21600 0 0"/>
                <a:gd name="T0" fmla="*/ 2628 w 20932"/>
                <a:gd name="T1" fmla="*/ 0 h 21440"/>
                <a:gd name="T2" fmla="*/ 20932 w 20932"/>
                <a:gd name="T3" fmla="*/ 16110 h 21440"/>
                <a:gd name="T4" fmla="*/ 0 w 20932"/>
                <a:gd name="T5" fmla="*/ 21440 h 21440"/>
              </a:gdLst>
              <a:ahLst/>
              <a:cxnLst>
                <a:cxn ang="0">
                  <a:pos x="T0" y="T1"/>
                </a:cxn>
                <a:cxn ang="0">
                  <a:pos x="T2" y="T3"/>
                </a:cxn>
                <a:cxn ang="0">
                  <a:pos x="T4" y="T5"/>
                </a:cxn>
              </a:cxnLst>
              <a:rect l="0" t="0" r="r" b="b"/>
              <a:pathLst>
                <a:path w="20932" h="21440" fill="none" extrusionOk="0">
                  <a:moveTo>
                    <a:pt x="2627" y="0"/>
                  </a:moveTo>
                  <a:cubicBezTo>
                    <a:pt x="11466" y="1083"/>
                    <a:pt x="18734" y="7480"/>
                    <a:pt x="20932" y="16109"/>
                  </a:cubicBezTo>
                </a:path>
                <a:path w="20932" h="21440" stroke="0" extrusionOk="0">
                  <a:moveTo>
                    <a:pt x="2627" y="0"/>
                  </a:moveTo>
                  <a:cubicBezTo>
                    <a:pt x="11466" y="1083"/>
                    <a:pt x="18734" y="7480"/>
                    <a:pt x="20932" y="16109"/>
                  </a:cubicBezTo>
                  <a:lnTo>
                    <a:pt x="0" y="21440"/>
                  </a:lnTo>
                  <a:close/>
                </a:path>
              </a:pathLst>
            </a:custGeom>
            <a:noFill/>
            <a:ln w="38100" cap="rnd">
              <a:solidFill>
                <a:schemeClr val="folHlink"/>
              </a:solidFill>
              <a:round/>
              <a:headEnd type="stealth" w="med" len="lg"/>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1" name="Rectangle 17">
              <a:extLst>
                <a:ext uri="{FF2B5EF4-FFF2-40B4-BE49-F238E27FC236}">
                  <a16:creationId xmlns:a16="http://schemas.microsoft.com/office/drawing/2014/main" id="{8672BE8F-B8FC-4021-3ED8-1CA5098FF602}"/>
                </a:ext>
              </a:extLst>
            </p:cNvPr>
            <p:cNvSpPr>
              <a:spLocks noChangeArrowheads="1"/>
            </p:cNvSpPr>
            <p:nvPr/>
          </p:nvSpPr>
          <p:spPr bwMode="auto">
            <a:xfrm>
              <a:off x="3673" y="1748"/>
              <a:ext cx="1251" cy="408"/>
            </a:xfrm>
            <a:prstGeom prst="rect">
              <a:avLst/>
            </a:prstGeom>
            <a:noFill/>
            <a:ln>
              <a:noFill/>
            </a:ln>
            <a:effectLst>
              <a:outerShdw dist="7620" dir="2700000" algn="ctr" rotWithShape="0">
                <a:schemeClr val="hlink"/>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92075" tIns="46038" rIns="92075" bIns="46038">
              <a:spAutoFit/>
            </a:bodyPr>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GB" altLang="en-US" sz="1800" b="1" dirty="0">
                  <a:solidFill>
                    <a:srgbClr val="003300"/>
                  </a:solidFill>
                  <a:latin typeface="Arial" panose="020B0604020202020204" pitchFamily="34" charset="0"/>
                </a:rPr>
                <a:t>Government</a:t>
              </a:r>
            </a:p>
            <a:p>
              <a:pPr algn="ctr"/>
              <a:r>
                <a:rPr lang="en-GB" altLang="en-US" sz="1800" b="1" dirty="0">
                  <a:solidFill>
                    <a:srgbClr val="003300"/>
                  </a:solidFill>
                  <a:latin typeface="Arial" panose="020B0604020202020204" pitchFamily="34" charset="0"/>
                </a:rPr>
                <a:t>expenditure (</a:t>
              </a:r>
              <a:r>
                <a:rPr lang="en-GB" altLang="en-US" sz="1800" b="1" i="1" dirty="0" err="1">
                  <a:solidFill>
                    <a:srgbClr val="003300"/>
                  </a:solidFill>
                  <a:latin typeface="Arial" panose="020B0604020202020204" pitchFamily="34" charset="0"/>
                </a:rPr>
                <a:t>G</a:t>
              </a:r>
              <a:r>
                <a:rPr lang="en-GB" altLang="en-US" sz="1800" b="1" baseline="-25000" dirty="0" err="1">
                  <a:solidFill>
                    <a:srgbClr val="003300"/>
                  </a:solidFill>
                  <a:latin typeface="Arial" panose="020B0604020202020204" pitchFamily="34" charset="0"/>
                </a:rPr>
                <a:t>d</a:t>
              </a:r>
              <a:r>
                <a:rPr lang="en-GB" altLang="en-US" sz="1800" b="1" dirty="0">
                  <a:solidFill>
                    <a:srgbClr val="003300"/>
                  </a:solidFill>
                  <a:latin typeface="Arial" panose="020B0604020202020204" pitchFamily="34" charset="0"/>
                </a:rPr>
                <a:t>)</a:t>
              </a:r>
            </a:p>
          </p:txBody>
        </p:sp>
      </p:grpSp>
      <p:grpSp>
        <p:nvGrpSpPr>
          <p:cNvPr id="12" name="Group 32">
            <a:extLst>
              <a:ext uri="{FF2B5EF4-FFF2-40B4-BE49-F238E27FC236}">
                <a16:creationId xmlns:a16="http://schemas.microsoft.com/office/drawing/2014/main" id="{7FD05600-419B-65E3-EE51-7A9CB39E7D64}"/>
              </a:ext>
            </a:extLst>
          </p:cNvPr>
          <p:cNvGrpSpPr>
            <a:grpSpLocks/>
          </p:cNvGrpSpPr>
          <p:nvPr/>
        </p:nvGrpSpPr>
        <p:grpSpPr bwMode="auto">
          <a:xfrm>
            <a:off x="5983639" y="1817262"/>
            <a:ext cx="5254625" cy="2644775"/>
            <a:chOff x="1969" y="957"/>
            <a:chExt cx="3310" cy="1666"/>
          </a:xfrm>
          <a:effectLst>
            <a:outerShdw dist="7620" dir="2700000" algn="tl" rotWithShape="0">
              <a:prstClr val="black"/>
            </a:outerShdw>
          </a:effectLst>
        </p:grpSpPr>
        <p:sp>
          <p:nvSpPr>
            <p:cNvPr id="13" name="Arc 6">
              <a:extLst>
                <a:ext uri="{FF2B5EF4-FFF2-40B4-BE49-F238E27FC236}">
                  <a16:creationId xmlns:a16="http://schemas.microsoft.com/office/drawing/2014/main" id="{9320F76B-25C3-1E19-C004-2D6CD1224EDE}"/>
                </a:ext>
              </a:extLst>
            </p:cNvPr>
            <p:cNvSpPr>
              <a:spLocks/>
            </p:cNvSpPr>
            <p:nvPr/>
          </p:nvSpPr>
          <p:spPr bwMode="auto">
            <a:xfrm>
              <a:off x="1969" y="957"/>
              <a:ext cx="3310" cy="1666"/>
            </a:xfrm>
            <a:custGeom>
              <a:avLst/>
              <a:gdLst>
                <a:gd name="G0" fmla="+- 0 0 0"/>
                <a:gd name="G1" fmla="+- 21439 0 0"/>
                <a:gd name="G2" fmla="+- 21600 0 0"/>
                <a:gd name="T0" fmla="*/ 2631 w 20935"/>
                <a:gd name="T1" fmla="*/ 0 h 21439"/>
                <a:gd name="T2" fmla="*/ 20935 w 20935"/>
                <a:gd name="T3" fmla="*/ 16119 h 21439"/>
                <a:gd name="T4" fmla="*/ 0 w 20935"/>
                <a:gd name="T5" fmla="*/ 21439 h 21439"/>
              </a:gdLst>
              <a:ahLst/>
              <a:cxnLst>
                <a:cxn ang="0">
                  <a:pos x="T0" y="T1"/>
                </a:cxn>
                <a:cxn ang="0">
                  <a:pos x="T2" y="T3"/>
                </a:cxn>
                <a:cxn ang="0">
                  <a:pos x="T4" y="T5"/>
                </a:cxn>
              </a:cxnLst>
              <a:rect l="0" t="0" r="r" b="b"/>
              <a:pathLst>
                <a:path w="20935" h="21439" fill="none" extrusionOk="0">
                  <a:moveTo>
                    <a:pt x="2631" y="-1"/>
                  </a:moveTo>
                  <a:cubicBezTo>
                    <a:pt x="11472" y="1084"/>
                    <a:pt x="18740" y="7485"/>
                    <a:pt x="20934" y="16119"/>
                  </a:cubicBezTo>
                </a:path>
                <a:path w="20935" h="21439" stroke="0" extrusionOk="0">
                  <a:moveTo>
                    <a:pt x="2631" y="-1"/>
                  </a:moveTo>
                  <a:cubicBezTo>
                    <a:pt x="11472" y="1084"/>
                    <a:pt x="18740" y="7485"/>
                    <a:pt x="20934" y="16119"/>
                  </a:cubicBezTo>
                  <a:lnTo>
                    <a:pt x="0" y="21439"/>
                  </a:lnTo>
                  <a:close/>
                </a:path>
              </a:pathLst>
            </a:custGeom>
            <a:noFill/>
            <a:ln w="38100" cap="rnd">
              <a:solidFill>
                <a:schemeClr val="folHlink"/>
              </a:solidFill>
              <a:round/>
              <a:headEnd type="stealth" w="med" len="lg"/>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dirty="0"/>
            </a:p>
          </p:txBody>
        </p:sp>
        <p:sp>
          <p:nvSpPr>
            <p:cNvPr id="14" name="Rectangle 18">
              <a:extLst>
                <a:ext uri="{FF2B5EF4-FFF2-40B4-BE49-F238E27FC236}">
                  <a16:creationId xmlns:a16="http://schemas.microsoft.com/office/drawing/2014/main" id="{B508FD09-4DB8-54BA-B7BF-8961A5E3484E}"/>
                </a:ext>
              </a:extLst>
            </p:cNvPr>
            <p:cNvSpPr>
              <a:spLocks noChangeArrowheads="1"/>
            </p:cNvSpPr>
            <p:nvPr/>
          </p:nvSpPr>
          <p:spPr bwMode="auto">
            <a:xfrm>
              <a:off x="3947" y="1170"/>
              <a:ext cx="1235" cy="408"/>
            </a:xfrm>
            <a:prstGeom prst="rect">
              <a:avLst/>
            </a:prstGeom>
            <a:noFill/>
            <a:ln>
              <a:noFill/>
            </a:ln>
            <a:effectLst>
              <a:outerShdw dist="7620" dir="2700000" algn="ctr" rotWithShape="0">
                <a:schemeClr val="hlink"/>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92075" tIns="46038" rIns="92075" bIns="46038">
              <a:spAutoFit/>
            </a:bodyPr>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GB" altLang="en-US" sz="1800" b="1" dirty="0">
                  <a:solidFill>
                    <a:srgbClr val="003300"/>
                  </a:solidFill>
                  <a:latin typeface="Arial" panose="020B0604020202020204" pitchFamily="34" charset="0"/>
                </a:rPr>
                <a:t>Export</a:t>
              </a:r>
            </a:p>
            <a:p>
              <a:pPr algn="ctr"/>
              <a:r>
                <a:rPr lang="en-GB" altLang="en-US" sz="1800" b="1" dirty="0">
                  <a:solidFill>
                    <a:srgbClr val="003300"/>
                  </a:solidFill>
                  <a:latin typeface="Arial" panose="020B0604020202020204" pitchFamily="34" charset="0"/>
                </a:rPr>
                <a:t>expenditure (</a:t>
              </a:r>
              <a:r>
                <a:rPr lang="en-GB" altLang="en-US" sz="1800" b="1" i="1" dirty="0" err="1">
                  <a:solidFill>
                    <a:srgbClr val="003300"/>
                  </a:solidFill>
                  <a:latin typeface="Arial" panose="020B0604020202020204" pitchFamily="34" charset="0"/>
                </a:rPr>
                <a:t>X</a:t>
              </a:r>
              <a:r>
                <a:rPr lang="en-GB" altLang="en-US" sz="1800" b="1" baseline="-25000" dirty="0" err="1">
                  <a:solidFill>
                    <a:srgbClr val="003300"/>
                  </a:solidFill>
                  <a:latin typeface="Arial" panose="020B0604020202020204" pitchFamily="34" charset="0"/>
                </a:rPr>
                <a:t>d</a:t>
              </a:r>
              <a:r>
                <a:rPr lang="en-GB" altLang="en-US" sz="1800" b="1" dirty="0">
                  <a:solidFill>
                    <a:srgbClr val="003300"/>
                  </a:solidFill>
                  <a:latin typeface="Arial" panose="020B0604020202020204" pitchFamily="34" charset="0"/>
                </a:rPr>
                <a:t>)</a:t>
              </a:r>
            </a:p>
          </p:txBody>
        </p:sp>
      </p:grpSp>
      <p:sp>
        <p:nvSpPr>
          <p:cNvPr id="16" name="Rectangle 13" descr="Parchment">
            <a:extLst>
              <a:ext uri="{FF2B5EF4-FFF2-40B4-BE49-F238E27FC236}">
                <a16:creationId xmlns:a16="http://schemas.microsoft.com/office/drawing/2014/main" id="{28C1FC0B-1114-7717-D31E-438D2A482B50}"/>
              </a:ext>
            </a:extLst>
          </p:cNvPr>
          <p:cNvSpPr>
            <a:spLocks noChangeArrowheads="1"/>
          </p:cNvSpPr>
          <p:nvPr/>
        </p:nvSpPr>
        <p:spPr bwMode="auto">
          <a:xfrm>
            <a:off x="8034689" y="4060749"/>
            <a:ext cx="1484313" cy="370011"/>
          </a:xfrm>
          <a:prstGeom prst="rect">
            <a:avLst/>
          </a:prstGeom>
          <a:blipFill dpi="0" rotWithShape="0">
            <a:blip r:embed="rId3"/>
            <a:srcRect/>
            <a:tile tx="0" ty="0" sx="100000" sy="100000" flip="none" algn="tl"/>
          </a:blipFill>
          <a:ln w="19050">
            <a:solidFill>
              <a:schemeClr val="hlink"/>
            </a:solidFill>
            <a:miter lim="800000"/>
            <a:headEnd/>
            <a:tailEnd/>
          </a:ln>
          <a:effectLst/>
          <a:extLst>
            <a:ext uri="{AF507438-7753-43E0-B8FC-AC1667EBCBE1}">
              <a14:hiddenEffects xmlns:a14="http://schemas.microsoft.com/office/drawing/2010/main">
                <a:effectLst>
                  <a:outerShdw dist="17961" dir="2700000" algn="ctr" rotWithShape="0">
                    <a:schemeClr val="bg2"/>
                  </a:outerShdw>
                </a:effectLst>
              </a14:hiddenEffects>
            </a:ext>
          </a:extLst>
        </p:spPr>
        <p:txBody>
          <a:bodyPr lIns="92075" tIns="46038" rIns="92075" bIns="46038" anchor="ctr" anchorCtr="1">
            <a:spAutoFit/>
          </a:bodyPr>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GB" altLang="en-US" sz="1800" b="1" dirty="0">
                <a:solidFill>
                  <a:schemeClr val="hlink"/>
                </a:solidFill>
                <a:latin typeface="Arial" panose="020B0604020202020204" pitchFamily="34" charset="0"/>
              </a:rPr>
              <a:t>BANKS, etc</a:t>
            </a:r>
          </a:p>
        </p:txBody>
      </p:sp>
      <p:grpSp>
        <p:nvGrpSpPr>
          <p:cNvPr id="31" name="Group 30">
            <a:extLst>
              <a:ext uri="{FF2B5EF4-FFF2-40B4-BE49-F238E27FC236}">
                <a16:creationId xmlns:a16="http://schemas.microsoft.com/office/drawing/2014/main" id="{97BD06D8-191D-8C34-C422-9C033CB1777B}"/>
              </a:ext>
            </a:extLst>
          </p:cNvPr>
          <p:cNvGrpSpPr/>
          <p:nvPr/>
        </p:nvGrpSpPr>
        <p:grpSpPr>
          <a:xfrm>
            <a:off x="6288439" y="3968246"/>
            <a:ext cx="2638425" cy="1668703"/>
            <a:chOff x="6288439" y="3968246"/>
            <a:chExt cx="2638425" cy="1668703"/>
          </a:xfrm>
        </p:grpSpPr>
        <p:sp>
          <p:nvSpPr>
            <p:cNvPr id="17" name="Arc 8">
              <a:extLst>
                <a:ext uri="{FF2B5EF4-FFF2-40B4-BE49-F238E27FC236}">
                  <a16:creationId xmlns:a16="http://schemas.microsoft.com/office/drawing/2014/main" id="{E5A1F0EF-D7ED-15CF-72A7-9585764508F3}"/>
                </a:ext>
              </a:extLst>
            </p:cNvPr>
            <p:cNvSpPr>
              <a:spLocks/>
            </p:cNvSpPr>
            <p:nvPr/>
          </p:nvSpPr>
          <p:spPr bwMode="auto">
            <a:xfrm>
              <a:off x="6288439" y="3968246"/>
              <a:ext cx="2568575" cy="1668703"/>
            </a:xfrm>
            <a:custGeom>
              <a:avLst/>
              <a:gdLst>
                <a:gd name="G0" fmla="+- 0 0 0"/>
                <a:gd name="G1" fmla="+- 0 0 0"/>
                <a:gd name="G2" fmla="+- 21600 0 0"/>
                <a:gd name="T0" fmla="*/ 20835 w 20835"/>
                <a:gd name="T1" fmla="*/ 5698 h 21482"/>
                <a:gd name="T2" fmla="*/ 2252 w 20835"/>
                <a:gd name="T3" fmla="*/ 21482 h 21482"/>
                <a:gd name="T4" fmla="*/ 0 w 20835"/>
                <a:gd name="T5" fmla="*/ 0 h 21482"/>
              </a:gdLst>
              <a:ahLst/>
              <a:cxnLst>
                <a:cxn ang="0">
                  <a:pos x="T0" y="T1"/>
                </a:cxn>
                <a:cxn ang="0">
                  <a:pos x="T2" y="T3"/>
                </a:cxn>
                <a:cxn ang="0">
                  <a:pos x="T4" y="T5"/>
                </a:cxn>
              </a:cxnLst>
              <a:rect l="0" t="0" r="r" b="b"/>
              <a:pathLst>
                <a:path w="20835" h="21482" fill="none" extrusionOk="0">
                  <a:moveTo>
                    <a:pt x="20834" y="5697"/>
                  </a:moveTo>
                  <a:cubicBezTo>
                    <a:pt x="18486" y="14286"/>
                    <a:pt x="11107" y="20553"/>
                    <a:pt x="2252" y="21482"/>
                  </a:cubicBezTo>
                </a:path>
                <a:path w="20835" h="21482" stroke="0" extrusionOk="0">
                  <a:moveTo>
                    <a:pt x="20834" y="5697"/>
                  </a:moveTo>
                  <a:cubicBezTo>
                    <a:pt x="18486" y="14286"/>
                    <a:pt x="11107" y="20553"/>
                    <a:pt x="2252" y="21482"/>
                  </a:cubicBezTo>
                  <a:lnTo>
                    <a:pt x="0" y="0"/>
                  </a:lnTo>
                  <a:close/>
                </a:path>
              </a:pathLst>
            </a:custGeom>
            <a:noFill/>
            <a:ln w="38100" cap="rnd">
              <a:solidFill>
                <a:schemeClr val="accent2"/>
              </a:solidFill>
              <a:round/>
              <a:headEnd type="stealth" w="med" len="lg"/>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en-GB"/>
            </a:p>
          </p:txBody>
        </p:sp>
        <p:sp>
          <p:nvSpPr>
            <p:cNvPr id="18" name="Rectangle 19">
              <a:extLst>
                <a:ext uri="{FF2B5EF4-FFF2-40B4-BE49-F238E27FC236}">
                  <a16:creationId xmlns:a16="http://schemas.microsoft.com/office/drawing/2014/main" id="{B1E17605-7B4C-B549-EB3D-55BD77E22702}"/>
                </a:ext>
              </a:extLst>
            </p:cNvPr>
            <p:cNvSpPr>
              <a:spLocks noChangeArrowheads="1"/>
            </p:cNvSpPr>
            <p:nvPr/>
          </p:nvSpPr>
          <p:spPr bwMode="auto">
            <a:xfrm>
              <a:off x="7650514" y="4696097"/>
              <a:ext cx="1276350" cy="491726"/>
            </a:xfrm>
            <a:prstGeom prst="rect">
              <a:avLst/>
            </a:prstGeom>
            <a:noFill/>
            <a:ln>
              <a:noFill/>
            </a:ln>
            <a:effectLst>
              <a:outerShdw dist="7620"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92075" tIns="46038" rIns="92075" bIns="46038">
              <a:spAutoFit/>
            </a:bodyPr>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GB" altLang="en-US" sz="1800" b="1" dirty="0">
                  <a:solidFill>
                    <a:srgbClr val="A50021"/>
                  </a:solidFill>
                  <a:latin typeface="Arial" panose="020B0604020202020204" pitchFamily="34" charset="0"/>
                </a:rPr>
                <a:t>Net</a:t>
              </a:r>
            </a:p>
            <a:p>
              <a:pPr algn="ctr"/>
              <a:r>
                <a:rPr lang="en-GB" altLang="en-US" sz="1800" b="1" dirty="0">
                  <a:solidFill>
                    <a:srgbClr val="A50021"/>
                  </a:solidFill>
                  <a:latin typeface="Arial" panose="020B0604020202020204" pitchFamily="34" charset="0"/>
                </a:rPr>
                <a:t>saving (</a:t>
              </a:r>
              <a:r>
                <a:rPr lang="en-GB" altLang="en-US" sz="1800" b="1" i="1" dirty="0">
                  <a:solidFill>
                    <a:srgbClr val="A50021"/>
                  </a:solidFill>
                  <a:latin typeface="Arial" panose="020B0604020202020204" pitchFamily="34" charset="0"/>
                </a:rPr>
                <a:t>S</a:t>
              </a:r>
              <a:r>
                <a:rPr lang="en-GB" altLang="en-US" sz="1800" b="1" dirty="0">
                  <a:solidFill>
                    <a:srgbClr val="A50021"/>
                  </a:solidFill>
                  <a:latin typeface="Arial" panose="020B0604020202020204" pitchFamily="34" charset="0"/>
                </a:rPr>
                <a:t>)</a:t>
              </a:r>
            </a:p>
          </p:txBody>
        </p:sp>
      </p:grpSp>
      <p:sp>
        <p:nvSpPr>
          <p:cNvPr id="21" name="Rectangle 14" descr="Parchment">
            <a:extLst>
              <a:ext uri="{FF2B5EF4-FFF2-40B4-BE49-F238E27FC236}">
                <a16:creationId xmlns:a16="http://schemas.microsoft.com/office/drawing/2014/main" id="{6C3A3FF4-C7A8-E762-3E48-C54380A40123}"/>
              </a:ext>
            </a:extLst>
          </p:cNvPr>
          <p:cNvSpPr>
            <a:spLocks noChangeArrowheads="1"/>
          </p:cNvSpPr>
          <p:nvPr/>
        </p:nvSpPr>
        <p:spPr bwMode="auto">
          <a:xfrm>
            <a:off x="9701211" y="4109850"/>
            <a:ext cx="800052" cy="268003"/>
          </a:xfrm>
          <a:prstGeom prst="rect">
            <a:avLst/>
          </a:prstGeom>
          <a:blipFill dpi="0" rotWithShape="0">
            <a:blip r:embed="rId3"/>
            <a:srcRect/>
            <a:tile tx="0" ty="0" sx="100000" sy="100000" flip="none" algn="tl"/>
          </a:blipFill>
          <a:ln w="19050">
            <a:solidFill>
              <a:schemeClr va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nchorCtr="1">
            <a:spAutoFit/>
          </a:bodyPr>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GB" altLang="en-US" sz="1800" b="1" dirty="0">
                <a:solidFill>
                  <a:schemeClr val="hlink"/>
                </a:solidFill>
                <a:latin typeface="Arial" panose="020B0604020202020204" pitchFamily="34" charset="0"/>
              </a:rPr>
              <a:t>GOV.</a:t>
            </a:r>
          </a:p>
        </p:txBody>
      </p:sp>
      <p:grpSp>
        <p:nvGrpSpPr>
          <p:cNvPr id="47104" name="Group 47103">
            <a:extLst>
              <a:ext uri="{FF2B5EF4-FFF2-40B4-BE49-F238E27FC236}">
                <a16:creationId xmlns:a16="http://schemas.microsoft.com/office/drawing/2014/main" id="{535E60CF-E513-381F-C276-89564B368EAB}"/>
              </a:ext>
            </a:extLst>
          </p:cNvPr>
          <p:cNvGrpSpPr/>
          <p:nvPr/>
        </p:nvGrpSpPr>
        <p:grpSpPr>
          <a:xfrm>
            <a:off x="6310664" y="4048139"/>
            <a:ext cx="3681475" cy="1776403"/>
            <a:chOff x="6310664" y="4048139"/>
            <a:chExt cx="3681475" cy="1776403"/>
          </a:xfrm>
        </p:grpSpPr>
        <p:sp>
          <p:nvSpPr>
            <p:cNvPr id="20" name="Arc 9">
              <a:extLst>
                <a:ext uri="{FF2B5EF4-FFF2-40B4-BE49-F238E27FC236}">
                  <a16:creationId xmlns:a16="http://schemas.microsoft.com/office/drawing/2014/main" id="{3C246E5E-6D29-D1B7-51AE-B3B62A94DB2E}"/>
                </a:ext>
              </a:extLst>
            </p:cNvPr>
            <p:cNvSpPr>
              <a:spLocks/>
            </p:cNvSpPr>
            <p:nvPr/>
          </p:nvSpPr>
          <p:spPr bwMode="auto">
            <a:xfrm>
              <a:off x="6310664" y="4048139"/>
              <a:ext cx="3659810" cy="1776403"/>
            </a:xfrm>
            <a:custGeom>
              <a:avLst/>
              <a:gdLst>
                <a:gd name="G0" fmla="+- 0 0 0"/>
                <a:gd name="G1" fmla="+- 0 0 0"/>
                <a:gd name="G2" fmla="+- 21600 0 0"/>
                <a:gd name="T0" fmla="*/ 20833 w 20833"/>
                <a:gd name="T1" fmla="*/ 5705 h 21482"/>
                <a:gd name="T2" fmla="*/ 2256 w 20833"/>
                <a:gd name="T3" fmla="*/ 21482 h 21482"/>
                <a:gd name="T4" fmla="*/ 0 w 20833"/>
                <a:gd name="T5" fmla="*/ 0 h 21482"/>
              </a:gdLst>
              <a:ahLst/>
              <a:cxnLst>
                <a:cxn ang="0">
                  <a:pos x="T0" y="T1"/>
                </a:cxn>
                <a:cxn ang="0">
                  <a:pos x="T2" y="T3"/>
                </a:cxn>
                <a:cxn ang="0">
                  <a:pos x="T4" y="T5"/>
                </a:cxn>
              </a:cxnLst>
              <a:rect l="0" t="0" r="r" b="b"/>
              <a:pathLst>
                <a:path w="20833" h="21482" fill="none" extrusionOk="0">
                  <a:moveTo>
                    <a:pt x="20832" y="5704"/>
                  </a:moveTo>
                  <a:cubicBezTo>
                    <a:pt x="18482" y="14288"/>
                    <a:pt x="11107" y="20552"/>
                    <a:pt x="2255" y="21481"/>
                  </a:cubicBezTo>
                </a:path>
                <a:path w="20833" h="21482" stroke="0" extrusionOk="0">
                  <a:moveTo>
                    <a:pt x="20832" y="5704"/>
                  </a:moveTo>
                  <a:cubicBezTo>
                    <a:pt x="18482" y="14288"/>
                    <a:pt x="11107" y="20552"/>
                    <a:pt x="2255" y="21481"/>
                  </a:cubicBezTo>
                  <a:lnTo>
                    <a:pt x="0" y="0"/>
                  </a:lnTo>
                  <a:close/>
                </a:path>
              </a:pathLst>
            </a:custGeom>
            <a:noFill/>
            <a:ln w="38100" cap="rnd">
              <a:solidFill>
                <a:schemeClr val="accent2"/>
              </a:solidFill>
              <a:round/>
              <a:headEnd type="stealth" w="med" len="lg"/>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2" name="Rectangle 20">
              <a:extLst>
                <a:ext uri="{FF2B5EF4-FFF2-40B4-BE49-F238E27FC236}">
                  <a16:creationId xmlns:a16="http://schemas.microsoft.com/office/drawing/2014/main" id="{5D7254F1-C662-01EB-2867-16E24A9D956E}"/>
                </a:ext>
              </a:extLst>
            </p:cNvPr>
            <p:cNvSpPr>
              <a:spLocks noChangeArrowheads="1"/>
            </p:cNvSpPr>
            <p:nvPr/>
          </p:nvSpPr>
          <p:spPr bwMode="auto">
            <a:xfrm>
              <a:off x="8896517" y="4719029"/>
              <a:ext cx="1095622" cy="356162"/>
            </a:xfrm>
            <a:prstGeom prst="rect">
              <a:avLst/>
            </a:prstGeom>
            <a:noFill/>
            <a:ln>
              <a:noFill/>
            </a:ln>
            <a:effectLst>
              <a:outerShdw dist="7620" dir="2700000" algn="ctr" rotWithShape="0">
                <a:schemeClr val="hlink"/>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92075" tIns="46038" rIns="92075" bIns="46038">
              <a:spAutoFit/>
            </a:bodyPr>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GB" altLang="en-US" sz="1800" b="1" dirty="0">
                  <a:solidFill>
                    <a:srgbClr val="A50021"/>
                  </a:solidFill>
                  <a:latin typeface="Arial" panose="020B0604020202020204" pitchFamily="34" charset="0"/>
                </a:rPr>
                <a:t>Net</a:t>
              </a:r>
            </a:p>
            <a:p>
              <a:pPr algn="ctr"/>
              <a:r>
                <a:rPr lang="en-GB" altLang="en-US" sz="1800" b="1" dirty="0">
                  <a:solidFill>
                    <a:srgbClr val="A50021"/>
                  </a:solidFill>
                  <a:latin typeface="Arial" panose="020B0604020202020204" pitchFamily="34" charset="0"/>
                </a:rPr>
                <a:t>taxes (</a:t>
              </a:r>
              <a:r>
                <a:rPr lang="en-GB" altLang="en-US" sz="1800" b="1" i="1" dirty="0">
                  <a:solidFill>
                    <a:srgbClr val="A50021"/>
                  </a:solidFill>
                  <a:latin typeface="Arial" panose="020B0604020202020204" pitchFamily="34" charset="0"/>
                </a:rPr>
                <a:t>T</a:t>
              </a:r>
              <a:r>
                <a:rPr lang="en-GB" altLang="en-US" sz="1800" b="1" dirty="0">
                  <a:solidFill>
                    <a:srgbClr val="A50021"/>
                  </a:solidFill>
                  <a:latin typeface="Arial" panose="020B0604020202020204" pitchFamily="34" charset="0"/>
                </a:rPr>
                <a:t>)</a:t>
              </a:r>
            </a:p>
          </p:txBody>
        </p:sp>
      </p:grpSp>
      <p:sp>
        <p:nvSpPr>
          <p:cNvPr id="25" name="Rectangle 15" descr="Parchment">
            <a:extLst>
              <a:ext uri="{FF2B5EF4-FFF2-40B4-BE49-F238E27FC236}">
                <a16:creationId xmlns:a16="http://schemas.microsoft.com/office/drawing/2014/main" id="{07530494-DA3A-6487-D2E2-A7CB55543AC0}"/>
              </a:ext>
            </a:extLst>
          </p:cNvPr>
          <p:cNvSpPr>
            <a:spLocks noChangeArrowheads="1"/>
          </p:cNvSpPr>
          <p:nvPr/>
        </p:nvSpPr>
        <p:spPr bwMode="auto">
          <a:xfrm>
            <a:off x="10638984" y="4050502"/>
            <a:ext cx="1417638" cy="370012"/>
          </a:xfrm>
          <a:prstGeom prst="rect">
            <a:avLst/>
          </a:prstGeom>
          <a:blipFill dpi="0" rotWithShape="0">
            <a:blip r:embed="rId3"/>
            <a:srcRect/>
            <a:tile tx="0" ty="0" sx="100000" sy="100000" flip="none" algn="tl"/>
          </a:blipFill>
          <a:ln w="19050">
            <a:solidFill>
              <a:schemeClr va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nchorCtr="1">
            <a:spAutoFit/>
          </a:bodyPr>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GB" altLang="en-US" sz="1800" b="1" dirty="0">
                <a:solidFill>
                  <a:schemeClr val="hlink"/>
                </a:solidFill>
                <a:latin typeface="Arial" panose="020B0604020202020204" pitchFamily="34" charset="0"/>
              </a:rPr>
              <a:t>ABROAD</a:t>
            </a:r>
            <a:r>
              <a:rPr lang="en-GB" altLang="en-US" sz="1800" b="1" baseline="30000" dirty="0">
                <a:solidFill>
                  <a:schemeClr val="hlink"/>
                </a:solidFill>
                <a:latin typeface="Arial" panose="020B0604020202020204" pitchFamily="34" charset="0"/>
              </a:rPr>
              <a:t> </a:t>
            </a:r>
          </a:p>
        </p:txBody>
      </p:sp>
      <p:grpSp>
        <p:nvGrpSpPr>
          <p:cNvPr id="47105" name="Group 47104">
            <a:extLst>
              <a:ext uri="{FF2B5EF4-FFF2-40B4-BE49-F238E27FC236}">
                <a16:creationId xmlns:a16="http://schemas.microsoft.com/office/drawing/2014/main" id="{35DA05F9-CFF8-DBAA-E7BF-20ACCA190F21}"/>
              </a:ext>
            </a:extLst>
          </p:cNvPr>
          <p:cNvGrpSpPr/>
          <p:nvPr/>
        </p:nvGrpSpPr>
        <p:grpSpPr>
          <a:xfrm>
            <a:off x="6211446" y="3934873"/>
            <a:ext cx="5721350" cy="2064276"/>
            <a:chOff x="6211446" y="3934873"/>
            <a:chExt cx="5721350" cy="2064276"/>
          </a:xfrm>
        </p:grpSpPr>
        <p:sp>
          <p:nvSpPr>
            <p:cNvPr id="24" name="Arc 10">
              <a:extLst>
                <a:ext uri="{FF2B5EF4-FFF2-40B4-BE49-F238E27FC236}">
                  <a16:creationId xmlns:a16="http://schemas.microsoft.com/office/drawing/2014/main" id="{60BECE45-A524-8CC1-2985-03FA65AB9685}"/>
                </a:ext>
              </a:extLst>
            </p:cNvPr>
            <p:cNvSpPr>
              <a:spLocks/>
            </p:cNvSpPr>
            <p:nvPr/>
          </p:nvSpPr>
          <p:spPr bwMode="auto">
            <a:xfrm>
              <a:off x="6211446" y="3934873"/>
              <a:ext cx="5072063" cy="2064276"/>
            </a:xfrm>
            <a:custGeom>
              <a:avLst/>
              <a:gdLst>
                <a:gd name="G0" fmla="+- 0 0 0"/>
                <a:gd name="G1" fmla="+- 0 0 0"/>
                <a:gd name="G2" fmla="+- 21600 0 0"/>
                <a:gd name="T0" fmla="*/ 20833 w 20833"/>
                <a:gd name="T1" fmla="*/ 5705 h 21482"/>
                <a:gd name="T2" fmla="*/ 2256 w 20833"/>
                <a:gd name="T3" fmla="*/ 21482 h 21482"/>
                <a:gd name="T4" fmla="*/ 0 w 20833"/>
                <a:gd name="T5" fmla="*/ 0 h 21482"/>
              </a:gdLst>
              <a:ahLst/>
              <a:cxnLst>
                <a:cxn ang="0">
                  <a:pos x="T0" y="T1"/>
                </a:cxn>
                <a:cxn ang="0">
                  <a:pos x="T2" y="T3"/>
                </a:cxn>
                <a:cxn ang="0">
                  <a:pos x="T4" y="T5"/>
                </a:cxn>
              </a:cxnLst>
              <a:rect l="0" t="0" r="r" b="b"/>
              <a:pathLst>
                <a:path w="20833" h="21482" fill="none" extrusionOk="0">
                  <a:moveTo>
                    <a:pt x="20832" y="5704"/>
                  </a:moveTo>
                  <a:cubicBezTo>
                    <a:pt x="18482" y="14288"/>
                    <a:pt x="11107" y="20552"/>
                    <a:pt x="2255" y="21481"/>
                  </a:cubicBezTo>
                </a:path>
                <a:path w="20833" h="21482" stroke="0" extrusionOk="0">
                  <a:moveTo>
                    <a:pt x="20832" y="5704"/>
                  </a:moveTo>
                  <a:cubicBezTo>
                    <a:pt x="18482" y="14288"/>
                    <a:pt x="11107" y="20552"/>
                    <a:pt x="2255" y="21481"/>
                  </a:cubicBezTo>
                  <a:lnTo>
                    <a:pt x="0" y="0"/>
                  </a:lnTo>
                  <a:close/>
                </a:path>
              </a:pathLst>
            </a:custGeom>
            <a:noFill/>
            <a:ln w="38100" cap="rnd">
              <a:solidFill>
                <a:schemeClr val="accent2"/>
              </a:solidFill>
              <a:round/>
              <a:headEnd type="stealth" w="med" len="lg"/>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6" name="Rectangle 21">
              <a:extLst>
                <a:ext uri="{FF2B5EF4-FFF2-40B4-BE49-F238E27FC236}">
                  <a16:creationId xmlns:a16="http://schemas.microsoft.com/office/drawing/2014/main" id="{EAD4641D-646A-FF8D-9514-4214EFC4F927}"/>
                </a:ext>
              </a:extLst>
            </p:cNvPr>
            <p:cNvSpPr>
              <a:spLocks noChangeArrowheads="1"/>
            </p:cNvSpPr>
            <p:nvPr/>
          </p:nvSpPr>
          <p:spPr bwMode="auto">
            <a:xfrm>
              <a:off x="10046846" y="4724799"/>
              <a:ext cx="1885950" cy="491726"/>
            </a:xfrm>
            <a:prstGeom prst="rect">
              <a:avLst/>
            </a:prstGeom>
            <a:noFill/>
            <a:ln>
              <a:noFill/>
            </a:ln>
            <a:effectLst>
              <a:outerShdw dist="7620" dir="2700000" algn="ctr" rotWithShape="0">
                <a:schemeClr val="hlink"/>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92075" tIns="46038" rIns="92075" bIns="46038">
              <a:spAutoFit/>
            </a:bodyPr>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GB" altLang="en-US" sz="1800" b="1" dirty="0">
                  <a:solidFill>
                    <a:srgbClr val="A50021"/>
                  </a:solidFill>
                  <a:latin typeface="Arial" panose="020B0604020202020204" pitchFamily="34" charset="0"/>
                </a:rPr>
                <a:t>Import</a:t>
              </a:r>
            </a:p>
            <a:p>
              <a:pPr algn="ctr"/>
              <a:r>
                <a:rPr lang="en-GB" altLang="en-US" sz="1800" b="1" dirty="0">
                  <a:solidFill>
                    <a:srgbClr val="A50021"/>
                  </a:solidFill>
                  <a:latin typeface="Arial" panose="020B0604020202020204" pitchFamily="34" charset="0"/>
                </a:rPr>
                <a:t>expenditure (</a:t>
              </a:r>
              <a:r>
                <a:rPr lang="en-GB" altLang="en-US" sz="1800" b="1" i="1" dirty="0">
                  <a:solidFill>
                    <a:srgbClr val="A50021"/>
                  </a:solidFill>
                  <a:latin typeface="Arial" panose="020B0604020202020204" pitchFamily="34" charset="0"/>
                </a:rPr>
                <a:t>M</a:t>
              </a:r>
              <a:r>
                <a:rPr lang="en-GB" altLang="en-US" sz="1800" b="1" dirty="0">
                  <a:solidFill>
                    <a:srgbClr val="A50021"/>
                  </a:solidFill>
                  <a:latin typeface="Arial" panose="020B0604020202020204" pitchFamily="34" charset="0"/>
                </a:rPr>
                <a:t>)</a:t>
              </a:r>
            </a:p>
          </p:txBody>
        </p:sp>
      </p:grpSp>
      <p:sp>
        <p:nvSpPr>
          <p:cNvPr id="27" name="Rectangle 23" descr="Parchment">
            <a:extLst>
              <a:ext uri="{FF2B5EF4-FFF2-40B4-BE49-F238E27FC236}">
                <a16:creationId xmlns:a16="http://schemas.microsoft.com/office/drawing/2014/main" id="{C46752D5-CE40-74CB-B539-B8585A4C3199}"/>
              </a:ext>
            </a:extLst>
          </p:cNvPr>
          <p:cNvSpPr>
            <a:spLocks noChangeArrowheads="1"/>
          </p:cNvSpPr>
          <p:nvPr/>
        </p:nvSpPr>
        <p:spPr bwMode="auto">
          <a:xfrm>
            <a:off x="9515828" y="5654248"/>
            <a:ext cx="2154238" cy="415925"/>
          </a:xfrm>
          <a:prstGeom prst="rect">
            <a:avLst/>
          </a:prstGeom>
          <a:blipFill dpi="0" rotWithShape="0">
            <a:blip r:embed="rId3"/>
            <a:srcRect/>
            <a:tile tx="0" ty="0" sx="100000" sy="100000" flip="none" algn="tl"/>
          </a:blipFill>
          <a:ln w="19050">
            <a:solidFill>
              <a:schemeClr va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r"/>
            <a:r>
              <a:rPr lang="en-GB" altLang="en-US" sz="2000" b="1">
                <a:solidFill>
                  <a:schemeClr val="accent2"/>
                </a:solidFill>
                <a:latin typeface="Arial" panose="020B0604020202020204" pitchFamily="34" charset="0"/>
              </a:rPr>
              <a:t>WITHDRAWALS</a:t>
            </a:r>
          </a:p>
        </p:txBody>
      </p:sp>
      <p:sp>
        <p:nvSpPr>
          <p:cNvPr id="28" name="Rectangle 24" descr="Parchment">
            <a:extLst>
              <a:ext uri="{FF2B5EF4-FFF2-40B4-BE49-F238E27FC236}">
                <a16:creationId xmlns:a16="http://schemas.microsoft.com/office/drawing/2014/main" id="{DEF6C7C7-86BB-4DCB-4DC7-465EFC139203}"/>
              </a:ext>
            </a:extLst>
          </p:cNvPr>
          <p:cNvSpPr>
            <a:spLocks noChangeArrowheads="1"/>
          </p:cNvSpPr>
          <p:nvPr/>
        </p:nvSpPr>
        <p:spPr bwMode="auto">
          <a:xfrm>
            <a:off x="9545989" y="1601362"/>
            <a:ext cx="1728787" cy="415925"/>
          </a:xfrm>
          <a:prstGeom prst="rect">
            <a:avLst/>
          </a:prstGeom>
          <a:blipFill dpi="0" rotWithShape="0">
            <a:blip r:embed="rId3"/>
            <a:srcRect/>
            <a:tile tx="0" ty="0" sx="100000" sy="100000" flip="none" algn="tl"/>
          </a:blipFill>
          <a:ln w="19050">
            <a:solidFill>
              <a:schemeClr va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r"/>
            <a:r>
              <a:rPr lang="en-GB" altLang="en-US" sz="2000" b="1">
                <a:solidFill>
                  <a:schemeClr val="folHlink"/>
                </a:solidFill>
                <a:latin typeface="Arial" panose="020B0604020202020204" pitchFamily="34" charset="0"/>
              </a:rPr>
              <a:t>INJECTIONS</a:t>
            </a:r>
          </a:p>
        </p:txBody>
      </p:sp>
      <p:graphicFrame>
        <p:nvGraphicFramePr>
          <p:cNvPr id="29" name="Object 25">
            <a:extLst>
              <a:ext uri="{FF2B5EF4-FFF2-40B4-BE49-F238E27FC236}">
                <a16:creationId xmlns:a16="http://schemas.microsoft.com/office/drawing/2014/main" id="{1E88382B-6D2C-4D7C-0438-CDF625C9F7C4}"/>
              </a:ext>
            </a:extLst>
          </p:cNvPr>
          <p:cNvGraphicFramePr>
            <a:graphicFrameLocks noChangeAspect="1"/>
          </p:cNvGraphicFramePr>
          <p:nvPr/>
        </p:nvGraphicFramePr>
        <p:xfrm>
          <a:off x="4075462" y="1312043"/>
          <a:ext cx="2449512" cy="1865312"/>
        </p:xfrm>
        <a:graphic>
          <a:graphicData uri="http://schemas.openxmlformats.org/presentationml/2006/ole">
            <mc:AlternateContent xmlns:mc="http://schemas.openxmlformats.org/markup-compatibility/2006">
              <mc:Choice xmlns:v="urn:schemas-microsoft-com:vml" Requires="v">
                <p:oleObj name="Clip" r:id="rId4" imgW="5905440" imgH="3697560" progId="MS_ClipArt_Gallery.2">
                  <p:embed/>
                </p:oleObj>
              </mc:Choice>
              <mc:Fallback>
                <p:oleObj name="Clip" r:id="rId4" imgW="5905440" imgH="3697560" progId="MS_ClipArt_Gallery.2">
                  <p:embed/>
                  <p:pic>
                    <p:nvPicPr>
                      <p:cNvPr id="29" name="Object 25">
                        <a:extLst>
                          <a:ext uri="{FF2B5EF4-FFF2-40B4-BE49-F238E27FC236}">
                            <a16:creationId xmlns:a16="http://schemas.microsoft.com/office/drawing/2014/main" id="{1E88382B-6D2C-4D7C-0438-CDF625C9F7C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075462" y="1312043"/>
                        <a:ext cx="2449512" cy="1865312"/>
                      </a:xfrm>
                      <a:prstGeom prst="rect">
                        <a:avLst/>
                      </a:prstGeom>
                      <a:noFill/>
                      <a:ln>
                        <a:noFill/>
                      </a:ln>
                      <a:effectLst/>
                    </p:spPr>
                  </p:pic>
                </p:oleObj>
              </mc:Fallback>
            </mc:AlternateContent>
          </a:graphicData>
        </a:graphic>
      </p:graphicFrame>
      <p:graphicFrame>
        <p:nvGraphicFramePr>
          <p:cNvPr id="30" name="Object 26">
            <a:extLst>
              <a:ext uri="{FF2B5EF4-FFF2-40B4-BE49-F238E27FC236}">
                <a16:creationId xmlns:a16="http://schemas.microsoft.com/office/drawing/2014/main" id="{579233D9-4437-046E-6F0F-F709EBFFF077}"/>
              </a:ext>
            </a:extLst>
          </p:cNvPr>
          <p:cNvGraphicFramePr>
            <a:graphicFrameLocks noChangeAspect="1"/>
          </p:cNvGraphicFramePr>
          <p:nvPr/>
        </p:nvGraphicFramePr>
        <p:xfrm>
          <a:off x="4426974" y="4184650"/>
          <a:ext cx="2428875" cy="2063750"/>
        </p:xfrm>
        <a:graphic>
          <a:graphicData uri="http://schemas.openxmlformats.org/presentationml/2006/ole">
            <mc:AlternateContent xmlns:mc="http://schemas.openxmlformats.org/markup-compatibility/2006">
              <mc:Choice xmlns:v="urn:schemas-microsoft-com:vml" Requires="v">
                <p:oleObj name="Clip" r:id="rId6" imgW="1107720" imgH="1631880" progId="MS_ClipArt_Gallery.2">
                  <p:embed/>
                </p:oleObj>
              </mc:Choice>
              <mc:Fallback>
                <p:oleObj name="Clip" r:id="rId6" imgW="1107720" imgH="1631880" progId="MS_ClipArt_Gallery.2">
                  <p:embed/>
                  <p:pic>
                    <p:nvPicPr>
                      <p:cNvPr id="30" name="Object 26">
                        <a:extLst>
                          <a:ext uri="{FF2B5EF4-FFF2-40B4-BE49-F238E27FC236}">
                            <a16:creationId xmlns:a16="http://schemas.microsoft.com/office/drawing/2014/main" id="{579233D9-4437-046E-6F0F-F709EBFFF07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t="7588" r="3009" b="17120"/>
                      <a:stretch>
                        <a:fillRect/>
                      </a:stretch>
                    </p:blipFill>
                    <p:spPr bwMode="auto">
                      <a:xfrm>
                        <a:off x="4426974" y="4184650"/>
                        <a:ext cx="2428875" cy="2063750"/>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2399775267"/>
      </p:ext>
    </p:extLst>
  </p:cSld>
  <p:clrMapOvr>
    <a:masterClrMapping/>
  </p:clrMapOvr>
  <p:transition spd="med">
    <p:pull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200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1000"/>
                                        <p:tgtEl>
                                          <p:spTgt spid="16"/>
                                        </p:tgtEl>
                                      </p:cBhvr>
                                    </p:animEffect>
                                    <p:anim calcmode="lin" valueType="num">
                                      <p:cBhvr>
                                        <p:cTn id="8" dur="1000" fill="hold"/>
                                        <p:tgtEl>
                                          <p:spTgt spid="16"/>
                                        </p:tgtEl>
                                        <p:attrNameLst>
                                          <p:attrName>ppt_x</p:attrName>
                                        </p:attrNameLst>
                                      </p:cBhvr>
                                      <p:tavLst>
                                        <p:tav tm="0">
                                          <p:val>
                                            <p:strVal val="#ppt_x"/>
                                          </p:val>
                                        </p:tav>
                                        <p:tav tm="100000">
                                          <p:val>
                                            <p:strVal val="#ppt_x"/>
                                          </p:val>
                                        </p:tav>
                                      </p:tavLst>
                                    </p:anim>
                                    <p:anim calcmode="lin" valueType="num">
                                      <p:cBhvr>
                                        <p:cTn id="9" dur="1000" fill="hold"/>
                                        <p:tgtEl>
                                          <p:spTgt spid="16"/>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2000"/>
                                  </p:stCondLst>
                                  <p:childTnLst>
                                    <p:set>
                                      <p:cBhvr>
                                        <p:cTn id="11" dur="1" fill="hold">
                                          <p:stCondLst>
                                            <p:cond delay="0"/>
                                          </p:stCondLst>
                                        </p:cTn>
                                        <p:tgtEl>
                                          <p:spTgt spid="21"/>
                                        </p:tgtEl>
                                        <p:attrNameLst>
                                          <p:attrName>style.visibility</p:attrName>
                                        </p:attrNameLst>
                                      </p:cBhvr>
                                      <p:to>
                                        <p:strVal val="visible"/>
                                      </p:to>
                                    </p:set>
                                    <p:animEffect transition="in" filter="fade">
                                      <p:cBhvr>
                                        <p:cTn id="12" dur="1000"/>
                                        <p:tgtEl>
                                          <p:spTgt spid="21"/>
                                        </p:tgtEl>
                                      </p:cBhvr>
                                    </p:animEffect>
                                    <p:anim calcmode="lin" valueType="num">
                                      <p:cBhvr>
                                        <p:cTn id="13" dur="1000" fill="hold"/>
                                        <p:tgtEl>
                                          <p:spTgt spid="21"/>
                                        </p:tgtEl>
                                        <p:attrNameLst>
                                          <p:attrName>ppt_x</p:attrName>
                                        </p:attrNameLst>
                                      </p:cBhvr>
                                      <p:tavLst>
                                        <p:tav tm="0">
                                          <p:val>
                                            <p:strVal val="#ppt_x"/>
                                          </p:val>
                                        </p:tav>
                                        <p:tav tm="100000">
                                          <p:val>
                                            <p:strVal val="#ppt_x"/>
                                          </p:val>
                                        </p:tav>
                                      </p:tavLst>
                                    </p:anim>
                                    <p:anim calcmode="lin" valueType="num">
                                      <p:cBhvr>
                                        <p:cTn id="14" dur="1000" fill="hold"/>
                                        <p:tgtEl>
                                          <p:spTgt spid="21"/>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2000"/>
                                  </p:stCondLst>
                                  <p:childTnLst>
                                    <p:set>
                                      <p:cBhvr>
                                        <p:cTn id="16" dur="1" fill="hold">
                                          <p:stCondLst>
                                            <p:cond delay="0"/>
                                          </p:stCondLst>
                                        </p:cTn>
                                        <p:tgtEl>
                                          <p:spTgt spid="25"/>
                                        </p:tgtEl>
                                        <p:attrNameLst>
                                          <p:attrName>style.visibility</p:attrName>
                                        </p:attrNameLst>
                                      </p:cBhvr>
                                      <p:to>
                                        <p:strVal val="visible"/>
                                      </p:to>
                                    </p:set>
                                    <p:animEffect transition="in" filter="fade">
                                      <p:cBhvr>
                                        <p:cTn id="17" dur="1000"/>
                                        <p:tgtEl>
                                          <p:spTgt spid="25"/>
                                        </p:tgtEl>
                                      </p:cBhvr>
                                    </p:animEffect>
                                    <p:anim calcmode="lin" valueType="num">
                                      <p:cBhvr>
                                        <p:cTn id="18" dur="1000" fill="hold"/>
                                        <p:tgtEl>
                                          <p:spTgt spid="25"/>
                                        </p:tgtEl>
                                        <p:attrNameLst>
                                          <p:attrName>ppt_x</p:attrName>
                                        </p:attrNameLst>
                                      </p:cBhvr>
                                      <p:tavLst>
                                        <p:tav tm="0">
                                          <p:val>
                                            <p:strVal val="#ppt_x"/>
                                          </p:val>
                                        </p:tav>
                                        <p:tav tm="100000">
                                          <p:val>
                                            <p:strVal val="#ppt_x"/>
                                          </p:val>
                                        </p:tav>
                                      </p:tavLst>
                                    </p:anim>
                                    <p:anim calcmode="lin" valueType="num">
                                      <p:cBhvr>
                                        <p:cTn id="19" dur="1000" fill="hold"/>
                                        <p:tgtEl>
                                          <p:spTgt spid="25"/>
                                        </p:tgtEl>
                                        <p:attrNameLst>
                                          <p:attrName>ppt_y</p:attrName>
                                        </p:attrNameLst>
                                      </p:cBhvr>
                                      <p:tavLst>
                                        <p:tav tm="0">
                                          <p:val>
                                            <p:strVal val="#ppt_y+.1"/>
                                          </p:val>
                                        </p:tav>
                                        <p:tav tm="100000">
                                          <p:val>
                                            <p:strVal val="#ppt_y"/>
                                          </p:val>
                                        </p:tav>
                                      </p:tavLst>
                                    </p:anim>
                                  </p:childTnLst>
                                </p:cTn>
                              </p:par>
                            </p:childTnLst>
                          </p:cTn>
                        </p:par>
                        <p:par>
                          <p:cTn id="20" fill="hold">
                            <p:stCondLst>
                              <p:cond delay="3000"/>
                            </p:stCondLst>
                            <p:childTnLst>
                              <p:par>
                                <p:cTn id="21" presetID="42" presetClass="entr" presetSubtype="0" fill="hold" grpId="0" nodeType="afterEffect">
                                  <p:stCondLst>
                                    <p:cond delay="1000"/>
                                  </p:stCondLst>
                                  <p:childTnLst>
                                    <p:set>
                                      <p:cBhvr>
                                        <p:cTn id="22" dur="1" fill="hold">
                                          <p:stCondLst>
                                            <p:cond delay="0"/>
                                          </p:stCondLst>
                                        </p:cTn>
                                        <p:tgtEl>
                                          <p:spTgt spid="28"/>
                                        </p:tgtEl>
                                        <p:attrNameLst>
                                          <p:attrName>style.visibility</p:attrName>
                                        </p:attrNameLst>
                                      </p:cBhvr>
                                      <p:to>
                                        <p:strVal val="visible"/>
                                      </p:to>
                                    </p:set>
                                    <p:animEffect transition="in" filter="fade">
                                      <p:cBhvr>
                                        <p:cTn id="23" dur="1000"/>
                                        <p:tgtEl>
                                          <p:spTgt spid="28"/>
                                        </p:tgtEl>
                                      </p:cBhvr>
                                    </p:animEffect>
                                    <p:anim calcmode="lin" valueType="num">
                                      <p:cBhvr>
                                        <p:cTn id="24" dur="1000" fill="hold"/>
                                        <p:tgtEl>
                                          <p:spTgt spid="28"/>
                                        </p:tgtEl>
                                        <p:attrNameLst>
                                          <p:attrName>ppt_x</p:attrName>
                                        </p:attrNameLst>
                                      </p:cBhvr>
                                      <p:tavLst>
                                        <p:tav tm="0">
                                          <p:val>
                                            <p:strVal val="#ppt_x"/>
                                          </p:val>
                                        </p:tav>
                                        <p:tav tm="100000">
                                          <p:val>
                                            <p:strVal val="#ppt_x"/>
                                          </p:val>
                                        </p:tav>
                                      </p:tavLst>
                                    </p:anim>
                                    <p:anim calcmode="lin" valueType="num">
                                      <p:cBhvr>
                                        <p:cTn id="25" dur="1000" fill="hold"/>
                                        <p:tgtEl>
                                          <p:spTgt spid="28"/>
                                        </p:tgtEl>
                                        <p:attrNameLst>
                                          <p:attrName>ppt_y</p:attrName>
                                        </p:attrNameLst>
                                      </p:cBhvr>
                                      <p:tavLst>
                                        <p:tav tm="0">
                                          <p:val>
                                            <p:strVal val="#ppt_y+.1"/>
                                          </p:val>
                                        </p:tav>
                                        <p:tav tm="100000">
                                          <p:val>
                                            <p:strVal val="#ppt_y"/>
                                          </p:val>
                                        </p:tav>
                                      </p:tavLst>
                                    </p:anim>
                                  </p:childTnLst>
                                </p:cTn>
                              </p:par>
                            </p:childTnLst>
                          </p:cTn>
                        </p:par>
                        <p:par>
                          <p:cTn id="26" fill="hold">
                            <p:stCondLst>
                              <p:cond delay="5000"/>
                            </p:stCondLst>
                            <p:childTnLst>
                              <p:par>
                                <p:cTn id="27" presetID="42" presetClass="entr" presetSubtype="0" fill="hold" grpId="0" nodeType="afterEffect">
                                  <p:stCondLst>
                                    <p:cond delay="1000"/>
                                  </p:stCondLst>
                                  <p:childTnLst>
                                    <p:set>
                                      <p:cBhvr>
                                        <p:cTn id="28" dur="1" fill="hold">
                                          <p:stCondLst>
                                            <p:cond delay="0"/>
                                          </p:stCondLst>
                                        </p:cTn>
                                        <p:tgtEl>
                                          <p:spTgt spid="27"/>
                                        </p:tgtEl>
                                        <p:attrNameLst>
                                          <p:attrName>style.visibility</p:attrName>
                                        </p:attrNameLst>
                                      </p:cBhvr>
                                      <p:to>
                                        <p:strVal val="visible"/>
                                      </p:to>
                                    </p:set>
                                    <p:animEffect transition="in" filter="fade">
                                      <p:cBhvr>
                                        <p:cTn id="29" dur="1000"/>
                                        <p:tgtEl>
                                          <p:spTgt spid="27"/>
                                        </p:tgtEl>
                                      </p:cBhvr>
                                    </p:animEffect>
                                    <p:anim calcmode="lin" valueType="num">
                                      <p:cBhvr>
                                        <p:cTn id="30" dur="1000" fill="hold"/>
                                        <p:tgtEl>
                                          <p:spTgt spid="27"/>
                                        </p:tgtEl>
                                        <p:attrNameLst>
                                          <p:attrName>ppt_x</p:attrName>
                                        </p:attrNameLst>
                                      </p:cBhvr>
                                      <p:tavLst>
                                        <p:tav tm="0">
                                          <p:val>
                                            <p:strVal val="#ppt_x"/>
                                          </p:val>
                                        </p:tav>
                                        <p:tav tm="100000">
                                          <p:val>
                                            <p:strVal val="#ppt_x"/>
                                          </p:val>
                                        </p:tav>
                                      </p:tavLst>
                                    </p:anim>
                                    <p:anim calcmode="lin" valueType="num">
                                      <p:cBhvr>
                                        <p:cTn id="31" dur="1000" fill="hold"/>
                                        <p:tgtEl>
                                          <p:spTgt spid="27"/>
                                        </p:tgtEl>
                                        <p:attrNameLst>
                                          <p:attrName>ppt_y</p:attrName>
                                        </p:attrNameLst>
                                      </p:cBhvr>
                                      <p:tavLst>
                                        <p:tav tm="0">
                                          <p:val>
                                            <p:strVal val="#ppt_y+.1"/>
                                          </p:val>
                                        </p:tav>
                                        <p:tav tm="100000">
                                          <p:val>
                                            <p:strVal val="#ppt_y"/>
                                          </p:val>
                                        </p:tav>
                                      </p:tavLst>
                                    </p:anim>
                                  </p:childTnLst>
                                </p:cTn>
                              </p:par>
                            </p:childTnLst>
                          </p:cTn>
                        </p:par>
                        <p:par>
                          <p:cTn id="32" fill="hold">
                            <p:stCondLst>
                              <p:cond delay="7000"/>
                            </p:stCondLst>
                            <p:childTnLst>
                              <p:par>
                                <p:cTn id="33" presetID="42" presetClass="entr" presetSubtype="0" fill="hold" nodeType="afterEffect">
                                  <p:stCondLst>
                                    <p:cond delay="1000"/>
                                  </p:stCondLst>
                                  <p:childTnLst>
                                    <p:set>
                                      <p:cBhvr>
                                        <p:cTn id="34" dur="1" fill="hold">
                                          <p:stCondLst>
                                            <p:cond delay="0"/>
                                          </p:stCondLst>
                                        </p:cTn>
                                        <p:tgtEl>
                                          <p:spTgt spid="31"/>
                                        </p:tgtEl>
                                        <p:attrNameLst>
                                          <p:attrName>style.visibility</p:attrName>
                                        </p:attrNameLst>
                                      </p:cBhvr>
                                      <p:to>
                                        <p:strVal val="visible"/>
                                      </p:to>
                                    </p:set>
                                    <p:animEffect transition="in" filter="fade">
                                      <p:cBhvr>
                                        <p:cTn id="35" dur="1000"/>
                                        <p:tgtEl>
                                          <p:spTgt spid="31"/>
                                        </p:tgtEl>
                                      </p:cBhvr>
                                    </p:animEffect>
                                    <p:anim calcmode="lin" valueType="num">
                                      <p:cBhvr>
                                        <p:cTn id="36" dur="1000" fill="hold"/>
                                        <p:tgtEl>
                                          <p:spTgt spid="31"/>
                                        </p:tgtEl>
                                        <p:attrNameLst>
                                          <p:attrName>ppt_x</p:attrName>
                                        </p:attrNameLst>
                                      </p:cBhvr>
                                      <p:tavLst>
                                        <p:tav tm="0">
                                          <p:val>
                                            <p:strVal val="#ppt_x"/>
                                          </p:val>
                                        </p:tav>
                                        <p:tav tm="100000">
                                          <p:val>
                                            <p:strVal val="#ppt_x"/>
                                          </p:val>
                                        </p:tav>
                                      </p:tavLst>
                                    </p:anim>
                                    <p:anim calcmode="lin" valueType="num">
                                      <p:cBhvr>
                                        <p:cTn id="37" dur="1000" fill="hold"/>
                                        <p:tgtEl>
                                          <p:spTgt spid="31"/>
                                        </p:tgtEl>
                                        <p:attrNameLst>
                                          <p:attrName>ppt_y</p:attrName>
                                        </p:attrNameLst>
                                      </p:cBhvr>
                                      <p:tavLst>
                                        <p:tav tm="0">
                                          <p:val>
                                            <p:strVal val="#ppt_y+.1"/>
                                          </p:val>
                                        </p:tav>
                                        <p:tav tm="100000">
                                          <p:val>
                                            <p:strVal val="#ppt_y"/>
                                          </p:val>
                                        </p:tav>
                                      </p:tavLst>
                                    </p:anim>
                                  </p:childTnLst>
                                </p:cTn>
                              </p:par>
                            </p:childTnLst>
                          </p:cTn>
                        </p:par>
                        <p:par>
                          <p:cTn id="38" fill="hold">
                            <p:stCondLst>
                              <p:cond delay="9000"/>
                            </p:stCondLst>
                            <p:childTnLst>
                              <p:par>
                                <p:cTn id="39" presetID="42" presetClass="entr" presetSubtype="0" fill="hold" nodeType="afterEffect">
                                  <p:stCondLst>
                                    <p:cond delay="1000"/>
                                  </p:stCondLst>
                                  <p:childTnLst>
                                    <p:set>
                                      <p:cBhvr>
                                        <p:cTn id="40" dur="1" fill="hold">
                                          <p:stCondLst>
                                            <p:cond delay="0"/>
                                          </p:stCondLst>
                                        </p:cTn>
                                        <p:tgtEl>
                                          <p:spTgt spid="47104"/>
                                        </p:tgtEl>
                                        <p:attrNameLst>
                                          <p:attrName>style.visibility</p:attrName>
                                        </p:attrNameLst>
                                      </p:cBhvr>
                                      <p:to>
                                        <p:strVal val="visible"/>
                                      </p:to>
                                    </p:set>
                                    <p:animEffect transition="in" filter="fade">
                                      <p:cBhvr>
                                        <p:cTn id="41" dur="1000"/>
                                        <p:tgtEl>
                                          <p:spTgt spid="47104"/>
                                        </p:tgtEl>
                                      </p:cBhvr>
                                    </p:animEffect>
                                    <p:anim calcmode="lin" valueType="num">
                                      <p:cBhvr>
                                        <p:cTn id="42" dur="1000" fill="hold"/>
                                        <p:tgtEl>
                                          <p:spTgt spid="47104"/>
                                        </p:tgtEl>
                                        <p:attrNameLst>
                                          <p:attrName>ppt_x</p:attrName>
                                        </p:attrNameLst>
                                      </p:cBhvr>
                                      <p:tavLst>
                                        <p:tav tm="0">
                                          <p:val>
                                            <p:strVal val="#ppt_x"/>
                                          </p:val>
                                        </p:tav>
                                        <p:tav tm="100000">
                                          <p:val>
                                            <p:strVal val="#ppt_x"/>
                                          </p:val>
                                        </p:tav>
                                      </p:tavLst>
                                    </p:anim>
                                    <p:anim calcmode="lin" valueType="num">
                                      <p:cBhvr>
                                        <p:cTn id="43" dur="1000" fill="hold"/>
                                        <p:tgtEl>
                                          <p:spTgt spid="47104"/>
                                        </p:tgtEl>
                                        <p:attrNameLst>
                                          <p:attrName>ppt_y</p:attrName>
                                        </p:attrNameLst>
                                      </p:cBhvr>
                                      <p:tavLst>
                                        <p:tav tm="0">
                                          <p:val>
                                            <p:strVal val="#ppt_y+.1"/>
                                          </p:val>
                                        </p:tav>
                                        <p:tav tm="100000">
                                          <p:val>
                                            <p:strVal val="#ppt_y"/>
                                          </p:val>
                                        </p:tav>
                                      </p:tavLst>
                                    </p:anim>
                                  </p:childTnLst>
                                </p:cTn>
                              </p:par>
                            </p:childTnLst>
                          </p:cTn>
                        </p:par>
                        <p:par>
                          <p:cTn id="44" fill="hold">
                            <p:stCondLst>
                              <p:cond delay="11000"/>
                            </p:stCondLst>
                            <p:childTnLst>
                              <p:par>
                                <p:cTn id="45" presetID="42" presetClass="entr" presetSubtype="0" fill="hold" nodeType="afterEffect">
                                  <p:stCondLst>
                                    <p:cond delay="1000"/>
                                  </p:stCondLst>
                                  <p:childTnLst>
                                    <p:set>
                                      <p:cBhvr>
                                        <p:cTn id="46" dur="1" fill="hold">
                                          <p:stCondLst>
                                            <p:cond delay="0"/>
                                          </p:stCondLst>
                                        </p:cTn>
                                        <p:tgtEl>
                                          <p:spTgt spid="47105"/>
                                        </p:tgtEl>
                                        <p:attrNameLst>
                                          <p:attrName>style.visibility</p:attrName>
                                        </p:attrNameLst>
                                      </p:cBhvr>
                                      <p:to>
                                        <p:strVal val="visible"/>
                                      </p:to>
                                    </p:set>
                                    <p:animEffect transition="in" filter="fade">
                                      <p:cBhvr>
                                        <p:cTn id="47" dur="1000"/>
                                        <p:tgtEl>
                                          <p:spTgt spid="47105"/>
                                        </p:tgtEl>
                                      </p:cBhvr>
                                    </p:animEffect>
                                    <p:anim calcmode="lin" valueType="num">
                                      <p:cBhvr>
                                        <p:cTn id="48" dur="1000" fill="hold"/>
                                        <p:tgtEl>
                                          <p:spTgt spid="47105"/>
                                        </p:tgtEl>
                                        <p:attrNameLst>
                                          <p:attrName>ppt_x</p:attrName>
                                        </p:attrNameLst>
                                      </p:cBhvr>
                                      <p:tavLst>
                                        <p:tav tm="0">
                                          <p:val>
                                            <p:strVal val="#ppt_x"/>
                                          </p:val>
                                        </p:tav>
                                        <p:tav tm="100000">
                                          <p:val>
                                            <p:strVal val="#ppt_x"/>
                                          </p:val>
                                        </p:tav>
                                      </p:tavLst>
                                    </p:anim>
                                    <p:anim calcmode="lin" valueType="num">
                                      <p:cBhvr>
                                        <p:cTn id="49" dur="1000" fill="hold"/>
                                        <p:tgtEl>
                                          <p:spTgt spid="47105"/>
                                        </p:tgtEl>
                                        <p:attrNameLst>
                                          <p:attrName>ppt_y</p:attrName>
                                        </p:attrNameLst>
                                      </p:cBhvr>
                                      <p:tavLst>
                                        <p:tav tm="0">
                                          <p:val>
                                            <p:strVal val="#ppt_y+.1"/>
                                          </p:val>
                                        </p:tav>
                                        <p:tav tm="100000">
                                          <p:val>
                                            <p:strVal val="#ppt_y"/>
                                          </p:val>
                                        </p:tav>
                                      </p:tavLst>
                                    </p:anim>
                                  </p:childTnLst>
                                </p:cTn>
                              </p:par>
                            </p:childTnLst>
                          </p:cTn>
                        </p:par>
                        <p:par>
                          <p:cTn id="50" fill="hold">
                            <p:stCondLst>
                              <p:cond delay="13000"/>
                            </p:stCondLst>
                            <p:childTnLst>
                              <p:par>
                                <p:cTn id="51" presetID="42" presetClass="entr" presetSubtype="0" fill="hold" nodeType="afterEffect">
                                  <p:stCondLst>
                                    <p:cond delay="1000"/>
                                  </p:stCondLst>
                                  <p:childTnLst>
                                    <p:set>
                                      <p:cBhvr>
                                        <p:cTn id="52" dur="1" fill="hold">
                                          <p:stCondLst>
                                            <p:cond delay="0"/>
                                          </p:stCondLst>
                                        </p:cTn>
                                        <p:tgtEl>
                                          <p:spTgt spid="6"/>
                                        </p:tgtEl>
                                        <p:attrNameLst>
                                          <p:attrName>style.visibility</p:attrName>
                                        </p:attrNameLst>
                                      </p:cBhvr>
                                      <p:to>
                                        <p:strVal val="visible"/>
                                      </p:to>
                                    </p:set>
                                    <p:animEffect transition="in" filter="fade">
                                      <p:cBhvr>
                                        <p:cTn id="53" dur="1000"/>
                                        <p:tgtEl>
                                          <p:spTgt spid="6"/>
                                        </p:tgtEl>
                                      </p:cBhvr>
                                    </p:animEffect>
                                    <p:anim calcmode="lin" valueType="num">
                                      <p:cBhvr>
                                        <p:cTn id="54" dur="1000" fill="hold"/>
                                        <p:tgtEl>
                                          <p:spTgt spid="6"/>
                                        </p:tgtEl>
                                        <p:attrNameLst>
                                          <p:attrName>ppt_x</p:attrName>
                                        </p:attrNameLst>
                                      </p:cBhvr>
                                      <p:tavLst>
                                        <p:tav tm="0">
                                          <p:val>
                                            <p:strVal val="#ppt_x"/>
                                          </p:val>
                                        </p:tav>
                                        <p:tav tm="100000">
                                          <p:val>
                                            <p:strVal val="#ppt_x"/>
                                          </p:val>
                                        </p:tav>
                                      </p:tavLst>
                                    </p:anim>
                                    <p:anim calcmode="lin" valueType="num">
                                      <p:cBhvr>
                                        <p:cTn id="55" dur="1000" fill="hold"/>
                                        <p:tgtEl>
                                          <p:spTgt spid="6"/>
                                        </p:tgtEl>
                                        <p:attrNameLst>
                                          <p:attrName>ppt_y</p:attrName>
                                        </p:attrNameLst>
                                      </p:cBhvr>
                                      <p:tavLst>
                                        <p:tav tm="0">
                                          <p:val>
                                            <p:strVal val="#ppt_y+.1"/>
                                          </p:val>
                                        </p:tav>
                                        <p:tav tm="100000">
                                          <p:val>
                                            <p:strVal val="#ppt_y"/>
                                          </p:val>
                                        </p:tav>
                                      </p:tavLst>
                                    </p:anim>
                                  </p:childTnLst>
                                </p:cTn>
                              </p:par>
                            </p:childTnLst>
                          </p:cTn>
                        </p:par>
                        <p:par>
                          <p:cTn id="56" fill="hold">
                            <p:stCondLst>
                              <p:cond delay="15000"/>
                            </p:stCondLst>
                            <p:childTnLst>
                              <p:par>
                                <p:cTn id="57" presetID="42" presetClass="entr" presetSubtype="0" fill="hold" nodeType="afterEffect">
                                  <p:stCondLst>
                                    <p:cond delay="1000"/>
                                  </p:stCondLst>
                                  <p:childTnLst>
                                    <p:set>
                                      <p:cBhvr>
                                        <p:cTn id="58" dur="1" fill="hold">
                                          <p:stCondLst>
                                            <p:cond delay="0"/>
                                          </p:stCondLst>
                                        </p:cTn>
                                        <p:tgtEl>
                                          <p:spTgt spid="9"/>
                                        </p:tgtEl>
                                        <p:attrNameLst>
                                          <p:attrName>style.visibility</p:attrName>
                                        </p:attrNameLst>
                                      </p:cBhvr>
                                      <p:to>
                                        <p:strVal val="visible"/>
                                      </p:to>
                                    </p:set>
                                    <p:animEffect transition="in" filter="fade">
                                      <p:cBhvr>
                                        <p:cTn id="59" dur="1000"/>
                                        <p:tgtEl>
                                          <p:spTgt spid="9"/>
                                        </p:tgtEl>
                                      </p:cBhvr>
                                    </p:animEffect>
                                    <p:anim calcmode="lin" valueType="num">
                                      <p:cBhvr>
                                        <p:cTn id="60" dur="1000" fill="hold"/>
                                        <p:tgtEl>
                                          <p:spTgt spid="9"/>
                                        </p:tgtEl>
                                        <p:attrNameLst>
                                          <p:attrName>ppt_x</p:attrName>
                                        </p:attrNameLst>
                                      </p:cBhvr>
                                      <p:tavLst>
                                        <p:tav tm="0">
                                          <p:val>
                                            <p:strVal val="#ppt_x"/>
                                          </p:val>
                                        </p:tav>
                                        <p:tav tm="100000">
                                          <p:val>
                                            <p:strVal val="#ppt_x"/>
                                          </p:val>
                                        </p:tav>
                                      </p:tavLst>
                                    </p:anim>
                                    <p:anim calcmode="lin" valueType="num">
                                      <p:cBhvr>
                                        <p:cTn id="61" dur="1000" fill="hold"/>
                                        <p:tgtEl>
                                          <p:spTgt spid="9"/>
                                        </p:tgtEl>
                                        <p:attrNameLst>
                                          <p:attrName>ppt_y</p:attrName>
                                        </p:attrNameLst>
                                      </p:cBhvr>
                                      <p:tavLst>
                                        <p:tav tm="0">
                                          <p:val>
                                            <p:strVal val="#ppt_y+.1"/>
                                          </p:val>
                                        </p:tav>
                                        <p:tav tm="100000">
                                          <p:val>
                                            <p:strVal val="#ppt_y"/>
                                          </p:val>
                                        </p:tav>
                                      </p:tavLst>
                                    </p:anim>
                                  </p:childTnLst>
                                </p:cTn>
                              </p:par>
                            </p:childTnLst>
                          </p:cTn>
                        </p:par>
                        <p:par>
                          <p:cTn id="62" fill="hold">
                            <p:stCondLst>
                              <p:cond delay="17000"/>
                            </p:stCondLst>
                            <p:childTnLst>
                              <p:par>
                                <p:cTn id="63" presetID="42" presetClass="entr" presetSubtype="0" fill="hold" nodeType="afterEffect">
                                  <p:stCondLst>
                                    <p:cond delay="1000"/>
                                  </p:stCondLst>
                                  <p:childTnLst>
                                    <p:set>
                                      <p:cBhvr>
                                        <p:cTn id="64" dur="1" fill="hold">
                                          <p:stCondLst>
                                            <p:cond delay="0"/>
                                          </p:stCondLst>
                                        </p:cTn>
                                        <p:tgtEl>
                                          <p:spTgt spid="12"/>
                                        </p:tgtEl>
                                        <p:attrNameLst>
                                          <p:attrName>style.visibility</p:attrName>
                                        </p:attrNameLst>
                                      </p:cBhvr>
                                      <p:to>
                                        <p:strVal val="visible"/>
                                      </p:to>
                                    </p:set>
                                    <p:animEffect transition="in" filter="fade">
                                      <p:cBhvr>
                                        <p:cTn id="65" dur="1000"/>
                                        <p:tgtEl>
                                          <p:spTgt spid="12"/>
                                        </p:tgtEl>
                                      </p:cBhvr>
                                    </p:animEffect>
                                    <p:anim calcmode="lin" valueType="num">
                                      <p:cBhvr>
                                        <p:cTn id="66" dur="1000" fill="hold"/>
                                        <p:tgtEl>
                                          <p:spTgt spid="12"/>
                                        </p:tgtEl>
                                        <p:attrNameLst>
                                          <p:attrName>ppt_x</p:attrName>
                                        </p:attrNameLst>
                                      </p:cBhvr>
                                      <p:tavLst>
                                        <p:tav tm="0">
                                          <p:val>
                                            <p:strVal val="#ppt_x"/>
                                          </p:val>
                                        </p:tav>
                                        <p:tav tm="100000">
                                          <p:val>
                                            <p:strVal val="#ppt_x"/>
                                          </p:val>
                                        </p:tav>
                                      </p:tavLst>
                                    </p:anim>
                                    <p:anim calcmode="lin" valueType="num">
                                      <p:cBhvr>
                                        <p:cTn id="67"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21" grpId="0" animBg="1"/>
      <p:bldP spid="25" grpId="0" animBg="1"/>
      <p:bldP spid="27" grpId="0" animBg="1"/>
      <p:bldP spid="28" grpId="0" animBg="1"/>
    </p:bldLst>
  </p:timing>
</p:sld>
</file>

<file path=ppt/slides/slide3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9154" name="Rectangle 2">
            <a:extLst>
              <a:ext uri="{FF2B5EF4-FFF2-40B4-BE49-F238E27FC236}">
                <a16:creationId xmlns:a16="http://schemas.microsoft.com/office/drawing/2014/main" id="{65914CB0-8D4B-460B-82CE-4FE92D784221}"/>
              </a:ext>
            </a:extLst>
          </p:cNvPr>
          <p:cNvSpPr>
            <a:spLocks noChangeArrowheads="1"/>
          </p:cNvSpPr>
          <p:nvPr/>
        </p:nvSpPr>
        <p:spPr bwMode="auto">
          <a:xfrm>
            <a:off x="2209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a:solidFill>
                  <a:schemeClr val="tx1"/>
                </a:solidFill>
                <a:latin typeface="Times New Roman" panose="02020603050405020304" pitchFamily="18" charset="0"/>
              </a:defRPr>
            </a:lvl1pPr>
            <a:lvl2pPr marL="742950" indent="-285750">
              <a:defRPr sz="2800">
                <a:solidFill>
                  <a:schemeClr val="tx1"/>
                </a:solidFill>
                <a:latin typeface="Times New Roman" panose="02020603050405020304" pitchFamily="18" charset="0"/>
              </a:defRPr>
            </a:lvl2pPr>
            <a:lvl3pPr marL="1143000" indent="-228600">
              <a:defRPr sz="2800">
                <a:solidFill>
                  <a:schemeClr val="tx1"/>
                </a:solidFill>
                <a:latin typeface="Times New Roman" panose="02020603050405020304" pitchFamily="18" charset="0"/>
              </a:defRPr>
            </a:lvl3pPr>
            <a:lvl4pPr marL="1600200" indent="-228600">
              <a:defRPr sz="2800">
                <a:solidFill>
                  <a:schemeClr val="tx1"/>
                </a:solidFill>
                <a:latin typeface="Times New Roman" panose="02020603050405020304" pitchFamily="18" charset="0"/>
              </a:defRPr>
            </a:lvl4pPr>
            <a:lvl5pPr marL="2057400" indent="-228600">
              <a:defRPr sz="28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defRPr>
            </a:lvl9pPr>
          </a:lstStyle>
          <a:p>
            <a:endParaRPr lang="en-GB" altLang="en-US" noProof="1"/>
          </a:p>
        </p:txBody>
      </p:sp>
      <p:sp>
        <p:nvSpPr>
          <p:cNvPr id="49155" name="Rectangle 3">
            <a:extLst>
              <a:ext uri="{FF2B5EF4-FFF2-40B4-BE49-F238E27FC236}">
                <a16:creationId xmlns:a16="http://schemas.microsoft.com/office/drawing/2014/main" id="{103F2707-5D7F-4BB5-8326-283DD785A536}"/>
              </a:ext>
            </a:extLst>
          </p:cNvPr>
          <p:cNvSpPr>
            <a:spLocks noChangeArrowheads="1"/>
          </p:cNvSpPr>
          <p:nvPr/>
        </p:nvSpPr>
        <p:spPr bwMode="auto">
          <a:xfrm>
            <a:off x="4648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a:solidFill>
                  <a:schemeClr val="tx1"/>
                </a:solidFill>
                <a:latin typeface="Times New Roman" panose="02020603050405020304" pitchFamily="18" charset="0"/>
              </a:defRPr>
            </a:lvl1pPr>
            <a:lvl2pPr marL="742950" indent="-285750">
              <a:defRPr sz="2800">
                <a:solidFill>
                  <a:schemeClr val="tx1"/>
                </a:solidFill>
                <a:latin typeface="Times New Roman" panose="02020603050405020304" pitchFamily="18" charset="0"/>
              </a:defRPr>
            </a:lvl2pPr>
            <a:lvl3pPr marL="1143000" indent="-228600">
              <a:defRPr sz="2800">
                <a:solidFill>
                  <a:schemeClr val="tx1"/>
                </a:solidFill>
                <a:latin typeface="Times New Roman" panose="02020603050405020304" pitchFamily="18" charset="0"/>
              </a:defRPr>
            </a:lvl3pPr>
            <a:lvl4pPr marL="1600200" indent="-228600">
              <a:defRPr sz="2800">
                <a:solidFill>
                  <a:schemeClr val="tx1"/>
                </a:solidFill>
                <a:latin typeface="Times New Roman" panose="02020603050405020304" pitchFamily="18" charset="0"/>
              </a:defRPr>
            </a:lvl4pPr>
            <a:lvl5pPr marL="2057400" indent="-228600">
              <a:defRPr sz="28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defRPr>
            </a:lvl9pPr>
          </a:lstStyle>
          <a:p>
            <a:endParaRPr lang="en-GB" altLang="en-US" noProof="1"/>
          </a:p>
        </p:txBody>
      </p:sp>
      <p:sp>
        <p:nvSpPr>
          <p:cNvPr id="49156" name="Rectangle 4">
            <a:extLst>
              <a:ext uri="{FF2B5EF4-FFF2-40B4-BE49-F238E27FC236}">
                <a16:creationId xmlns:a16="http://schemas.microsoft.com/office/drawing/2014/main" id="{56FAA071-7491-4039-9104-D6346D4DB4A5}"/>
              </a:ext>
            </a:extLst>
          </p:cNvPr>
          <p:cNvSpPr>
            <a:spLocks noGrp="1"/>
          </p:cNvSpPr>
          <p:nvPr>
            <p:ph type="title"/>
          </p:nvPr>
        </p:nvSpPr>
        <p:spPr>
          <a:xfrm>
            <a:off x="402336" y="365126"/>
            <a:ext cx="10515600" cy="908198"/>
          </a:xfrm>
        </p:spPr>
        <p:txBody>
          <a:bodyPr>
            <a:normAutofit fontScale="90000"/>
          </a:bodyPr>
          <a:lstStyle/>
          <a:p>
            <a:r>
              <a:rPr lang="en-GB" altLang="en-US" dirty="0"/>
              <a:t>Relationship between injections, withdrawals</a:t>
            </a:r>
          </a:p>
        </p:txBody>
      </p:sp>
      <p:sp>
        <p:nvSpPr>
          <p:cNvPr id="418821" name="Rectangle 5">
            <a:extLst>
              <a:ext uri="{FF2B5EF4-FFF2-40B4-BE49-F238E27FC236}">
                <a16:creationId xmlns:a16="http://schemas.microsoft.com/office/drawing/2014/main" id="{932BC4CF-DE84-4ACF-9A16-30A679866A38}"/>
              </a:ext>
            </a:extLst>
          </p:cNvPr>
          <p:cNvSpPr>
            <a:spLocks noGrp="1"/>
          </p:cNvSpPr>
          <p:nvPr>
            <p:ph sz="quarter" idx="1"/>
          </p:nvPr>
        </p:nvSpPr>
        <p:spPr>
          <a:xfrm>
            <a:off x="402336" y="1409700"/>
            <a:ext cx="11338560" cy="4838700"/>
          </a:xfrm>
        </p:spPr>
        <p:txBody>
          <a:bodyPr/>
          <a:lstStyle/>
          <a:p>
            <a:pPr>
              <a:spcBef>
                <a:spcPts val="300"/>
              </a:spcBef>
            </a:pPr>
            <a:r>
              <a:rPr lang="en-GB" altLang="en-US" dirty="0">
                <a:latin typeface="+mn-lt"/>
              </a:rPr>
              <a:t>No reason to expect investment to equal savings</a:t>
            </a:r>
          </a:p>
          <a:p>
            <a:pPr lvl="1">
              <a:spcBef>
                <a:spcPts val="300"/>
              </a:spcBef>
            </a:pPr>
            <a:r>
              <a:rPr lang="en-GB" altLang="en-US" sz="2200" dirty="0">
                <a:latin typeface="+mn-lt"/>
              </a:rPr>
              <a:t>Different people making different decisions</a:t>
            </a:r>
          </a:p>
          <a:p>
            <a:pPr lvl="1">
              <a:spcBef>
                <a:spcPts val="300"/>
              </a:spcBef>
            </a:pPr>
            <a:r>
              <a:rPr lang="en-GB" altLang="en-US" sz="2200" dirty="0">
                <a:latin typeface="+mn-lt"/>
              </a:rPr>
              <a:t>Same with exports, imports – and government spending need not equal taxation</a:t>
            </a:r>
          </a:p>
          <a:p>
            <a:pPr lvl="1">
              <a:spcBef>
                <a:spcPts val="300"/>
              </a:spcBef>
            </a:pPr>
            <a:r>
              <a:rPr lang="en-GB" altLang="en-US" sz="2200" dirty="0">
                <a:latin typeface="+mn-lt"/>
              </a:rPr>
              <a:t>As a result, planned injections may not equal planned withdrawals</a:t>
            </a:r>
          </a:p>
          <a:p>
            <a:pPr>
              <a:spcBef>
                <a:spcPts val="300"/>
              </a:spcBef>
            </a:pPr>
            <a:r>
              <a:rPr lang="en-GB" altLang="en-US" dirty="0">
                <a:latin typeface="+mn-lt"/>
              </a:rPr>
              <a:t>Where injections are greater, higher expenditure, so income increases, then expenditure increases through consumption</a:t>
            </a:r>
            <a:endParaRPr lang="en-GB" altLang="en-US" i="1" dirty="0">
              <a:latin typeface="+mn-lt"/>
            </a:endParaRPr>
          </a:p>
          <a:p>
            <a:pPr lvl="1">
              <a:spcBef>
                <a:spcPts val="300"/>
              </a:spcBef>
            </a:pPr>
            <a:r>
              <a:rPr lang="en-GB" altLang="en-US" sz="2200" dirty="0">
                <a:latin typeface="+mn-lt"/>
              </a:rPr>
              <a:t>Where withdrawals are greater, lower expenditure, so income decreases, expenditure falls through consumption</a:t>
            </a:r>
          </a:p>
          <a:p>
            <a:pPr lvl="3">
              <a:spcBef>
                <a:spcPts val="300"/>
              </a:spcBef>
            </a:pPr>
            <a:endParaRPr lang="en-GB" altLang="en-US" sz="2400" dirty="0">
              <a:latin typeface="+mn-lt"/>
            </a:endParaRPr>
          </a:p>
          <a:p>
            <a:pPr>
              <a:spcBef>
                <a:spcPts val="300"/>
              </a:spcBef>
            </a:pPr>
            <a:r>
              <a:rPr lang="en-GB" altLang="en-US" dirty="0">
                <a:latin typeface="+mn-lt"/>
              </a:rPr>
              <a:t>Equilibrium: income equals expenditure</a:t>
            </a:r>
          </a:p>
          <a:p>
            <a:pPr lvl="1">
              <a:spcBef>
                <a:spcPts val="300"/>
              </a:spcBef>
            </a:pPr>
            <a:r>
              <a:rPr lang="en-GB" altLang="en-US" sz="2200" dirty="0">
                <a:latin typeface="+mn-lt"/>
              </a:rPr>
              <a:t>Or injections equal withdrawals</a:t>
            </a:r>
          </a:p>
        </p:txBody>
      </p:sp>
    </p:spTree>
    <p:extLst>
      <p:ext uri="{BB962C8B-B14F-4D97-AF65-F5344CB8AC3E}">
        <p14:creationId xmlns:p14="http://schemas.microsoft.com/office/powerpoint/2010/main" val="2090939663"/>
      </p:ext>
    </p:extLst>
  </p:cSld>
  <p:clrMapOvr>
    <a:masterClrMapping/>
  </p:clrMapOvr>
  <p:transition spd="med">
    <p:pull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418821">
                                            <p:txEl>
                                              <p:pRg st="0" end="0"/>
                                            </p:txEl>
                                          </p:spTgt>
                                        </p:tgtEl>
                                        <p:attrNameLst>
                                          <p:attrName>style.visibility</p:attrName>
                                        </p:attrNameLst>
                                      </p:cBhvr>
                                      <p:to>
                                        <p:strVal val="visible"/>
                                      </p:to>
                                    </p:set>
                                    <p:anim calcmode="lin" valueType="num">
                                      <p:cBhvr additive="base">
                                        <p:cTn id="7" dur="500"/>
                                        <p:tgtEl>
                                          <p:spTgt spid="418821">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418821">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418821">
                                            <p:txEl>
                                              <p:pRg st="1" end="1"/>
                                            </p:txEl>
                                          </p:spTgt>
                                        </p:tgtEl>
                                        <p:attrNameLst>
                                          <p:attrName>style.visibility</p:attrName>
                                        </p:attrNameLst>
                                      </p:cBhvr>
                                      <p:to>
                                        <p:strVal val="visible"/>
                                      </p:to>
                                    </p:set>
                                    <p:anim calcmode="lin" valueType="num">
                                      <p:cBhvr additive="base">
                                        <p:cTn id="13" dur="500"/>
                                        <p:tgtEl>
                                          <p:spTgt spid="418821">
                                            <p:txEl>
                                              <p:pRg st="1" end="1"/>
                                            </p:txEl>
                                          </p:spTgt>
                                        </p:tgtEl>
                                        <p:attrNameLst>
                                          <p:attrName>ppt_y</p:attrName>
                                        </p:attrNameLst>
                                      </p:cBhvr>
                                      <p:tavLst>
                                        <p:tav tm="0">
                                          <p:val>
                                            <p:strVal val="#ppt_y+#ppt_h*1.125000"/>
                                          </p:val>
                                        </p:tav>
                                        <p:tav tm="100000">
                                          <p:val>
                                            <p:strVal val="#ppt_y"/>
                                          </p:val>
                                        </p:tav>
                                      </p:tavLst>
                                    </p:anim>
                                    <p:animEffect transition="in" filter="wipe(up)">
                                      <p:cBhvr>
                                        <p:cTn id="14" dur="500"/>
                                        <p:tgtEl>
                                          <p:spTgt spid="418821">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grpId="0" nodeType="clickEffect">
                                  <p:stCondLst>
                                    <p:cond delay="0"/>
                                  </p:stCondLst>
                                  <p:childTnLst>
                                    <p:set>
                                      <p:cBhvr>
                                        <p:cTn id="18" dur="1" fill="hold">
                                          <p:stCondLst>
                                            <p:cond delay="0"/>
                                          </p:stCondLst>
                                        </p:cTn>
                                        <p:tgtEl>
                                          <p:spTgt spid="418821">
                                            <p:txEl>
                                              <p:pRg st="2" end="2"/>
                                            </p:txEl>
                                          </p:spTgt>
                                        </p:tgtEl>
                                        <p:attrNameLst>
                                          <p:attrName>style.visibility</p:attrName>
                                        </p:attrNameLst>
                                      </p:cBhvr>
                                      <p:to>
                                        <p:strVal val="visible"/>
                                      </p:to>
                                    </p:set>
                                    <p:anim calcmode="lin" valueType="num">
                                      <p:cBhvr additive="base">
                                        <p:cTn id="19" dur="500"/>
                                        <p:tgtEl>
                                          <p:spTgt spid="418821">
                                            <p:txEl>
                                              <p:pRg st="2" end="2"/>
                                            </p:txEl>
                                          </p:spTgt>
                                        </p:tgtEl>
                                        <p:attrNameLst>
                                          <p:attrName>ppt_y</p:attrName>
                                        </p:attrNameLst>
                                      </p:cBhvr>
                                      <p:tavLst>
                                        <p:tav tm="0">
                                          <p:val>
                                            <p:strVal val="#ppt_y+#ppt_h*1.125000"/>
                                          </p:val>
                                        </p:tav>
                                        <p:tav tm="100000">
                                          <p:val>
                                            <p:strVal val="#ppt_y"/>
                                          </p:val>
                                        </p:tav>
                                      </p:tavLst>
                                    </p:anim>
                                    <p:animEffect transition="in" filter="wipe(up)">
                                      <p:cBhvr>
                                        <p:cTn id="20" dur="500"/>
                                        <p:tgtEl>
                                          <p:spTgt spid="418821">
                                            <p:txEl>
                                              <p:pRg st="2" end="2"/>
                                            </p:txEl>
                                          </p:spTgt>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12" presetClass="entr" presetSubtype="4" fill="hold" grpId="0" nodeType="clickEffect">
                                  <p:stCondLst>
                                    <p:cond delay="0"/>
                                  </p:stCondLst>
                                  <p:childTnLst>
                                    <p:set>
                                      <p:cBhvr>
                                        <p:cTn id="24" dur="1" fill="hold">
                                          <p:stCondLst>
                                            <p:cond delay="0"/>
                                          </p:stCondLst>
                                        </p:cTn>
                                        <p:tgtEl>
                                          <p:spTgt spid="418821">
                                            <p:txEl>
                                              <p:pRg st="3" end="3"/>
                                            </p:txEl>
                                          </p:spTgt>
                                        </p:tgtEl>
                                        <p:attrNameLst>
                                          <p:attrName>style.visibility</p:attrName>
                                        </p:attrNameLst>
                                      </p:cBhvr>
                                      <p:to>
                                        <p:strVal val="visible"/>
                                      </p:to>
                                    </p:set>
                                    <p:anim calcmode="lin" valueType="num">
                                      <p:cBhvr additive="base">
                                        <p:cTn id="25" dur="500"/>
                                        <p:tgtEl>
                                          <p:spTgt spid="418821">
                                            <p:txEl>
                                              <p:pRg st="3" end="3"/>
                                            </p:txEl>
                                          </p:spTgt>
                                        </p:tgtEl>
                                        <p:attrNameLst>
                                          <p:attrName>ppt_y</p:attrName>
                                        </p:attrNameLst>
                                      </p:cBhvr>
                                      <p:tavLst>
                                        <p:tav tm="0">
                                          <p:val>
                                            <p:strVal val="#ppt_y+#ppt_h*1.125000"/>
                                          </p:val>
                                        </p:tav>
                                        <p:tav tm="100000">
                                          <p:val>
                                            <p:strVal val="#ppt_y"/>
                                          </p:val>
                                        </p:tav>
                                      </p:tavLst>
                                    </p:anim>
                                    <p:animEffect transition="in" filter="wipe(up)">
                                      <p:cBhvr>
                                        <p:cTn id="26" dur="500"/>
                                        <p:tgtEl>
                                          <p:spTgt spid="418821">
                                            <p:txEl>
                                              <p:pRg st="3" end="3"/>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2" presetClass="entr" presetSubtype="4" fill="hold" grpId="0" nodeType="clickEffect">
                                  <p:stCondLst>
                                    <p:cond delay="0"/>
                                  </p:stCondLst>
                                  <p:childTnLst>
                                    <p:set>
                                      <p:cBhvr>
                                        <p:cTn id="30" dur="1" fill="hold">
                                          <p:stCondLst>
                                            <p:cond delay="0"/>
                                          </p:stCondLst>
                                        </p:cTn>
                                        <p:tgtEl>
                                          <p:spTgt spid="418821">
                                            <p:txEl>
                                              <p:pRg st="4" end="4"/>
                                            </p:txEl>
                                          </p:spTgt>
                                        </p:tgtEl>
                                        <p:attrNameLst>
                                          <p:attrName>style.visibility</p:attrName>
                                        </p:attrNameLst>
                                      </p:cBhvr>
                                      <p:to>
                                        <p:strVal val="visible"/>
                                      </p:to>
                                    </p:set>
                                    <p:anim calcmode="lin" valueType="num">
                                      <p:cBhvr additive="base">
                                        <p:cTn id="31" dur="500"/>
                                        <p:tgtEl>
                                          <p:spTgt spid="418821">
                                            <p:txEl>
                                              <p:pRg st="4" end="4"/>
                                            </p:txEl>
                                          </p:spTgt>
                                        </p:tgtEl>
                                        <p:attrNameLst>
                                          <p:attrName>ppt_y</p:attrName>
                                        </p:attrNameLst>
                                      </p:cBhvr>
                                      <p:tavLst>
                                        <p:tav tm="0">
                                          <p:val>
                                            <p:strVal val="#ppt_y+#ppt_h*1.125000"/>
                                          </p:val>
                                        </p:tav>
                                        <p:tav tm="100000">
                                          <p:val>
                                            <p:strVal val="#ppt_y"/>
                                          </p:val>
                                        </p:tav>
                                      </p:tavLst>
                                    </p:anim>
                                    <p:animEffect transition="in" filter="wipe(up)">
                                      <p:cBhvr>
                                        <p:cTn id="32" dur="500"/>
                                        <p:tgtEl>
                                          <p:spTgt spid="418821">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4" fill="hold" grpId="0" nodeType="clickEffect">
                                  <p:stCondLst>
                                    <p:cond delay="0"/>
                                  </p:stCondLst>
                                  <p:childTnLst>
                                    <p:set>
                                      <p:cBhvr>
                                        <p:cTn id="36" dur="1" fill="hold">
                                          <p:stCondLst>
                                            <p:cond delay="0"/>
                                          </p:stCondLst>
                                        </p:cTn>
                                        <p:tgtEl>
                                          <p:spTgt spid="418821">
                                            <p:txEl>
                                              <p:pRg st="5" end="5"/>
                                            </p:txEl>
                                          </p:spTgt>
                                        </p:tgtEl>
                                        <p:attrNameLst>
                                          <p:attrName>style.visibility</p:attrName>
                                        </p:attrNameLst>
                                      </p:cBhvr>
                                      <p:to>
                                        <p:strVal val="visible"/>
                                      </p:to>
                                    </p:set>
                                    <p:anim calcmode="lin" valueType="num">
                                      <p:cBhvr additive="base">
                                        <p:cTn id="37" dur="500"/>
                                        <p:tgtEl>
                                          <p:spTgt spid="418821">
                                            <p:txEl>
                                              <p:pRg st="5" end="5"/>
                                            </p:txEl>
                                          </p:spTgt>
                                        </p:tgtEl>
                                        <p:attrNameLst>
                                          <p:attrName>ppt_y</p:attrName>
                                        </p:attrNameLst>
                                      </p:cBhvr>
                                      <p:tavLst>
                                        <p:tav tm="0">
                                          <p:val>
                                            <p:strVal val="#ppt_y+#ppt_h*1.125000"/>
                                          </p:val>
                                        </p:tav>
                                        <p:tav tm="100000">
                                          <p:val>
                                            <p:strVal val="#ppt_y"/>
                                          </p:val>
                                        </p:tav>
                                      </p:tavLst>
                                    </p:anim>
                                    <p:animEffect transition="in" filter="wipe(up)">
                                      <p:cBhvr>
                                        <p:cTn id="38" dur="500"/>
                                        <p:tgtEl>
                                          <p:spTgt spid="418821">
                                            <p:txEl>
                                              <p:pRg st="5" end="5"/>
                                            </p:txEl>
                                          </p:spTgt>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12" presetClass="entr" presetSubtype="4" fill="hold" grpId="0" nodeType="clickEffect">
                                  <p:stCondLst>
                                    <p:cond delay="0"/>
                                  </p:stCondLst>
                                  <p:childTnLst>
                                    <p:set>
                                      <p:cBhvr>
                                        <p:cTn id="42" dur="1" fill="hold">
                                          <p:stCondLst>
                                            <p:cond delay="0"/>
                                          </p:stCondLst>
                                        </p:cTn>
                                        <p:tgtEl>
                                          <p:spTgt spid="418821">
                                            <p:txEl>
                                              <p:pRg st="7" end="7"/>
                                            </p:txEl>
                                          </p:spTgt>
                                        </p:tgtEl>
                                        <p:attrNameLst>
                                          <p:attrName>style.visibility</p:attrName>
                                        </p:attrNameLst>
                                      </p:cBhvr>
                                      <p:to>
                                        <p:strVal val="visible"/>
                                      </p:to>
                                    </p:set>
                                    <p:anim calcmode="lin" valueType="num">
                                      <p:cBhvr additive="base">
                                        <p:cTn id="43" dur="500"/>
                                        <p:tgtEl>
                                          <p:spTgt spid="418821">
                                            <p:txEl>
                                              <p:pRg st="7" end="7"/>
                                            </p:txEl>
                                          </p:spTgt>
                                        </p:tgtEl>
                                        <p:attrNameLst>
                                          <p:attrName>ppt_y</p:attrName>
                                        </p:attrNameLst>
                                      </p:cBhvr>
                                      <p:tavLst>
                                        <p:tav tm="0">
                                          <p:val>
                                            <p:strVal val="#ppt_y+#ppt_h*1.125000"/>
                                          </p:val>
                                        </p:tav>
                                        <p:tav tm="100000">
                                          <p:val>
                                            <p:strVal val="#ppt_y"/>
                                          </p:val>
                                        </p:tav>
                                      </p:tavLst>
                                    </p:anim>
                                    <p:animEffect transition="in" filter="wipe(up)">
                                      <p:cBhvr>
                                        <p:cTn id="44" dur="500"/>
                                        <p:tgtEl>
                                          <p:spTgt spid="418821">
                                            <p:txEl>
                                              <p:pRg st="7" end="7"/>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12" presetClass="entr" presetSubtype="4" fill="hold" grpId="0" nodeType="clickEffect">
                                  <p:stCondLst>
                                    <p:cond delay="0"/>
                                  </p:stCondLst>
                                  <p:childTnLst>
                                    <p:set>
                                      <p:cBhvr>
                                        <p:cTn id="48" dur="1" fill="hold">
                                          <p:stCondLst>
                                            <p:cond delay="0"/>
                                          </p:stCondLst>
                                        </p:cTn>
                                        <p:tgtEl>
                                          <p:spTgt spid="418821">
                                            <p:txEl>
                                              <p:pRg st="8" end="8"/>
                                            </p:txEl>
                                          </p:spTgt>
                                        </p:tgtEl>
                                        <p:attrNameLst>
                                          <p:attrName>style.visibility</p:attrName>
                                        </p:attrNameLst>
                                      </p:cBhvr>
                                      <p:to>
                                        <p:strVal val="visible"/>
                                      </p:to>
                                    </p:set>
                                    <p:anim calcmode="lin" valueType="num">
                                      <p:cBhvr additive="base">
                                        <p:cTn id="49" dur="500"/>
                                        <p:tgtEl>
                                          <p:spTgt spid="418821">
                                            <p:txEl>
                                              <p:pRg st="8" end="8"/>
                                            </p:txEl>
                                          </p:spTgt>
                                        </p:tgtEl>
                                        <p:attrNameLst>
                                          <p:attrName>ppt_y</p:attrName>
                                        </p:attrNameLst>
                                      </p:cBhvr>
                                      <p:tavLst>
                                        <p:tav tm="0">
                                          <p:val>
                                            <p:strVal val="#ppt_y+#ppt_h*1.125000"/>
                                          </p:val>
                                        </p:tav>
                                        <p:tav tm="100000">
                                          <p:val>
                                            <p:strVal val="#ppt_y"/>
                                          </p:val>
                                        </p:tav>
                                      </p:tavLst>
                                    </p:anim>
                                    <p:animEffect transition="in" filter="wipe(up)">
                                      <p:cBhvr>
                                        <p:cTn id="50" dur="500"/>
                                        <p:tgtEl>
                                          <p:spTgt spid="418821">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8821" grpId="0" build="p" bldLvl="3" autoUpdateAnimBg="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05C6EB-CDF2-D6B2-3BD4-91B9E23251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62D153-D564-2CD7-F832-5E49F02B12CB}"/>
              </a:ext>
            </a:extLst>
          </p:cNvPr>
          <p:cNvSpPr>
            <a:spLocks noGrp="1"/>
          </p:cNvSpPr>
          <p:nvPr>
            <p:ph type="title"/>
          </p:nvPr>
        </p:nvSpPr>
        <p:spPr>
          <a:xfrm>
            <a:off x="406400" y="180980"/>
            <a:ext cx="11379200" cy="790573"/>
          </a:xfrm>
        </p:spPr>
        <p:txBody>
          <a:bodyPr>
            <a:normAutofit fontScale="90000"/>
          </a:bodyPr>
          <a:lstStyle/>
          <a:p>
            <a:r>
              <a:rPr lang="en-GB" sz="3600" dirty="0"/>
              <a:t>Aggregate demand-Aggregate Supply (AD-AS) framework</a:t>
            </a:r>
          </a:p>
        </p:txBody>
      </p:sp>
      <p:sp>
        <p:nvSpPr>
          <p:cNvPr id="3" name="Content Placeholder 2">
            <a:extLst>
              <a:ext uri="{FF2B5EF4-FFF2-40B4-BE49-F238E27FC236}">
                <a16:creationId xmlns:a16="http://schemas.microsoft.com/office/drawing/2014/main" id="{61605C1F-3106-3060-40F4-AD016C4F3654}"/>
              </a:ext>
            </a:extLst>
          </p:cNvPr>
          <p:cNvSpPr>
            <a:spLocks noGrp="1"/>
          </p:cNvSpPr>
          <p:nvPr>
            <p:ph sz="quarter" idx="1"/>
          </p:nvPr>
        </p:nvSpPr>
        <p:spPr>
          <a:xfrm>
            <a:off x="685800" y="1209040"/>
            <a:ext cx="11099800" cy="4876800"/>
          </a:xfrm>
        </p:spPr>
        <p:txBody>
          <a:bodyPr>
            <a:normAutofit/>
          </a:bodyPr>
          <a:lstStyle/>
          <a:p>
            <a:r>
              <a:rPr lang="en-GB" b="1" dirty="0">
                <a:latin typeface="+mn-lt"/>
              </a:rPr>
              <a:t>Aggregate demand </a:t>
            </a:r>
            <a:r>
              <a:rPr lang="en-GB" b="1" dirty="0">
                <a:latin typeface="+mn-lt"/>
                <a:sym typeface="Wingdings" panose="05000000000000000000" pitchFamily="2" charset="2"/>
              </a:rPr>
              <a:t></a:t>
            </a:r>
            <a:r>
              <a:rPr lang="en-GB" dirty="0">
                <a:latin typeface="+mn-lt"/>
              </a:rPr>
              <a:t> total spending by economic agents in an economy at a given set of prices</a:t>
            </a:r>
          </a:p>
          <a:p>
            <a:pPr lvl="1"/>
            <a:r>
              <a:rPr lang="en-GB" dirty="0">
                <a:latin typeface="+mn-lt"/>
              </a:rPr>
              <a:t>Aggregate demand = Consumption + Investment + Government Spending + Exports - Imports</a:t>
            </a:r>
          </a:p>
          <a:p>
            <a:pPr lvl="1"/>
            <a:endParaRPr lang="en-GB" sz="1800" dirty="0">
              <a:effectLst/>
              <a:latin typeface="+mn-lt"/>
            </a:endParaRPr>
          </a:p>
          <a:p>
            <a:r>
              <a:rPr lang="en-GB" b="1" dirty="0">
                <a:latin typeface="+mn-lt"/>
              </a:rPr>
              <a:t>Aggregate supply </a:t>
            </a:r>
            <a:r>
              <a:rPr lang="en-GB" b="1" dirty="0">
                <a:latin typeface="+mn-lt"/>
                <a:sym typeface="Wingdings" panose="05000000000000000000" pitchFamily="2" charset="2"/>
              </a:rPr>
              <a:t> </a:t>
            </a:r>
            <a:r>
              <a:rPr lang="en-GB" dirty="0">
                <a:latin typeface="+mn-lt"/>
                <a:sym typeface="Wingdings" panose="05000000000000000000" pitchFamily="2" charset="2"/>
              </a:rPr>
              <a:t>total quantity of goods and services produced by firms in an economy at a given set of prices</a:t>
            </a:r>
            <a:endParaRPr lang="en-GB" dirty="0">
              <a:latin typeface="+mn-lt"/>
            </a:endParaRPr>
          </a:p>
          <a:p>
            <a:pPr marL="457200" lvl="1" indent="0">
              <a:buNone/>
            </a:pPr>
            <a:endParaRPr lang="en-GB" dirty="0"/>
          </a:p>
        </p:txBody>
      </p:sp>
    </p:spTree>
    <p:extLst>
      <p:ext uri="{BB962C8B-B14F-4D97-AF65-F5344CB8AC3E}">
        <p14:creationId xmlns:p14="http://schemas.microsoft.com/office/powerpoint/2010/main" val="319101934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937979D3-AC14-4B32-8408-6380D9E48237}"/>
              </a:ext>
            </a:extLst>
          </p:cNvPr>
          <p:cNvSpPr>
            <a:spLocks noChangeArrowheads="1"/>
          </p:cNvSpPr>
          <p:nvPr/>
        </p:nvSpPr>
        <p:spPr bwMode="auto">
          <a:xfrm>
            <a:off x="2209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a:solidFill>
                  <a:schemeClr val="tx1"/>
                </a:solidFill>
                <a:latin typeface="Times New Roman" panose="02020603050405020304" pitchFamily="18" charset="0"/>
              </a:defRPr>
            </a:lvl1pPr>
            <a:lvl2pPr marL="742950" indent="-285750">
              <a:defRPr sz="2800">
                <a:solidFill>
                  <a:schemeClr val="tx1"/>
                </a:solidFill>
                <a:latin typeface="Times New Roman" panose="02020603050405020304" pitchFamily="18" charset="0"/>
              </a:defRPr>
            </a:lvl2pPr>
            <a:lvl3pPr marL="1143000" indent="-228600">
              <a:defRPr sz="2800">
                <a:solidFill>
                  <a:schemeClr val="tx1"/>
                </a:solidFill>
                <a:latin typeface="Times New Roman" panose="02020603050405020304" pitchFamily="18" charset="0"/>
              </a:defRPr>
            </a:lvl3pPr>
            <a:lvl4pPr marL="1600200" indent="-228600">
              <a:defRPr sz="2800">
                <a:solidFill>
                  <a:schemeClr val="tx1"/>
                </a:solidFill>
                <a:latin typeface="Times New Roman" panose="02020603050405020304" pitchFamily="18" charset="0"/>
              </a:defRPr>
            </a:lvl4pPr>
            <a:lvl5pPr marL="2057400" indent="-228600">
              <a:defRPr sz="28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defRPr>
            </a:lvl9pPr>
          </a:lstStyle>
          <a:p>
            <a:endParaRPr lang="en-GB" altLang="en-US" noProof="1"/>
          </a:p>
        </p:txBody>
      </p:sp>
      <p:sp>
        <p:nvSpPr>
          <p:cNvPr id="34819" name="Rectangle 3">
            <a:extLst>
              <a:ext uri="{FF2B5EF4-FFF2-40B4-BE49-F238E27FC236}">
                <a16:creationId xmlns:a16="http://schemas.microsoft.com/office/drawing/2014/main" id="{3C8E0031-1C73-4EFC-B214-A4436BEE1C2F}"/>
              </a:ext>
            </a:extLst>
          </p:cNvPr>
          <p:cNvSpPr>
            <a:spLocks noChangeArrowheads="1"/>
          </p:cNvSpPr>
          <p:nvPr/>
        </p:nvSpPr>
        <p:spPr bwMode="auto">
          <a:xfrm>
            <a:off x="4648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a:solidFill>
                  <a:schemeClr val="tx1"/>
                </a:solidFill>
                <a:latin typeface="Times New Roman" panose="02020603050405020304" pitchFamily="18" charset="0"/>
              </a:defRPr>
            </a:lvl1pPr>
            <a:lvl2pPr marL="742950" indent="-285750">
              <a:defRPr sz="2800">
                <a:solidFill>
                  <a:schemeClr val="tx1"/>
                </a:solidFill>
                <a:latin typeface="Times New Roman" panose="02020603050405020304" pitchFamily="18" charset="0"/>
              </a:defRPr>
            </a:lvl2pPr>
            <a:lvl3pPr marL="1143000" indent="-228600">
              <a:defRPr sz="2800">
                <a:solidFill>
                  <a:schemeClr val="tx1"/>
                </a:solidFill>
                <a:latin typeface="Times New Roman" panose="02020603050405020304" pitchFamily="18" charset="0"/>
              </a:defRPr>
            </a:lvl3pPr>
            <a:lvl4pPr marL="1600200" indent="-228600">
              <a:defRPr sz="2800">
                <a:solidFill>
                  <a:schemeClr val="tx1"/>
                </a:solidFill>
                <a:latin typeface="Times New Roman" panose="02020603050405020304" pitchFamily="18" charset="0"/>
              </a:defRPr>
            </a:lvl4pPr>
            <a:lvl5pPr marL="2057400" indent="-228600">
              <a:defRPr sz="28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defRPr>
            </a:lvl9pPr>
          </a:lstStyle>
          <a:p>
            <a:endParaRPr lang="en-GB" altLang="en-US" noProof="1"/>
          </a:p>
        </p:txBody>
      </p:sp>
      <p:sp>
        <p:nvSpPr>
          <p:cNvPr id="34820" name="Rectangle 4">
            <a:extLst>
              <a:ext uri="{FF2B5EF4-FFF2-40B4-BE49-F238E27FC236}">
                <a16:creationId xmlns:a16="http://schemas.microsoft.com/office/drawing/2014/main" id="{AB1F30D5-B4DB-4BA4-B3B5-8D67C2EA5FEB}"/>
              </a:ext>
            </a:extLst>
          </p:cNvPr>
          <p:cNvSpPr>
            <a:spLocks noGrp="1"/>
          </p:cNvSpPr>
          <p:nvPr>
            <p:ph type="title"/>
          </p:nvPr>
        </p:nvSpPr>
        <p:spPr/>
        <p:txBody>
          <a:bodyPr/>
          <a:lstStyle/>
          <a:p>
            <a:r>
              <a:rPr lang="en-GB" altLang="en-US" dirty="0"/>
              <a:t>Shape of aggregate demand curve</a:t>
            </a:r>
          </a:p>
        </p:txBody>
      </p:sp>
      <p:sp>
        <p:nvSpPr>
          <p:cNvPr id="410629" name="Rectangle 5">
            <a:extLst>
              <a:ext uri="{FF2B5EF4-FFF2-40B4-BE49-F238E27FC236}">
                <a16:creationId xmlns:a16="http://schemas.microsoft.com/office/drawing/2014/main" id="{F91501FC-A86A-4A1D-89DC-3406DC7989B4}"/>
              </a:ext>
            </a:extLst>
          </p:cNvPr>
          <p:cNvSpPr>
            <a:spLocks noGrp="1"/>
          </p:cNvSpPr>
          <p:nvPr>
            <p:ph sz="quarter" idx="1"/>
          </p:nvPr>
        </p:nvSpPr>
        <p:spPr>
          <a:xfrm>
            <a:off x="523240" y="1450048"/>
            <a:ext cx="10515600" cy="4621628"/>
          </a:xfrm>
        </p:spPr>
        <p:txBody>
          <a:bodyPr>
            <a:normAutofit/>
          </a:bodyPr>
          <a:lstStyle/>
          <a:p>
            <a:pPr>
              <a:spcBef>
                <a:spcPts val="600"/>
              </a:spcBef>
            </a:pPr>
            <a:r>
              <a:rPr lang="en-GB" altLang="en-US" sz="2800" dirty="0">
                <a:latin typeface="+mn-lt"/>
              </a:rPr>
              <a:t>Shows </a:t>
            </a:r>
            <a:r>
              <a:rPr lang="en-GB" altLang="en-US" sz="2800" b="1" dirty="0">
                <a:latin typeface="+mn-lt"/>
              </a:rPr>
              <a:t>combinations</a:t>
            </a:r>
            <a:r>
              <a:rPr lang="en-GB" altLang="en-US" sz="2800" dirty="0">
                <a:latin typeface="+mn-lt"/>
              </a:rPr>
              <a:t> of output, prices in circular for which income, expenditure are equal – equilibrium in circular flow</a:t>
            </a:r>
          </a:p>
          <a:p>
            <a:pPr>
              <a:spcBef>
                <a:spcPts val="600"/>
              </a:spcBef>
            </a:pPr>
            <a:r>
              <a:rPr lang="en-GB" altLang="en-US" sz="2800" b="1" dirty="0">
                <a:latin typeface="+mn-lt"/>
              </a:rPr>
              <a:t>Three reasons </a:t>
            </a:r>
            <a:r>
              <a:rPr lang="en-GB" altLang="en-US" sz="2800" dirty="0">
                <a:latin typeface="+mn-lt"/>
              </a:rPr>
              <a:t>for downward slope</a:t>
            </a:r>
          </a:p>
          <a:p>
            <a:pPr lvl="1">
              <a:spcBef>
                <a:spcPts val="600"/>
              </a:spcBef>
            </a:pPr>
            <a:r>
              <a:rPr lang="en-GB" altLang="en-US" sz="2600" dirty="0">
                <a:latin typeface="+mn-lt"/>
              </a:rPr>
              <a:t>Higher prices mean that foreign goods are cheaper – </a:t>
            </a:r>
            <a:r>
              <a:rPr lang="en-GB" altLang="en-US" sz="2600" b="1" dirty="0">
                <a:latin typeface="+mn-lt"/>
              </a:rPr>
              <a:t>substitution effect </a:t>
            </a:r>
          </a:p>
          <a:p>
            <a:pPr lvl="2">
              <a:spcBef>
                <a:spcPts val="600"/>
              </a:spcBef>
            </a:pPr>
            <a:r>
              <a:rPr lang="en-GB" altLang="en-US" sz="2600" dirty="0">
                <a:latin typeface="+mn-lt"/>
              </a:rPr>
              <a:t>Exports fall, imports increase</a:t>
            </a:r>
          </a:p>
          <a:p>
            <a:pPr lvl="1">
              <a:spcBef>
                <a:spcPts val="600"/>
              </a:spcBef>
            </a:pPr>
            <a:r>
              <a:rPr lang="en-GB" altLang="en-US" sz="2600" dirty="0">
                <a:latin typeface="+mn-lt"/>
              </a:rPr>
              <a:t>If inflation is not expected to last, defer consumption, investment to future</a:t>
            </a:r>
          </a:p>
          <a:p>
            <a:pPr lvl="2">
              <a:spcBef>
                <a:spcPts val="600"/>
              </a:spcBef>
            </a:pPr>
            <a:r>
              <a:rPr lang="en-GB" altLang="en-US" sz="2600" dirty="0">
                <a:latin typeface="+mn-lt"/>
              </a:rPr>
              <a:t>An </a:t>
            </a:r>
            <a:r>
              <a:rPr lang="en-GB" altLang="en-US" sz="2600" b="1" dirty="0">
                <a:latin typeface="+mn-lt"/>
              </a:rPr>
              <a:t>inter-temporal substitution effect</a:t>
            </a:r>
          </a:p>
          <a:p>
            <a:pPr lvl="1">
              <a:spcBef>
                <a:spcPts val="600"/>
              </a:spcBef>
            </a:pPr>
            <a:r>
              <a:rPr lang="en-GB" altLang="en-US" sz="2600" dirty="0">
                <a:latin typeface="+mn-lt"/>
              </a:rPr>
              <a:t>People feel poorer because money buys less – real balance effect</a:t>
            </a:r>
          </a:p>
          <a:p>
            <a:pPr lvl="2">
              <a:spcBef>
                <a:spcPts val="600"/>
              </a:spcBef>
            </a:pPr>
            <a:r>
              <a:rPr lang="en-GB" altLang="en-US" sz="2600" dirty="0">
                <a:latin typeface="+mn-lt"/>
              </a:rPr>
              <a:t>This is like the </a:t>
            </a:r>
            <a:r>
              <a:rPr lang="en-GB" altLang="en-US" sz="2600" b="1" dirty="0">
                <a:latin typeface="+mn-lt"/>
              </a:rPr>
              <a:t>income effect </a:t>
            </a:r>
            <a:r>
              <a:rPr lang="en-GB" altLang="en-US" sz="2600" dirty="0">
                <a:latin typeface="+mn-lt"/>
              </a:rPr>
              <a:t>of a price rise</a:t>
            </a:r>
          </a:p>
        </p:txBody>
      </p:sp>
    </p:spTree>
    <p:extLst>
      <p:ext uri="{BB962C8B-B14F-4D97-AF65-F5344CB8AC3E}">
        <p14:creationId xmlns:p14="http://schemas.microsoft.com/office/powerpoint/2010/main" val="332554053"/>
      </p:ext>
    </p:extLst>
  </p:cSld>
  <p:clrMapOvr>
    <a:masterClrMapping/>
  </p:clrMapOvr>
  <p:transition spd="med">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410629">
                                            <p:txEl>
                                              <p:pRg st="0" end="0"/>
                                            </p:txEl>
                                          </p:spTgt>
                                        </p:tgtEl>
                                        <p:attrNameLst>
                                          <p:attrName>style.visibility</p:attrName>
                                        </p:attrNameLst>
                                      </p:cBhvr>
                                      <p:to>
                                        <p:strVal val="visible"/>
                                      </p:to>
                                    </p:set>
                                    <p:anim calcmode="lin" valueType="num">
                                      <p:cBhvr additive="base">
                                        <p:cTn id="7" dur="500"/>
                                        <p:tgtEl>
                                          <p:spTgt spid="410629">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410629">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410629">
                                            <p:txEl>
                                              <p:pRg st="1" end="1"/>
                                            </p:txEl>
                                          </p:spTgt>
                                        </p:tgtEl>
                                        <p:attrNameLst>
                                          <p:attrName>style.visibility</p:attrName>
                                        </p:attrNameLst>
                                      </p:cBhvr>
                                      <p:to>
                                        <p:strVal val="visible"/>
                                      </p:to>
                                    </p:set>
                                    <p:anim calcmode="lin" valueType="num">
                                      <p:cBhvr additive="base">
                                        <p:cTn id="13" dur="500"/>
                                        <p:tgtEl>
                                          <p:spTgt spid="410629">
                                            <p:txEl>
                                              <p:pRg st="1" end="1"/>
                                            </p:txEl>
                                          </p:spTgt>
                                        </p:tgtEl>
                                        <p:attrNameLst>
                                          <p:attrName>ppt_y</p:attrName>
                                        </p:attrNameLst>
                                      </p:cBhvr>
                                      <p:tavLst>
                                        <p:tav tm="0">
                                          <p:val>
                                            <p:strVal val="#ppt_y+#ppt_h*1.125000"/>
                                          </p:val>
                                        </p:tav>
                                        <p:tav tm="100000">
                                          <p:val>
                                            <p:strVal val="#ppt_y"/>
                                          </p:val>
                                        </p:tav>
                                      </p:tavLst>
                                    </p:anim>
                                    <p:animEffect transition="in" filter="wipe(up)">
                                      <p:cBhvr>
                                        <p:cTn id="14" dur="500"/>
                                        <p:tgtEl>
                                          <p:spTgt spid="410629">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grpId="0" nodeType="clickEffect">
                                  <p:stCondLst>
                                    <p:cond delay="0"/>
                                  </p:stCondLst>
                                  <p:childTnLst>
                                    <p:set>
                                      <p:cBhvr>
                                        <p:cTn id="18" dur="1" fill="hold">
                                          <p:stCondLst>
                                            <p:cond delay="0"/>
                                          </p:stCondLst>
                                        </p:cTn>
                                        <p:tgtEl>
                                          <p:spTgt spid="410629">
                                            <p:txEl>
                                              <p:pRg st="2" end="2"/>
                                            </p:txEl>
                                          </p:spTgt>
                                        </p:tgtEl>
                                        <p:attrNameLst>
                                          <p:attrName>style.visibility</p:attrName>
                                        </p:attrNameLst>
                                      </p:cBhvr>
                                      <p:to>
                                        <p:strVal val="visible"/>
                                      </p:to>
                                    </p:set>
                                    <p:anim calcmode="lin" valueType="num">
                                      <p:cBhvr additive="base">
                                        <p:cTn id="19" dur="500"/>
                                        <p:tgtEl>
                                          <p:spTgt spid="410629">
                                            <p:txEl>
                                              <p:pRg st="2" end="2"/>
                                            </p:txEl>
                                          </p:spTgt>
                                        </p:tgtEl>
                                        <p:attrNameLst>
                                          <p:attrName>ppt_y</p:attrName>
                                        </p:attrNameLst>
                                      </p:cBhvr>
                                      <p:tavLst>
                                        <p:tav tm="0">
                                          <p:val>
                                            <p:strVal val="#ppt_y+#ppt_h*1.125000"/>
                                          </p:val>
                                        </p:tav>
                                        <p:tav tm="100000">
                                          <p:val>
                                            <p:strVal val="#ppt_y"/>
                                          </p:val>
                                        </p:tav>
                                      </p:tavLst>
                                    </p:anim>
                                    <p:animEffect transition="in" filter="wipe(up)">
                                      <p:cBhvr>
                                        <p:cTn id="20" dur="500"/>
                                        <p:tgtEl>
                                          <p:spTgt spid="410629">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4" fill="hold" grpId="0" nodeType="clickEffect">
                                  <p:stCondLst>
                                    <p:cond delay="0"/>
                                  </p:stCondLst>
                                  <p:childTnLst>
                                    <p:set>
                                      <p:cBhvr>
                                        <p:cTn id="24" dur="1" fill="hold">
                                          <p:stCondLst>
                                            <p:cond delay="0"/>
                                          </p:stCondLst>
                                        </p:cTn>
                                        <p:tgtEl>
                                          <p:spTgt spid="410629">
                                            <p:txEl>
                                              <p:pRg st="3" end="3"/>
                                            </p:txEl>
                                          </p:spTgt>
                                        </p:tgtEl>
                                        <p:attrNameLst>
                                          <p:attrName>style.visibility</p:attrName>
                                        </p:attrNameLst>
                                      </p:cBhvr>
                                      <p:to>
                                        <p:strVal val="visible"/>
                                      </p:to>
                                    </p:set>
                                    <p:anim calcmode="lin" valueType="num">
                                      <p:cBhvr additive="base">
                                        <p:cTn id="25" dur="500"/>
                                        <p:tgtEl>
                                          <p:spTgt spid="410629">
                                            <p:txEl>
                                              <p:pRg st="3" end="3"/>
                                            </p:txEl>
                                          </p:spTgt>
                                        </p:tgtEl>
                                        <p:attrNameLst>
                                          <p:attrName>ppt_y</p:attrName>
                                        </p:attrNameLst>
                                      </p:cBhvr>
                                      <p:tavLst>
                                        <p:tav tm="0">
                                          <p:val>
                                            <p:strVal val="#ppt_y+#ppt_h*1.125000"/>
                                          </p:val>
                                        </p:tav>
                                        <p:tav tm="100000">
                                          <p:val>
                                            <p:strVal val="#ppt_y"/>
                                          </p:val>
                                        </p:tav>
                                      </p:tavLst>
                                    </p:anim>
                                    <p:animEffect transition="in" filter="wipe(up)">
                                      <p:cBhvr>
                                        <p:cTn id="26" dur="500"/>
                                        <p:tgtEl>
                                          <p:spTgt spid="410629">
                                            <p:txEl>
                                              <p:pRg st="3" end="3"/>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2" presetClass="entr" presetSubtype="4" fill="hold" grpId="0" nodeType="clickEffect">
                                  <p:stCondLst>
                                    <p:cond delay="0"/>
                                  </p:stCondLst>
                                  <p:childTnLst>
                                    <p:set>
                                      <p:cBhvr>
                                        <p:cTn id="30" dur="1" fill="hold">
                                          <p:stCondLst>
                                            <p:cond delay="0"/>
                                          </p:stCondLst>
                                        </p:cTn>
                                        <p:tgtEl>
                                          <p:spTgt spid="410629">
                                            <p:txEl>
                                              <p:pRg st="4" end="4"/>
                                            </p:txEl>
                                          </p:spTgt>
                                        </p:tgtEl>
                                        <p:attrNameLst>
                                          <p:attrName>style.visibility</p:attrName>
                                        </p:attrNameLst>
                                      </p:cBhvr>
                                      <p:to>
                                        <p:strVal val="visible"/>
                                      </p:to>
                                    </p:set>
                                    <p:anim calcmode="lin" valueType="num">
                                      <p:cBhvr additive="base">
                                        <p:cTn id="31" dur="500"/>
                                        <p:tgtEl>
                                          <p:spTgt spid="410629">
                                            <p:txEl>
                                              <p:pRg st="4" end="4"/>
                                            </p:txEl>
                                          </p:spTgt>
                                        </p:tgtEl>
                                        <p:attrNameLst>
                                          <p:attrName>ppt_y</p:attrName>
                                        </p:attrNameLst>
                                      </p:cBhvr>
                                      <p:tavLst>
                                        <p:tav tm="0">
                                          <p:val>
                                            <p:strVal val="#ppt_y+#ppt_h*1.125000"/>
                                          </p:val>
                                        </p:tav>
                                        <p:tav tm="100000">
                                          <p:val>
                                            <p:strVal val="#ppt_y"/>
                                          </p:val>
                                        </p:tav>
                                      </p:tavLst>
                                    </p:anim>
                                    <p:animEffect transition="in" filter="wipe(up)">
                                      <p:cBhvr>
                                        <p:cTn id="32" dur="500"/>
                                        <p:tgtEl>
                                          <p:spTgt spid="410629">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4" fill="hold" grpId="0" nodeType="clickEffect">
                                  <p:stCondLst>
                                    <p:cond delay="0"/>
                                  </p:stCondLst>
                                  <p:childTnLst>
                                    <p:set>
                                      <p:cBhvr>
                                        <p:cTn id="36" dur="1" fill="hold">
                                          <p:stCondLst>
                                            <p:cond delay="0"/>
                                          </p:stCondLst>
                                        </p:cTn>
                                        <p:tgtEl>
                                          <p:spTgt spid="410629">
                                            <p:txEl>
                                              <p:pRg st="5" end="5"/>
                                            </p:txEl>
                                          </p:spTgt>
                                        </p:tgtEl>
                                        <p:attrNameLst>
                                          <p:attrName>style.visibility</p:attrName>
                                        </p:attrNameLst>
                                      </p:cBhvr>
                                      <p:to>
                                        <p:strVal val="visible"/>
                                      </p:to>
                                    </p:set>
                                    <p:anim calcmode="lin" valueType="num">
                                      <p:cBhvr additive="base">
                                        <p:cTn id="37" dur="500"/>
                                        <p:tgtEl>
                                          <p:spTgt spid="410629">
                                            <p:txEl>
                                              <p:pRg st="5" end="5"/>
                                            </p:txEl>
                                          </p:spTgt>
                                        </p:tgtEl>
                                        <p:attrNameLst>
                                          <p:attrName>ppt_y</p:attrName>
                                        </p:attrNameLst>
                                      </p:cBhvr>
                                      <p:tavLst>
                                        <p:tav tm="0">
                                          <p:val>
                                            <p:strVal val="#ppt_y+#ppt_h*1.125000"/>
                                          </p:val>
                                        </p:tav>
                                        <p:tav tm="100000">
                                          <p:val>
                                            <p:strVal val="#ppt_y"/>
                                          </p:val>
                                        </p:tav>
                                      </p:tavLst>
                                    </p:anim>
                                    <p:animEffect transition="in" filter="wipe(up)">
                                      <p:cBhvr>
                                        <p:cTn id="38" dur="500"/>
                                        <p:tgtEl>
                                          <p:spTgt spid="410629">
                                            <p:txEl>
                                              <p:pRg st="5" end="5"/>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2" presetClass="entr" presetSubtype="4" fill="hold" grpId="0" nodeType="clickEffect">
                                  <p:stCondLst>
                                    <p:cond delay="0"/>
                                  </p:stCondLst>
                                  <p:childTnLst>
                                    <p:set>
                                      <p:cBhvr>
                                        <p:cTn id="42" dur="1" fill="hold">
                                          <p:stCondLst>
                                            <p:cond delay="0"/>
                                          </p:stCondLst>
                                        </p:cTn>
                                        <p:tgtEl>
                                          <p:spTgt spid="410629">
                                            <p:txEl>
                                              <p:pRg st="6" end="6"/>
                                            </p:txEl>
                                          </p:spTgt>
                                        </p:tgtEl>
                                        <p:attrNameLst>
                                          <p:attrName>style.visibility</p:attrName>
                                        </p:attrNameLst>
                                      </p:cBhvr>
                                      <p:to>
                                        <p:strVal val="visible"/>
                                      </p:to>
                                    </p:set>
                                    <p:anim calcmode="lin" valueType="num">
                                      <p:cBhvr additive="base">
                                        <p:cTn id="43" dur="500"/>
                                        <p:tgtEl>
                                          <p:spTgt spid="410629">
                                            <p:txEl>
                                              <p:pRg st="6" end="6"/>
                                            </p:txEl>
                                          </p:spTgt>
                                        </p:tgtEl>
                                        <p:attrNameLst>
                                          <p:attrName>ppt_y</p:attrName>
                                        </p:attrNameLst>
                                      </p:cBhvr>
                                      <p:tavLst>
                                        <p:tav tm="0">
                                          <p:val>
                                            <p:strVal val="#ppt_y+#ppt_h*1.125000"/>
                                          </p:val>
                                        </p:tav>
                                        <p:tav tm="100000">
                                          <p:val>
                                            <p:strVal val="#ppt_y"/>
                                          </p:val>
                                        </p:tav>
                                      </p:tavLst>
                                    </p:anim>
                                    <p:animEffect transition="in" filter="wipe(up)">
                                      <p:cBhvr>
                                        <p:cTn id="44" dur="500"/>
                                        <p:tgtEl>
                                          <p:spTgt spid="410629">
                                            <p:txEl>
                                              <p:pRg st="6" end="6"/>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12" presetClass="entr" presetSubtype="4" fill="hold" grpId="0" nodeType="clickEffect">
                                  <p:stCondLst>
                                    <p:cond delay="0"/>
                                  </p:stCondLst>
                                  <p:childTnLst>
                                    <p:set>
                                      <p:cBhvr>
                                        <p:cTn id="48" dur="1" fill="hold">
                                          <p:stCondLst>
                                            <p:cond delay="0"/>
                                          </p:stCondLst>
                                        </p:cTn>
                                        <p:tgtEl>
                                          <p:spTgt spid="410629">
                                            <p:txEl>
                                              <p:pRg st="7" end="7"/>
                                            </p:txEl>
                                          </p:spTgt>
                                        </p:tgtEl>
                                        <p:attrNameLst>
                                          <p:attrName>style.visibility</p:attrName>
                                        </p:attrNameLst>
                                      </p:cBhvr>
                                      <p:to>
                                        <p:strVal val="visible"/>
                                      </p:to>
                                    </p:set>
                                    <p:anim calcmode="lin" valueType="num">
                                      <p:cBhvr additive="base">
                                        <p:cTn id="49" dur="500"/>
                                        <p:tgtEl>
                                          <p:spTgt spid="410629">
                                            <p:txEl>
                                              <p:pRg st="7" end="7"/>
                                            </p:txEl>
                                          </p:spTgt>
                                        </p:tgtEl>
                                        <p:attrNameLst>
                                          <p:attrName>ppt_y</p:attrName>
                                        </p:attrNameLst>
                                      </p:cBhvr>
                                      <p:tavLst>
                                        <p:tav tm="0">
                                          <p:val>
                                            <p:strVal val="#ppt_y+#ppt_h*1.125000"/>
                                          </p:val>
                                        </p:tav>
                                        <p:tav tm="100000">
                                          <p:val>
                                            <p:strVal val="#ppt_y"/>
                                          </p:val>
                                        </p:tav>
                                      </p:tavLst>
                                    </p:anim>
                                    <p:animEffect transition="in" filter="wipe(up)">
                                      <p:cBhvr>
                                        <p:cTn id="50" dur="500"/>
                                        <p:tgtEl>
                                          <p:spTgt spid="410629">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0629" grpId="0" build="p" bldLvl="4" autoUpdateAnimBg="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3">
            <a:extLst>
              <a:ext uri="{FF2B5EF4-FFF2-40B4-BE49-F238E27FC236}">
                <a16:creationId xmlns:a16="http://schemas.microsoft.com/office/drawing/2014/main" id="{D38547E7-F30E-413E-A3F2-F92ECE01E269}"/>
              </a:ext>
            </a:extLst>
          </p:cNvPr>
          <p:cNvSpPr>
            <a:spLocks noChangeArrowheads="1"/>
          </p:cNvSpPr>
          <p:nvPr/>
        </p:nvSpPr>
        <p:spPr bwMode="auto">
          <a:xfrm>
            <a:off x="1197249"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6" name="Rectangle 4">
            <a:extLst>
              <a:ext uri="{FF2B5EF4-FFF2-40B4-BE49-F238E27FC236}">
                <a16:creationId xmlns:a16="http://schemas.microsoft.com/office/drawing/2014/main" id="{90CCCA01-2842-41F5-B9C3-980E76B0FACF}"/>
              </a:ext>
            </a:extLst>
          </p:cNvPr>
          <p:cNvSpPr>
            <a:spLocks noChangeArrowheads="1"/>
          </p:cNvSpPr>
          <p:nvPr/>
        </p:nvSpPr>
        <p:spPr bwMode="auto">
          <a:xfrm>
            <a:off x="3635649"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7" name="Line 5">
            <a:extLst>
              <a:ext uri="{FF2B5EF4-FFF2-40B4-BE49-F238E27FC236}">
                <a16:creationId xmlns:a16="http://schemas.microsoft.com/office/drawing/2014/main" id="{B425246A-CA0D-45B7-829C-1570FE1CBE0F}"/>
              </a:ext>
            </a:extLst>
          </p:cNvPr>
          <p:cNvSpPr>
            <a:spLocks noChangeShapeType="1"/>
          </p:cNvSpPr>
          <p:nvPr/>
        </p:nvSpPr>
        <p:spPr bwMode="auto">
          <a:xfrm>
            <a:off x="1578249" y="762858"/>
            <a:ext cx="0" cy="5180742"/>
          </a:xfrm>
          <a:prstGeom prst="line">
            <a:avLst/>
          </a:prstGeom>
          <a:noFill/>
          <a:ln w="25400">
            <a:solidFill>
              <a:schemeClr val="tx1"/>
            </a:solidFill>
            <a:round/>
            <a:headEnd type="stealth" w="med" len="lg"/>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078" name="Line 6">
            <a:extLst>
              <a:ext uri="{FF2B5EF4-FFF2-40B4-BE49-F238E27FC236}">
                <a16:creationId xmlns:a16="http://schemas.microsoft.com/office/drawing/2014/main" id="{22CE4953-3884-4149-846E-E0DF72440DF3}"/>
              </a:ext>
            </a:extLst>
          </p:cNvPr>
          <p:cNvSpPr>
            <a:spLocks noChangeShapeType="1"/>
          </p:cNvSpPr>
          <p:nvPr/>
        </p:nvSpPr>
        <p:spPr bwMode="auto">
          <a:xfrm>
            <a:off x="1578249" y="5943600"/>
            <a:ext cx="7535945" cy="0"/>
          </a:xfrm>
          <a:prstGeom prst="line">
            <a:avLst/>
          </a:prstGeom>
          <a:noFill/>
          <a:ln w="25400">
            <a:solidFill>
              <a:schemeClr val="tx1"/>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079" name="Rectangle 7">
            <a:extLst>
              <a:ext uri="{FF2B5EF4-FFF2-40B4-BE49-F238E27FC236}">
                <a16:creationId xmlns:a16="http://schemas.microsoft.com/office/drawing/2014/main" id="{A88961C0-5C03-49AD-AD64-CAF11FD06C72}"/>
              </a:ext>
            </a:extLst>
          </p:cNvPr>
          <p:cNvSpPr>
            <a:spLocks noChangeArrowheads="1"/>
          </p:cNvSpPr>
          <p:nvPr/>
        </p:nvSpPr>
        <p:spPr bwMode="auto">
          <a:xfrm>
            <a:off x="1257576" y="5897563"/>
            <a:ext cx="384721"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a:defRPr sz="2400">
                <a:solidFill>
                  <a:schemeClr val="tx1"/>
                </a:solidFill>
                <a:latin typeface="Times New Roman" panose="02020603050405020304" pitchFamily="18" charset="0"/>
              </a:defRPr>
            </a:lvl1pPr>
            <a:lvl2pPr marL="742950" indent="-285750" defTabSz="762000">
              <a:defRPr sz="2400">
                <a:solidFill>
                  <a:schemeClr val="tx1"/>
                </a:solidFill>
                <a:latin typeface="Times New Roman" panose="02020603050405020304" pitchFamily="18" charset="0"/>
              </a:defRPr>
            </a:lvl2pPr>
            <a:lvl3pPr marL="1143000" indent="-228600" defTabSz="762000">
              <a:defRPr sz="2400">
                <a:solidFill>
                  <a:schemeClr val="tx1"/>
                </a:solidFill>
                <a:latin typeface="Times New Roman" panose="02020603050405020304" pitchFamily="18" charset="0"/>
              </a:defRPr>
            </a:lvl3pPr>
            <a:lvl4pPr marL="1600200" indent="-228600" defTabSz="762000">
              <a:defRPr sz="2400">
                <a:solidFill>
                  <a:schemeClr val="tx1"/>
                </a:solidFill>
                <a:latin typeface="Times New Roman" panose="02020603050405020304" pitchFamily="18" charset="0"/>
              </a:defRPr>
            </a:lvl4pPr>
            <a:lvl5pPr marL="2057400" indent="-228600" defTabSz="762000">
              <a:defRPr sz="2400">
                <a:solidFill>
                  <a:schemeClr val="tx1"/>
                </a:solidFill>
                <a:latin typeface="Times New Roman" panose="02020603050405020304" pitchFamily="18" charset="0"/>
              </a:defRPr>
            </a:lvl5pPr>
            <a:lvl6pPr marL="2514600" indent="-228600" defTabSz="7620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7620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7620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762000" eaLnBrk="0" fontAlgn="base" hangingPunct="0">
              <a:spcBef>
                <a:spcPct val="0"/>
              </a:spcBef>
              <a:spcAft>
                <a:spcPct val="0"/>
              </a:spcAft>
              <a:defRPr sz="2400">
                <a:solidFill>
                  <a:schemeClr val="tx1"/>
                </a:solidFill>
                <a:latin typeface="Times New Roman" panose="02020603050405020304" pitchFamily="18" charset="0"/>
              </a:defRPr>
            </a:lvl9pPr>
          </a:lstStyle>
          <a:p>
            <a:r>
              <a:rPr lang="en-GB" altLang="en-US" sz="2000">
                <a:latin typeface="Arial" panose="020B0604020202020204" pitchFamily="34" charset="0"/>
              </a:rPr>
              <a:t>O</a:t>
            </a:r>
          </a:p>
        </p:txBody>
      </p:sp>
      <p:sp>
        <p:nvSpPr>
          <p:cNvPr id="3080" name="Rectangle 8">
            <a:extLst>
              <a:ext uri="{FF2B5EF4-FFF2-40B4-BE49-F238E27FC236}">
                <a16:creationId xmlns:a16="http://schemas.microsoft.com/office/drawing/2014/main" id="{F4A55D29-85FC-41CC-B4D5-F383B39E9FFE}"/>
              </a:ext>
            </a:extLst>
          </p:cNvPr>
          <p:cNvSpPr>
            <a:spLocks noChangeArrowheads="1"/>
          </p:cNvSpPr>
          <p:nvPr/>
        </p:nvSpPr>
        <p:spPr bwMode="auto">
          <a:xfrm rot="-5400000">
            <a:off x="214560" y="2858737"/>
            <a:ext cx="1370568"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a:defRPr sz="2400">
                <a:solidFill>
                  <a:schemeClr val="tx1"/>
                </a:solidFill>
                <a:latin typeface="Times New Roman" panose="02020603050405020304" pitchFamily="18" charset="0"/>
              </a:defRPr>
            </a:lvl1pPr>
            <a:lvl2pPr marL="742950" indent="-285750" defTabSz="762000">
              <a:defRPr sz="2400">
                <a:solidFill>
                  <a:schemeClr val="tx1"/>
                </a:solidFill>
                <a:latin typeface="Times New Roman" panose="02020603050405020304" pitchFamily="18" charset="0"/>
              </a:defRPr>
            </a:lvl2pPr>
            <a:lvl3pPr marL="1143000" indent="-228600" defTabSz="762000">
              <a:defRPr sz="2400">
                <a:solidFill>
                  <a:schemeClr val="tx1"/>
                </a:solidFill>
                <a:latin typeface="Times New Roman" panose="02020603050405020304" pitchFamily="18" charset="0"/>
              </a:defRPr>
            </a:lvl3pPr>
            <a:lvl4pPr marL="1600200" indent="-228600" defTabSz="762000">
              <a:defRPr sz="2400">
                <a:solidFill>
                  <a:schemeClr val="tx1"/>
                </a:solidFill>
                <a:latin typeface="Times New Roman" panose="02020603050405020304" pitchFamily="18" charset="0"/>
              </a:defRPr>
            </a:lvl4pPr>
            <a:lvl5pPr marL="2057400" indent="-228600" defTabSz="762000">
              <a:defRPr sz="2400">
                <a:solidFill>
                  <a:schemeClr val="tx1"/>
                </a:solidFill>
                <a:latin typeface="Times New Roman" panose="02020603050405020304" pitchFamily="18" charset="0"/>
              </a:defRPr>
            </a:lvl5pPr>
            <a:lvl6pPr marL="2514600" indent="-228600" defTabSz="7620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7620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7620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762000" eaLnBrk="0" fontAlgn="base" hangingPunct="0">
              <a:spcBef>
                <a:spcPct val="0"/>
              </a:spcBef>
              <a:spcAft>
                <a:spcPct val="0"/>
              </a:spcAft>
              <a:defRPr sz="2400">
                <a:solidFill>
                  <a:schemeClr val="tx1"/>
                </a:solidFill>
                <a:latin typeface="Times New Roman" panose="02020603050405020304" pitchFamily="18" charset="0"/>
              </a:defRPr>
            </a:lvl9pPr>
          </a:lstStyle>
          <a:p>
            <a:r>
              <a:rPr lang="en-GB" altLang="en-US" sz="2000">
                <a:latin typeface="Arial" panose="020B0604020202020204" pitchFamily="34" charset="0"/>
              </a:rPr>
              <a:t>Price level</a:t>
            </a:r>
          </a:p>
        </p:txBody>
      </p:sp>
      <p:sp>
        <p:nvSpPr>
          <p:cNvPr id="3082" name="Arc 11">
            <a:extLst>
              <a:ext uri="{FF2B5EF4-FFF2-40B4-BE49-F238E27FC236}">
                <a16:creationId xmlns:a16="http://schemas.microsoft.com/office/drawing/2014/main" id="{DEED9B13-C529-49B5-8750-5591D870274D}"/>
              </a:ext>
            </a:extLst>
          </p:cNvPr>
          <p:cNvSpPr>
            <a:spLocks/>
          </p:cNvSpPr>
          <p:nvPr/>
        </p:nvSpPr>
        <p:spPr bwMode="auto">
          <a:xfrm>
            <a:off x="2448199" y="0"/>
            <a:ext cx="7207250" cy="5334000"/>
          </a:xfrm>
          <a:custGeom>
            <a:avLst/>
            <a:gdLst>
              <a:gd name="T0" fmla="*/ 2147483646 w 20698"/>
              <a:gd name="T1" fmla="*/ 2147483646 h 20052"/>
              <a:gd name="T2" fmla="*/ 0 w 20698"/>
              <a:gd name="T3" fmla="*/ 2147483646 h 20052"/>
              <a:gd name="T4" fmla="*/ 2147483646 w 20698"/>
              <a:gd name="T5" fmla="*/ 0 h 20052"/>
              <a:gd name="T6" fmla="*/ 0 60000 65536"/>
              <a:gd name="T7" fmla="*/ 0 60000 65536"/>
              <a:gd name="T8" fmla="*/ 0 60000 65536"/>
            </a:gdLst>
            <a:ahLst/>
            <a:cxnLst>
              <a:cxn ang="T6">
                <a:pos x="T0" y="T1"/>
              </a:cxn>
              <a:cxn ang="T7">
                <a:pos x="T2" y="T3"/>
              </a:cxn>
              <a:cxn ang="T8">
                <a:pos x="T4" y="T5"/>
              </a:cxn>
            </a:cxnLst>
            <a:rect l="0" t="0" r="r" b="b"/>
            <a:pathLst>
              <a:path w="20698" h="20052" fill="none" extrusionOk="0">
                <a:moveTo>
                  <a:pt x="12668" y="20051"/>
                </a:moveTo>
                <a:cubicBezTo>
                  <a:pt x="6550" y="17601"/>
                  <a:pt x="1885" y="12492"/>
                  <a:pt x="0" y="6177"/>
                </a:cubicBezTo>
              </a:path>
              <a:path w="20698" h="20052" stroke="0" extrusionOk="0">
                <a:moveTo>
                  <a:pt x="12668" y="20051"/>
                </a:moveTo>
                <a:cubicBezTo>
                  <a:pt x="6550" y="17601"/>
                  <a:pt x="1885" y="12492"/>
                  <a:pt x="0" y="6177"/>
                </a:cubicBezTo>
                <a:lnTo>
                  <a:pt x="20698" y="0"/>
                </a:lnTo>
                <a:lnTo>
                  <a:pt x="12668" y="20051"/>
                </a:lnTo>
                <a:close/>
              </a:path>
            </a:pathLst>
          </a:custGeom>
          <a:noFill/>
          <a:ln w="38100" cap="rnd">
            <a:solidFill>
              <a:schemeClr val="tx2"/>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084" name="Rectangle 13">
            <a:extLst>
              <a:ext uri="{FF2B5EF4-FFF2-40B4-BE49-F238E27FC236}">
                <a16:creationId xmlns:a16="http://schemas.microsoft.com/office/drawing/2014/main" id="{9933DBD3-DEEA-4A97-9595-947A366F7045}"/>
              </a:ext>
            </a:extLst>
          </p:cNvPr>
          <p:cNvSpPr>
            <a:spLocks noChangeArrowheads="1"/>
          </p:cNvSpPr>
          <p:nvPr/>
        </p:nvSpPr>
        <p:spPr bwMode="auto">
          <a:xfrm>
            <a:off x="6820176" y="5135565"/>
            <a:ext cx="613951" cy="462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a:defRPr sz="2400">
                <a:solidFill>
                  <a:schemeClr val="tx1"/>
                </a:solidFill>
                <a:latin typeface="Times New Roman" panose="02020603050405020304" pitchFamily="18" charset="0"/>
              </a:defRPr>
            </a:lvl1pPr>
            <a:lvl2pPr marL="742950" indent="-285750" defTabSz="762000">
              <a:defRPr sz="2400">
                <a:solidFill>
                  <a:schemeClr val="tx1"/>
                </a:solidFill>
                <a:latin typeface="Times New Roman" panose="02020603050405020304" pitchFamily="18" charset="0"/>
              </a:defRPr>
            </a:lvl2pPr>
            <a:lvl3pPr marL="1143000" indent="-228600" defTabSz="762000">
              <a:defRPr sz="2400">
                <a:solidFill>
                  <a:schemeClr val="tx1"/>
                </a:solidFill>
                <a:latin typeface="Times New Roman" panose="02020603050405020304" pitchFamily="18" charset="0"/>
              </a:defRPr>
            </a:lvl3pPr>
            <a:lvl4pPr marL="1600200" indent="-228600" defTabSz="762000">
              <a:defRPr sz="2400">
                <a:solidFill>
                  <a:schemeClr val="tx1"/>
                </a:solidFill>
                <a:latin typeface="Times New Roman" panose="02020603050405020304" pitchFamily="18" charset="0"/>
              </a:defRPr>
            </a:lvl4pPr>
            <a:lvl5pPr marL="2057400" indent="-228600" defTabSz="762000">
              <a:defRPr sz="2400">
                <a:solidFill>
                  <a:schemeClr val="tx1"/>
                </a:solidFill>
                <a:latin typeface="Times New Roman" panose="02020603050405020304" pitchFamily="18" charset="0"/>
              </a:defRPr>
            </a:lvl5pPr>
            <a:lvl6pPr marL="2514600" indent="-228600" defTabSz="7620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7620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7620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762000" eaLnBrk="0" fontAlgn="base" hangingPunct="0">
              <a:spcBef>
                <a:spcPct val="0"/>
              </a:spcBef>
              <a:spcAft>
                <a:spcPct val="0"/>
              </a:spcAft>
              <a:defRPr sz="2400">
                <a:solidFill>
                  <a:schemeClr val="tx1"/>
                </a:solidFill>
                <a:latin typeface="Times New Roman" panose="02020603050405020304" pitchFamily="18" charset="0"/>
              </a:defRPr>
            </a:lvl9pPr>
          </a:lstStyle>
          <a:p>
            <a:r>
              <a:rPr lang="en-GB" altLang="en-US" i="1">
                <a:solidFill>
                  <a:schemeClr val="tx2"/>
                </a:solidFill>
                <a:latin typeface="Arial" panose="020B0604020202020204" pitchFamily="34" charset="0"/>
              </a:rPr>
              <a:t>AD</a:t>
            </a:r>
          </a:p>
        </p:txBody>
      </p:sp>
      <p:sp>
        <p:nvSpPr>
          <p:cNvPr id="3093" name="Rectangle 8">
            <a:extLst>
              <a:ext uri="{FF2B5EF4-FFF2-40B4-BE49-F238E27FC236}">
                <a16:creationId xmlns:a16="http://schemas.microsoft.com/office/drawing/2014/main" id="{1F4A9127-DB01-42F4-8093-A891028ECF3D}"/>
              </a:ext>
            </a:extLst>
          </p:cNvPr>
          <p:cNvSpPr>
            <a:spLocks noChangeArrowheads="1"/>
          </p:cNvSpPr>
          <p:nvPr/>
        </p:nvSpPr>
        <p:spPr bwMode="auto">
          <a:xfrm>
            <a:off x="3505941" y="6272213"/>
            <a:ext cx="337913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a:defRPr sz="2400">
                <a:solidFill>
                  <a:schemeClr val="tx1"/>
                </a:solidFill>
                <a:latin typeface="Times New Roman" panose="02020603050405020304" pitchFamily="18" charset="0"/>
              </a:defRPr>
            </a:lvl1pPr>
            <a:lvl2pPr marL="742950" indent="-285750" defTabSz="762000">
              <a:defRPr sz="2400">
                <a:solidFill>
                  <a:schemeClr val="tx1"/>
                </a:solidFill>
                <a:latin typeface="Times New Roman" panose="02020603050405020304" pitchFamily="18" charset="0"/>
              </a:defRPr>
            </a:lvl2pPr>
            <a:lvl3pPr marL="1143000" indent="-228600" defTabSz="762000">
              <a:defRPr sz="2400">
                <a:solidFill>
                  <a:schemeClr val="tx1"/>
                </a:solidFill>
                <a:latin typeface="Times New Roman" panose="02020603050405020304" pitchFamily="18" charset="0"/>
              </a:defRPr>
            </a:lvl3pPr>
            <a:lvl4pPr marL="1600200" indent="-228600" defTabSz="762000">
              <a:defRPr sz="2400">
                <a:solidFill>
                  <a:schemeClr val="tx1"/>
                </a:solidFill>
                <a:latin typeface="Times New Roman" panose="02020603050405020304" pitchFamily="18" charset="0"/>
              </a:defRPr>
            </a:lvl4pPr>
            <a:lvl5pPr marL="2057400" indent="-228600" defTabSz="762000">
              <a:defRPr sz="2400">
                <a:solidFill>
                  <a:schemeClr val="tx1"/>
                </a:solidFill>
                <a:latin typeface="Times New Roman" panose="02020603050405020304" pitchFamily="18" charset="0"/>
              </a:defRPr>
            </a:lvl5pPr>
            <a:lvl6pPr marL="2514600" indent="-228600" defTabSz="7620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7620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7620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GB" altLang="en-US" sz="2000" dirty="0">
                <a:latin typeface="Arial" panose="020B0604020202020204" pitchFamily="34" charset="0"/>
              </a:rPr>
              <a:t>Real national income (GDP)</a:t>
            </a:r>
          </a:p>
        </p:txBody>
      </p:sp>
      <p:sp>
        <p:nvSpPr>
          <p:cNvPr id="3094" name="Rectangle 13">
            <a:extLst>
              <a:ext uri="{FF2B5EF4-FFF2-40B4-BE49-F238E27FC236}">
                <a16:creationId xmlns:a16="http://schemas.microsoft.com/office/drawing/2014/main" id="{F840958A-A8E4-4D31-A0C3-421F0A0F2DE4}"/>
              </a:ext>
            </a:extLst>
          </p:cNvPr>
          <p:cNvSpPr>
            <a:spLocks noGrp="1" noChangeArrowheads="1"/>
          </p:cNvSpPr>
          <p:nvPr>
            <p:ph type="title"/>
          </p:nvPr>
        </p:nvSpPr>
        <p:spPr>
          <a:xfrm>
            <a:off x="0" y="-1"/>
            <a:ext cx="12157649" cy="559685"/>
          </a:xfrm>
          <a:effectLst>
            <a:outerShdw dist="12700" dir="2700000" algn="ctr" rotWithShape="0">
              <a:schemeClr val="tx1"/>
            </a:outerShdw>
          </a:effectLst>
        </p:spPr>
        <p:txBody>
          <a:bodyPr/>
          <a:lstStyle/>
          <a:p>
            <a:pPr algn="ctr"/>
            <a:r>
              <a:rPr lang="en-GB" altLang="en-US" sz="2800" b="1" dirty="0">
                <a:effectLst/>
              </a:rPr>
              <a:t>Downward sloping aggregate demand curve</a:t>
            </a:r>
          </a:p>
        </p:txBody>
      </p:sp>
      <p:sp>
        <p:nvSpPr>
          <p:cNvPr id="14" name="Rectangle 5">
            <a:extLst>
              <a:ext uri="{FF2B5EF4-FFF2-40B4-BE49-F238E27FC236}">
                <a16:creationId xmlns:a16="http://schemas.microsoft.com/office/drawing/2014/main" id="{1464E5D5-7C47-4EC1-B5E5-61D45E0B0C52}"/>
              </a:ext>
            </a:extLst>
          </p:cNvPr>
          <p:cNvSpPr txBox="1">
            <a:spLocks/>
          </p:cNvSpPr>
          <p:nvPr/>
        </p:nvSpPr>
        <p:spPr>
          <a:xfrm>
            <a:off x="4026449" y="1696720"/>
            <a:ext cx="5347700" cy="1354217"/>
          </a:xfrm>
          <a:prstGeom prst="rect">
            <a:avLst/>
          </a:prstGeom>
          <a:noFill/>
          <a:ln w="22225">
            <a:solidFill>
              <a:srgbClr val="660066"/>
            </a:solidFill>
          </a:ln>
        </p:spPr>
        <p:txBody>
          <a:bodyPr anchor="ctr" anchorCtr="0">
            <a:spAutoFit/>
          </a:bodyPr>
          <a:lstStyle>
            <a:lvl1pPr marL="342900" indent="-342900" algn="l" rtl="0" eaLnBrk="1" fontAlgn="base" hangingPunct="1">
              <a:lnSpc>
                <a:spcPct val="90000"/>
              </a:lnSpc>
              <a:spcBef>
                <a:spcPct val="35000"/>
              </a:spcBef>
              <a:spcAft>
                <a:spcPct val="0"/>
              </a:spcAft>
              <a:buClr>
                <a:srgbClr val="990033"/>
              </a:buClr>
              <a:buSzPct val="85000"/>
              <a:buFont typeface="Wingdings 2" panose="05020102010507070707" pitchFamily="18" charset="2"/>
              <a:buChar char=""/>
              <a:defRPr sz="2800" kern="1200">
                <a:solidFill>
                  <a:schemeClr val="tx1"/>
                </a:solidFill>
                <a:latin typeface="+mn-lt"/>
                <a:ea typeface="+mn-ea"/>
                <a:cs typeface="+mn-cs"/>
              </a:defRPr>
            </a:lvl1pPr>
            <a:lvl2pPr marL="742950" indent="-285750" algn="l" rtl="0" eaLnBrk="1" fontAlgn="base" hangingPunct="1">
              <a:lnSpc>
                <a:spcPct val="90000"/>
              </a:lnSpc>
              <a:spcBef>
                <a:spcPct val="35000"/>
              </a:spcBef>
              <a:spcAft>
                <a:spcPct val="0"/>
              </a:spcAft>
              <a:buClr>
                <a:srgbClr val="007A00"/>
              </a:buClr>
              <a:buSzPct val="70000"/>
              <a:buFont typeface="Wingdings" panose="05000000000000000000" pitchFamily="2" charset="2"/>
              <a:buChar char="¡"/>
              <a:defRPr sz="2500" kern="1200">
                <a:solidFill>
                  <a:srgbClr val="004363"/>
                </a:solidFill>
                <a:latin typeface="+mn-lt"/>
                <a:ea typeface="+mn-ea"/>
                <a:cs typeface="+mn-cs"/>
              </a:defRPr>
            </a:lvl2pPr>
            <a:lvl3pPr marL="1143000" indent="-228600" algn="l" rtl="0" eaLnBrk="1" fontAlgn="base" hangingPunct="1">
              <a:lnSpc>
                <a:spcPct val="90000"/>
              </a:lnSpc>
              <a:spcBef>
                <a:spcPct val="35000"/>
              </a:spcBef>
              <a:spcAft>
                <a:spcPct val="0"/>
              </a:spcAft>
              <a:buClr>
                <a:srgbClr val="800080"/>
              </a:buClr>
              <a:buSzPct val="75000"/>
              <a:buFont typeface="Wingdings 2" panose="05020102010507070707" pitchFamily="18" charset="2"/>
              <a:buChar char="÷"/>
              <a:defRPr sz="2200" kern="1200">
                <a:solidFill>
                  <a:srgbClr val="3B1862"/>
                </a:solidFill>
                <a:latin typeface="+mn-lt"/>
                <a:ea typeface="+mn-ea"/>
                <a:cs typeface="+mn-cs"/>
              </a:defRPr>
            </a:lvl3pPr>
            <a:lvl4pPr marL="1600200" indent="-228600" algn="l" rtl="0" eaLnBrk="1" fontAlgn="base" hangingPunct="1">
              <a:lnSpc>
                <a:spcPct val="90000"/>
              </a:lnSpc>
              <a:spcBef>
                <a:spcPct val="35000"/>
              </a:spcBef>
              <a:spcAft>
                <a:spcPct val="0"/>
              </a:spcAft>
              <a:buClr>
                <a:srgbClr val="B56403"/>
              </a:buClr>
              <a:buSzPct val="65000"/>
              <a:buFont typeface="Wingdings 2" panose="05020102010507070707" pitchFamily="18" charset="2"/>
              <a:buChar char="°"/>
              <a:defRPr sz="2000" kern="1200">
                <a:solidFill>
                  <a:srgbClr val="3C4150"/>
                </a:solidFill>
                <a:latin typeface="+mn-lt"/>
                <a:ea typeface="+mn-ea"/>
                <a:cs typeface="+mn-cs"/>
              </a:defRPr>
            </a:lvl4pPr>
            <a:lvl5pPr marL="2057400" indent="-228600" algn="l" rtl="0" eaLnBrk="1" fontAlgn="base" hangingPunct="1">
              <a:lnSpc>
                <a:spcPct val="90000"/>
              </a:lnSpc>
              <a:spcBef>
                <a:spcPct val="30000"/>
              </a:spcBef>
              <a:spcAft>
                <a:spcPct val="0"/>
              </a:spcAft>
              <a:buChar char="»"/>
              <a:defRPr sz="1600" kern="1200">
                <a:solidFill>
                  <a:schemeClr val="tx1"/>
                </a:solidFill>
                <a:latin typeface="Georgia" panose="02040502050405020303"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2" indent="-341313">
              <a:lnSpc>
                <a:spcPct val="100000"/>
              </a:lnSpc>
              <a:spcBef>
                <a:spcPts val="600"/>
              </a:spcBef>
            </a:pPr>
            <a:r>
              <a:rPr lang="en-GB" altLang="en-US" sz="2400" dirty="0"/>
              <a:t>substitution effect</a:t>
            </a:r>
          </a:p>
          <a:p>
            <a:pPr marL="0" lvl="2" indent="-341313">
              <a:lnSpc>
                <a:spcPct val="100000"/>
              </a:lnSpc>
              <a:spcBef>
                <a:spcPts val="600"/>
              </a:spcBef>
            </a:pPr>
            <a:r>
              <a:rPr lang="en-GB" altLang="en-US" sz="2400" dirty="0"/>
              <a:t>inter-temporal substitution effect</a:t>
            </a:r>
          </a:p>
          <a:p>
            <a:pPr marL="0" lvl="2" indent="-341313">
              <a:lnSpc>
                <a:spcPct val="100000"/>
              </a:lnSpc>
              <a:spcBef>
                <a:spcPts val="600"/>
              </a:spcBef>
            </a:pPr>
            <a:r>
              <a:rPr lang="en-GB" altLang="en-US" sz="2400" dirty="0"/>
              <a:t>real balance effect</a:t>
            </a:r>
          </a:p>
        </p:txBody>
      </p:sp>
    </p:spTree>
    <p:extLst>
      <p:ext uri="{BB962C8B-B14F-4D97-AF65-F5344CB8AC3E}">
        <p14:creationId xmlns:p14="http://schemas.microsoft.com/office/powerpoint/2010/main" val="441587340"/>
      </p:ext>
    </p:extLst>
  </p:cSld>
  <p:clrMapOvr>
    <a:masterClrMapping/>
  </p:clrMapOvr>
  <p:transition spd="med">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anim calcmode="lin" valueType="num">
                                      <p:cBhvr additive="base">
                                        <p:cTn id="7" dur="500"/>
                                        <p:tgtEl>
                                          <p:spTgt spid="14">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14">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14">
                                            <p:txEl>
                                              <p:pRg st="1" end="1"/>
                                            </p:txEl>
                                          </p:spTgt>
                                        </p:tgtEl>
                                        <p:attrNameLst>
                                          <p:attrName>style.visibility</p:attrName>
                                        </p:attrNameLst>
                                      </p:cBhvr>
                                      <p:to>
                                        <p:strVal val="visible"/>
                                      </p:to>
                                    </p:set>
                                    <p:anim calcmode="lin" valueType="num">
                                      <p:cBhvr additive="base">
                                        <p:cTn id="13" dur="500"/>
                                        <p:tgtEl>
                                          <p:spTgt spid="14">
                                            <p:txEl>
                                              <p:pRg st="1" end="1"/>
                                            </p:txEl>
                                          </p:spTgt>
                                        </p:tgtEl>
                                        <p:attrNameLst>
                                          <p:attrName>ppt_y</p:attrName>
                                        </p:attrNameLst>
                                      </p:cBhvr>
                                      <p:tavLst>
                                        <p:tav tm="0">
                                          <p:val>
                                            <p:strVal val="#ppt_y+#ppt_h*1.125000"/>
                                          </p:val>
                                        </p:tav>
                                        <p:tav tm="100000">
                                          <p:val>
                                            <p:strVal val="#ppt_y"/>
                                          </p:val>
                                        </p:tav>
                                      </p:tavLst>
                                    </p:anim>
                                    <p:animEffect transition="in" filter="wipe(up)">
                                      <p:cBhvr>
                                        <p:cTn id="14" dur="500"/>
                                        <p:tgtEl>
                                          <p:spTgt spid="14">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grpId="0" nodeType="clickEffect">
                                  <p:stCondLst>
                                    <p:cond delay="0"/>
                                  </p:stCondLst>
                                  <p:childTnLst>
                                    <p:set>
                                      <p:cBhvr>
                                        <p:cTn id="18" dur="1" fill="hold">
                                          <p:stCondLst>
                                            <p:cond delay="0"/>
                                          </p:stCondLst>
                                        </p:cTn>
                                        <p:tgtEl>
                                          <p:spTgt spid="14">
                                            <p:txEl>
                                              <p:pRg st="2" end="2"/>
                                            </p:txEl>
                                          </p:spTgt>
                                        </p:tgtEl>
                                        <p:attrNameLst>
                                          <p:attrName>style.visibility</p:attrName>
                                        </p:attrNameLst>
                                      </p:cBhvr>
                                      <p:to>
                                        <p:strVal val="visible"/>
                                      </p:to>
                                    </p:set>
                                    <p:anim calcmode="lin" valueType="num">
                                      <p:cBhvr additive="base">
                                        <p:cTn id="19" dur="500"/>
                                        <p:tgtEl>
                                          <p:spTgt spid="14">
                                            <p:txEl>
                                              <p:pRg st="2" end="2"/>
                                            </p:txEl>
                                          </p:spTgt>
                                        </p:tgtEl>
                                        <p:attrNameLst>
                                          <p:attrName>ppt_y</p:attrName>
                                        </p:attrNameLst>
                                      </p:cBhvr>
                                      <p:tavLst>
                                        <p:tav tm="0">
                                          <p:val>
                                            <p:strVal val="#ppt_y+#ppt_h*1.125000"/>
                                          </p:val>
                                        </p:tav>
                                        <p:tav tm="100000">
                                          <p:val>
                                            <p:strVal val="#ppt_y"/>
                                          </p:val>
                                        </p:tav>
                                      </p:tavLst>
                                    </p:anim>
                                    <p:animEffect transition="in" filter="wipe(up)">
                                      <p:cBhvr>
                                        <p:cTn id="20" dur="500"/>
                                        <p:tgtEl>
                                          <p:spTgt spid="1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build="p" bldLvl="3" autoUpdateAnimBg="0"/>
    </p:bldLst>
  </p:timing>
</p:sld>
</file>

<file path=ppt/slides/slide3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B2C0F335-8D2C-41F4-A660-9E0030CB4A64}"/>
              </a:ext>
            </a:extLst>
          </p:cNvPr>
          <p:cNvSpPr>
            <a:spLocks noGrp="1" noChangeArrowheads="1"/>
          </p:cNvSpPr>
          <p:nvPr>
            <p:ph type="title"/>
          </p:nvPr>
        </p:nvSpPr>
        <p:spPr/>
        <p:txBody>
          <a:bodyPr/>
          <a:lstStyle/>
          <a:p>
            <a:pPr eaLnBrk="1" hangingPunct="1"/>
            <a:r>
              <a:rPr lang="en-GB" altLang="en-US" dirty="0"/>
              <a:t>Shape of aggregate supply curve</a:t>
            </a:r>
          </a:p>
        </p:txBody>
      </p:sp>
      <p:sp>
        <p:nvSpPr>
          <p:cNvPr id="26627" name="Rectangle 3">
            <a:extLst>
              <a:ext uri="{FF2B5EF4-FFF2-40B4-BE49-F238E27FC236}">
                <a16:creationId xmlns:a16="http://schemas.microsoft.com/office/drawing/2014/main" id="{A5CED004-C2B1-4366-84A3-C4FFC46166B6}"/>
              </a:ext>
            </a:extLst>
          </p:cNvPr>
          <p:cNvSpPr>
            <a:spLocks noGrp="1" noChangeArrowheads="1"/>
          </p:cNvSpPr>
          <p:nvPr>
            <p:ph idx="1"/>
          </p:nvPr>
        </p:nvSpPr>
        <p:spPr/>
        <p:txBody>
          <a:bodyPr/>
          <a:lstStyle/>
          <a:p>
            <a:pPr>
              <a:spcBef>
                <a:spcPts val="600"/>
              </a:spcBef>
            </a:pPr>
            <a:r>
              <a:rPr lang="en-GB" altLang="en-US" dirty="0">
                <a:latin typeface="+mn-lt"/>
              </a:rPr>
              <a:t>Why is it upward sloping?</a:t>
            </a:r>
          </a:p>
          <a:p>
            <a:pPr lvl="1">
              <a:spcBef>
                <a:spcPts val="600"/>
              </a:spcBef>
            </a:pPr>
            <a:r>
              <a:rPr lang="en-GB" altLang="en-US" dirty="0">
                <a:latin typeface="+mn-lt"/>
              </a:rPr>
              <a:t>Assumption of constant input prices – so ‘sticky’ wages</a:t>
            </a:r>
          </a:p>
          <a:p>
            <a:pPr lvl="1">
              <a:spcBef>
                <a:spcPts val="600"/>
              </a:spcBef>
            </a:pPr>
            <a:r>
              <a:rPr lang="en-GB" altLang="en-US" dirty="0">
                <a:latin typeface="+mn-lt"/>
              </a:rPr>
              <a:t>Think about short-run production: fixed use of some inputs</a:t>
            </a:r>
          </a:p>
          <a:p>
            <a:pPr lvl="2">
              <a:spcBef>
                <a:spcPts val="600"/>
              </a:spcBef>
            </a:pPr>
            <a:r>
              <a:rPr lang="en-GB" altLang="en-US" dirty="0">
                <a:latin typeface="+mn-lt"/>
              </a:rPr>
              <a:t>Also technology of production is set</a:t>
            </a:r>
          </a:p>
          <a:p>
            <a:pPr lvl="2">
              <a:spcBef>
                <a:spcPts val="600"/>
              </a:spcBef>
            </a:pPr>
            <a:r>
              <a:rPr lang="en-GB" altLang="en-US" dirty="0">
                <a:latin typeface="+mn-lt"/>
              </a:rPr>
              <a:t>Diminishing marginal returns to factors </a:t>
            </a:r>
          </a:p>
          <a:p>
            <a:pPr lvl="1">
              <a:spcBef>
                <a:spcPts val="600"/>
              </a:spcBef>
            </a:pPr>
            <a:r>
              <a:rPr lang="en-GB" altLang="en-US" dirty="0">
                <a:latin typeface="+mn-lt"/>
              </a:rPr>
              <a:t>If firms are able to set higher prices, higher profit margins</a:t>
            </a:r>
          </a:p>
          <a:p>
            <a:pPr lvl="2">
              <a:spcBef>
                <a:spcPts val="600"/>
              </a:spcBef>
            </a:pPr>
            <a:r>
              <a:rPr lang="en-GB" altLang="en-US" dirty="0">
                <a:latin typeface="+mn-lt"/>
              </a:rPr>
              <a:t>But in expanding output, costs will also rise</a:t>
            </a:r>
          </a:p>
        </p:txBody>
      </p:sp>
    </p:spTree>
    <p:extLst>
      <p:ext uri="{BB962C8B-B14F-4D97-AF65-F5344CB8AC3E}">
        <p14:creationId xmlns:p14="http://schemas.microsoft.com/office/powerpoint/2010/main" val="2899744793"/>
      </p:ext>
    </p:extLst>
  </p:cSld>
  <p:clrMapOvr>
    <a:masterClrMapping/>
  </p:clrMapOvr>
  <p:transition spd="med">
    <p:pull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26627">
                                            <p:txEl>
                                              <p:pRg st="0" end="0"/>
                                            </p:txEl>
                                          </p:spTgt>
                                        </p:tgtEl>
                                        <p:attrNameLst>
                                          <p:attrName>style.visibility</p:attrName>
                                        </p:attrNameLst>
                                      </p:cBhvr>
                                      <p:to>
                                        <p:strVal val="visible"/>
                                      </p:to>
                                    </p:set>
                                    <p:anim calcmode="lin" valueType="num">
                                      <p:cBhvr additive="base">
                                        <p:cTn id="7" dur="500"/>
                                        <p:tgtEl>
                                          <p:spTgt spid="26627">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26627">
                                            <p:txEl>
                                              <p:pRg st="0" end="0"/>
                                            </p:txEl>
                                          </p:spTgt>
                                        </p:tgtEl>
                                      </p:cBhvr>
                                    </p:animEffect>
                                  </p:childTnLst>
                                </p:cTn>
                              </p:par>
                            </p:childTnLst>
                          </p:cTn>
                        </p:par>
                      </p:childTnLst>
                    </p:cTn>
                  </p:par>
                  <p:par>
                    <p:cTn id="9" fill="hold" nodeType="clickPar">
                      <p:stCondLst>
                        <p:cond delay="indefinite"/>
                      </p:stCondLst>
                      <p:childTnLst>
                        <p:par>
                          <p:cTn id="10" fill="hold" nodeType="withGroup">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26627">
                                            <p:txEl>
                                              <p:pRg st="1" end="1"/>
                                            </p:txEl>
                                          </p:spTgt>
                                        </p:tgtEl>
                                        <p:attrNameLst>
                                          <p:attrName>style.visibility</p:attrName>
                                        </p:attrNameLst>
                                      </p:cBhvr>
                                      <p:to>
                                        <p:strVal val="visible"/>
                                      </p:to>
                                    </p:set>
                                    <p:anim calcmode="lin" valueType="num">
                                      <p:cBhvr additive="base">
                                        <p:cTn id="13" dur="500"/>
                                        <p:tgtEl>
                                          <p:spTgt spid="26627">
                                            <p:txEl>
                                              <p:pRg st="1" end="1"/>
                                            </p:txEl>
                                          </p:spTgt>
                                        </p:tgtEl>
                                        <p:attrNameLst>
                                          <p:attrName>ppt_y</p:attrName>
                                        </p:attrNameLst>
                                      </p:cBhvr>
                                      <p:tavLst>
                                        <p:tav tm="0">
                                          <p:val>
                                            <p:strVal val="#ppt_y+#ppt_h*1.125000"/>
                                          </p:val>
                                        </p:tav>
                                        <p:tav tm="100000">
                                          <p:val>
                                            <p:strVal val="#ppt_y"/>
                                          </p:val>
                                        </p:tav>
                                      </p:tavLst>
                                    </p:anim>
                                    <p:animEffect transition="in" filter="wipe(up)">
                                      <p:cBhvr>
                                        <p:cTn id="14" dur="500"/>
                                        <p:tgtEl>
                                          <p:spTgt spid="26627">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grpId="0" nodeType="clickEffect">
                                  <p:stCondLst>
                                    <p:cond delay="0"/>
                                  </p:stCondLst>
                                  <p:childTnLst>
                                    <p:set>
                                      <p:cBhvr>
                                        <p:cTn id="18" dur="1" fill="hold">
                                          <p:stCondLst>
                                            <p:cond delay="0"/>
                                          </p:stCondLst>
                                        </p:cTn>
                                        <p:tgtEl>
                                          <p:spTgt spid="26627">
                                            <p:txEl>
                                              <p:pRg st="2" end="2"/>
                                            </p:txEl>
                                          </p:spTgt>
                                        </p:tgtEl>
                                        <p:attrNameLst>
                                          <p:attrName>style.visibility</p:attrName>
                                        </p:attrNameLst>
                                      </p:cBhvr>
                                      <p:to>
                                        <p:strVal val="visible"/>
                                      </p:to>
                                    </p:set>
                                    <p:anim calcmode="lin" valueType="num">
                                      <p:cBhvr additive="base">
                                        <p:cTn id="19" dur="500"/>
                                        <p:tgtEl>
                                          <p:spTgt spid="26627">
                                            <p:txEl>
                                              <p:pRg st="2" end="2"/>
                                            </p:txEl>
                                          </p:spTgt>
                                        </p:tgtEl>
                                        <p:attrNameLst>
                                          <p:attrName>ppt_y</p:attrName>
                                        </p:attrNameLst>
                                      </p:cBhvr>
                                      <p:tavLst>
                                        <p:tav tm="0">
                                          <p:val>
                                            <p:strVal val="#ppt_y+#ppt_h*1.125000"/>
                                          </p:val>
                                        </p:tav>
                                        <p:tav tm="100000">
                                          <p:val>
                                            <p:strVal val="#ppt_y"/>
                                          </p:val>
                                        </p:tav>
                                      </p:tavLst>
                                    </p:anim>
                                    <p:animEffect transition="in" filter="wipe(up)">
                                      <p:cBhvr>
                                        <p:cTn id="20" dur="500"/>
                                        <p:tgtEl>
                                          <p:spTgt spid="26627">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4" fill="hold" grpId="0" nodeType="clickEffect">
                                  <p:stCondLst>
                                    <p:cond delay="0"/>
                                  </p:stCondLst>
                                  <p:childTnLst>
                                    <p:set>
                                      <p:cBhvr>
                                        <p:cTn id="24" dur="1" fill="hold">
                                          <p:stCondLst>
                                            <p:cond delay="0"/>
                                          </p:stCondLst>
                                        </p:cTn>
                                        <p:tgtEl>
                                          <p:spTgt spid="26627">
                                            <p:txEl>
                                              <p:pRg st="3" end="3"/>
                                            </p:txEl>
                                          </p:spTgt>
                                        </p:tgtEl>
                                        <p:attrNameLst>
                                          <p:attrName>style.visibility</p:attrName>
                                        </p:attrNameLst>
                                      </p:cBhvr>
                                      <p:to>
                                        <p:strVal val="visible"/>
                                      </p:to>
                                    </p:set>
                                    <p:anim calcmode="lin" valueType="num">
                                      <p:cBhvr additive="base">
                                        <p:cTn id="25" dur="500"/>
                                        <p:tgtEl>
                                          <p:spTgt spid="26627">
                                            <p:txEl>
                                              <p:pRg st="3" end="3"/>
                                            </p:txEl>
                                          </p:spTgt>
                                        </p:tgtEl>
                                        <p:attrNameLst>
                                          <p:attrName>ppt_y</p:attrName>
                                        </p:attrNameLst>
                                      </p:cBhvr>
                                      <p:tavLst>
                                        <p:tav tm="0">
                                          <p:val>
                                            <p:strVal val="#ppt_y+#ppt_h*1.125000"/>
                                          </p:val>
                                        </p:tav>
                                        <p:tav tm="100000">
                                          <p:val>
                                            <p:strVal val="#ppt_y"/>
                                          </p:val>
                                        </p:tav>
                                      </p:tavLst>
                                    </p:anim>
                                    <p:animEffect transition="in" filter="wipe(up)">
                                      <p:cBhvr>
                                        <p:cTn id="26" dur="500"/>
                                        <p:tgtEl>
                                          <p:spTgt spid="26627">
                                            <p:txEl>
                                              <p:pRg st="3" end="3"/>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2" presetClass="entr" presetSubtype="4" fill="hold" grpId="0" nodeType="clickEffect">
                                  <p:stCondLst>
                                    <p:cond delay="0"/>
                                  </p:stCondLst>
                                  <p:childTnLst>
                                    <p:set>
                                      <p:cBhvr>
                                        <p:cTn id="30" dur="1" fill="hold">
                                          <p:stCondLst>
                                            <p:cond delay="0"/>
                                          </p:stCondLst>
                                        </p:cTn>
                                        <p:tgtEl>
                                          <p:spTgt spid="26627">
                                            <p:txEl>
                                              <p:pRg st="4" end="4"/>
                                            </p:txEl>
                                          </p:spTgt>
                                        </p:tgtEl>
                                        <p:attrNameLst>
                                          <p:attrName>style.visibility</p:attrName>
                                        </p:attrNameLst>
                                      </p:cBhvr>
                                      <p:to>
                                        <p:strVal val="visible"/>
                                      </p:to>
                                    </p:set>
                                    <p:anim calcmode="lin" valueType="num">
                                      <p:cBhvr additive="base">
                                        <p:cTn id="31" dur="500"/>
                                        <p:tgtEl>
                                          <p:spTgt spid="26627">
                                            <p:txEl>
                                              <p:pRg st="4" end="4"/>
                                            </p:txEl>
                                          </p:spTgt>
                                        </p:tgtEl>
                                        <p:attrNameLst>
                                          <p:attrName>ppt_y</p:attrName>
                                        </p:attrNameLst>
                                      </p:cBhvr>
                                      <p:tavLst>
                                        <p:tav tm="0">
                                          <p:val>
                                            <p:strVal val="#ppt_y+#ppt_h*1.125000"/>
                                          </p:val>
                                        </p:tav>
                                        <p:tav tm="100000">
                                          <p:val>
                                            <p:strVal val="#ppt_y"/>
                                          </p:val>
                                        </p:tav>
                                      </p:tavLst>
                                    </p:anim>
                                    <p:animEffect transition="in" filter="wipe(up)">
                                      <p:cBhvr>
                                        <p:cTn id="32" dur="500"/>
                                        <p:tgtEl>
                                          <p:spTgt spid="26627">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4" fill="hold" grpId="0" nodeType="clickEffect">
                                  <p:stCondLst>
                                    <p:cond delay="0"/>
                                  </p:stCondLst>
                                  <p:childTnLst>
                                    <p:set>
                                      <p:cBhvr>
                                        <p:cTn id="36" dur="1" fill="hold">
                                          <p:stCondLst>
                                            <p:cond delay="0"/>
                                          </p:stCondLst>
                                        </p:cTn>
                                        <p:tgtEl>
                                          <p:spTgt spid="26627">
                                            <p:txEl>
                                              <p:pRg st="5" end="5"/>
                                            </p:txEl>
                                          </p:spTgt>
                                        </p:tgtEl>
                                        <p:attrNameLst>
                                          <p:attrName>style.visibility</p:attrName>
                                        </p:attrNameLst>
                                      </p:cBhvr>
                                      <p:to>
                                        <p:strVal val="visible"/>
                                      </p:to>
                                    </p:set>
                                    <p:anim calcmode="lin" valueType="num">
                                      <p:cBhvr additive="base">
                                        <p:cTn id="37" dur="500"/>
                                        <p:tgtEl>
                                          <p:spTgt spid="26627">
                                            <p:txEl>
                                              <p:pRg st="5" end="5"/>
                                            </p:txEl>
                                          </p:spTgt>
                                        </p:tgtEl>
                                        <p:attrNameLst>
                                          <p:attrName>ppt_y</p:attrName>
                                        </p:attrNameLst>
                                      </p:cBhvr>
                                      <p:tavLst>
                                        <p:tav tm="0">
                                          <p:val>
                                            <p:strVal val="#ppt_y+#ppt_h*1.125000"/>
                                          </p:val>
                                        </p:tav>
                                        <p:tav tm="100000">
                                          <p:val>
                                            <p:strVal val="#ppt_y"/>
                                          </p:val>
                                        </p:tav>
                                      </p:tavLst>
                                    </p:anim>
                                    <p:animEffect transition="in" filter="wipe(up)">
                                      <p:cBhvr>
                                        <p:cTn id="38" dur="500"/>
                                        <p:tgtEl>
                                          <p:spTgt spid="26627">
                                            <p:txEl>
                                              <p:pRg st="5" end="5"/>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2" presetClass="entr" presetSubtype="4" fill="hold" grpId="0" nodeType="clickEffect">
                                  <p:stCondLst>
                                    <p:cond delay="0"/>
                                  </p:stCondLst>
                                  <p:childTnLst>
                                    <p:set>
                                      <p:cBhvr>
                                        <p:cTn id="42" dur="1" fill="hold">
                                          <p:stCondLst>
                                            <p:cond delay="0"/>
                                          </p:stCondLst>
                                        </p:cTn>
                                        <p:tgtEl>
                                          <p:spTgt spid="26627">
                                            <p:txEl>
                                              <p:pRg st="6" end="6"/>
                                            </p:txEl>
                                          </p:spTgt>
                                        </p:tgtEl>
                                        <p:attrNameLst>
                                          <p:attrName>style.visibility</p:attrName>
                                        </p:attrNameLst>
                                      </p:cBhvr>
                                      <p:to>
                                        <p:strVal val="visible"/>
                                      </p:to>
                                    </p:set>
                                    <p:anim calcmode="lin" valueType="num">
                                      <p:cBhvr additive="base">
                                        <p:cTn id="43" dur="500"/>
                                        <p:tgtEl>
                                          <p:spTgt spid="26627">
                                            <p:txEl>
                                              <p:pRg st="6" end="6"/>
                                            </p:txEl>
                                          </p:spTgt>
                                        </p:tgtEl>
                                        <p:attrNameLst>
                                          <p:attrName>ppt_y</p:attrName>
                                        </p:attrNameLst>
                                      </p:cBhvr>
                                      <p:tavLst>
                                        <p:tav tm="0">
                                          <p:val>
                                            <p:strVal val="#ppt_y+#ppt_h*1.125000"/>
                                          </p:val>
                                        </p:tav>
                                        <p:tav tm="100000">
                                          <p:val>
                                            <p:strVal val="#ppt_y"/>
                                          </p:val>
                                        </p:tav>
                                      </p:tavLst>
                                    </p:anim>
                                    <p:animEffect transition="in" filter="wipe(up)">
                                      <p:cBhvr>
                                        <p:cTn id="44" dur="500"/>
                                        <p:tgtEl>
                                          <p:spTgt spid="26627">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7" grpId="0" build="p" bldLvl="3" autoUpdateAnimBg="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3">
            <a:extLst>
              <a:ext uri="{FF2B5EF4-FFF2-40B4-BE49-F238E27FC236}">
                <a16:creationId xmlns:a16="http://schemas.microsoft.com/office/drawing/2014/main" id="{D38547E7-F30E-413E-A3F2-F92ECE01E269}"/>
              </a:ext>
            </a:extLst>
          </p:cNvPr>
          <p:cNvSpPr>
            <a:spLocks noChangeArrowheads="1"/>
          </p:cNvSpPr>
          <p:nvPr/>
        </p:nvSpPr>
        <p:spPr bwMode="auto">
          <a:xfrm>
            <a:off x="990599"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6" name="Rectangle 4">
            <a:extLst>
              <a:ext uri="{FF2B5EF4-FFF2-40B4-BE49-F238E27FC236}">
                <a16:creationId xmlns:a16="http://schemas.microsoft.com/office/drawing/2014/main" id="{90CCCA01-2842-41F5-B9C3-980E76B0FACF}"/>
              </a:ext>
            </a:extLst>
          </p:cNvPr>
          <p:cNvSpPr>
            <a:spLocks noChangeArrowheads="1"/>
          </p:cNvSpPr>
          <p:nvPr/>
        </p:nvSpPr>
        <p:spPr bwMode="auto">
          <a:xfrm>
            <a:off x="3428999"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7" name="Line 5">
            <a:extLst>
              <a:ext uri="{FF2B5EF4-FFF2-40B4-BE49-F238E27FC236}">
                <a16:creationId xmlns:a16="http://schemas.microsoft.com/office/drawing/2014/main" id="{B425246A-CA0D-45B7-829C-1570FE1CBE0F}"/>
              </a:ext>
            </a:extLst>
          </p:cNvPr>
          <p:cNvSpPr>
            <a:spLocks noChangeShapeType="1"/>
          </p:cNvSpPr>
          <p:nvPr/>
        </p:nvSpPr>
        <p:spPr bwMode="auto">
          <a:xfrm>
            <a:off x="1371599" y="762858"/>
            <a:ext cx="0" cy="5180742"/>
          </a:xfrm>
          <a:prstGeom prst="line">
            <a:avLst/>
          </a:prstGeom>
          <a:noFill/>
          <a:ln w="25400">
            <a:solidFill>
              <a:schemeClr val="tx1"/>
            </a:solidFill>
            <a:round/>
            <a:headEnd type="stealth" w="med" len="lg"/>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078" name="Line 6">
            <a:extLst>
              <a:ext uri="{FF2B5EF4-FFF2-40B4-BE49-F238E27FC236}">
                <a16:creationId xmlns:a16="http://schemas.microsoft.com/office/drawing/2014/main" id="{22CE4953-3884-4149-846E-E0DF72440DF3}"/>
              </a:ext>
            </a:extLst>
          </p:cNvPr>
          <p:cNvSpPr>
            <a:spLocks noChangeShapeType="1"/>
          </p:cNvSpPr>
          <p:nvPr/>
        </p:nvSpPr>
        <p:spPr bwMode="auto">
          <a:xfrm>
            <a:off x="1371599" y="5943600"/>
            <a:ext cx="7535945" cy="0"/>
          </a:xfrm>
          <a:prstGeom prst="line">
            <a:avLst/>
          </a:prstGeom>
          <a:noFill/>
          <a:ln w="25400">
            <a:solidFill>
              <a:schemeClr val="tx1"/>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079" name="Rectangle 7">
            <a:extLst>
              <a:ext uri="{FF2B5EF4-FFF2-40B4-BE49-F238E27FC236}">
                <a16:creationId xmlns:a16="http://schemas.microsoft.com/office/drawing/2014/main" id="{A88961C0-5C03-49AD-AD64-CAF11FD06C72}"/>
              </a:ext>
            </a:extLst>
          </p:cNvPr>
          <p:cNvSpPr>
            <a:spLocks noChangeArrowheads="1"/>
          </p:cNvSpPr>
          <p:nvPr/>
        </p:nvSpPr>
        <p:spPr bwMode="auto">
          <a:xfrm>
            <a:off x="1050926" y="5897563"/>
            <a:ext cx="384721"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a:defRPr sz="2400">
                <a:solidFill>
                  <a:schemeClr val="tx1"/>
                </a:solidFill>
                <a:latin typeface="Times New Roman" panose="02020603050405020304" pitchFamily="18" charset="0"/>
              </a:defRPr>
            </a:lvl1pPr>
            <a:lvl2pPr marL="742950" indent="-285750" defTabSz="762000">
              <a:defRPr sz="2400">
                <a:solidFill>
                  <a:schemeClr val="tx1"/>
                </a:solidFill>
                <a:latin typeface="Times New Roman" panose="02020603050405020304" pitchFamily="18" charset="0"/>
              </a:defRPr>
            </a:lvl2pPr>
            <a:lvl3pPr marL="1143000" indent="-228600" defTabSz="762000">
              <a:defRPr sz="2400">
                <a:solidFill>
                  <a:schemeClr val="tx1"/>
                </a:solidFill>
                <a:latin typeface="Times New Roman" panose="02020603050405020304" pitchFamily="18" charset="0"/>
              </a:defRPr>
            </a:lvl3pPr>
            <a:lvl4pPr marL="1600200" indent="-228600" defTabSz="762000">
              <a:defRPr sz="2400">
                <a:solidFill>
                  <a:schemeClr val="tx1"/>
                </a:solidFill>
                <a:latin typeface="Times New Roman" panose="02020603050405020304" pitchFamily="18" charset="0"/>
              </a:defRPr>
            </a:lvl4pPr>
            <a:lvl5pPr marL="2057400" indent="-228600" defTabSz="762000">
              <a:defRPr sz="2400">
                <a:solidFill>
                  <a:schemeClr val="tx1"/>
                </a:solidFill>
                <a:latin typeface="Times New Roman" panose="02020603050405020304" pitchFamily="18" charset="0"/>
              </a:defRPr>
            </a:lvl5pPr>
            <a:lvl6pPr marL="2514600" indent="-228600" defTabSz="7620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7620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7620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762000" eaLnBrk="0" fontAlgn="base" hangingPunct="0">
              <a:spcBef>
                <a:spcPct val="0"/>
              </a:spcBef>
              <a:spcAft>
                <a:spcPct val="0"/>
              </a:spcAft>
              <a:defRPr sz="2400">
                <a:solidFill>
                  <a:schemeClr val="tx1"/>
                </a:solidFill>
                <a:latin typeface="Times New Roman" panose="02020603050405020304" pitchFamily="18" charset="0"/>
              </a:defRPr>
            </a:lvl9pPr>
          </a:lstStyle>
          <a:p>
            <a:r>
              <a:rPr lang="en-GB" altLang="en-US" sz="2000">
                <a:latin typeface="Arial" panose="020B0604020202020204" pitchFamily="34" charset="0"/>
              </a:rPr>
              <a:t>O</a:t>
            </a:r>
          </a:p>
        </p:txBody>
      </p:sp>
      <p:sp>
        <p:nvSpPr>
          <p:cNvPr id="3080" name="Rectangle 8">
            <a:extLst>
              <a:ext uri="{FF2B5EF4-FFF2-40B4-BE49-F238E27FC236}">
                <a16:creationId xmlns:a16="http://schemas.microsoft.com/office/drawing/2014/main" id="{F4A55D29-85FC-41CC-B4D5-F383B39E9FFE}"/>
              </a:ext>
            </a:extLst>
          </p:cNvPr>
          <p:cNvSpPr>
            <a:spLocks noChangeArrowheads="1"/>
          </p:cNvSpPr>
          <p:nvPr/>
        </p:nvSpPr>
        <p:spPr bwMode="auto">
          <a:xfrm rot="-5400000">
            <a:off x="7910" y="2858737"/>
            <a:ext cx="1370568"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a:defRPr sz="2400">
                <a:solidFill>
                  <a:schemeClr val="tx1"/>
                </a:solidFill>
                <a:latin typeface="Times New Roman" panose="02020603050405020304" pitchFamily="18" charset="0"/>
              </a:defRPr>
            </a:lvl1pPr>
            <a:lvl2pPr marL="742950" indent="-285750" defTabSz="762000">
              <a:defRPr sz="2400">
                <a:solidFill>
                  <a:schemeClr val="tx1"/>
                </a:solidFill>
                <a:latin typeface="Times New Roman" panose="02020603050405020304" pitchFamily="18" charset="0"/>
              </a:defRPr>
            </a:lvl2pPr>
            <a:lvl3pPr marL="1143000" indent="-228600" defTabSz="762000">
              <a:defRPr sz="2400">
                <a:solidFill>
                  <a:schemeClr val="tx1"/>
                </a:solidFill>
                <a:latin typeface="Times New Roman" panose="02020603050405020304" pitchFamily="18" charset="0"/>
              </a:defRPr>
            </a:lvl3pPr>
            <a:lvl4pPr marL="1600200" indent="-228600" defTabSz="762000">
              <a:defRPr sz="2400">
                <a:solidFill>
                  <a:schemeClr val="tx1"/>
                </a:solidFill>
                <a:latin typeface="Times New Roman" panose="02020603050405020304" pitchFamily="18" charset="0"/>
              </a:defRPr>
            </a:lvl4pPr>
            <a:lvl5pPr marL="2057400" indent="-228600" defTabSz="762000">
              <a:defRPr sz="2400">
                <a:solidFill>
                  <a:schemeClr val="tx1"/>
                </a:solidFill>
                <a:latin typeface="Times New Roman" panose="02020603050405020304" pitchFamily="18" charset="0"/>
              </a:defRPr>
            </a:lvl5pPr>
            <a:lvl6pPr marL="2514600" indent="-228600" defTabSz="7620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7620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7620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762000" eaLnBrk="0" fontAlgn="base" hangingPunct="0">
              <a:spcBef>
                <a:spcPct val="0"/>
              </a:spcBef>
              <a:spcAft>
                <a:spcPct val="0"/>
              </a:spcAft>
              <a:defRPr sz="2400">
                <a:solidFill>
                  <a:schemeClr val="tx1"/>
                </a:solidFill>
                <a:latin typeface="Times New Roman" panose="02020603050405020304" pitchFamily="18" charset="0"/>
              </a:defRPr>
            </a:lvl9pPr>
          </a:lstStyle>
          <a:p>
            <a:r>
              <a:rPr lang="en-GB" altLang="en-US" sz="2000">
                <a:latin typeface="Arial" panose="020B0604020202020204" pitchFamily="34" charset="0"/>
              </a:rPr>
              <a:t>Price level</a:t>
            </a:r>
          </a:p>
        </p:txBody>
      </p:sp>
      <p:sp>
        <p:nvSpPr>
          <p:cNvPr id="3081" name="Arc 10">
            <a:extLst>
              <a:ext uri="{FF2B5EF4-FFF2-40B4-BE49-F238E27FC236}">
                <a16:creationId xmlns:a16="http://schemas.microsoft.com/office/drawing/2014/main" id="{A0C2558E-FCA0-462F-B9D4-ED16FD70CE5A}"/>
              </a:ext>
            </a:extLst>
          </p:cNvPr>
          <p:cNvSpPr>
            <a:spLocks/>
          </p:cNvSpPr>
          <p:nvPr/>
        </p:nvSpPr>
        <p:spPr bwMode="auto">
          <a:xfrm rot="21240000">
            <a:off x="839789" y="228600"/>
            <a:ext cx="4860925" cy="5226050"/>
          </a:xfrm>
          <a:custGeom>
            <a:avLst/>
            <a:gdLst>
              <a:gd name="T0" fmla="*/ 2147483646 w 20593"/>
              <a:gd name="T1" fmla="*/ 2147483646 h 21428"/>
              <a:gd name="T2" fmla="*/ 2147483646 w 20593"/>
              <a:gd name="T3" fmla="*/ 2147483646 h 21428"/>
              <a:gd name="T4" fmla="*/ 0 w 20593"/>
              <a:gd name="T5" fmla="*/ 0 h 21428"/>
              <a:gd name="T6" fmla="*/ 0 60000 65536"/>
              <a:gd name="T7" fmla="*/ 0 60000 65536"/>
              <a:gd name="T8" fmla="*/ 0 60000 65536"/>
            </a:gdLst>
            <a:ahLst/>
            <a:cxnLst>
              <a:cxn ang="T6">
                <a:pos x="T0" y="T1"/>
              </a:cxn>
              <a:cxn ang="T7">
                <a:pos x="T2" y="T3"/>
              </a:cxn>
              <a:cxn ang="T8">
                <a:pos x="T4" y="T5"/>
              </a:cxn>
            </a:cxnLst>
            <a:rect l="0" t="0" r="r" b="b"/>
            <a:pathLst>
              <a:path w="20593" h="21428" fill="none" extrusionOk="0">
                <a:moveTo>
                  <a:pt x="20593" y="6518"/>
                </a:moveTo>
                <a:cubicBezTo>
                  <a:pt x="18051" y="14548"/>
                  <a:pt x="11073" y="20368"/>
                  <a:pt x="2718" y="21428"/>
                </a:cubicBezTo>
              </a:path>
              <a:path w="20593" h="21428" stroke="0" extrusionOk="0">
                <a:moveTo>
                  <a:pt x="20593" y="6518"/>
                </a:moveTo>
                <a:cubicBezTo>
                  <a:pt x="18051" y="14548"/>
                  <a:pt x="11073" y="20368"/>
                  <a:pt x="2718" y="21428"/>
                </a:cubicBezTo>
                <a:lnTo>
                  <a:pt x="0" y="0"/>
                </a:lnTo>
                <a:lnTo>
                  <a:pt x="20593" y="6518"/>
                </a:lnTo>
                <a:close/>
              </a:path>
            </a:pathLst>
          </a:custGeom>
          <a:noFill/>
          <a:ln w="38100" cap="rnd">
            <a:solidFill>
              <a:schemeClr val="tx2"/>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083" name="Rectangle 12">
            <a:extLst>
              <a:ext uri="{FF2B5EF4-FFF2-40B4-BE49-F238E27FC236}">
                <a16:creationId xmlns:a16="http://schemas.microsoft.com/office/drawing/2014/main" id="{351FA0CF-AE7E-4B21-B191-D70D03DB993E}"/>
              </a:ext>
            </a:extLst>
          </p:cNvPr>
          <p:cNvSpPr>
            <a:spLocks noChangeArrowheads="1"/>
          </p:cNvSpPr>
          <p:nvPr/>
        </p:nvSpPr>
        <p:spPr bwMode="auto">
          <a:xfrm>
            <a:off x="5343024" y="1173165"/>
            <a:ext cx="596317" cy="462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a:defRPr sz="2400">
                <a:solidFill>
                  <a:schemeClr val="tx1"/>
                </a:solidFill>
                <a:latin typeface="Times New Roman" panose="02020603050405020304" pitchFamily="18" charset="0"/>
              </a:defRPr>
            </a:lvl1pPr>
            <a:lvl2pPr marL="742950" indent="-285750" defTabSz="762000">
              <a:defRPr sz="2400">
                <a:solidFill>
                  <a:schemeClr val="tx1"/>
                </a:solidFill>
                <a:latin typeface="Times New Roman" panose="02020603050405020304" pitchFamily="18" charset="0"/>
              </a:defRPr>
            </a:lvl2pPr>
            <a:lvl3pPr marL="1143000" indent="-228600" defTabSz="762000">
              <a:defRPr sz="2400">
                <a:solidFill>
                  <a:schemeClr val="tx1"/>
                </a:solidFill>
                <a:latin typeface="Times New Roman" panose="02020603050405020304" pitchFamily="18" charset="0"/>
              </a:defRPr>
            </a:lvl3pPr>
            <a:lvl4pPr marL="1600200" indent="-228600" defTabSz="762000">
              <a:defRPr sz="2400">
                <a:solidFill>
                  <a:schemeClr val="tx1"/>
                </a:solidFill>
                <a:latin typeface="Times New Roman" panose="02020603050405020304" pitchFamily="18" charset="0"/>
              </a:defRPr>
            </a:lvl4pPr>
            <a:lvl5pPr marL="2057400" indent="-228600" defTabSz="762000">
              <a:defRPr sz="2400">
                <a:solidFill>
                  <a:schemeClr val="tx1"/>
                </a:solidFill>
                <a:latin typeface="Times New Roman" panose="02020603050405020304" pitchFamily="18" charset="0"/>
              </a:defRPr>
            </a:lvl5pPr>
            <a:lvl6pPr marL="2514600" indent="-228600" defTabSz="7620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7620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7620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GB" altLang="en-US" i="1" dirty="0">
                <a:solidFill>
                  <a:schemeClr val="tx2"/>
                </a:solidFill>
                <a:latin typeface="Arial" panose="020B0604020202020204" pitchFamily="34" charset="0"/>
              </a:rPr>
              <a:t>AS</a:t>
            </a:r>
          </a:p>
        </p:txBody>
      </p:sp>
      <p:sp>
        <p:nvSpPr>
          <p:cNvPr id="3093" name="Rectangle 8">
            <a:extLst>
              <a:ext uri="{FF2B5EF4-FFF2-40B4-BE49-F238E27FC236}">
                <a16:creationId xmlns:a16="http://schemas.microsoft.com/office/drawing/2014/main" id="{1F4A9127-DB01-42F4-8093-A891028ECF3D}"/>
              </a:ext>
            </a:extLst>
          </p:cNvPr>
          <p:cNvSpPr>
            <a:spLocks noChangeArrowheads="1"/>
          </p:cNvSpPr>
          <p:nvPr/>
        </p:nvSpPr>
        <p:spPr bwMode="auto">
          <a:xfrm>
            <a:off x="3299291" y="6272213"/>
            <a:ext cx="337913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a:defRPr sz="2400">
                <a:solidFill>
                  <a:schemeClr val="tx1"/>
                </a:solidFill>
                <a:latin typeface="Times New Roman" panose="02020603050405020304" pitchFamily="18" charset="0"/>
              </a:defRPr>
            </a:lvl1pPr>
            <a:lvl2pPr marL="742950" indent="-285750" defTabSz="762000">
              <a:defRPr sz="2400">
                <a:solidFill>
                  <a:schemeClr val="tx1"/>
                </a:solidFill>
                <a:latin typeface="Times New Roman" panose="02020603050405020304" pitchFamily="18" charset="0"/>
              </a:defRPr>
            </a:lvl2pPr>
            <a:lvl3pPr marL="1143000" indent="-228600" defTabSz="762000">
              <a:defRPr sz="2400">
                <a:solidFill>
                  <a:schemeClr val="tx1"/>
                </a:solidFill>
                <a:latin typeface="Times New Roman" panose="02020603050405020304" pitchFamily="18" charset="0"/>
              </a:defRPr>
            </a:lvl3pPr>
            <a:lvl4pPr marL="1600200" indent="-228600" defTabSz="762000">
              <a:defRPr sz="2400">
                <a:solidFill>
                  <a:schemeClr val="tx1"/>
                </a:solidFill>
                <a:latin typeface="Times New Roman" panose="02020603050405020304" pitchFamily="18" charset="0"/>
              </a:defRPr>
            </a:lvl4pPr>
            <a:lvl5pPr marL="2057400" indent="-228600" defTabSz="762000">
              <a:defRPr sz="2400">
                <a:solidFill>
                  <a:schemeClr val="tx1"/>
                </a:solidFill>
                <a:latin typeface="Times New Roman" panose="02020603050405020304" pitchFamily="18" charset="0"/>
              </a:defRPr>
            </a:lvl5pPr>
            <a:lvl6pPr marL="2514600" indent="-228600" defTabSz="7620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7620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7620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GB" altLang="en-US" sz="2000" dirty="0">
                <a:latin typeface="Arial" panose="020B0604020202020204" pitchFamily="34" charset="0"/>
              </a:rPr>
              <a:t>Real national income (GDP)</a:t>
            </a:r>
          </a:p>
        </p:txBody>
      </p:sp>
      <p:sp>
        <p:nvSpPr>
          <p:cNvPr id="3094" name="Rectangle 13">
            <a:extLst>
              <a:ext uri="{FF2B5EF4-FFF2-40B4-BE49-F238E27FC236}">
                <a16:creationId xmlns:a16="http://schemas.microsoft.com/office/drawing/2014/main" id="{F840958A-A8E4-4D31-A0C3-421F0A0F2DE4}"/>
              </a:ext>
            </a:extLst>
          </p:cNvPr>
          <p:cNvSpPr>
            <a:spLocks noGrp="1" noChangeArrowheads="1"/>
          </p:cNvSpPr>
          <p:nvPr>
            <p:ph type="title"/>
          </p:nvPr>
        </p:nvSpPr>
        <p:spPr>
          <a:xfrm>
            <a:off x="0" y="-1"/>
            <a:ext cx="12157649" cy="559685"/>
          </a:xfrm>
          <a:effectLst>
            <a:outerShdw dist="12700" dir="2700000" algn="ctr" rotWithShape="0">
              <a:schemeClr val="tx1"/>
            </a:outerShdw>
          </a:effectLst>
        </p:spPr>
        <p:txBody>
          <a:bodyPr/>
          <a:lstStyle/>
          <a:p>
            <a:pPr algn="ctr"/>
            <a:r>
              <a:rPr lang="en-GB" altLang="en-US" sz="2800" b="1" dirty="0">
                <a:effectLst/>
              </a:rPr>
              <a:t>Upward sloping aggregate supply</a:t>
            </a:r>
          </a:p>
        </p:txBody>
      </p:sp>
      <p:sp>
        <p:nvSpPr>
          <p:cNvPr id="32" name="Rectangle 3">
            <a:extLst>
              <a:ext uri="{FF2B5EF4-FFF2-40B4-BE49-F238E27FC236}">
                <a16:creationId xmlns:a16="http://schemas.microsoft.com/office/drawing/2014/main" id="{38E5C58D-28B7-4E5D-AAE4-A9766158974F}"/>
              </a:ext>
            </a:extLst>
          </p:cNvPr>
          <p:cNvSpPr txBox="1">
            <a:spLocks noChangeArrowheads="1"/>
          </p:cNvSpPr>
          <p:nvPr/>
        </p:nvSpPr>
        <p:spPr>
          <a:xfrm>
            <a:off x="5343025" y="3044853"/>
            <a:ext cx="4331062" cy="1354217"/>
          </a:xfrm>
          <a:prstGeom prst="rect">
            <a:avLst/>
          </a:prstGeom>
          <a:noFill/>
          <a:ln w="22225">
            <a:solidFill>
              <a:srgbClr val="660066"/>
            </a:solidFill>
          </a:ln>
        </p:spPr>
        <p:txBody>
          <a:bodyPr wrap="square">
            <a:spAutoFit/>
          </a:bodyPr>
          <a:lstStyle>
            <a:lvl1pPr marL="342900" indent="-342900" algn="l" rtl="0" eaLnBrk="1" fontAlgn="base" hangingPunct="1">
              <a:lnSpc>
                <a:spcPct val="90000"/>
              </a:lnSpc>
              <a:spcBef>
                <a:spcPct val="35000"/>
              </a:spcBef>
              <a:spcAft>
                <a:spcPct val="0"/>
              </a:spcAft>
              <a:buClr>
                <a:srgbClr val="990033"/>
              </a:buClr>
              <a:buSzPct val="85000"/>
              <a:buFont typeface="Wingdings 2" panose="05020102010507070707" pitchFamily="18" charset="2"/>
              <a:buChar char=""/>
              <a:defRPr sz="2800" kern="1200">
                <a:solidFill>
                  <a:schemeClr val="tx1"/>
                </a:solidFill>
                <a:latin typeface="+mn-lt"/>
                <a:ea typeface="+mn-ea"/>
                <a:cs typeface="+mn-cs"/>
              </a:defRPr>
            </a:lvl1pPr>
            <a:lvl2pPr marL="742950" indent="-285750" algn="l" rtl="0" eaLnBrk="1" fontAlgn="base" hangingPunct="1">
              <a:lnSpc>
                <a:spcPct val="90000"/>
              </a:lnSpc>
              <a:spcBef>
                <a:spcPct val="35000"/>
              </a:spcBef>
              <a:spcAft>
                <a:spcPct val="0"/>
              </a:spcAft>
              <a:buClr>
                <a:srgbClr val="007A00"/>
              </a:buClr>
              <a:buSzPct val="70000"/>
              <a:buFont typeface="Wingdings" panose="05000000000000000000" pitchFamily="2" charset="2"/>
              <a:buChar char="¡"/>
              <a:defRPr sz="2500" kern="1200">
                <a:solidFill>
                  <a:srgbClr val="004363"/>
                </a:solidFill>
                <a:latin typeface="+mn-lt"/>
                <a:ea typeface="+mn-ea"/>
                <a:cs typeface="+mn-cs"/>
              </a:defRPr>
            </a:lvl2pPr>
            <a:lvl3pPr marL="1143000" indent="-228600" algn="l" rtl="0" eaLnBrk="1" fontAlgn="base" hangingPunct="1">
              <a:lnSpc>
                <a:spcPct val="90000"/>
              </a:lnSpc>
              <a:spcBef>
                <a:spcPct val="35000"/>
              </a:spcBef>
              <a:spcAft>
                <a:spcPct val="0"/>
              </a:spcAft>
              <a:buClr>
                <a:srgbClr val="800080"/>
              </a:buClr>
              <a:buSzPct val="75000"/>
              <a:buFont typeface="Wingdings 2" panose="05020102010507070707" pitchFamily="18" charset="2"/>
              <a:buChar char="÷"/>
              <a:defRPr sz="2200" kern="1200">
                <a:solidFill>
                  <a:srgbClr val="3B1862"/>
                </a:solidFill>
                <a:latin typeface="+mn-lt"/>
                <a:ea typeface="+mn-ea"/>
                <a:cs typeface="+mn-cs"/>
              </a:defRPr>
            </a:lvl3pPr>
            <a:lvl4pPr marL="1600200" indent="-228600" algn="l" rtl="0" eaLnBrk="1" fontAlgn="base" hangingPunct="1">
              <a:lnSpc>
                <a:spcPct val="90000"/>
              </a:lnSpc>
              <a:spcBef>
                <a:spcPct val="35000"/>
              </a:spcBef>
              <a:spcAft>
                <a:spcPct val="0"/>
              </a:spcAft>
              <a:buClr>
                <a:srgbClr val="B56403"/>
              </a:buClr>
              <a:buSzPct val="65000"/>
              <a:buFont typeface="Wingdings 2" panose="05020102010507070707" pitchFamily="18" charset="2"/>
              <a:buChar char="°"/>
              <a:defRPr sz="2000" kern="1200">
                <a:solidFill>
                  <a:srgbClr val="3C4150"/>
                </a:solidFill>
                <a:latin typeface="+mn-lt"/>
                <a:ea typeface="+mn-ea"/>
                <a:cs typeface="+mn-cs"/>
              </a:defRPr>
            </a:lvl4pPr>
            <a:lvl5pPr marL="2057400" indent="-228600" algn="l" rtl="0" eaLnBrk="1" fontAlgn="base" hangingPunct="1">
              <a:lnSpc>
                <a:spcPct val="90000"/>
              </a:lnSpc>
              <a:spcBef>
                <a:spcPct val="30000"/>
              </a:spcBef>
              <a:spcAft>
                <a:spcPct val="0"/>
              </a:spcAft>
              <a:buChar char="»"/>
              <a:defRPr sz="1600" kern="1200">
                <a:solidFill>
                  <a:schemeClr val="tx1"/>
                </a:solidFill>
                <a:latin typeface="Georgia" panose="02040502050405020303"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4488" lvl="1" indent="-284163">
              <a:lnSpc>
                <a:spcPct val="100000"/>
              </a:lnSpc>
              <a:spcBef>
                <a:spcPts val="1200"/>
              </a:spcBef>
            </a:pPr>
            <a:r>
              <a:rPr lang="en-GB" altLang="en-US" sz="2400" dirty="0"/>
              <a:t>diminishing returns</a:t>
            </a:r>
          </a:p>
          <a:p>
            <a:pPr marL="344488" lvl="1" indent="-284163">
              <a:lnSpc>
                <a:spcPct val="100000"/>
              </a:lnSpc>
              <a:spcBef>
                <a:spcPts val="1200"/>
              </a:spcBef>
            </a:pPr>
            <a:r>
              <a:rPr lang="en-GB" altLang="en-US" sz="2400" dirty="0"/>
              <a:t>growing shortage of certain variable factors</a:t>
            </a:r>
          </a:p>
        </p:txBody>
      </p:sp>
    </p:spTree>
    <p:extLst>
      <p:ext uri="{BB962C8B-B14F-4D97-AF65-F5344CB8AC3E}">
        <p14:creationId xmlns:p14="http://schemas.microsoft.com/office/powerpoint/2010/main" val="336267834"/>
      </p:ext>
    </p:extLst>
  </p:cSld>
  <p:clrMapOvr>
    <a:masterClrMapping/>
  </p:clrMapOvr>
  <p:transition spd="med">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32">
                                            <p:txEl>
                                              <p:pRg st="0" end="0"/>
                                            </p:txEl>
                                          </p:spTgt>
                                        </p:tgtEl>
                                        <p:attrNameLst>
                                          <p:attrName>style.visibility</p:attrName>
                                        </p:attrNameLst>
                                      </p:cBhvr>
                                      <p:to>
                                        <p:strVal val="visible"/>
                                      </p:to>
                                    </p:set>
                                    <p:anim calcmode="lin" valueType="num">
                                      <p:cBhvr additive="base">
                                        <p:cTn id="7" dur="500"/>
                                        <p:tgtEl>
                                          <p:spTgt spid="32">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32">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32">
                                            <p:txEl>
                                              <p:pRg st="1" end="1"/>
                                            </p:txEl>
                                          </p:spTgt>
                                        </p:tgtEl>
                                        <p:attrNameLst>
                                          <p:attrName>style.visibility</p:attrName>
                                        </p:attrNameLst>
                                      </p:cBhvr>
                                      <p:to>
                                        <p:strVal val="visible"/>
                                      </p:to>
                                    </p:set>
                                    <p:anim calcmode="lin" valueType="num">
                                      <p:cBhvr additive="base">
                                        <p:cTn id="13" dur="500"/>
                                        <p:tgtEl>
                                          <p:spTgt spid="32">
                                            <p:txEl>
                                              <p:pRg st="1" end="1"/>
                                            </p:txEl>
                                          </p:spTgt>
                                        </p:tgtEl>
                                        <p:attrNameLst>
                                          <p:attrName>ppt_y</p:attrName>
                                        </p:attrNameLst>
                                      </p:cBhvr>
                                      <p:tavLst>
                                        <p:tav tm="0">
                                          <p:val>
                                            <p:strVal val="#ppt_y+#ppt_h*1.125000"/>
                                          </p:val>
                                        </p:tav>
                                        <p:tav tm="100000">
                                          <p:val>
                                            <p:strVal val="#ppt_y"/>
                                          </p:val>
                                        </p:tav>
                                      </p:tavLst>
                                    </p:anim>
                                    <p:animEffect transition="in" filter="wipe(up)">
                                      <p:cBhvr>
                                        <p:cTn id="14" dur="500"/>
                                        <p:tgtEl>
                                          <p:spTgt spid="3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build="p" bldLvl="3" autoUpdateAnimBg="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3">
            <a:extLst>
              <a:ext uri="{FF2B5EF4-FFF2-40B4-BE49-F238E27FC236}">
                <a16:creationId xmlns:a16="http://schemas.microsoft.com/office/drawing/2014/main" id="{D38547E7-F30E-413E-A3F2-F92ECE01E269}"/>
              </a:ext>
            </a:extLst>
          </p:cNvPr>
          <p:cNvSpPr>
            <a:spLocks noChangeArrowheads="1"/>
          </p:cNvSpPr>
          <p:nvPr/>
        </p:nvSpPr>
        <p:spPr bwMode="auto">
          <a:xfrm>
            <a:off x="2209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6" name="Rectangle 4">
            <a:extLst>
              <a:ext uri="{FF2B5EF4-FFF2-40B4-BE49-F238E27FC236}">
                <a16:creationId xmlns:a16="http://schemas.microsoft.com/office/drawing/2014/main" id="{90CCCA01-2842-41F5-B9C3-980E76B0FACF}"/>
              </a:ext>
            </a:extLst>
          </p:cNvPr>
          <p:cNvSpPr>
            <a:spLocks noChangeArrowheads="1"/>
          </p:cNvSpPr>
          <p:nvPr/>
        </p:nvSpPr>
        <p:spPr bwMode="auto">
          <a:xfrm>
            <a:off x="4648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7" name="Line 5">
            <a:extLst>
              <a:ext uri="{FF2B5EF4-FFF2-40B4-BE49-F238E27FC236}">
                <a16:creationId xmlns:a16="http://schemas.microsoft.com/office/drawing/2014/main" id="{B425246A-CA0D-45B7-829C-1570FE1CBE0F}"/>
              </a:ext>
            </a:extLst>
          </p:cNvPr>
          <p:cNvSpPr>
            <a:spLocks noChangeShapeType="1"/>
          </p:cNvSpPr>
          <p:nvPr/>
        </p:nvSpPr>
        <p:spPr bwMode="auto">
          <a:xfrm>
            <a:off x="2590800" y="762858"/>
            <a:ext cx="0" cy="5180742"/>
          </a:xfrm>
          <a:prstGeom prst="line">
            <a:avLst/>
          </a:prstGeom>
          <a:noFill/>
          <a:ln w="25400">
            <a:solidFill>
              <a:schemeClr val="tx1"/>
            </a:solidFill>
            <a:round/>
            <a:headEnd type="stealth" w="med" len="lg"/>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078" name="Line 6">
            <a:extLst>
              <a:ext uri="{FF2B5EF4-FFF2-40B4-BE49-F238E27FC236}">
                <a16:creationId xmlns:a16="http://schemas.microsoft.com/office/drawing/2014/main" id="{22CE4953-3884-4149-846E-E0DF72440DF3}"/>
              </a:ext>
            </a:extLst>
          </p:cNvPr>
          <p:cNvSpPr>
            <a:spLocks noChangeShapeType="1"/>
          </p:cNvSpPr>
          <p:nvPr/>
        </p:nvSpPr>
        <p:spPr bwMode="auto">
          <a:xfrm>
            <a:off x="2590800" y="5943600"/>
            <a:ext cx="7535945" cy="0"/>
          </a:xfrm>
          <a:prstGeom prst="line">
            <a:avLst/>
          </a:prstGeom>
          <a:noFill/>
          <a:ln w="25400">
            <a:solidFill>
              <a:schemeClr val="tx1"/>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079" name="Rectangle 7">
            <a:extLst>
              <a:ext uri="{FF2B5EF4-FFF2-40B4-BE49-F238E27FC236}">
                <a16:creationId xmlns:a16="http://schemas.microsoft.com/office/drawing/2014/main" id="{A88961C0-5C03-49AD-AD64-CAF11FD06C72}"/>
              </a:ext>
            </a:extLst>
          </p:cNvPr>
          <p:cNvSpPr>
            <a:spLocks noChangeArrowheads="1"/>
          </p:cNvSpPr>
          <p:nvPr/>
        </p:nvSpPr>
        <p:spPr bwMode="auto">
          <a:xfrm>
            <a:off x="2270127" y="5897563"/>
            <a:ext cx="384721"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a:defRPr sz="2400">
                <a:solidFill>
                  <a:schemeClr val="tx1"/>
                </a:solidFill>
                <a:latin typeface="Times New Roman" panose="02020603050405020304" pitchFamily="18" charset="0"/>
              </a:defRPr>
            </a:lvl1pPr>
            <a:lvl2pPr marL="742950" indent="-285750" defTabSz="762000">
              <a:defRPr sz="2400">
                <a:solidFill>
                  <a:schemeClr val="tx1"/>
                </a:solidFill>
                <a:latin typeface="Times New Roman" panose="02020603050405020304" pitchFamily="18" charset="0"/>
              </a:defRPr>
            </a:lvl2pPr>
            <a:lvl3pPr marL="1143000" indent="-228600" defTabSz="762000">
              <a:defRPr sz="2400">
                <a:solidFill>
                  <a:schemeClr val="tx1"/>
                </a:solidFill>
                <a:latin typeface="Times New Roman" panose="02020603050405020304" pitchFamily="18" charset="0"/>
              </a:defRPr>
            </a:lvl3pPr>
            <a:lvl4pPr marL="1600200" indent="-228600" defTabSz="762000">
              <a:defRPr sz="2400">
                <a:solidFill>
                  <a:schemeClr val="tx1"/>
                </a:solidFill>
                <a:latin typeface="Times New Roman" panose="02020603050405020304" pitchFamily="18" charset="0"/>
              </a:defRPr>
            </a:lvl4pPr>
            <a:lvl5pPr marL="2057400" indent="-228600" defTabSz="762000">
              <a:defRPr sz="2400">
                <a:solidFill>
                  <a:schemeClr val="tx1"/>
                </a:solidFill>
                <a:latin typeface="Times New Roman" panose="02020603050405020304" pitchFamily="18" charset="0"/>
              </a:defRPr>
            </a:lvl5pPr>
            <a:lvl6pPr marL="2514600" indent="-228600" defTabSz="7620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7620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7620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762000" eaLnBrk="0" fontAlgn="base" hangingPunct="0">
              <a:spcBef>
                <a:spcPct val="0"/>
              </a:spcBef>
              <a:spcAft>
                <a:spcPct val="0"/>
              </a:spcAft>
              <a:defRPr sz="2400">
                <a:solidFill>
                  <a:schemeClr val="tx1"/>
                </a:solidFill>
                <a:latin typeface="Times New Roman" panose="02020603050405020304" pitchFamily="18" charset="0"/>
              </a:defRPr>
            </a:lvl9pPr>
          </a:lstStyle>
          <a:p>
            <a:r>
              <a:rPr lang="en-GB" altLang="en-US" sz="2000">
                <a:latin typeface="Arial" panose="020B0604020202020204" pitchFamily="34" charset="0"/>
              </a:rPr>
              <a:t>O</a:t>
            </a:r>
          </a:p>
        </p:txBody>
      </p:sp>
      <p:sp>
        <p:nvSpPr>
          <p:cNvPr id="3080" name="Rectangle 8">
            <a:extLst>
              <a:ext uri="{FF2B5EF4-FFF2-40B4-BE49-F238E27FC236}">
                <a16:creationId xmlns:a16="http://schemas.microsoft.com/office/drawing/2014/main" id="{F4A55D29-85FC-41CC-B4D5-F383B39E9FFE}"/>
              </a:ext>
            </a:extLst>
          </p:cNvPr>
          <p:cNvSpPr>
            <a:spLocks noChangeArrowheads="1"/>
          </p:cNvSpPr>
          <p:nvPr/>
        </p:nvSpPr>
        <p:spPr bwMode="auto">
          <a:xfrm rot="-5400000">
            <a:off x="1227111" y="2858737"/>
            <a:ext cx="1370568"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a:defRPr sz="2400">
                <a:solidFill>
                  <a:schemeClr val="tx1"/>
                </a:solidFill>
                <a:latin typeface="Times New Roman" panose="02020603050405020304" pitchFamily="18" charset="0"/>
              </a:defRPr>
            </a:lvl1pPr>
            <a:lvl2pPr marL="742950" indent="-285750" defTabSz="762000">
              <a:defRPr sz="2400">
                <a:solidFill>
                  <a:schemeClr val="tx1"/>
                </a:solidFill>
                <a:latin typeface="Times New Roman" panose="02020603050405020304" pitchFamily="18" charset="0"/>
              </a:defRPr>
            </a:lvl2pPr>
            <a:lvl3pPr marL="1143000" indent="-228600" defTabSz="762000">
              <a:defRPr sz="2400">
                <a:solidFill>
                  <a:schemeClr val="tx1"/>
                </a:solidFill>
                <a:latin typeface="Times New Roman" panose="02020603050405020304" pitchFamily="18" charset="0"/>
              </a:defRPr>
            </a:lvl3pPr>
            <a:lvl4pPr marL="1600200" indent="-228600" defTabSz="762000">
              <a:defRPr sz="2400">
                <a:solidFill>
                  <a:schemeClr val="tx1"/>
                </a:solidFill>
                <a:latin typeface="Times New Roman" panose="02020603050405020304" pitchFamily="18" charset="0"/>
              </a:defRPr>
            </a:lvl4pPr>
            <a:lvl5pPr marL="2057400" indent="-228600" defTabSz="762000">
              <a:defRPr sz="2400">
                <a:solidFill>
                  <a:schemeClr val="tx1"/>
                </a:solidFill>
                <a:latin typeface="Times New Roman" panose="02020603050405020304" pitchFamily="18" charset="0"/>
              </a:defRPr>
            </a:lvl5pPr>
            <a:lvl6pPr marL="2514600" indent="-228600" defTabSz="7620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7620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7620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762000" eaLnBrk="0" fontAlgn="base" hangingPunct="0">
              <a:spcBef>
                <a:spcPct val="0"/>
              </a:spcBef>
              <a:spcAft>
                <a:spcPct val="0"/>
              </a:spcAft>
              <a:defRPr sz="2400">
                <a:solidFill>
                  <a:schemeClr val="tx1"/>
                </a:solidFill>
                <a:latin typeface="Times New Roman" panose="02020603050405020304" pitchFamily="18" charset="0"/>
              </a:defRPr>
            </a:lvl9pPr>
          </a:lstStyle>
          <a:p>
            <a:r>
              <a:rPr lang="en-GB" altLang="en-US" sz="2000">
                <a:latin typeface="Arial" panose="020B0604020202020204" pitchFamily="34" charset="0"/>
              </a:rPr>
              <a:t>Price level</a:t>
            </a:r>
          </a:p>
        </p:txBody>
      </p:sp>
      <p:grpSp>
        <p:nvGrpSpPr>
          <p:cNvPr id="4" name="Group 3">
            <a:extLst>
              <a:ext uri="{FF2B5EF4-FFF2-40B4-BE49-F238E27FC236}">
                <a16:creationId xmlns:a16="http://schemas.microsoft.com/office/drawing/2014/main" id="{CA4BAF04-4E8E-425F-9026-271C9DA3E231}"/>
              </a:ext>
            </a:extLst>
          </p:cNvPr>
          <p:cNvGrpSpPr/>
          <p:nvPr/>
        </p:nvGrpSpPr>
        <p:grpSpPr>
          <a:xfrm>
            <a:off x="2058990" y="228600"/>
            <a:ext cx="5099552" cy="5226050"/>
            <a:chOff x="2058990" y="228600"/>
            <a:chExt cx="5099552" cy="5226050"/>
          </a:xfrm>
        </p:grpSpPr>
        <p:sp>
          <p:nvSpPr>
            <p:cNvPr id="3081" name="Arc 10">
              <a:extLst>
                <a:ext uri="{FF2B5EF4-FFF2-40B4-BE49-F238E27FC236}">
                  <a16:creationId xmlns:a16="http://schemas.microsoft.com/office/drawing/2014/main" id="{A0C2558E-FCA0-462F-B9D4-ED16FD70CE5A}"/>
                </a:ext>
              </a:extLst>
            </p:cNvPr>
            <p:cNvSpPr>
              <a:spLocks/>
            </p:cNvSpPr>
            <p:nvPr/>
          </p:nvSpPr>
          <p:spPr bwMode="auto">
            <a:xfrm rot="-360000">
              <a:off x="2058990" y="228600"/>
              <a:ext cx="4860925" cy="5226050"/>
            </a:xfrm>
            <a:custGeom>
              <a:avLst/>
              <a:gdLst>
                <a:gd name="T0" fmla="*/ 2147483646 w 20593"/>
                <a:gd name="T1" fmla="*/ 2147483646 h 21428"/>
                <a:gd name="T2" fmla="*/ 2147483646 w 20593"/>
                <a:gd name="T3" fmla="*/ 2147483646 h 21428"/>
                <a:gd name="T4" fmla="*/ 0 w 20593"/>
                <a:gd name="T5" fmla="*/ 0 h 21428"/>
                <a:gd name="T6" fmla="*/ 0 60000 65536"/>
                <a:gd name="T7" fmla="*/ 0 60000 65536"/>
                <a:gd name="T8" fmla="*/ 0 60000 65536"/>
              </a:gdLst>
              <a:ahLst/>
              <a:cxnLst>
                <a:cxn ang="T6">
                  <a:pos x="T0" y="T1"/>
                </a:cxn>
                <a:cxn ang="T7">
                  <a:pos x="T2" y="T3"/>
                </a:cxn>
                <a:cxn ang="T8">
                  <a:pos x="T4" y="T5"/>
                </a:cxn>
              </a:cxnLst>
              <a:rect l="0" t="0" r="r" b="b"/>
              <a:pathLst>
                <a:path w="20593" h="21428" fill="none" extrusionOk="0">
                  <a:moveTo>
                    <a:pt x="20593" y="6518"/>
                  </a:moveTo>
                  <a:cubicBezTo>
                    <a:pt x="18051" y="14548"/>
                    <a:pt x="11073" y="20368"/>
                    <a:pt x="2718" y="21428"/>
                  </a:cubicBezTo>
                </a:path>
                <a:path w="20593" h="21428" stroke="0" extrusionOk="0">
                  <a:moveTo>
                    <a:pt x="20593" y="6518"/>
                  </a:moveTo>
                  <a:cubicBezTo>
                    <a:pt x="18051" y="14548"/>
                    <a:pt x="11073" y="20368"/>
                    <a:pt x="2718" y="21428"/>
                  </a:cubicBezTo>
                  <a:lnTo>
                    <a:pt x="0" y="0"/>
                  </a:lnTo>
                  <a:lnTo>
                    <a:pt x="20593" y="6518"/>
                  </a:lnTo>
                  <a:close/>
                </a:path>
              </a:pathLst>
            </a:custGeom>
            <a:noFill/>
            <a:ln w="38100" cap="rnd">
              <a:solidFill>
                <a:schemeClr val="tx2"/>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083" name="Rectangle 12">
              <a:extLst>
                <a:ext uri="{FF2B5EF4-FFF2-40B4-BE49-F238E27FC236}">
                  <a16:creationId xmlns:a16="http://schemas.microsoft.com/office/drawing/2014/main" id="{351FA0CF-AE7E-4B21-B191-D70D03DB993E}"/>
                </a:ext>
              </a:extLst>
            </p:cNvPr>
            <p:cNvSpPr>
              <a:spLocks noChangeArrowheads="1"/>
            </p:cNvSpPr>
            <p:nvPr/>
          </p:nvSpPr>
          <p:spPr bwMode="auto">
            <a:xfrm>
              <a:off x="6562225" y="1173165"/>
              <a:ext cx="596317" cy="462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a:defRPr sz="2400">
                  <a:solidFill>
                    <a:schemeClr val="tx1"/>
                  </a:solidFill>
                  <a:latin typeface="Times New Roman" panose="02020603050405020304" pitchFamily="18" charset="0"/>
                </a:defRPr>
              </a:lvl1pPr>
              <a:lvl2pPr marL="742950" indent="-285750" defTabSz="762000">
                <a:defRPr sz="2400">
                  <a:solidFill>
                    <a:schemeClr val="tx1"/>
                  </a:solidFill>
                  <a:latin typeface="Times New Roman" panose="02020603050405020304" pitchFamily="18" charset="0"/>
                </a:defRPr>
              </a:lvl2pPr>
              <a:lvl3pPr marL="1143000" indent="-228600" defTabSz="762000">
                <a:defRPr sz="2400">
                  <a:solidFill>
                    <a:schemeClr val="tx1"/>
                  </a:solidFill>
                  <a:latin typeface="Times New Roman" panose="02020603050405020304" pitchFamily="18" charset="0"/>
                </a:defRPr>
              </a:lvl3pPr>
              <a:lvl4pPr marL="1600200" indent="-228600" defTabSz="762000">
                <a:defRPr sz="2400">
                  <a:solidFill>
                    <a:schemeClr val="tx1"/>
                  </a:solidFill>
                  <a:latin typeface="Times New Roman" panose="02020603050405020304" pitchFamily="18" charset="0"/>
                </a:defRPr>
              </a:lvl4pPr>
              <a:lvl5pPr marL="2057400" indent="-228600" defTabSz="762000">
                <a:defRPr sz="2400">
                  <a:solidFill>
                    <a:schemeClr val="tx1"/>
                  </a:solidFill>
                  <a:latin typeface="Times New Roman" panose="02020603050405020304" pitchFamily="18" charset="0"/>
                </a:defRPr>
              </a:lvl5pPr>
              <a:lvl6pPr marL="2514600" indent="-228600" defTabSz="7620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7620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7620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GB" altLang="en-US" i="1" dirty="0">
                  <a:solidFill>
                    <a:schemeClr val="tx2"/>
                  </a:solidFill>
                  <a:latin typeface="Arial" panose="020B0604020202020204" pitchFamily="34" charset="0"/>
                </a:rPr>
                <a:t>AS</a:t>
              </a:r>
            </a:p>
          </p:txBody>
        </p:sp>
      </p:grpSp>
      <p:grpSp>
        <p:nvGrpSpPr>
          <p:cNvPr id="3" name="Group 2">
            <a:extLst>
              <a:ext uri="{FF2B5EF4-FFF2-40B4-BE49-F238E27FC236}">
                <a16:creationId xmlns:a16="http://schemas.microsoft.com/office/drawing/2014/main" id="{F7028354-8D89-40D0-8F0D-28BF42B04BA0}"/>
              </a:ext>
            </a:extLst>
          </p:cNvPr>
          <p:cNvGrpSpPr/>
          <p:nvPr/>
        </p:nvGrpSpPr>
        <p:grpSpPr>
          <a:xfrm>
            <a:off x="3460750" y="0"/>
            <a:ext cx="7207250" cy="5597872"/>
            <a:chOff x="3460750" y="0"/>
            <a:chExt cx="7207250" cy="5597872"/>
          </a:xfrm>
        </p:grpSpPr>
        <p:sp>
          <p:nvSpPr>
            <p:cNvPr id="3082" name="Arc 11">
              <a:extLst>
                <a:ext uri="{FF2B5EF4-FFF2-40B4-BE49-F238E27FC236}">
                  <a16:creationId xmlns:a16="http://schemas.microsoft.com/office/drawing/2014/main" id="{DEED9B13-C529-49B5-8750-5591D870274D}"/>
                </a:ext>
              </a:extLst>
            </p:cNvPr>
            <p:cNvSpPr>
              <a:spLocks/>
            </p:cNvSpPr>
            <p:nvPr/>
          </p:nvSpPr>
          <p:spPr bwMode="auto">
            <a:xfrm>
              <a:off x="3460750" y="0"/>
              <a:ext cx="7207250" cy="5334000"/>
            </a:xfrm>
            <a:custGeom>
              <a:avLst/>
              <a:gdLst>
                <a:gd name="T0" fmla="*/ 2147483646 w 20698"/>
                <a:gd name="T1" fmla="*/ 2147483646 h 20052"/>
                <a:gd name="T2" fmla="*/ 0 w 20698"/>
                <a:gd name="T3" fmla="*/ 2147483646 h 20052"/>
                <a:gd name="T4" fmla="*/ 2147483646 w 20698"/>
                <a:gd name="T5" fmla="*/ 0 h 20052"/>
                <a:gd name="T6" fmla="*/ 0 60000 65536"/>
                <a:gd name="T7" fmla="*/ 0 60000 65536"/>
                <a:gd name="T8" fmla="*/ 0 60000 65536"/>
              </a:gdLst>
              <a:ahLst/>
              <a:cxnLst>
                <a:cxn ang="T6">
                  <a:pos x="T0" y="T1"/>
                </a:cxn>
                <a:cxn ang="T7">
                  <a:pos x="T2" y="T3"/>
                </a:cxn>
                <a:cxn ang="T8">
                  <a:pos x="T4" y="T5"/>
                </a:cxn>
              </a:cxnLst>
              <a:rect l="0" t="0" r="r" b="b"/>
              <a:pathLst>
                <a:path w="20698" h="20052" fill="none" extrusionOk="0">
                  <a:moveTo>
                    <a:pt x="12668" y="20051"/>
                  </a:moveTo>
                  <a:cubicBezTo>
                    <a:pt x="6550" y="17601"/>
                    <a:pt x="1885" y="12492"/>
                    <a:pt x="0" y="6177"/>
                  </a:cubicBezTo>
                </a:path>
                <a:path w="20698" h="20052" stroke="0" extrusionOk="0">
                  <a:moveTo>
                    <a:pt x="12668" y="20051"/>
                  </a:moveTo>
                  <a:cubicBezTo>
                    <a:pt x="6550" y="17601"/>
                    <a:pt x="1885" y="12492"/>
                    <a:pt x="0" y="6177"/>
                  </a:cubicBezTo>
                  <a:lnTo>
                    <a:pt x="20698" y="0"/>
                  </a:lnTo>
                  <a:lnTo>
                    <a:pt x="12668" y="20051"/>
                  </a:lnTo>
                  <a:close/>
                </a:path>
              </a:pathLst>
            </a:custGeom>
            <a:noFill/>
            <a:ln w="38100" cap="rnd">
              <a:solidFill>
                <a:schemeClr val="tx2"/>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084" name="Rectangle 13">
              <a:extLst>
                <a:ext uri="{FF2B5EF4-FFF2-40B4-BE49-F238E27FC236}">
                  <a16:creationId xmlns:a16="http://schemas.microsoft.com/office/drawing/2014/main" id="{9933DBD3-DEEA-4A97-9595-947A366F7045}"/>
                </a:ext>
              </a:extLst>
            </p:cNvPr>
            <p:cNvSpPr>
              <a:spLocks noChangeArrowheads="1"/>
            </p:cNvSpPr>
            <p:nvPr/>
          </p:nvSpPr>
          <p:spPr bwMode="auto">
            <a:xfrm>
              <a:off x="7832727" y="5135565"/>
              <a:ext cx="613951" cy="462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a:defRPr sz="2400">
                  <a:solidFill>
                    <a:schemeClr val="tx1"/>
                  </a:solidFill>
                  <a:latin typeface="Times New Roman" panose="02020603050405020304" pitchFamily="18" charset="0"/>
                </a:defRPr>
              </a:lvl1pPr>
              <a:lvl2pPr marL="742950" indent="-285750" defTabSz="762000">
                <a:defRPr sz="2400">
                  <a:solidFill>
                    <a:schemeClr val="tx1"/>
                  </a:solidFill>
                  <a:latin typeface="Times New Roman" panose="02020603050405020304" pitchFamily="18" charset="0"/>
                </a:defRPr>
              </a:lvl2pPr>
              <a:lvl3pPr marL="1143000" indent="-228600" defTabSz="762000">
                <a:defRPr sz="2400">
                  <a:solidFill>
                    <a:schemeClr val="tx1"/>
                  </a:solidFill>
                  <a:latin typeface="Times New Roman" panose="02020603050405020304" pitchFamily="18" charset="0"/>
                </a:defRPr>
              </a:lvl3pPr>
              <a:lvl4pPr marL="1600200" indent="-228600" defTabSz="762000">
                <a:defRPr sz="2400">
                  <a:solidFill>
                    <a:schemeClr val="tx1"/>
                  </a:solidFill>
                  <a:latin typeface="Times New Roman" panose="02020603050405020304" pitchFamily="18" charset="0"/>
                </a:defRPr>
              </a:lvl4pPr>
              <a:lvl5pPr marL="2057400" indent="-228600" defTabSz="762000">
                <a:defRPr sz="2400">
                  <a:solidFill>
                    <a:schemeClr val="tx1"/>
                  </a:solidFill>
                  <a:latin typeface="Times New Roman" panose="02020603050405020304" pitchFamily="18" charset="0"/>
                </a:defRPr>
              </a:lvl5pPr>
              <a:lvl6pPr marL="2514600" indent="-228600" defTabSz="7620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7620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7620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762000" eaLnBrk="0" fontAlgn="base" hangingPunct="0">
                <a:spcBef>
                  <a:spcPct val="0"/>
                </a:spcBef>
                <a:spcAft>
                  <a:spcPct val="0"/>
                </a:spcAft>
                <a:defRPr sz="2400">
                  <a:solidFill>
                    <a:schemeClr val="tx1"/>
                  </a:solidFill>
                  <a:latin typeface="Times New Roman" panose="02020603050405020304" pitchFamily="18" charset="0"/>
                </a:defRPr>
              </a:lvl9pPr>
            </a:lstStyle>
            <a:p>
              <a:r>
                <a:rPr lang="en-GB" altLang="en-US" i="1">
                  <a:solidFill>
                    <a:schemeClr val="tx2"/>
                  </a:solidFill>
                  <a:latin typeface="Arial" panose="020B0604020202020204" pitchFamily="34" charset="0"/>
                </a:rPr>
                <a:t>AD</a:t>
              </a:r>
            </a:p>
          </p:txBody>
        </p:sp>
      </p:grpSp>
      <p:grpSp>
        <p:nvGrpSpPr>
          <p:cNvPr id="6" name="Group 5">
            <a:extLst>
              <a:ext uri="{FF2B5EF4-FFF2-40B4-BE49-F238E27FC236}">
                <a16:creationId xmlns:a16="http://schemas.microsoft.com/office/drawing/2014/main" id="{4F25CF70-5445-4174-BD76-A3A42347A376}"/>
              </a:ext>
            </a:extLst>
          </p:cNvPr>
          <p:cNvGrpSpPr/>
          <p:nvPr/>
        </p:nvGrpSpPr>
        <p:grpSpPr>
          <a:xfrm>
            <a:off x="2127457" y="3937000"/>
            <a:ext cx="3304970" cy="400752"/>
            <a:chOff x="2127457" y="3937000"/>
            <a:chExt cx="3304970" cy="400752"/>
          </a:xfrm>
        </p:grpSpPr>
        <p:sp>
          <p:nvSpPr>
            <p:cNvPr id="3085" name="Line 14">
              <a:extLst>
                <a:ext uri="{FF2B5EF4-FFF2-40B4-BE49-F238E27FC236}">
                  <a16:creationId xmlns:a16="http://schemas.microsoft.com/office/drawing/2014/main" id="{FE33D93E-91D2-40D4-A910-17F994C2318D}"/>
                </a:ext>
              </a:extLst>
            </p:cNvPr>
            <p:cNvSpPr>
              <a:spLocks noChangeShapeType="1"/>
            </p:cNvSpPr>
            <p:nvPr/>
          </p:nvSpPr>
          <p:spPr bwMode="auto">
            <a:xfrm flipH="1">
              <a:off x="2592390" y="4159250"/>
              <a:ext cx="2840037" cy="0"/>
            </a:xfrm>
            <a:prstGeom prst="line">
              <a:avLst/>
            </a:prstGeom>
            <a:noFill/>
            <a:ln w="15875">
              <a:solidFill>
                <a:srgbClr val="333333"/>
              </a:solidFill>
              <a:prstDash val="dash"/>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086" name="Rectangle 15">
              <a:extLst>
                <a:ext uri="{FF2B5EF4-FFF2-40B4-BE49-F238E27FC236}">
                  <a16:creationId xmlns:a16="http://schemas.microsoft.com/office/drawing/2014/main" id="{64262BA6-EB77-4A48-BF8B-BBA737C995CF}"/>
                </a:ext>
              </a:extLst>
            </p:cNvPr>
            <p:cNvSpPr>
              <a:spLocks noChangeArrowheads="1"/>
            </p:cNvSpPr>
            <p:nvPr/>
          </p:nvSpPr>
          <p:spPr bwMode="auto">
            <a:xfrm>
              <a:off x="2127457" y="3937000"/>
              <a:ext cx="471283"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a:defRPr sz="2400">
                  <a:solidFill>
                    <a:schemeClr val="tx1"/>
                  </a:solidFill>
                  <a:latin typeface="Times New Roman" panose="02020603050405020304" pitchFamily="18" charset="0"/>
                </a:defRPr>
              </a:lvl1pPr>
              <a:lvl2pPr marL="742950" indent="-285750" defTabSz="762000">
                <a:defRPr sz="2400">
                  <a:solidFill>
                    <a:schemeClr val="tx1"/>
                  </a:solidFill>
                  <a:latin typeface="Times New Roman" panose="02020603050405020304" pitchFamily="18" charset="0"/>
                </a:defRPr>
              </a:lvl2pPr>
              <a:lvl3pPr marL="1143000" indent="-228600" defTabSz="762000">
                <a:defRPr sz="2400">
                  <a:solidFill>
                    <a:schemeClr val="tx1"/>
                  </a:solidFill>
                  <a:latin typeface="Times New Roman" panose="02020603050405020304" pitchFamily="18" charset="0"/>
                </a:defRPr>
              </a:lvl3pPr>
              <a:lvl4pPr marL="1600200" indent="-228600" defTabSz="762000">
                <a:defRPr sz="2400">
                  <a:solidFill>
                    <a:schemeClr val="tx1"/>
                  </a:solidFill>
                  <a:latin typeface="Times New Roman" panose="02020603050405020304" pitchFamily="18" charset="0"/>
                </a:defRPr>
              </a:lvl4pPr>
              <a:lvl5pPr marL="2057400" indent="-228600" defTabSz="762000">
                <a:defRPr sz="2400">
                  <a:solidFill>
                    <a:schemeClr val="tx1"/>
                  </a:solidFill>
                  <a:latin typeface="Times New Roman" panose="02020603050405020304" pitchFamily="18" charset="0"/>
                </a:defRPr>
              </a:lvl5pPr>
              <a:lvl6pPr marL="2514600" indent="-228600" defTabSz="7620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7620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7620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r"/>
              <a:r>
                <a:rPr lang="en-GB" altLang="en-US" sz="2000" i="1">
                  <a:latin typeface="Arial" panose="020B0604020202020204" pitchFamily="34" charset="0"/>
                </a:rPr>
                <a:t>P</a:t>
              </a:r>
              <a:r>
                <a:rPr lang="en-GB" altLang="en-US" baseline="-25000">
                  <a:latin typeface="Arial" panose="020B0604020202020204" pitchFamily="34" charset="0"/>
                </a:rPr>
                <a:t>e</a:t>
              </a:r>
            </a:p>
          </p:txBody>
        </p:sp>
      </p:grpSp>
      <p:grpSp>
        <p:nvGrpSpPr>
          <p:cNvPr id="7" name="Group 6">
            <a:extLst>
              <a:ext uri="{FF2B5EF4-FFF2-40B4-BE49-F238E27FC236}">
                <a16:creationId xmlns:a16="http://schemas.microsoft.com/office/drawing/2014/main" id="{FFCB7EB7-11E3-4542-9E25-9CB2C5DDC97D}"/>
              </a:ext>
            </a:extLst>
          </p:cNvPr>
          <p:cNvGrpSpPr/>
          <p:nvPr/>
        </p:nvGrpSpPr>
        <p:grpSpPr>
          <a:xfrm>
            <a:off x="2130815" y="4344990"/>
            <a:ext cx="4620964" cy="657925"/>
            <a:chOff x="2130815" y="4344990"/>
            <a:chExt cx="4620964" cy="657925"/>
          </a:xfrm>
        </p:grpSpPr>
        <p:sp>
          <p:nvSpPr>
            <p:cNvPr id="3087" name="Line 17">
              <a:extLst>
                <a:ext uri="{FF2B5EF4-FFF2-40B4-BE49-F238E27FC236}">
                  <a16:creationId xmlns:a16="http://schemas.microsoft.com/office/drawing/2014/main" id="{0B027C09-5E08-463E-8A83-BDAC28B64C74}"/>
                </a:ext>
              </a:extLst>
            </p:cNvPr>
            <p:cNvSpPr>
              <a:spLocks noChangeShapeType="1"/>
            </p:cNvSpPr>
            <p:nvPr/>
          </p:nvSpPr>
          <p:spPr bwMode="auto">
            <a:xfrm>
              <a:off x="2592390" y="4806950"/>
              <a:ext cx="3946525" cy="0"/>
            </a:xfrm>
            <a:prstGeom prst="line">
              <a:avLst/>
            </a:prstGeom>
            <a:noFill/>
            <a:ln w="15875">
              <a:solidFill>
                <a:schemeClr val="accent2"/>
              </a:solidFill>
              <a:prstDash val="dash"/>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088" name="Rectangle 18">
              <a:extLst>
                <a:ext uri="{FF2B5EF4-FFF2-40B4-BE49-F238E27FC236}">
                  <a16:creationId xmlns:a16="http://schemas.microsoft.com/office/drawing/2014/main" id="{87188393-ACAB-454B-9D46-FF62E58588DA}"/>
                </a:ext>
              </a:extLst>
            </p:cNvPr>
            <p:cNvSpPr>
              <a:spLocks noChangeArrowheads="1"/>
            </p:cNvSpPr>
            <p:nvPr/>
          </p:nvSpPr>
          <p:spPr bwMode="auto">
            <a:xfrm>
              <a:off x="2130815" y="4602163"/>
              <a:ext cx="452048"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a:defRPr sz="2400">
                  <a:solidFill>
                    <a:schemeClr val="tx1"/>
                  </a:solidFill>
                  <a:latin typeface="Times New Roman" panose="02020603050405020304" pitchFamily="18" charset="0"/>
                </a:defRPr>
              </a:lvl1pPr>
              <a:lvl2pPr marL="742950" indent="-285750" defTabSz="762000">
                <a:defRPr sz="2400">
                  <a:solidFill>
                    <a:schemeClr val="tx1"/>
                  </a:solidFill>
                  <a:latin typeface="Times New Roman" panose="02020603050405020304" pitchFamily="18" charset="0"/>
                </a:defRPr>
              </a:lvl2pPr>
              <a:lvl3pPr marL="1143000" indent="-228600" defTabSz="762000">
                <a:defRPr sz="2400">
                  <a:solidFill>
                    <a:schemeClr val="tx1"/>
                  </a:solidFill>
                  <a:latin typeface="Times New Roman" panose="02020603050405020304" pitchFamily="18" charset="0"/>
                </a:defRPr>
              </a:lvl3pPr>
              <a:lvl4pPr marL="1600200" indent="-228600" defTabSz="762000">
                <a:defRPr sz="2400">
                  <a:solidFill>
                    <a:schemeClr val="tx1"/>
                  </a:solidFill>
                  <a:latin typeface="Times New Roman" panose="02020603050405020304" pitchFamily="18" charset="0"/>
                </a:defRPr>
              </a:lvl4pPr>
              <a:lvl5pPr marL="2057400" indent="-228600" defTabSz="762000">
                <a:defRPr sz="2400">
                  <a:solidFill>
                    <a:schemeClr val="tx1"/>
                  </a:solidFill>
                  <a:latin typeface="Times New Roman" panose="02020603050405020304" pitchFamily="18" charset="0"/>
                </a:defRPr>
              </a:lvl5pPr>
              <a:lvl6pPr marL="2514600" indent="-228600" defTabSz="7620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7620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7620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r"/>
              <a:r>
                <a:rPr lang="en-GB" altLang="en-US" sz="2000" i="1" dirty="0">
                  <a:solidFill>
                    <a:schemeClr val="accent2"/>
                  </a:solidFill>
                  <a:latin typeface="Arial" panose="020B0604020202020204" pitchFamily="34" charset="0"/>
                </a:rPr>
                <a:t>P</a:t>
              </a:r>
              <a:r>
                <a:rPr lang="en-GB" altLang="en-US" sz="2000" baseline="-25000" dirty="0">
                  <a:solidFill>
                    <a:schemeClr val="accent2"/>
                  </a:solidFill>
                  <a:latin typeface="Arial" panose="020B0604020202020204" pitchFamily="34" charset="0"/>
                </a:rPr>
                <a:t>2</a:t>
              </a:r>
            </a:p>
          </p:txBody>
        </p:sp>
        <p:sp>
          <p:nvSpPr>
            <p:cNvPr id="3097" name="Rectangle 21">
              <a:extLst>
                <a:ext uri="{FF2B5EF4-FFF2-40B4-BE49-F238E27FC236}">
                  <a16:creationId xmlns:a16="http://schemas.microsoft.com/office/drawing/2014/main" id="{FE611F34-A1B7-4410-BBA9-F4DB7AB1DA0A}"/>
                </a:ext>
              </a:extLst>
            </p:cNvPr>
            <p:cNvSpPr>
              <a:spLocks noChangeArrowheads="1"/>
            </p:cNvSpPr>
            <p:nvPr/>
          </p:nvSpPr>
          <p:spPr bwMode="auto">
            <a:xfrm>
              <a:off x="6394309" y="4344990"/>
              <a:ext cx="357470" cy="462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a:defRPr sz="2400">
                  <a:solidFill>
                    <a:schemeClr val="tx1"/>
                  </a:solidFill>
                  <a:latin typeface="Times New Roman" panose="02020603050405020304" pitchFamily="18" charset="0"/>
                </a:defRPr>
              </a:lvl1pPr>
              <a:lvl2pPr marL="742950" indent="-285750" defTabSz="762000">
                <a:defRPr sz="2400">
                  <a:solidFill>
                    <a:schemeClr val="tx1"/>
                  </a:solidFill>
                  <a:latin typeface="Times New Roman" panose="02020603050405020304" pitchFamily="18" charset="0"/>
                </a:defRPr>
              </a:lvl2pPr>
              <a:lvl3pPr marL="1143000" indent="-228600" defTabSz="762000">
                <a:defRPr sz="2400">
                  <a:solidFill>
                    <a:schemeClr val="tx1"/>
                  </a:solidFill>
                  <a:latin typeface="Times New Roman" panose="02020603050405020304" pitchFamily="18" charset="0"/>
                </a:defRPr>
              </a:lvl3pPr>
              <a:lvl4pPr marL="1600200" indent="-228600" defTabSz="762000">
                <a:defRPr sz="2400">
                  <a:solidFill>
                    <a:schemeClr val="tx1"/>
                  </a:solidFill>
                  <a:latin typeface="Times New Roman" panose="02020603050405020304" pitchFamily="18" charset="0"/>
                </a:defRPr>
              </a:lvl4pPr>
              <a:lvl5pPr marL="2057400" indent="-228600" defTabSz="762000">
                <a:defRPr sz="2400">
                  <a:solidFill>
                    <a:schemeClr val="tx1"/>
                  </a:solidFill>
                  <a:latin typeface="Times New Roman" panose="02020603050405020304" pitchFamily="18" charset="0"/>
                </a:defRPr>
              </a:lvl5pPr>
              <a:lvl6pPr marL="2514600" indent="-228600" defTabSz="7620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7620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7620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GB" altLang="en-US" i="1">
                  <a:solidFill>
                    <a:schemeClr val="accent2"/>
                  </a:solidFill>
                  <a:latin typeface="Arial" panose="020B0604020202020204" pitchFamily="34" charset="0"/>
                </a:rPr>
                <a:t>a</a:t>
              </a:r>
            </a:p>
          </p:txBody>
        </p:sp>
        <p:sp>
          <p:nvSpPr>
            <p:cNvPr id="3098" name="Oval 20">
              <a:extLst>
                <a:ext uri="{FF2B5EF4-FFF2-40B4-BE49-F238E27FC236}">
                  <a16:creationId xmlns:a16="http://schemas.microsoft.com/office/drawing/2014/main" id="{D68AAB9E-2BE0-4762-A079-7081327240E6}"/>
                </a:ext>
              </a:extLst>
            </p:cNvPr>
            <p:cNvSpPr>
              <a:spLocks noChangeArrowheads="1"/>
            </p:cNvSpPr>
            <p:nvPr/>
          </p:nvSpPr>
          <p:spPr bwMode="auto">
            <a:xfrm>
              <a:off x="6510338" y="4740277"/>
              <a:ext cx="106362" cy="106363"/>
            </a:xfrm>
            <a:prstGeom prst="ellipse">
              <a:avLst/>
            </a:prstGeom>
            <a:solidFill>
              <a:srgbClr val="FFCCCC"/>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95" name="Rectangle 22">
              <a:extLst>
                <a:ext uri="{FF2B5EF4-FFF2-40B4-BE49-F238E27FC236}">
                  <a16:creationId xmlns:a16="http://schemas.microsoft.com/office/drawing/2014/main" id="{1ACE6E1C-D3B8-4CEF-AC2A-EF1A1A8A943F}"/>
                </a:ext>
              </a:extLst>
            </p:cNvPr>
            <p:cNvSpPr>
              <a:spLocks noChangeArrowheads="1"/>
            </p:cNvSpPr>
            <p:nvPr/>
          </p:nvSpPr>
          <p:spPr bwMode="auto">
            <a:xfrm>
              <a:off x="4575034" y="4360865"/>
              <a:ext cx="357470" cy="462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a:defRPr sz="2400">
                  <a:solidFill>
                    <a:schemeClr val="tx1"/>
                  </a:solidFill>
                  <a:latin typeface="Times New Roman" panose="02020603050405020304" pitchFamily="18" charset="0"/>
                </a:defRPr>
              </a:lvl1pPr>
              <a:lvl2pPr marL="742950" indent="-285750" defTabSz="762000">
                <a:defRPr sz="2400">
                  <a:solidFill>
                    <a:schemeClr val="tx1"/>
                  </a:solidFill>
                  <a:latin typeface="Times New Roman" panose="02020603050405020304" pitchFamily="18" charset="0"/>
                </a:defRPr>
              </a:lvl2pPr>
              <a:lvl3pPr marL="1143000" indent="-228600" defTabSz="762000">
                <a:defRPr sz="2400">
                  <a:solidFill>
                    <a:schemeClr val="tx1"/>
                  </a:solidFill>
                  <a:latin typeface="Times New Roman" panose="02020603050405020304" pitchFamily="18" charset="0"/>
                </a:defRPr>
              </a:lvl3pPr>
              <a:lvl4pPr marL="1600200" indent="-228600" defTabSz="762000">
                <a:defRPr sz="2400">
                  <a:solidFill>
                    <a:schemeClr val="tx1"/>
                  </a:solidFill>
                  <a:latin typeface="Times New Roman" panose="02020603050405020304" pitchFamily="18" charset="0"/>
                </a:defRPr>
              </a:lvl4pPr>
              <a:lvl5pPr marL="2057400" indent="-228600" defTabSz="762000">
                <a:defRPr sz="2400">
                  <a:solidFill>
                    <a:schemeClr val="tx1"/>
                  </a:solidFill>
                  <a:latin typeface="Times New Roman" panose="02020603050405020304" pitchFamily="18" charset="0"/>
                </a:defRPr>
              </a:lvl5pPr>
              <a:lvl6pPr marL="2514600" indent="-228600" defTabSz="7620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7620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7620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GB" altLang="en-US" i="1">
                  <a:solidFill>
                    <a:schemeClr val="accent2"/>
                  </a:solidFill>
                  <a:latin typeface="Arial" panose="020B0604020202020204" pitchFamily="34" charset="0"/>
                </a:rPr>
                <a:t>b</a:t>
              </a:r>
            </a:p>
          </p:txBody>
        </p:sp>
        <p:sp>
          <p:nvSpPr>
            <p:cNvPr id="3096" name="Oval 19">
              <a:extLst>
                <a:ext uri="{FF2B5EF4-FFF2-40B4-BE49-F238E27FC236}">
                  <a16:creationId xmlns:a16="http://schemas.microsoft.com/office/drawing/2014/main" id="{68E80F9E-7927-4064-89B4-181E3FB15B5E}"/>
                </a:ext>
              </a:extLst>
            </p:cNvPr>
            <p:cNvSpPr>
              <a:spLocks noChangeArrowheads="1"/>
            </p:cNvSpPr>
            <p:nvPr/>
          </p:nvSpPr>
          <p:spPr bwMode="auto">
            <a:xfrm>
              <a:off x="4691063" y="4741863"/>
              <a:ext cx="106362" cy="106362"/>
            </a:xfrm>
            <a:prstGeom prst="ellipse">
              <a:avLst/>
            </a:prstGeom>
            <a:solidFill>
              <a:srgbClr val="FFCCCC"/>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grpSp>
      <p:sp>
        <p:nvSpPr>
          <p:cNvPr id="3092" name="AutoShape 29">
            <a:extLst>
              <a:ext uri="{FF2B5EF4-FFF2-40B4-BE49-F238E27FC236}">
                <a16:creationId xmlns:a16="http://schemas.microsoft.com/office/drawing/2014/main" id="{246914A4-AC65-428A-8EDA-E4FB5F632C82}"/>
              </a:ext>
            </a:extLst>
          </p:cNvPr>
          <p:cNvSpPr>
            <a:spLocks noChangeArrowheads="1"/>
          </p:cNvSpPr>
          <p:nvPr/>
        </p:nvSpPr>
        <p:spPr bwMode="auto">
          <a:xfrm>
            <a:off x="7140361" y="2538259"/>
            <a:ext cx="2498725" cy="1720850"/>
          </a:xfrm>
          <a:prstGeom prst="roundRect">
            <a:avLst>
              <a:gd name="adj" fmla="val 16667"/>
            </a:avLst>
          </a:prstGeom>
          <a:solidFill>
            <a:srgbClr val="FFFFCC"/>
          </a:solidFill>
          <a:ln w="25400">
            <a:solidFill>
              <a:schemeClr val="accent1"/>
            </a:solidFill>
            <a:round/>
            <a:headEnd type="none" w="sm" len="sm"/>
            <a:tailEnd type="none" w="sm"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defTabSz="762000">
              <a:defRPr sz="2400">
                <a:solidFill>
                  <a:schemeClr val="tx1"/>
                </a:solidFill>
                <a:latin typeface="Times New Roman" panose="02020603050405020304" pitchFamily="18" charset="0"/>
              </a:defRPr>
            </a:lvl1pPr>
            <a:lvl2pPr marL="742950" indent="-285750" defTabSz="762000">
              <a:defRPr sz="2400">
                <a:solidFill>
                  <a:schemeClr val="tx1"/>
                </a:solidFill>
                <a:latin typeface="Times New Roman" panose="02020603050405020304" pitchFamily="18" charset="0"/>
              </a:defRPr>
            </a:lvl2pPr>
            <a:lvl3pPr marL="1143000" indent="-228600" defTabSz="762000">
              <a:defRPr sz="2400">
                <a:solidFill>
                  <a:schemeClr val="tx1"/>
                </a:solidFill>
                <a:latin typeface="Times New Roman" panose="02020603050405020304" pitchFamily="18" charset="0"/>
              </a:defRPr>
            </a:lvl3pPr>
            <a:lvl4pPr marL="1600200" indent="-228600" defTabSz="762000">
              <a:defRPr sz="2400">
                <a:solidFill>
                  <a:schemeClr val="tx1"/>
                </a:solidFill>
                <a:latin typeface="Times New Roman" panose="02020603050405020304" pitchFamily="18" charset="0"/>
              </a:defRPr>
            </a:lvl4pPr>
            <a:lvl5pPr marL="2057400" indent="-228600" defTabSz="762000">
              <a:defRPr sz="2400">
                <a:solidFill>
                  <a:schemeClr val="tx1"/>
                </a:solidFill>
                <a:latin typeface="Times New Roman" panose="02020603050405020304" pitchFamily="18" charset="0"/>
              </a:defRPr>
            </a:lvl5pPr>
            <a:lvl6pPr marL="2514600" indent="-228600" defTabSz="7620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7620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7620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GB" altLang="en-US" sz="1900">
                <a:solidFill>
                  <a:srgbClr val="660066"/>
                </a:solidFill>
                <a:latin typeface="Arial" panose="020B0604020202020204" pitchFamily="34" charset="0"/>
              </a:rPr>
              <a:t>If the price level is initially </a:t>
            </a:r>
            <a:r>
              <a:rPr lang="en-GB" altLang="en-US" sz="1900" i="1">
                <a:solidFill>
                  <a:srgbClr val="660066"/>
                </a:solidFill>
                <a:latin typeface="Arial" panose="020B0604020202020204" pitchFamily="34" charset="0"/>
              </a:rPr>
              <a:t>P</a:t>
            </a:r>
            <a:r>
              <a:rPr lang="en-GB" altLang="en-US" sz="1900" baseline="-25000">
                <a:solidFill>
                  <a:srgbClr val="660066"/>
                </a:solidFill>
                <a:latin typeface="Arial" panose="020B0604020202020204" pitchFamily="34" charset="0"/>
              </a:rPr>
              <a:t>2</a:t>
            </a:r>
            <a:r>
              <a:rPr lang="en-GB" altLang="en-US" sz="1900">
                <a:solidFill>
                  <a:srgbClr val="660066"/>
                </a:solidFill>
                <a:latin typeface="Arial" panose="020B0604020202020204" pitchFamily="34" charset="0"/>
              </a:rPr>
              <a:t>, the excess demand will cause the price level to rise to </a:t>
            </a:r>
            <a:r>
              <a:rPr lang="en-GB" altLang="en-US" sz="1900" i="1">
                <a:solidFill>
                  <a:srgbClr val="660066"/>
                </a:solidFill>
                <a:latin typeface="Arial" panose="020B0604020202020204" pitchFamily="34" charset="0"/>
              </a:rPr>
              <a:t>P</a:t>
            </a:r>
            <a:r>
              <a:rPr lang="en-GB" altLang="en-US" sz="1900" baseline="-25000">
                <a:solidFill>
                  <a:srgbClr val="660066"/>
                </a:solidFill>
                <a:latin typeface="Arial" panose="020B0604020202020204" pitchFamily="34" charset="0"/>
              </a:rPr>
              <a:t>e</a:t>
            </a:r>
            <a:endParaRPr lang="en-GB" altLang="en-US" sz="1900">
              <a:solidFill>
                <a:srgbClr val="660066"/>
              </a:solidFill>
              <a:latin typeface="Arial" panose="020B0604020202020204" pitchFamily="34" charset="0"/>
            </a:endParaRPr>
          </a:p>
        </p:txBody>
      </p:sp>
      <p:sp>
        <p:nvSpPr>
          <p:cNvPr id="3093" name="Rectangle 8">
            <a:extLst>
              <a:ext uri="{FF2B5EF4-FFF2-40B4-BE49-F238E27FC236}">
                <a16:creationId xmlns:a16="http://schemas.microsoft.com/office/drawing/2014/main" id="{1F4A9127-DB01-42F4-8093-A891028ECF3D}"/>
              </a:ext>
            </a:extLst>
          </p:cNvPr>
          <p:cNvSpPr>
            <a:spLocks noChangeArrowheads="1"/>
          </p:cNvSpPr>
          <p:nvPr/>
        </p:nvSpPr>
        <p:spPr bwMode="auto">
          <a:xfrm>
            <a:off x="4518492" y="6272213"/>
            <a:ext cx="337913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a:defRPr sz="2400">
                <a:solidFill>
                  <a:schemeClr val="tx1"/>
                </a:solidFill>
                <a:latin typeface="Times New Roman" panose="02020603050405020304" pitchFamily="18" charset="0"/>
              </a:defRPr>
            </a:lvl1pPr>
            <a:lvl2pPr marL="742950" indent="-285750" defTabSz="762000">
              <a:defRPr sz="2400">
                <a:solidFill>
                  <a:schemeClr val="tx1"/>
                </a:solidFill>
                <a:latin typeface="Times New Roman" panose="02020603050405020304" pitchFamily="18" charset="0"/>
              </a:defRPr>
            </a:lvl2pPr>
            <a:lvl3pPr marL="1143000" indent="-228600" defTabSz="762000">
              <a:defRPr sz="2400">
                <a:solidFill>
                  <a:schemeClr val="tx1"/>
                </a:solidFill>
                <a:latin typeface="Times New Roman" panose="02020603050405020304" pitchFamily="18" charset="0"/>
              </a:defRPr>
            </a:lvl3pPr>
            <a:lvl4pPr marL="1600200" indent="-228600" defTabSz="762000">
              <a:defRPr sz="2400">
                <a:solidFill>
                  <a:schemeClr val="tx1"/>
                </a:solidFill>
                <a:latin typeface="Times New Roman" panose="02020603050405020304" pitchFamily="18" charset="0"/>
              </a:defRPr>
            </a:lvl4pPr>
            <a:lvl5pPr marL="2057400" indent="-228600" defTabSz="762000">
              <a:defRPr sz="2400">
                <a:solidFill>
                  <a:schemeClr val="tx1"/>
                </a:solidFill>
                <a:latin typeface="Times New Roman" panose="02020603050405020304" pitchFamily="18" charset="0"/>
              </a:defRPr>
            </a:lvl5pPr>
            <a:lvl6pPr marL="2514600" indent="-228600" defTabSz="7620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7620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7620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GB" altLang="en-US" sz="2000" dirty="0">
                <a:latin typeface="Arial" panose="020B0604020202020204" pitchFamily="34" charset="0"/>
              </a:rPr>
              <a:t>Real national income (GDP)</a:t>
            </a:r>
          </a:p>
        </p:txBody>
      </p:sp>
      <p:sp>
        <p:nvSpPr>
          <p:cNvPr id="3094" name="Rectangle 13">
            <a:extLst>
              <a:ext uri="{FF2B5EF4-FFF2-40B4-BE49-F238E27FC236}">
                <a16:creationId xmlns:a16="http://schemas.microsoft.com/office/drawing/2014/main" id="{F840958A-A8E4-4D31-A0C3-421F0A0F2DE4}"/>
              </a:ext>
            </a:extLst>
          </p:cNvPr>
          <p:cNvSpPr>
            <a:spLocks noGrp="1" noChangeArrowheads="1"/>
          </p:cNvSpPr>
          <p:nvPr>
            <p:ph type="title"/>
          </p:nvPr>
        </p:nvSpPr>
        <p:spPr>
          <a:xfrm>
            <a:off x="0" y="-1"/>
            <a:ext cx="12157649" cy="646117"/>
          </a:xfrm>
          <a:effectLst>
            <a:outerShdw dist="12700" dir="2700000" algn="ctr" rotWithShape="0">
              <a:schemeClr val="tx1"/>
            </a:outerShdw>
          </a:effectLst>
        </p:spPr>
        <p:txBody>
          <a:bodyPr/>
          <a:lstStyle/>
          <a:p>
            <a:pPr algn="ctr"/>
            <a:r>
              <a:rPr lang="en-GB" altLang="en-US" sz="2800" b="1" dirty="0">
                <a:effectLst/>
              </a:rPr>
              <a:t>Aggregate demand and aggregate supply with flexible prices</a:t>
            </a:r>
          </a:p>
        </p:txBody>
      </p:sp>
      <p:grpSp>
        <p:nvGrpSpPr>
          <p:cNvPr id="5" name="Group 4">
            <a:extLst>
              <a:ext uri="{FF2B5EF4-FFF2-40B4-BE49-F238E27FC236}">
                <a16:creationId xmlns:a16="http://schemas.microsoft.com/office/drawing/2014/main" id="{9A670720-D5B8-4261-A313-0395C82EB2E7}"/>
              </a:ext>
            </a:extLst>
          </p:cNvPr>
          <p:cNvGrpSpPr/>
          <p:nvPr/>
        </p:nvGrpSpPr>
        <p:grpSpPr>
          <a:xfrm>
            <a:off x="5242132" y="4171950"/>
            <a:ext cx="471283" cy="2156527"/>
            <a:chOff x="5242132" y="4171950"/>
            <a:chExt cx="471283" cy="2156527"/>
          </a:xfrm>
        </p:grpSpPr>
        <p:sp>
          <p:nvSpPr>
            <p:cNvPr id="3099" name="Line 27">
              <a:extLst>
                <a:ext uri="{FF2B5EF4-FFF2-40B4-BE49-F238E27FC236}">
                  <a16:creationId xmlns:a16="http://schemas.microsoft.com/office/drawing/2014/main" id="{9A9423A9-1876-4FC3-8E5D-4BB629EA5C85}"/>
                </a:ext>
              </a:extLst>
            </p:cNvPr>
            <p:cNvSpPr>
              <a:spLocks noChangeShapeType="1"/>
            </p:cNvSpPr>
            <p:nvPr/>
          </p:nvSpPr>
          <p:spPr bwMode="auto">
            <a:xfrm>
              <a:off x="5478776" y="4171950"/>
              <a:ext cx="0" cy="1758950"/>
            </a:xfrm>
            <a:prstGeom prst="line">
              <a:avLst/>
            </a:prstGeom>
            <a:noFill/>
            <a:ln w="15875">
              <a:solidFill>
                <a:srgbClr val="333333"/>
              </a:solidFill>
              <a:prstDash val="dash"/>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3100" name="Rectangle 15">
              <a:extLst>
                <a:ext uri="{FF2B5EF4-FFF2-40B4-BE49-F238E27FC236}">
                  <a16:creationId xmlns:a16="http://schemas.microsoft.com/office/drawing/2014/main" id="{17246187-8DC2-4F6D-9168-04D53E885252}"/>
                </a:ext>
              </a:extLst>
            </p:cNvPr>
            <p:cNvSpPr>
              <a:spLocks noChangeArrowheads="1"/>
            </p:cNvSpPr>
            <p:nvPr/>
          </p:nvSpPr>
          <p:spPr bwMode="auto">
            <a:xfrm>
              <a:off x="5242132" y="5927725"/>
              <a:ext cx="471283"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a:defRPr sz="2400">
                  <a:solidFill>
                    <a:schemeClr val="tx1"/>
                  </a:solidFill>
                  <a:latin typeface="Times New Roman" panose="02020603050405020304" pitchFamily="18" charset="0"/>
                </a:defRPr>
              </a:lvl1pPr>
              <a:lvl2pPr marL="742950" indent="-285750" defTabSz="762000">
                <a:defRPr sz="2400">
                  <a:solidFill>
                    <a:schemeClr val="tx1"/>
                  </a:solidFill>
                  <a:latin typeface="Times New Roman" panose="02020603050405020304" pitchFamily="18" charset="0"/>
                </a:defRPr>
              </a:lvl2pPr>
              <a:lvl3pPr marL="1143000" indent="-228600" defTabSz="762000">
                <a:defRPr sz="2400">
                  <a:solidFill>
                    <a:schemeClr val="tx1"/>
                  </a:solidFill>
                  <a:latin typeface="Times New Roman" panose="02020603050405020304" pitchFamily="18" charset="0"/>
                </a:defRPr>
              </a:lvl3pPr>
              <a:lvl4pPr marL="1600200" indent="-228600" defTabSz="762000">
                <a:defRPr sz="2400">
                  <a:solidFill>
                    <a:schemeClr val="tx1"/>
                  </a:solidFill>
                  <a:latin typeface="Times New Roman" panose="02020603050405020304" pitchFamily="18" charset="0"/>
                </a:defRPr>
              </a:lvl4pPr>
              <a:lvl5pPr marL="2057400" indent="-228600" defTabSz="762000">
                <a:defRPr sz="2400">
                  <a:solidFill>
                    <a:schemeClr val="tx1"/>
                  </a:solidFill>
                  <a:latin typeface="Times New Roman" panose="02020603050405020304" pitchFamily="18" charset="0"/>
                </a:defRPr>
              </a:lvl5pPr>
              <a:lvl6pPr marL="2514600" indent="-228600" defTabSz="7620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7620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7620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r"/>
              <a:r>
                <a:rPr lang="en-GB" altLang="en-US" sz="2000" i="1">
                  <a:latin typeface="Arial" panose="020B0604020202020204" pitchFamily="34" charset="0"/>
                </a:rPr>
                <a:t>Y</a:t>
              </a:r>
              <a:r>
                <a:rPr lang="en-GB" altLang="en-US" baseline="-25000">
                  <a:latin typeface="Arial" panose="020B0604020202020204" pitchFamily="34" charset="0"/>
                </a:rPr>
                <a:t>e</a:t>
              </a:r>
            </a:p>
          </p:txBody>
        </p:sp>
      </p:grpSp>
      <p:sp>
        <p:nvSpPr>
          <p:cNvPr id="3089" name="Oval 24">
            <a:extLst>
              <a:ext uri="{FF2B5EF4-FFF2-40B4-BE49-F238E27FC236}">
                <a16:creationId xmlns:a16="http://schemas.microsoft.com/office/drawing/2014/main" id="{2659F4A2-3F9E-421F-9A8B-DEA4E249A853}"/>
              </a:ext>
            </a:extLst>
          </p:cNvPr>
          <p:cNvSpPr>
            <a:spLocks noChangeArrowheads="1"/>
          </p:cNvSpPr>
          <p:nvPr/>
        </p:nvSpPr>
        <p:spPr bwMode="auto">
          <a:xfrm>
            <a:off x="5424811" y="4106865"/>
            <a:ext cx="109537" cy="109537"/>
          </a:xfrm>
          <a:prstGeom prst="ellipse">
            <a:avLst/>
          </a:prstGeom>
          <a:solidFill>
            <a:srgbClr val="99CCFF"/>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Tree>
    <p:extLst>
      <p:ext uri="{BB962C8B-B14F-4D97-AF65-F5344CB8AC3E}">
        <p14:creationId xmlns:p14="http://schemas.microsoft.com/office/powerpoint/2010/main" val="594539434"/>
      </p:ext>
    </p:extLst>
  </p:cSld>
  <p:clrMapOvr>
    <a:masterClrMapping/>
  </p:clrMapOvr>
  <p:transition spd="med">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10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down)">
                                      <p:cBhvr>
                                        <p:cTn id="12" dur="10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5" presetClass="entr" presetSubtype="0" fill="hold" grpId="0" nodeType="clickEffect">
                                  <p:stCondLst>
                                    <p:cond delay="0"/>
                                  </p:stCondLst>
                                  <p:childTnLst>
                                    <p:set>
                                      <p:cBhvr>
                                        <p:cTn id="16" dur="1" fill="hold">
                                          <p:stCondLst>
                                            <p:cond delay="0"/>
                                          </p:stCondLst>
                                        </p:cTn>
                                        <p:tgtEl>
                                          <p:spTgt spid="3089"/>
                                        </p:tgtEl>
                                        <p:attrNameLst>
                                          <p:attrName>style.visibility</p:attrName>
                                        </p:attrNameLst>
                                      </p:cBhvr>
                                      <p:to>
                                        <p:strVal val="visible"/>
                                      </p:to>
                                    </p:set>
                                    <p:anim calcmode="lin" valueType="num">
                                      <p:cBhvr>
                                        <p:cTn id="17" dur="1000" fill="hold"/>
                                        <p:tgtEl>
                                          <p:spTgt spid="3089"/>
                                        </p:tgtEl>
                                        <p:attrNameLst>
                                          <p:attrName>ppt_w</p:attrName>
                                        </p:attrNameLst>
                                      </p:cBhvr>
                                      <p:tavLst>
                                        <p:tav tm="0">
                                          <p:val>
                                            <p:fltVal val="0"/>
                                          </p:val>
                                        </p:tav>
                                        <p:tav tm="100000">
                                          <p:val>
                                            <p:strVal val="#ppt_w"/>
                                          </p:val>
                                        </p:tav>
                                      </p:tavLst>
                                    </p:anim>
                                    <p:anim calcmode="lin" valueType="num">
                                      <p:cBhvr>
                                        <p:cTn id="18" dur="1000" fill="hold"/>
                                        <p:tgtEl>
                                          <p:spTgt spid="3089"/>
                                        </p:tgtEl>
                                        <p:attrNameLst>
                                          <p:attrName>ppt_h</p:attrName>
                                        </p:attrNameLst>
                                      </p:cBhvr>
                                      <p:tavLst>
                                        <p:tav tm="0">
                                          <p:val>
                                            <p:fltVal val="0"/>
                                          </p:val>
                                        </p:tav>
                                        <p:tav tm="100000">
                                          <p:val>
                                            <p:strVal val="#ppt_h"/>
                                          </p:val>
                                        </p:tav>
                                      </p:tavLst>
                                    </p:anim>
                                    <p:anim calcmode="lin" valueType="num">
                                      <p:cBhvr>
                                        <p:cTn id="19" dur="1000" fill="hold"/>
                                        <p:tgtEl>
                                          <p:spTgt spid="3089"/>
                                        </p:tgtEl>
                                        <p:attrNameLst>
                                          <p:attrName>ppt_x</p:attrName>
                                        </p:attrNameLst>
                                      </p:cBhvr>
                                      <p:tavLst>
                                        <p:tav tm="0" fmla="#ppt_x+(cos(-2*pi*(1-$))*-#ppt_x-sin(-2*pi*(1-$))*(1-#ppt_y))*(1-$)">
                                          <p:val>
                                            <p:fltVal val="0"/>
                                          </p:val>
                                        </p:tav>
                                        <p:tav tm="100000">
                                          <p:val>
                                            <p:fltVal val="1"/>
                                          </p:val>
                                        </p:tav>
                                      </p:tavLst>
                                    </p:anim>
                                    <p:anim calcmode="lin" valueType="num">
                                      <p:cBhvr>
                                        <p:cTn id="20" dur="1000" fill="hold"/>
                                        <p:tgtEl>
                                          <p:spTgt spid="3089"/>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21" fill="hold">
                      <p:stCondLst>
                        <p:cond delay="indefinite"/>
                      </p:stCondLst>
                      <p:childTnLst>
                        <p:par>
                          <p:cTn id="22" fill="hold">
                            <p:stCondLst>
                              <p:cond delay="0"/>
                            </p:stCondLst>
                            <p:childTnLst>
                              <p:par>
                                <p:cTn id="23" presetID="22" presetClass="entr" presetSubtype="1" fill="hold" nodeType="click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wipe(up)">
                                      <p:cBhvr>
                                        <p:cTn id="25" dur="750"/>
                                        <p:tgtEl>
                                          <p:spTgt spid="5"/>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2" fill="hold" nodeType="clickEffect">
                                  <p:stCondLst>
                                    <p:cond delay="0"/>
                                  </p:stCondLst>
                                  <p:childTnLst>
                                    <p:set>
                                      <p:cBhvr>
                                        <p:cTn id="29" dur="1" fill="hold">
                                          <p:stCondLst>
                                            <p:cond delay="0"/>
                                          </p:stCondLst>
                                        </p:cTn>
                                        <p:tgtEl>
                                          <p:spTgt spid="6"/>
                                        </p:tgtEl>
                                        <p:attrNameLst>
                                          <p:attrName>style.visibility</p:attrName>
                                        </p:attrNameLst>
                                      </p:cBhvr>
                                      <p:to>
                                        <p:strVal val="visible"/>
                                      </p:to>
                                    </p:set>
                                    <p:animEffect transition="in" filter="wipe(right)">
                                      <p:cBhvr>
                                        <p:cTn id="30" dur="750"/>
                                        <p:tgtEl>
                                          <p:spTgt spid="6"/>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nodeType="clickEffect">
                                  <p:stCondLst>
                                    <p:cond delay="0"/>
                                  </p:stCondLst>
                                  <p:childTnLst>
                                    <p:set>
                                      <p:cBhvr>
                                        <p:cTn id="34" dur="1" fill="hold">
                                          <p:stCondLst>
                                            <p:cond delay="0"/>
                                          </p:stCondLst>
                                        </p:cTn>
                                        <p:tgtEl>
                                          <p:spTgt spid="7"/>
                                        </p:tgtEl>
                                        <p:attrNameLst>
                                          <p:attrName>style.visibility</p:attrName>
                                        </p:attrNameLst>
                                      </p:cBhvr>
                                      <p:to>
                                        <p:strVal val="visible"/>
                                      </p:to>
                                    </p:set>
                                    <p:animEffect transition="in" filter="wipe(left)">
                                      <p:cBhvr>
                                        <p:cTn id="35" dur="1000"/>
                                        <p:tgtEl>
                                          <p:spTgt spid="7"/>
                                        </p:tgtEl>
                                      </p:cBhvr>
                                    </p:animEffect>
                                  </p:childTnLst>
                                </p:cTn>
                              </p:par>
                            </p:childTnLst>
                          </p:cTn>
                        </p:par>
                        <p:par>
                          <p:cTn id="36" fill="hold">
                            <p:stCondLst>
                              <p:cond delay="1000"/>
                            </p:stCondLst>
                            <p:childTnLst>
                              <p:par>
                                <p:cTn id="37" presetID="17" presetClass="entr" presetSubtype="10" fill="hold" grpId="0" nodeType="afterEffect">
                                  <p:stCondLst>
                                    <p:cond delay="0"/>
                                  </p:stCondLst>
                                  <p:childTnLst>
                                    <p:set>
                                      <p:cBhvr>
                                        <p:cTn id="38" dur="1" fill="hold">
                                          <p:stCondLst>
                                            <p:cond delay="0"/>
                                          </p:stCondLst>
                                        </p:cTn>
                                        <p:tgtEl>
                                          <p:spTgt spid="3092"/>
                                        </p:tgtEl>
                                        <p:attrNameLst>
                                          <p:attrName>style.visibility</p:attrName>
                                        </p:attrNameLst>
                                      </p:cBhvr>
                                      <p:to>
                                        <p:strVal val="visible"/>
                                      </p:to>
                                    </p:set>
                                    <p:anim calcmode="lin" valueType="num">
                                      <p:cBhvr>
                                        <p:cTn id="39" dur="500" fill="hold"/>
                                        <p:tgtEl>
                                          <p:spTgt spid="3092"/>
                                        </p:tgtEl>
                                        <p:attrNameLst>
                                          <p:attrName>ppt_w</p:attrName>
                                        </p:attrNameLst>
                                      </p:cBhvr>
                                      <p:tavLst>
                                        <p:tav tm="0">
                                          <p:val>
                                            <p:fltVal val="0"/>
                                          </p:val>
                                        </p:tav>
                                        <p:tav tm="100000">
                                          <p:val>
                                            <p:strVal val="#ppt_w"/>
                                          </p:val>
                                        </p:tav>
                                      </p:tavLst>
                                    </p:anim>
                                    <p:anim calcmode="lin" valueType="num">
                                      <p:cBhvr>
                                        <p:cTn id="40" dur="500" fill="hold"/>
                                        <p:tgtEl>
                                          <p:spTgt spid="3092"/>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92" grpId="0" animBg="1"/>
      <p:bldP spid="3089" grpId="0" animBg="1"/>
    </p:bldLst>
  </p:timing>
</p:sld>
</file>

<file path=ppt/slides/slide4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8914" name="Rectangle 2">
            <a:extLst>
              <a:ext uri="{FF2B5EF4-FFF2-40B4-BE49-F238E27FC236}">
                <a16:creationId xmlns:a16="http://schemas.microsoft.com/office/drawing/2014/main" id="{B053E1A8-FACE-4B92-BE41-86DFD1E564C6}"/>
              </a:ext>
            </a:extLst>
          </p:cNvPr>
          <p:cNvSpPr>
            <a:spLocks noChangeArrowheads="1"/>
          </p:cNvSpPr>
          <p:nvPr/>
        </p:nvSpPr>
        <p:spPr bwMode="auto">
          <a:xfrm>
            <a:off x="2209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a:solidFill>
                  <a:schemeClr val="tx1"/>
                </a:solidFill>
                <a:latin typeface="Times New Roman" panose="02020603050405020304" pitchFamily="18" charset="0"/>
              </a:defRPr>
            </a:lvl1pPr>
            <a:lvl2pPr marL="742950" indent="-285750">
              <a:defRPr sz="2800">
                <a:solidFill>
                  <a:schemeClr val="tx1"/>
                </a:solidFill>
                <a:latin typeface="Times New Roman" panose="02020603050405020304" pitchFamily="18" charset="0"/>
              </a:defRPr>
            </a:lvl2pPr>
            <a:lvl3pPr marL="1143000" indent="-228600">
              <a:defRPr sz="2800">
                <a:solidFill>
                  <a:schemeClr val="tx1"/>
                </a:solidFill>
                <a:latin typeface="Times New Roman" panose="02020603050405020304" pitchFamily="18" charset="0"/>
              </a:defRPr>
            </a:lvl3pPr>
            <a:lvl4pPr marL="1600200" indent="-228600">
              <a:defRPr sz="2800">
                <a:solidFill>
                  <a:schemeClr val="tx1"/>
                </a:solidFill>
                <a:latin typeface="Times New Roman" panose="02020603050405020304" pitchFamily="18" charset="0"/>
              </a:defRPr>
            </a:lvl4pPr>
            <a:lvl5pPr marL="2057400" indent="-228600">
              <a:defRPr sz="28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defRPr>
            </a:lvl9pPr>
          </a:lstStyle>
          <a:p>
            <a:endParaRPr lang="en-GB" altLang="en-US" noProof="1"/>
          </a:p>
        </p:txBody>
      </p:sp>
      <p:sp>
        <p:nvSpPr>
          <p:cNvPr id="38915" name="Rectangle 3">
            <a:extLst>
              <a:ext uri="{FF2B5EF4-FFF2-40B4-BE49-F238E27FC236}">
                <a16:creationId xmlns:a16="http://schemas.microsoft.com/office/drawing/2014/main" id="{5BE4FE9E-A805-4C82-BDEA-C5F396CCEF46}"/>
              </a:ext>
            </a:extLst>
          </p:cNvPr>
          <p:cNvSpPr>
            <a:spLocks noChangeArrowheads="1"/>
          </p:cNvSpPr>
          <p:nvPr/>
        </p:nvSpPr>
        <p:spPr bwMode="auto">
          <a:xfrm>
            <a:off x="4648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a:solidFill>
                  <a:schemeClr val="tx1"/>
                </a:solidFill>
                <a:latin typeface="Times New Roman" panose="02020603050405020304" pitchFamily="18" charset="0"/>
              </a:defRPr>
            </a:lvl1pPr>
            <a:lvl2pPr marL="742950" indent="-285750">
              <a:defRPr sz="2800">
                <a:solidFill>
                  <a:schemeClr val="tx1"/>
                </a:solidFill>
                <a:latin typeface="Times New Roman" panose="02020603050405020304" pitchFamily="18" charset="0"/>
              </a:defRPr>
            </a:lvl2pPr>
            <a:lvl3pPr marL="1143000" indent="-228600">
              <a:defRPr sz="2800">
                <a:solidFill>
                  <a:schemeClr val="tx1"/>
                </a:solidFill>
                <a:latin typeface="Times New Roman" panose="02020603050405020304" pitchFamily="18" charset="0"/>
              </a:defRPr>
            </a:lvl3pPr>
            <a:lvl4pPr marL="1600200" indent="-228600">
              <a:defRPr sz="2800">
                <a:solidFill>
                  <a:schemeClr val="tx1"/>
                </a:solidFill>
                <a:latin typeface="Times New Roman" panose="02020603050405020304" pitchFamily="18" charset="0"/>
              </a:defRPr>
            </a:lvl4pPr>
            <a:lvl5pPr marL="2057400" indent="-228600">
              <a:defRPr sz="28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defRPr>
            </a:lvl9pPr>
          </a:lstStyle>
          <a:p>
            <a:endParaRPr lang="en-GB" altLang="en-US" noProof="1"/>
          </a:p>
        </p:txBody>
      </p:sp>
      <p:sp>
        <p:nvSpPr>
          <p:cNvPr id="38916" name="Rectangle 4">
            <a:extLst>
              <a:ext uri="{FF2B5EF4-FFF2-40B4-BE49-F238E27FC236}">
                <a16:creationId xmlns:a16="http://schemas.microsoft.com/office/drawing/2014/main" id="{F50D702E-AA6A-4ED8-AF38-5BB5CA171DFA}"/>
              </a:ext>
            </a:extLst>
          </p:cNvPr>
          <p:cNvSpPr>
            <a:spLocks noGrp="1"/>
          </p:cNvSpPr>
          <p:nvPr>
            <p:ph type="title"/>
          </p:nvPr>
        </p:nvSpPr>
        <p:spPr/>
        <p:txBody>
          <a:bodyPr/>
          <a:lstStyle/>
          <a:p>
            <a:r>
              <a:rPr lang="en-GB" altLang="en-US" dirty="0"/>
              <a:t>Shifts in the AD-AS equilibrium</a:t>
            </a:r>
          </a:p>
        </p:txBody>
      </p:sp>
      <p:sp>
        <p:nvSpPr>
          <p:cNvPr id="412677" name="Rectangle 5">
            <a:extLst>
              <a:ext uri="{FF2B5EF4-FFF2-40B4-BE49-F238E27FC236}">
                <a16:creationId xmlns:a16="http://schemas.microsoft.com/office/drawing/2014/main" id="{E168EA6C-8EAE-43F1-BC9A-A4B4E1B01334}"/>
              </a:ext>
            </a:extLst>
          </p:cNvPr>
          <p:cNvSpPr>
            <a:spLocks noGrp="1"/>
          </p:cNvSpPr>
          <p:nvPr>
            <p:ph sz="quarter" idx="1"/>
          </p:nvPr>
        </p:nvSpPr>
        <p:spPr>
          <a:xfrm>
            <a:off x="402336" y="1527047"/>
            <a:ext cx="11338560" cy="4845399"/>
          </a:xfrm>
        </p:spPr>
        <p:txBody>
          <a:bodyPr/>
          <a:lstStyle/>
          <a:p>
            <a:r>
              <a:rPr lang="en-GB" altLang="en-US" dirty="0">
                <a:latin typeface="+mn-lt"/>
              </a:rPr>
              <a:t>Demand shifts</a:t>
            </a:r>
          </a:p>
          <a:p>
            <a:pPr lvl="1"/>
            <a:r>
              <a:rPr lang="en-GB" altLang="en-US" dirty="0">
                <a:latin typeface="+mn-lt"/>
              </a:rPr>
              <a:t>Changing expenditure in the economy – </a:t>
            </a:r>
          </a:p>
          <a:p>
            <a:pPr lvl="2"/>
            <a:r>
              <a:rPr lang="en-GB" altLang="en-US" dirty="0">
                <a:latin typeface="+mn-lt"/>
              </a:rPr>
              <a:t>Consumption, business investment, exports, imports, government spending</a:t>
            </a:r>
          </a:p>
          <a:p>
            <a:r>
              <a:rPr lang="en-GB" altLang="en-US" dirty="0">
                <a:latin typeface="+mn-lt"/>
              </a:rPr>
              <a:t>Supply shifts</a:t>
            </a:r>
          </a:p>
          <a:p>
            <a:pPr lvl="1"/>
            <a:r>
              <a:rPr lang="en-GB" altLang="en-US" dirty="0">
                <a:latin typeface="+mn-lt"/>
              </a:rPr>
              <a:t>Changing capacity in the economy</a:t>
            </a:r>
          </a:p>
          <a:p>
            <a:pPr lvl="2"/>
            <a:r>
              <a:rPr lang="en-GB" altLang="en-US" dirty="0">
                <a:latin typeface="+mn-lt"/>
              </a:rPr>
              <a:t>Technology of production, factor availability will change slowly</a:t>
            </a:r>
          </a:p>
          <a:p>
            <a:pPr lvl="2"/>
            <a:r>
              <a:rPr lang="en-GB" altLang="en-US" dirty="0">
                <a:latin typeface="+mn-lt"/>
              </a:rPr>
              <a:t>Likely to be response to changes in factor prices – wages, real interest rates</a:t>
            </a:r>
          </a:p>
          <a:p>
            <a:endParaRPr lang="en-GB" altLang="en-US" dirty="0"/>
          </a:p>
        </p:txBody>
      </p:sp>
    </p:spTree>
    <p:extLst>
      <p:ext uri="{BB962C8B-B14F-4D97-AF65-F5344CB8AC3E}">
        <p14:creationId xmlns:p14="http://schemas.microsoft.com/office/powerpoint/2010/main" val="3979639940"/>
      </p:ext>
    </p:extLst>
  </p:cSld>
  <p:clrMapOvr>
    <a:masterClrMapping/>
  </p:clrMapOvr>
  <p:transition spd="med">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412677">
                                            <p:txEl>
                                              <p:pRg st="0" end="0"/>
                                            </p:txEl>
                                          </p:spTgt>
                                        </p:tgtEl>
                                        <p:attrNameLst>
                                          <p:attrName>style.visibility</p:attrName>
                                        </p:attrNameLst>
                                      </p:cBhvr>
                                      <p:to>
                                        <p:strVal val="visible"/>
                                      </p:to>
                                    </p:set>
                                    <p:anim calcmode="lin" valueType="num">
                                      <p:cBhvr additive="base">
                                        <p:cTn id="7" dur="500"/>
                                        <p:tgtEl>
                                          <p:spTgt spid="412677">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412677">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412677">
                                            <p:txEl>
                                              <p:pRg st="1" end="1"/>
                                            </p:txEl>
                                          </p:spTgt>
                                        </p:tgtEl>
                                        <p:attrNameLst>
                                          <p:attrName>style.visibility</p:attrName>
                                        </p:attrNameLst>
                                      </p:cBhvr>
                                      <p:to>
                                        <p:strVal val="visible"/>
                                      </p:to>
                                    </p:set>
                                    <p:anim calcmode="lin" valueType="num">
                                      <p:cBhvr additive="base">
                                        <p:cTn id="13" dur="500"/>
                                        <p:tgtEl>
                                          <p:spTgt spid="412677">
                                            <p:txEl>
                                              <p:pRg st="1" end="1"/>
                                            </p:txEl>
                                          </p:spTgt>
                                        </p:tgtEl>
                                        <p:attrNameLst>
                                          <p:attrName>ppt_y</p:attrName>
                                        </p:attrNameLst>
                                      </p:cBhvr>
                                      <p:tavLst>
                                        <p:tav tm="0">
                                          <p:val>
                                            <p:strVal val="#ppt_y+#ppt_h*1.125000"/>
                                          </p:val>
                                        </p:tav>
                                        <p:tav tm="100000">
                                          <p:val>
                                            <p:strVal val="#ppt_y"/>
                                          </p:val>
                                        </p:tav>
                                      </p:tavLst>
                                    </p:anim>
                                    <p:animEffect transition="in" filter="wipe(up)">
                                      <p:cBhvr>
                                        <p:cTn id="14" dur="500"/>
                                        <p:tgtEl>
                                          <p:spTgt spid="412677">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grpId="0" nodeType="clickEffect">
                                  <p:stCondLst>
                                    <p:cond delay="0"/>
                                  </p:stCondLst>
                                  <p:childTnLst>
                                    <p:set>
                                      <p:cBhvr>
                                        <p:cTn id="18" dur="1" fill="hold">
                                          <p:stCondLst>
                                            <p:cond delay="0"/>
                                          </p:stCondLst>
                                        </p:cTn>
                                        <p:tgtEl>
                                          <p:spTgt spid="412677">
                                            <p:txEl>
                                              <p:pRg st="2" end="2"/>
                                            </p:txEl>
                                          </p:spTgt>
                                        </p:tgtEl>
                                        <p:attrNameLst>
                                          <p:attrName>style.visibility</p:attrName>
                                        </p:attrNameLst>
                                      </p:cBhvr>
                                      <p:to>
                                        <p:strVal val="visible"/>
                                      </p:to>
                                    </p:set>
                                    <p:anim calcmode="lin" valueType="num">
                                      <p:cBhvr additive="base">
                                        <p:cTn id="19" dur="500"/>
                                        <p:tgtEl>
                                          <p:spTgt spid="412677">
                                            <p:txEl>
                                              <p:pRg st="2" end="2"/>
                                            </p:txEl>
                                          </p:spTgt>
                                        </p:tgtEl>
                                        <p:attrNameLst>
                                          <p:attrName>ppt_y</p:attrName>
                                        </p:attrNameLst>
                                      </p:cBhvr>
                                      <p:tavLst>
                                        <p:tav tm="0">
                                          <p:val>
                                            <p:strVal val="#ppt_y+#ppt_h*1.125000"/>
                                          </p:val>
                                        </p:tav>
                                        <p:tav tm="100000">
                                          <p:val>
                                            <p:strVal val="#ppt_y"/>
                                          </p:val>
                                        </p:tav>
                                      </p:tavLst>
                                    </p:anim>
                                    <p:animEffect transition="in" filter="wipe(up)">
                                      <p:cBhvr>
                                        <p:cTn id="20" dur="500"/>
                                        <p:tgtEl>
                                          <p:spTgt spid="412677">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4" fill="hold" grpId="0" nodeType="clickEffect">
                                  <p:stCondLst>
                                    <p:cond delay="0"/>
                                  </p:stCondLst>
                                  <p:childTnLst>
                                    <p:set>
                                      <p:cBhvr>
                                        <p:cTn id="24" dur="1" fill="hold">
                                          <p:stCondLst>
                                            <p:cond delay="0"/>
                                          </p:stCondLst>
                                        </p:cTn>
                                        <p:tgtEl>
                                          <p:spTgt spid="412677">
                                            <p:txEl>
                                              <p:pRg st="3" end="3"/>
                                            </p:txEl>
                                          </p:spTgt>
                                        </p:tgtEl>
                                        <p:attrNameLst>
                                          <p:attrName>style.visibility</p:attrName>
                                        </p:attrNameLst>
                                      </p:cBhvr>
                                      <p:to>
                                        <p:strVal val="visible"/>
                                      </p:to>
                                    </p:set>
                                    <p:anim calcmode="lin" valueType="num">
                                      <p:cBhvr additive="base">
                                        <p:cTn id="25" dur="500"/>
                                        <p:tgtEl>
                                          <p:spTgt spid="412677">
                                            <p:txEl>
                                              <p:pRg st="3" end="3"/>
                                            </p:txEl>
                                          </p:spTgt>
                                        </p:tgtEl>
                                        <p:attrNameLst>
                                          <p:attrName>ppt_y</p:attrName>
                                        </p:attrNameLst>
                                      </p:cBhvr>
                                      <p:tavLst>
                                        <p:tav tm="0">
                                          <p:val>
                                            <p:strVal val="#ppt_y+#ppt_h*1.125000"/>
                                          </p:val>
                                        </p:tav>
                                        <p:tav tm="100000">
                                          <p:val>
                                            <p:strVal val="#ppt_y"/>
                                          </p:val>
                                        </p:tav>
                                      </p:tavLst>
                                    </p:anim>
                                    <p:animEffect transition="in" filter="wipe(up)">
                                      <p:cBhvr>
                                        <p:cTn id="26" dur="500"/>
                                        <p:tgtEl>
                                          <p:spTgt spid="412677">
                                            <p:txEl>
                                              <p:pRg st="3" end="3"/>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2" presetClass="entr" presetSubtype="4" fill="hold" grpId="0" nodeType="clickEffect">
                                  <p:stCondLst>
                                    <p:cond delay="0"/>
                                  </p:stCondLst>
                                  <p:childTnLst>
                                    <p:set>
                                      <p:cBhvr>
                                        <p:cTn id="30" dur="1" fill="hold">
                                          <p:stCondLst>
                                            <p:cond delay="0"/>
                                          </p:stCondLst>
                                        </p:cTn>
                                        <p:tgtEl>
                                          <p:spTgt spid="412677">
                                            <p:txEl>
                                              <p:pRg st="4" end="4"/>
                                            </p:txEl>
                                          </p:spTgt>
                                        </p:tgtEl>
                                        <p:attrNameLst>
                                          <p:attrName>style.visibility</p:attrName>
                                        </p:attrNameLst>
                                      </p:cBhvr>
                                      <p:to>
                                        <p:strVal val="visible"/>
                                      </p:to>
                                    </p:set>
                                    <p:anim calcmode="lin" valueType="num">
                                      <p:cBhvr additive="base">
                                        <p:cTn id="31" dur="500"/>
                                        <p:tgtEl>
                                          <p:spTgt spid="412677">
                                            <p:txEl>
                                              <p:pRg st="4" end="4"/>
                                            </p:txEl>
                                          </p:spTgt>
                                        </p:tgtEl>
                                        <p:attrNameLst>
                                          <p:attrName>ppt_y</p:attrName>
                                        </p:attrNameLst>
                                      </p:cBhvr>
                                      <p:tavLst>
                                        <p:tav tm="0">
                                          <p:val>
                                            <p:strVal val="#ppt_y+#ppt_h*1.125000"/>
                                          </p:val>
                                        </p:tav>
                                        <p:tav tm="100000">
                                          <p:val>
                                            <p:strVal val="#ppt_y"/>
                                          </p:val>
                                        </p:tav>
                                      </p:tavLst>
                                    </p:anim>
                                    <p:animEffect transition="in" filter="wipe(up)">
                                      <p:cBhvr>
                                        <p:cTn id="32" dur="500"/>
                                        <p:tgtEl>
                                          <p:spTgt spid="412677">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4" fill="hold" grpId="0" nodeType="clickEffect">
                                  <p:stCondLst>
                                    <p:cond delay="0"/>
                                  </p:stCondLst>
                                  <p:childTnLst>
                                    <p:set>
                                      <p:cBhvr>
                                        <p:cTn id="36" dur="1" fill="hold">
                                          <p:stCondLst>
                                            <p:cond delay="0"/>
                                          </p:stCondLst>
                                        </p:cTn>
                                        <p:tgtEl>
                                          <p:spTgt spid="412677">
                                            <p:txEl>
                                              <p:pRg st="5" end="5"/>
                                            </p:txEl>
                                          </p:spTgt>
                                        </p:tgtEl>
                                        <p:attrNameLst>
                                          <p:attrName>style.visibility</p:attrName>
                                        </p:attrNameLst>
                                      </p:cBhvr>
                                      <p:to>
                                        <p:strVal val="visible"/>
                                      </p:to>
                                    </p:set>
                                    <p:anim calcmode="lin" valueType="num">
                                      <p:cBhvr additive="base">
                                        <p:cTn id="37" dur="500"/>
                                        <p:tgtEl>
                                          <p:spTgt spid="412677">
                                            <p:txEl>
                                              <p:pRg st="5" end="5"/>
                                            </p:txEl>
                                          </p:spTgt>
                                        </p:tgtEl>
                                        <p:attrNameLst>
                                          <p:attrName>ppt_y</p:attrName>
                                        </p:attrNameLst>
                                      </p:cBhvr>
                                      <p:tavLst>
                                        <p:tav tm="0">
                                          <p:val>
                                            <p:strVal val="#ppt_y+#ppt_h*1.125000"/>
                                          </p:val>
                                        </p:tav>
                                        <p:tav tm="100000">
                                          <p:val>
                                            <p:strVal val="#ppt_y"/>
                                          </p:val>
                                        </p:tav>
                                      </p:tavLst>
                                    </p:anim>
                                    <p:animEffect transition="in" filter="wipe(up)">
                                      <p:cBhvr>
                                        <p:cTn id="38" dur="500"/>
                                        <p:tgtEl>
                                          <p:spTgt spid="412677">
                                            <p:txEl>
                                              <p:pRg st="5" end="5"/>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2" presetClass="entr" presetSubtype="4" fill="hold" grpId="0" nodeType="clickEffect">
                                  <p:stCondLst>
                                    <p:cond delay="0"/>
                                  </p:stCondLst>
                                  <p:childTnLst>
                                    <p:set>
                                      <p:cBhvr>
                                        <p:cTn id="42" dur="1" fill="hold">
                                          <p:stCondLst>
                                            <p:cond delay="0"/>
                                          </p:stCondLst>
                                        </p:cTn>
                                        <p:tgtEl>
                                          <p:spTgt spid="412677">
                                            <p:txEl>
                                              <p:pRg st="6" end="6"/>
                                            </p:txEl>
                                          </p:spTgt>
                                        </p:tgtEl>
                                        <p:attrNameLst>
                                          <p:attrName>style.visibility</p:attrName>
                                        </p:attrNameLst>
                                      </p:cBhvr>
                                      <p:to>
                                        <p:strVal val="visible"/>
                                      </p:to>
                                    </p:set>
                                    <p:anim calcmode="lin" valueType="num">
                                      <p:cBhvr additive="base">
                                        <p:cTn id="43" dur="500"/>
                                        <p:tgtEl>
                                          <p:spTgt spid="412677">
                                            <p:txEl>
                                              <p:pRg st="6" end="6"/>
                                            </p:txEl>
                                          </p:spTgt>
                                        </p:tgtEl>
                                        <p:attrNameLst>
                                          <p:attrName>ppt_y</p:attrName>
                                        </p:attrNameLst>
                                      </p:cBhvr>
                                      <p:tavLst>
                                        <p:tav tm="0">
                                          <p:val>
                                            <p:strVal val="#ppt_y+#ppt_h*1.125000"/>
                                          </p:val>
                                        </p:tav>
                                        <p:tav tm="100000">
                                          <p:val>
                                            <p:strVal val="#ppt_y"/>
                                          </p:val>
                                        </p:tav>
                                      </p:tavLst>
                                    </p:anim>
                                    <p:animEffect transition="in" filter="wipe(up)">
                                      <p:cBhvr>
                                        <p:cTn id="44" dur="500"/>
                                        <p:tgtEl>
                                          <p:spTgt spid="412677">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2677" grpId="0" build="p" bldLvl="3" autoUpdateAnimBg="0"/>
    </p:bldLst>
  </p:timing>
</p:sld>
</file>

<file path=ppt/slides/slide4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67E5DD-9CF5-4299-BDDF-5BAC09865652}"/>
              </a:ext>
            </a:extLst>
          </p:cNvPr>
          <p:cNvSpPr>
            <a:spLocks noGrp="1"/>
          </p:cNvSpPr>
          <p:nvPr>
            <p:ph type="title"/>
          </p:nvPr>
        </p:nvSpPr>
        <p:spPr>
          <a:xfrm>
            <a:off x="402167" y="365126"/>
            <a:ext cx="10951633" cy="908198"/>
          </a:xfrm>
        </p:spPr>
        <p:txBody>
          <a:bodyPr>
            <a:normAutofit fontScale="90000"/>
          </a:bodyPr>
          <a:lstStyle/>
          <a:p>
            <a:r>
              <a:rPr lang="en-GB" altLang="en-US" dirty="0"/>
              <a:t>Applications 1: Demand pull vs cost push inflation</a:t>
            </a:r>
            <a:endParaRPr lang="en-GB" dirty="0"/>
          </a:p>
        </p:txBody>
      </p:sp>
      <p:sp>
        <p:nvSpPr>
          <p:cNvPr id="144387" name="Rectangle 1027">
            <a:extLst>
              <a:ext uri="{FF2B5EF4-FFF2-40B4-BE49-F238E27FC236}">
                <a16:creationId xmlns:a16="http://schemas.microsoft.com/office/drawing/2014/main" id="{011B5B41-1029-442F-BCF3-3E381DDC9BD3}"/>
              </a:ext>
            </a:extLst>
          </p:cNvPr>
          <p:cNvSpPr>
            <a:spLocks noGrp="1" noChangeArrowheads="1"/>
          </p:cNvSpPr>
          <p:nvPr>
            <p:ph idx="1"/>
          </p:nvPr>
        </p:nvSpPr>
        <p:spPr>
          <a:xfrm>
            <a:off x="402167" y="1463898"/>
            <a:ext cx="11379200" cy="4500022"/>
          </a:xfrm>
        </p:spPr>
        <p:txBody>
          <a:bodyPr>
            <a:normAutofit/>
          </a:bodyPr>
          <a:lstStyle/>
          <a:p>
            <a:pPr marL="0" indent="0">
              <a:buNone/>
            </a:pPr>
            <a:r>
              <a:rPr lang="en-GB" altLang="en-US" dirty="0">
                <a:latin typeface="+mn-lt"/>
              </a:rPr>
              <a:t>What circumstances lead to increasing inflation?</a:t>
            </a:r>
          </a:p>
          <a:p>
            <a:pPr fontAlgn="t"/>
            <a:r>
              <a:rPr lang="en-GB" b="1" dirty="0">
                <a:latin typeface="+mn-lt"/>
              </a:rPr>
              <a:t>Demand pull inflation</a:t>
            </a:r>
            <a:endParaRPr lang="en-MY" dirty="0">
              <a:latin typeface="+mn-lt"/>
            </a:endParaRPr>
          </a:p>
          <a:p>
            <a:pPr lvl="1"/>
            <a:r>
              <a:rPr lang="en-GB" dirty="0">
                <a:latin typeface="+mn-lt"/>
              </a:rPr>
              <a:t>It is caused by continuing rises in aggregate demand.</a:t>
            </a:r>
            <a:endParaRPr lang="en-MY" dirty="0">
              <a:latin typeface="+mn-lt"/>
            </a:endParaRPr>
          </a:p>
          <a:p>
            <a:pPr fontAlgn="t"/>
            <a:r>
              <a:rPr lang="en-GB" b="1" dirty="0">
                <a:latin typeface="+mn-lt"/>
              </a:rPr>
              <a:t>Cost push inflation</a:t>
            </a:r>
            <a:endParaRPr lang="en-MY" dirty="0">
              <a:latin typeface="+mn-lt"/>
            </a:endParaRPr>
          </a:p>
          <a:p>
            <a:pPr lvl="1"/>
            <a:r>
              <a:rPr lang="en-GB" dirty="0">
                <a:latin typeface="+mn-lt"/>
              </a:rPr>
              <a:t>It is associated with continuing rises in costs and hence continuing leftward (upward) shifts in the </a:t>
            </a:r>
            <a:r>
              <a:rPr lang="en-GB" i="1" dirty="0">
                <a:latin typeface="+mn-lt"/>
              </a:rPr>
              <a:t>AS </a:t>
            </a:r>
            <a:r>
              <a:rPr lang="en-GB" dirty="0">
                <a:latin typeface="+mn-lt"/>
              </a:rPr>
              <a:t>curve. </a:t>
            </a:r>
            <a:endParaRPr lang="en-MY" dirty="0">
              <a:latin typeface="+mn-lt"/>
            </a:endParaRPr>
          </a:p>
          <a:p>
            <a:pPr lvl="1"/>
            <a:r>
              <a:rPr lang="en-GB" dirty="0">
                <a:latin typeface="+mn-lt"/>
              </a:rPr>
              <a:t>If firms face a rise in costs, they will respond by raising prices, and by cutting back on production</a:t>
            </a:r>
            <a:endParaRPr lang="en-MY" dirty="0">
              <a:latin typeface="+mn-lt"/>
            </a:endParaRPr>
          </a:p>
          <a:p>
            <a:pPr lvl="1"/>
            <a:r>
              <a:rPr lang="en-GB" dirty="0">
                <a:latin typeface="+mn-lt"/>
              </a:rPr>
              <a:t>Output and employment tend to fall. </a:t>
            </a:r>
            <a:endParaRPr lang="en-MY" dirty="0">
              <a:latin typeface="+mn-lt"/>
            </a:endParaRPr>
          </a:p>
          <a:p>
            <a:pPr lvl="1"/>
            <a:r>
              <a:rPr lang="en-GB" dirty="0">
                <a:latin typeface="+mn-lt"/>
              </a:rPr>
              <a:t>Rises in costs may originate from trade unions pushing up wages, firms with monopoly power raising prices to increase profits or increases in international commodity prices. </a:t>
            </a:r>
            <a:endParaRPr lang="en-MY" dirty="0">
              <a:latin typeface="+mn-lt"/>
            </a:endParaRPr>
          </a:p>
          <a:p>
            <a:endParaRPr lang="en-MY" dirty="0"/>
          </a:p>
          <a:p>
            <a:endParaRPr lang="en-MY" dirty="0"/>
          </a:p>
          <a:p>
            <a:endParaRPr lang="en-GB" altLang="en-US" dirty="0"/>
          </a:p>
        </p:txBody>
      </p:sp>
      <p:sp>
        <p:nvSpPr>
          <p:cNvPr id="146436" name="Rectangle 4">
            <a:extLst>
              <a:ext uri="{FF2B5EF4-FFF2-40B4-BE49-F238E27FC236}">
                <a16:creationId xmlns:a16="http://schemas.microsoft.com/office/drawing/2014/main" id="{32514EE2-613B-47F0-8336-299BFC9AC8F1}"/>
              </a:ext>
            </a:extLst>
          </p:cNvPr>
          <p:cNvSpPr>
            <a:spLocks/>
          </p:cNvSpPr>
          <p:nvPr/>
        </p:nvSpPr>
        <p:spPr bwMode="auto">
          <a:xfrm>
            <a:off x="1689101" y="180976"/>
            <a:ext cx="8791575" cy="758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17961" dir="2700000" algn="ctr" rotWithShape="0">
                    <a:schemeClr val="tx1"/>
                  </a:outerShdw>
                </a:effectLst>
              </a14:hiddenEffects>
            </a:ext>
          </a:extLst>
        </p:spPr>
        <p:txBody>
          <a:bodyPr anchor="b"/>
          <a:lstStyle>
            <a:lvl1pPr algn="ctr">
              <a:defRPr sz="3800">
                <a:solidFill>
                  <a:srgbClr val="638D39"/>
                </a:solidFill>
                <a:effectLst>
                  <a:outerShdw blurRad="38100" dist="38100" dir="2700000" algn="tl">
                    <a:srgbClr val="000000"/>
                  </a:outerShdw>
                </a:effectLst>
                <a:latin typeface="Arial" panose="020B0604020202020204" pitchFamily="34" charset="0"/>
              </a:defRPr>
            </a:lvl1pPr>
            <a:lvl2pPr algn="ctr">
              <a:defRPr sz="3800">
                <a:solidFill>
                  <a:srgbClr val="638D39"/>
                </a:solidFill>
                <a:effectLst>
                  <a:outerShdw blurRad="38100" dist="38100" dir="2700000" algn="tl">
                    <a:srgbClr val="000000"/>
                  </a:outerShdw>
                </a:effectLst>
                <a:latin typeface="Arial" panose="020B0604020202020204" pitchFamily="34" charset="0"/>
              </a:defRPr>
            </a:lvl2pPr>
            <a:lvl3pPr algn="ctr">
              <a:defRPr sz="3800">
                <a:solidFill>
                  <a:srgbClr val="638D39"/>
                </a:solidFill>
                <a:effectLst>
                  <a:outerShdw blurRad="38100" dist="38100" dir="2700000" algn="tl">
                    <a:srgbClr val="000000"/>
                  </a:outerShdw>
                </a:effectLst>
                <a:latin typeface="Arial" panose="020B0604020202020204" pitchFamily="34" charset="0"/>
              </a:defRPr>
            </a:lvl3pPr>
            <a:lvl4pPr algn="ctr">
              <a:defRPr sz="3800">
                <a:solidFill>
                  <a:srgbClr val="638D39"/>
                </a:solidFill>
                <a:effectLst>
                  <a:outerShdw blurRad="38100" dist="38100" dir="2700000" algn="tl">
                    <a:srgbClr val="000000"/>
                  </a:outerShdw>
                </a:effectLst>
                <a:latin typeface="Arial" panose="020B0604020202020204" pitchFamily="34" charset="0"/>
              </a:defRPr>
            </a:lvl4pPr>
            <a:lvl5pPr algn="ctr">
              <a:defRPr sz="3800">
                <a:solidFill>
                  <a:srgbClr val="638D39"/>
                </a:solidFill>
                <a:effectLst>
                  <a:outerShdw blurRad="38100" dist="38100" dir="2700000" algn="tl">
                    <a:srgbClr val="000000"/>
                  </a:outerShdw>
                </a:effectLst>
                <a:latin typeface="Arial" panose="020B0604020202020204" pitchFamily="34" charset="0"/>
              </a:defRPr>
            </a:lvl5pPr>
            <a:lvl6pPr marL="457200" algn="ctr" eaLnBrk="0" fontAlgn="base" hangingPunct="0">
              <a:spcBef>
                <a:spcPct val="0"/>
              </a:spcBef>
              <a:spcAft>
                <a:spcPct val="0"/>
              </a:spcAft>
              <a:defRPr sz="3800">
                <a:solidFill>
                  <a:srgbClr val="638D39"/>
                </a:solidFill>
                <a:effectLst>
                  <a:outerShdw blurRad="38100" dist="38100" dir="2700000" algn="tl">
                    <a:srgbClr val="000000"/>
                  </a:outerShdw>
                </a:effectLst>
                <a:latin typeface="Arial" panose="020B0604020202020204" pitchFamily="34" charset="0"/>
              </a:defRPr>
            </a:lvl6pPr>
            <a:lvl7pPr marL="914400" algn="ctr" eaLnBrk="0" fontAlgn="base" hangingPunct="0">
              <a:spcBef>
                <a:spcPct val="0"/>
              </a:spcBef>
              <a:spcAft>
                <a:spcPct val="0"/>
              </a:spcAft>
              <a:defRPr sz="3800">
                <a:solidFill>
                  <a:srgbClr val="638D39"/>
                </a:solidFill>
                <a:effectLst>
                  <a:outerShdw blurRad="38100" dist="38100" dir="2700000" algn="tl">
                    <a:srgbClr val="000000"/>
                  </a:outerShdw>
                </a:effectLst>
                <a:latin typeface="Arial" panose="020B0604020202020204" pitchFamily="34" charset="0"/>
              </a:defRPr>
            </a:lvl7pPr>
            <a:lvl8pPr marL="1371600" algn="ctr" eaLnBrk="0" fontAlgn="base" hangingPunct="0">
              <a:spcBef>
                <a:spcPct val="0"/>
              </a:spcBef>
              <a:spcAft>
                <a:spcPct val="0"/>
              </a:spcAft>
              <a:defRPr sz="3800">
                <a:solidFill>
                  <a:srgbClr val="638D39"/>
                </a:solidFill>
                <a:effectLst>
                  <a:outerShdw blurRad="38100" dist="38100" dir="2700000" algn="tl">
                    <a:srgbClr val="000000"/>
                  </a:outerShdw>
                </a:effectLst>
                <a:latin typeface="Arial" panose="020B0604020202020204" pitchFamily="34" charset="0"/>
              </a:defRPr>
            </a:lvl8pPr>
            <a:lvl9pPr marL="1828800" algn="ctr" eaLnBrk="0" fontAlgn="base" hangingPunct="0">
              <a:spcBef>
                <a:spcPct val="0"/>
              </a:spcBef>
              <a:spcAft>
                <a:spcPct val="0"/>
              </a:spcAft>
              <a:defRPr sz="3800">
                <a:solidFill>
                  <a:srgbClr val="638D39"/>
                </a:solidFill>
                <a:effectLst>
                  <a:outerShdw blurRad="38100" dist="38100" dir="2700000" algn="tl">
                    <a:srgbClr val="000000"/>
                  </a:outerShdw>
                </a:effectLst>
                <a:latin typeface="Arial" panose="020B0604020202020204" pitchFamily="34" charset="0"/>
              </a:defRPr>
            </a:lvl9pPr>
          </a:lstStyle>
          <a:p>
            <a:endParaRPr lang="en-GB" altLang="en-US" dirty="0"/>
          </a:p>
        </p:txBody>
      </p:sp>
    </p:spTree>
    <p:extLst>
      <p:ext uri="{BB962C8B-B14F-4D97-AF65-F5344CB8AC3E}">
        <p14:creationId xmlns:p14="http://schemas.microsoft.com/office/powerpoint/2010/main" val="3371581494"/>
      </p:ext>
    </p:extLst>
  </p:cSld>
  <p:clrMapOvr>
    <a:masterClrMapping/>
  </p:clrMapOvr>
  <p:transition spd="med">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144387">
                                            <p:txEl>
                                              <p:pRg st="0" end="0"/>
                                            </p:txEl>
                                          </p:spTgt>
                                        </p:tgtEl>
                                        <p:attrNameLst>
                                          <p:attrName>style.visibility</p:attrName>
                                        </p:attrNameLst>
                                      </p:cBhvr>
                                      <p:to>
                                        <p:strVal val="visible"/>
                                      </p:to>
                                    </p:set>
                                    <p:anim calcmode="lin" valueType="num">
                                      <p:cBhvr additive="base">
                                        <p:cTn id="7" dur="500"/>
                                        <p:tgtEl>
                                          <p:spTgt spid="144387">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144387">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144387">
                                            <p:txEl>
                                              <p:pRg st="1" end="1"/>
                                            </p:txEl>
                                          </p:spTgt>
                                        </p:tgtEl>
                                        <p:attrNameLst>
                                          <p:attrName>style.visibility</p:attrName>
                                        </p:attrNameLst>
                                      </p:cBhvr>
                                      <p:to>
                                        <p:strVal val="visible"/>
                                      </p:to>
                                    </p:set>
                                    <p:anim calcmode="lin" valueType="num">
                                      <p:cBhvr additive="base">
                                        <p:cTn id="13" dur="500"/>
                                        <p:tgtEl>
                                          <p:spTgt spid="144387">
                                            <p:txEl>
                                              <p:pRg st="1" end="1"/>
                                            </p:txEl>
                                          </p:spTgt>
                                        </p:tgtEl>
                                        <p:attrNameLst>
                                          <p:attrName>ppt_y</p:attrName>
                                        </p:attrNameLst>
                                      </p:cBhvr>
                                      <p:tavLst>
                                        <p:tav tm="0">
                                          <p:val>
                                            <p:strVal val="#ppt_y+#ppt_h*1.125000"/>
                                          </p:val>
                                        </p:tav>
                                        <p:tav tm="100000">
                                          <p:val>
                                            <p:strVal val="#ppt_y"/>
                                          </p:val>
                                        </p:tav>
                                      </p:tavLst>
                                    </p:anim>
                                    <p:animEffect transition="in" filter="wipe(up)">
                                      <p:cBhvr>
                                        <p:cTn id="14" dur="500"/>
                                        <p:tgtEl>
                                          <p:spTgt spid="144387">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grpId="0" nodeType="clickEffect">
                                  <p:stCondLst>
                                    <p:cond delay="0"/>
                                  </p:stCondLst>
                                  <p:childTnLst>
                                    <p:set>
                                      <p:cBhvr>
                                        <p:cTn id="18" dur="1" fill="hold">
                                          <p:stCondLst>
                                            <p:cond delay="0"/>
                                          </p:stCondLst>
                                        </p:cTn>
                                        <p:tgtEl>
                                          <p:spTgt spid="144387">
                                            <p:txEl>
                                              <p:pRg st="2" end="2"/>
                                            </p:txEl>
                                          </p:spTgt>
                                        </p:tgtEl>
                                        <p:attrNameLst>
                                          <p:attrName>style.visibility</p:attrName>
                                        </p:attrNameLst>
                                      </p:cBhvr>
                                      <p:to>
                                        <p:strVal val="visible"/>
                                      </p:to>
                                    </p:set>
                                    <p:anim calcmode="lin" valueType="num">
                                      <p:cBhvr additive="base">
                                        <p:cTn id="19" dur="500"/>
                                        <p:tgtEl>
                                          <p:spTgt spid="144387">
                                            <p:txEl>
                                              <p:pRg st="2" end="2"/>
                                            </p:txEl>
                                          </p:spTgt>
                                        </p:tgtEl>
                                        <p:attrNameLst>
                                          <p:attrName>ppt_y</p:attrName>
                                        </p:attrNameLst>
                                      </p:cBhvr>
                                      <p:tavLst>
                                        <p:tav tm="0">
                                          <p:val>
                                            <p:strVal val="#ppt_y+#ppt_h*1.125000"/>
                                          </p:val>
                                        </p:tav>
                                        <p:tav tm="100000">
                                          <p:val>
                                            <p:strVal val="#ppt_y"/>
                                          </p:val>
                                        </p:tav>
                                      </p:tavLst>
                                    </p:anim>
                                    <p:animEffect transition="in" filter="wipe(up)">
                                      <p:cBhvr>
                                        <p:cTn id="20" dur="500"/>
                                        <p:tgtEl>
                                          <p:spTgt spid="144387">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4" fill="hold" grpId="0" nodeType="clickEffect">
                                  <p:stCondLst>
                                    <p:cond delay="0"/>
                                  </p:stCondLst>
                                  <p:childTnLst>
                                    <p:set>
                                      <p:cBhvr>
                                        <p:cTn id="24" dur="1" fill="hold">
                                          <p:stCondLst>
                                            <p:cond delay="0"/>
                                          </p:stCondLst>
                                        </p:cTn>
                                        <p:tgtEl>
                                          <p:spTgt spid="144387">
                                            <p:txEl>
                                              <p:pRg st="3" end="3"/>
                                            </p:txEl>
                                          </p:spTgt>
                                        </p:tgtEl>
                                        <p:attrNameLst>
                                          <p:attrName>style.visibility</p:attrName>
                                        </p:attrNameLst>
                                      </p:cBhvr>
                                      <p:to>
                                        <p:strVal val="visible"/>
                                      </p:to>
                                    </p:set>
                                    <p:anim calcmode="lin" valueType="num">
                                      <p:cBhvr additive="base">
                                        <p:cTn id="25" dur="500"/>
                                        <p:tgtEl>
                                          <p:spTgt spid="144387">
                                            <p:txEl>
                                              <p:pRg st="3" end="3"/>
                                            </p:txEl>
                                          </p:spTgt>
                                        </p:tgtEl>
                                        <p:attrNameLst>
                                          <p:attrName>ppt_y</p:attrName>
                                        </p:attrNameLst>
                                      </p:cBhvr>
                                      <p:tavLst>
                                        <p:tav tm="0">
                                          <p:val>
                                            <p:strVal val="#ppt_y+#ppt_h*1.125000"/>
                                          </p:val>
                                        </p:tav>
                                        <p:tav tm="100000">
                                          <p:val>
                                            <p:strVal val="#ppt_y"/>
                                          </p:val>
                                        </p:tav>
                                      </p:tavLst>
                                    </p:anim>
                                    <p:animEffect transition="in" filter="wipe(up)">
                                      <p:cBhvr>
                                        <p:cTn id="26" dur="500"/>
                                        <p:tgtEl>
                                          <p:spTgt spid="144387">
                                            <p:txEl>
                                              <p:pRg st="3" end="3"/>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2" presetClass="entr" presetSubtype="4" fill="hold" grpId="0" nodeType="clickEffect">
                                  <p:stCondLst>
                                    <p:cond delay="0"/>
                                  </p:stCondLst>
                                  <p:childTnLst>
                                    <p:set>
                                      <p:cBhvr>
                                        <p:cTn id="30" dur="1" fill="hold">
                                          <p:stCondLst>
                                            <p:cond delay="0"/>
                                          </p:stCondLst>
                                        </p:cTn>
                                        <p:tgtEl>
                                          <p:spTgt spid="144387">
                                            <p:txEl>
                                              <p:pRg st="4" end="4"/>
                                            </p:txEl>
                                          </p:spTgt>
                                        </p:tgtEl>
                                        <p:attrNameLst>
                                          <p:attrName>style.visibility</p:attrName>
                                        </p:attrNameLst>
                                      </p:cBhvr>
                                      <p:to>
                                        <p:strVal val="visible"/>
                                      </p:to>
                                    </p:set>
                                    <p:anim calcmode="lin" valueType="num">
                                      <p:cBhvr additive="base">
                                        <p:cTn id="31" dur="500"/>
                                        <p:tgtEl>
                                          <p:spTgt spid="144387">
                                            <p:txEl>
                                              <p:pRg st="4" end="4"/>
                                            </p:txEl>
                                          </p:spTgt>
                                        </p:tgtEl>
                                        <p:attrNameLst>
                                          <p:attrName>ppt_y</p:attrName>
                                        </p:attrNameLst>
                                      </p:cBhvr>
                                      <p:tavLst>
                                        <p:tav tm="0">
                                          <p:val>
                                            <p:strVal val="#ppt_y+#ppt_h*1.125000"/>
                                          </p:val>
                                        </p:tav>
                                        <p:tav tm="100000">
                                          <p:val>
                                            <p:strVal val="#ppt_y"/>
                                          </p:val>
                                        </p:tav>
                                      </p:tavLst>
                                    </p:anim>
                                    <p:animEffect transition="in" filter="wipe(up)">
                                      <p:cBhvr>
                                        <p:cTn id="32" dur="500"/>
                                        <p:tgtEl>
                                          <p:spTgt spid="144387">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4" fill="hold" grpId="0" nodeType="clickEffect">
                                  <p:stCondLst>
                                    <p:cond delay="0"/>
                                  </p:stCondLst>
                                  <p:childTnLst>
                                    <p:set>
                                      <p:cBhvr>
                                        <p:cTn id="36" dur="1" fill="hold">
                                          <p:stCondLst>
                                            <p:cond delay="0"/>
                                          </p:stCondLst>
                                        </p:cTn>
                                        <p:tgtEl>
                                          <p:spTgt spid="144387">
                                            <p:txEl>
                                              <p:pRg st="5" end="5"/>
                                            </p:txEl>
                                          </p:spTgt>
                                        </p:tgtEl>
                                        <p:attrNameLst>
                                          <p:attrName>style.visibility</p:attrName>
                                        </p:attrNameLst>
                                      </p:cBhvr>
                                      <p:to>
                                        <p:strVal val="visible"/>
                                      </p:to>
                                    </p:set>
                                    <p:anim calcmode="lin" valueType="num">
                                      <p:cBhvr additive="base">
                                        <p:cTn id="37" dur="500"/>
                                        <p:tgtEl>
                                          <p:spTgt spid="144387">
                                            <p:txEl>
                                              <p:pRg st="5" end="5"/>
                                            </p:txEl>
                                          </p:spTgt>
                                        </p:tgtEl>
                                        <p:attrNameLst>
                                          <p:attrName>ppt_y</p:attrName>
                                        </p:attrNameLst>
                                      </p:cBhvr>
                                      <p:tavLst>
                                        <p:tav tm="0">
                                          <p:val>
                                            <p:strVal val="#ppt_y+#ppt_h*1.125000"/>
                                          </p:val>
                                        </p:tav>
                                        <p:tav tm="100000">
                                          <p:val>
                                            <p:strVal val="#ppt_y"/>
                                          </p:val>
                                        </p:tav>
                                      </p:tavLst>
                                    </p:anim>
                                    <p:animEffect transition="in" filter="wipe(up)">
                                      <p:cBhvr>
                                        <p:cTn id="38" dur="500"/>
                                        <p:tgtEl>
                                          <p:spTgt spid="144387">
                                            <p:txEl>
                                              <p:pRg st="5" end="5"/>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2" presetClass="entr" presetSubtype="4" fill="hold" grpId="0" nodeType="clickEffect">
                                  <p:stCondLst>
                                    <p:cond delay="0"/>
                                  </p:stCondLst>
                                  <p:childTnLst>
                                    <p:set>
                                      <p:cBhvr>
                                        <p:cTn id="42" dur="1" fill="hold">
                                          <p:stCondLst>
                                            <p:cond delay="0"/>
                                          </p:stCondLst>
                                        </p:cTn>
                                        <p:tgtEl>
                                          <p:spTgt spid="144387">
                                            <p:txEl>
                                              <p:pRg st="6" end="6"/>
                                            </p:txEl>
                                          </p:spTgt>
                                        </p:tgtEl>
                                        <p:attrNameLst>
                                          <p:attrName>style.visibility</p:attrName>
                                        </p:attrNameLst>
                                      </p:cBhvr>
                                      <p:to>
                                        <p:strVal val="visible"/>
                                      </p:to>
                                    </p:set>
                                    <p:anim calcmode="lin" valueType="num">
                                      <p:cBhvr additive="base">
                                        <p:cTn id="43" dur="500"/>
                                        <p:tgtEl>
                                          <p:spTgt spid="144387">
                                            <p:txEl>
                                              <p:pRg st="6" end="6"/>
                                            </p:txEl>
                                          </p:spTgt>
                                        </p:tgtEl>
                                        <p:attrNameLst>
                                          <p:attrName>ppt_y</p:attrName>
                                        </p:attrNameLst>
                                      </p:cBhvr>
                                      <p:tavLst>
                                        <p:tav tm="0">
                                          <p:val>
                                            <p:strVal val="#ppt_y+#ppt_h*1.125000"/>
                                          </p:val>
                                        </p:tav>
                                        <p:tav tm="100000">
                                          <p:val>
                                            <p:strVal val="#ppt_y"/>
                                          </p:val>
                                        </p:tav>
                                      </p:tavLst>
                                    </p:anim>
                                    <p:animEffect transition="in" filter="wipe(up)">
                                      <p:cBhvr>
                                        <p:cTn id="44" dur="500"/>
                                        <p:tgtEl>
                                          <p:spTgt spid="144387">
                                            <p:txEl>
                                              <p:pRg st="6" end="6"/>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12" presetClass="entr" presetSubtype="4" fill="hold" grpId="0" nodeType="clickEffect">
                                  <p:stCondLst>
                                    <p:cond delay="0"/>
                                  </p:stCondLst>
                                  <p:childTnLst>
                                    <p:set>
                                      <p:cBhvr>
                                        <p:cTn id="48" dur="1" fill="hold">
                                          <p:stCondLst>
                                            <p:cond delay="0"/>
                                          </p:stCondLst>
                                        </p:cTn>
                                        <p:tgtEl>
                                          <p:spTgt spid="144387">
                                            <p:txEl>
                                              <p:pRg st="7" end="7"/>
                                            </p:txEl>
                                          </p:spTgt>
                                        </p:tgtEl>
                                        <p:attrNameLst>
                                          <p:attrName>style.visibility</p:attrName>
                                        </p:attrNameLst>
                                      </p:cBhvr>
                                      <p:to>
                                        <p:strVal val="visible"/>
                                      </p:to>
                                    </p:set>
                                    <p:anim calcmode="lin" valueType="num">
                                      <p:cBhvr additive="base">
                                        <p:cTn id="49" dur="500"/>
                                        <p:tgtEl>
                                          <p:spTgt spid="144387">
                                            <p:txEl>
                                              <p:pRg st="7" end="7"/>
                                            </p:txEl>
                                          </p:spTgt>
                                        </p:tgtEl>
                                        <p:attrNameLst>
                                          <p:attrName>ppt_y</p:attrName>
                                        </p:attrNameLst>
                                      </p:cBhvr>
                                      <p:tavLst>
                                        <p:tav tm="0">
                                          <p:val>
                                            <p:strVal val="#ppt_y+#ppt_h*1.125000"/>
                                          </p:val>
                                        </p:tav>
                                        <p:tav tm="100000">
                                          <p:val>
                                            <p:strVal val="#ppt_y"/>
                                          </p:val>
                                        </p:tav>
                                      </p:tavLst>
                                    </p:anim>
                                    <p:animEffect transition="in" filter="wipe(up)">
                                      <p:cBhvr>
                                        <p:cTn id="50" dur="500"/>
                                        <p:tgtEl>
                                          <p:spTgt spid="144387">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4387" grpId="0" build="p" bldLvl="3" autoUpdateAnimBg="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Rectangle 3">
            <a:extLst>
              <a:ext uri="{FF2B5EF4-FFF2-40B4-BE49-F238E27FC236}">
                <a16:creationId xmlns:a16="http://schemas.microsoft.com/office/drawing/2014/main" id="{373AC8A0-A4C7-4788-918B-EA080C4A0B54}"/>
              </a:ext>
            </a:extLst>
          </p:cNvPr>
          <p:cNvSpPr>
            <a:spLocks noChangeArrowheads="1"/>
          </p:cNvSpPr>
          <p:nvPr/>
        </p:nvSpPr>
        <p:spPr bwMode="auto">
          <a:xfrm>
            <a:off x="2209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40964" name="Rectangle 4">
            <a:extLst>
              <a:ext uri="{FF2B5EF4-FFF2-40B4-BE49-F238E27FC236}">
                <a16:creationId xmlns:a16="http://schemas.microsoft.com/office/drawing/2014/main" id="{C7D59C47-ECA0-4315-B84B-8923C3C9A6AD}"/>
              </a:ext>
            </a:extLst>
          </p:cNvPr>
          <p:cNvSpPr>
            <a:spLocks noChangeArrowheads="1"/>
          </p:cNvSpPr>
          <p:nvPr/>
        </p:nvSpPr>
        <p:spPr bwMode="auto">
          <a:xfrm>
            <a:off x="4648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40965" name="Rectangle 5">
            <a:extLst>
              <a:ext uri="{FF2B5EF4-FFF2-40B4-BE49-F238E27FC236}">
                <a16:creationId xmlns:a16="http://schemas.microsoft.com/office/drawing/2014/main" id="{D447EEEF-B3DC-4573-B0F7-BF61196E9385}"/>
              </a:ext>
            </a:extLst>
          </p:cNvPr>
          <p:cNvSpPr>
            <a:spLocks noChangeArrowheads="1"/>
          </p:cNvSpPr>
          <p:nvPr/>
        </p:nvSpPr>
        <p:spPr bwMode="auto">
          <a:xfrm>
            <a:off x="2270126" y="5897563"/>
            <a:ext cx="384721" cy="4007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defRPr sz="2400">
                <a:solidFill>
                  <a:schemeClr val="tx1"/>
                </a:solidFill>
                <a:latin typeface="Times New Roman" panose="02020603050405020304" pitchFamily="18" charset="0"/>
              </a:defRPr>
            </a:lvl1pPr>
            <a:lvl2pPr marL="742950" indent="-285750" defTabSz="762000">
              <a:defRPr sz="2400">
                <a:solidFill>
                  <a:schemeClr val="tx1"/>
                </a:solidFill>
                <a:latin typeface="Times New Roman" panose="02020603050405020304" pitchFamily="18" charset="0"/>
              </a:defRPr>
            </a:lvl2pPr>
            <a:lvl3pPr marL="1143000" indent="-228600" defTabSz="762000">
              <a:defRPr sz="2400">
                <a:solidFill>
                  <a:schemeClr val="tx1"/>
                </a:solidFill>
                <a:latin typeface="Times New Roman" panose="02020603050405020304" pitchFamily="18" charset="0"/>
              </a:defRPr>
            </a:lvl3pPr>
            <a:lvl4pPr marL="1600200" indent="-228600" defTabSz="762000">
              <a:defRPr sz="2400">
                <a:solidFill>
                  <a:schemeClr val="tx1"/>
                </a:solidFill>
                <a:latin typeface="Times New Roman" panose="02020603050405020304" pitchFamily="18" charset="0"/>
              </a:defRPr>
            </a:lvl4pPr>
            <a:lvl5pPr marL="2057400" indent="-228600" defTabSz="762000">
              <a:defRPr sz="2400">
                <a:solidFill>
                  <a:schemeClr val="tx1"/>
                </a:solidFill>
                <a:latin typeface="Times New Roman" panose="02020603050405020304" pitchFamily="18" charset="0"/>
              </a:defRPr>
            </a:lvl5pPr>
            <a:lvl6pPr marL="2514600" indent="-228600" defTabSz="7620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7620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7620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762000" eaLnBrk="0" fontAlgn="base" hangingPunct="0">
              <a:spcBef>
                <a:spcPct val="0"/>
              </a:spcBef>
              <a:spcAft>
                <a:spcPct val="0"/>
              </a:spcAft>
              <a:defRPr sz="2400">
                <a:solidFill>
                  <a:schemeClr val="tx1"/>
                </a:solidFill>
                <a:latin typeface="Times New Roman" panose="02020603050405020304" pitchFamily="18" charset="0"/>
              </a:defRPr>
            </a:lvl9pPr>
          </a:lstStyle>
          <a:p>
            <a:r>
              <a:rPr lang="en-GB" altLang="en-US" sz="2000">
                <a:latin typeface="Arial" panose="020B0604020202020204" pitchFamily="34" charset="0"/>
              </a:rPr>
              <a:t>O</a:t>
            </a:r>
          </a:p>
        </p:txBody>
      </p:sp>
      <p:sp>
        <p:nvSpPr>
          <p:cNvPr id="40966" name="Rectangle 6">
            <a:extLst>
              <a:ext uri="{FF2B5EF4-FFF2-40B4-BE49-F238E27FC236}">
                <a16:creationId xmlns:a16="http://schemas.microsoft.com/office/drawing/2014/main" id="{3445115A-5B75-4E52-AA10-E9AC721D9671}"/>
              </a:ext>
            </a:extLst>
          </p:cNvPr>
          <p:cNvSpPr>
            <a:spLocks noChangeArrowheads="1"/>
          </p:cNvSpPr>
          <p:nvPr/>
        </p:nvSpPr>
        <p:spPr bwMode="auto">
          <a:xfrm rot="16200000">
            <a:off x="1175267" y="2858737"/>
            <a:ext cx="1370568" cy="4007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defRPr sz="2400">
                <a:solidFill>
                  <a:schemeClr val="tx1"/>
                </a:solidFill>
                <a:latin typeface="Times New Roman" panose="02020603050405020304" pitchFamily="18" charset="0"/>
              </a:defRPr>
            </a:lvl1pPr>
            <a:lvl2pPr marL="742950" indent="-285750" defTabSz="762000">
              <a:defRPr sz="2400">
                <a:solidFill>
                  <a:schemeClr val="tx1"/>
                </a:solidFill>
                <a:latin typeface="Times New Roman" panose="02020603050405020304" pitchFamily="18" charset="0"/>
              </a:defRPr>
            </a:lvl2pPr>
            <a:lvl3pPr marL="1143000" indent="-228600" defTabSz="762000">
              <a:defRPr sz="2400">
                <a:solidFill>
                  <a:schemeClr val="tx1"/>
                </a:solidFill>
                <a:latin typeface="Times New Roman" panose="02020603050405020304" pitchFamily="18" charset="0"/>
              </a:defRPr>
            </a:lvl3pPr>
            <a:lvl4pPr marL="1600200" indent="-228600" defTabSz="762000">
              <a:defRPr sz="2400">
                <a:solidFill>
                  <a:schemeClr val="tx1"/>
                </a:solidFill>
                <a:latin typeface="Times New Roman" panose="02020603050405020304" pitchFamily="18" charset="0"/>
              </a:defRPr>
            </a:lvl4pPr>
            <a:lvl5pPr marL="2057400" indent="-228600" defTabSz="762000">
              <a:defRPr sz="2400">
                <a:solidFill>
                  <a:schemeClr val="tx1"/>
                </a:solidFill>
                <a:latin typeface="Times New Roman" panose="02020603050405020304" pitchFamily="18" charset="0"/>
              </a:defRPr>
            </a:lvl5pPr>
            <a:lvl6pPr marL="2514600" indent="-228600" defTabSz="7620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7620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7620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762000" eaLnBrk="0" fontAlgn="base" hangingPunct="0">
              <a:spcBef>
                <a:spcPct val="0"/>
              </a:spcBef>
              <a:spcAft>
                <a:spcPct val="0"/>
              </a:spcAft>
              <a:defRPr sz="2400">
                <a:solidFill>
                  <a:schemeClr val="tx1"/>
                </a:solidFill>
                <a:latin typeface="Times New Roman" panose="02020603050405020304" pitchFamily="18" charset="0"/>
              </a:defRPr>
            </a:lvl9pPr>
          </a:lstStyle>
          <a:p>
            <a:r>
              <a:rPr lang="en-GB" altLang="en-US" sz="2000">
                <a:latin typeface="Arial" panose="020B0604020202020204" pitchFamily="34" charset="0"/>
              </a:rPr>
              <a:t>Price level</a:t>
            </a:r>
          </a:p>
        </p:txBody>
      </p:sp>
      <p:sp>
        <p:nvSpPr>
          <p:cNvPr id="40968" name="Arc 8">
            <a:extLst>
              <a:ext uri="{FF2B5EF4-FFF2-40B4-BE49-F238E27FC236}">
                <a16:creationId xmlns:a16="http://schemas.microsoft.com/office/drawing/2014/main" id="{556A8019-92BF-4AC3-ADCD-F5E01E44A280}"/>
              </a:ext>
            </a:extLst>
          </p:cNvPr>
          <p:cNvSpPr>
            <a:spLocks/>
          </p:cNvSpPr>
          <p:nvPr/>
        </p:nvSpPr>
        <p:spPr bwMode="auto">
          <a:xfrm rot="21240000">
            <a:off x="2058989" y="228600"/>
            <a:ext cx="4860925" cy="5226050"/>
          </a:xfrm>
          <a:custGeom>
            <a:avLst/>
            <a:gdLst>
              <a:gd name="T0" fmla="*/ 2147483647 w 20593"/>
              <a:gd name="T1" fmla="*/ 2147483647 h 21428"/>
              <a:gd name="T2" fmla="*/ 2147483647 w 20593"/>
              <a:gd name="T3" fmla="*/ 2147483647 h 21428"/>
              <a:gd name="T4" fmla="*/ 0 w 20593"/>
              <a:gd name="T5" fmla="*/ 0 h 21428"/>
              <a:gd name="T6" fmla="*/ 0 60000 65536"/>
              <a:gd name="T7" fmla="*/ 0 60000 65536"/>
              <a:gd name="T8" fmla="*/ 0 60000 65536"/>
              <a:gd name="T9" fmla="*/ 0 w 20593"/>
              <a:gd name="T10" fmla="*/ 0 h 21428"/>
              <a:gd name="T11" fmla="*/ 20593 w 20593"/>
              <a:gd name="T12" fmla="*/ 21428 h 21428"/>
            </a:gdLst>
            <a:ahLst/>
            <a:cxnLst>
              <a:cxn ang="T6">
                <a:pos x="T0" y="T1"/>
              </a:cxn>
              <a:cxn ang="T7">
                <a:pos x="T2" y="T3"/>
              </a:cxn>
              <a:cxn ang="T8">
                <a:pos x="T4" y="T5"/>
              </a:cxn>
            </a:cxnLst>
            <a:rect l="T9" t="T10" r="T11" b="T12"/>
            <a:pathLst>
              <a:path w="20593" h="21428" fill="none" extrusionOk="0">
                <a:moveTo>
                  <a:pt x="20593" y="6518"/>
                </a:moveTo>
                <a:cubicBezTo>
                  <a:pt x="18051" y="14548"/>
                  <a:pt x="11073" y="20368"/>
                  <a:pt x="2718" y="21428"/>
                </a:cubicBezTo>
              </a:path>
              <a:path w="20593" h="21428" stroke="0" extrusionOk="0">
                <a:moveTo>
                  <a:pt x="20593" y="6518"/>
                </a:moveTo>
                <a:cubicBezTo>
                  <a:pt x="18051" y="14548"/>
                  <a:pt x="11073" y="20368"/>
                  <a:pt x="2718" y="21428"/>
                </a:cubicBezTo>
                <a:lnTo>
                  <a:pt x="0" y="0"/>
                </a:lnTo>
                <a:close/>
              </a:path>
            </a:pathLst>
          </a:custGeom>
          <a:noFill/>
          <a:ln w="38100" cap="rnd">
            <a:solidFill>
              <a:schemeClr val="tx2"/>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en-GB"/>
          </a:p>
        </p:txBody>
      </p:sp>
      <p:sp>
        <p:nvSpPr>
          <p:cNvPr id="40969" name="Arc 9">
            <a:extLst>
              <a:ext uri="{FF2B5EF4-FFF2-40B4-BE49-F238E27FC236}">
                <a16:creationId xmlns:a16="http://schemas.microsoft.com/office/drawing/2014/main" id="{68F8EF44-B2CA-4517-9301-D9046CB45FB0}"/>
              </a:ext>
            </a:extLst>
          </p:cNvPr>
          <p:cNvSpPr>
            <a:spLocks/>
          </p:cNvSpPr>
          <p:nvPr/>
        </p:nvSpPr>
        <p:spPr bwMode="auto">
          <a:xfrm>
            <a:off x="3460750" y="0"/>
            <a:ext cx="7207250" cy="5334000"/>
          </a:xfrm>
          <a:custGeom>
            <a:avLst/>
            <a:gdLst>
              <a:gd name="T0" fmla="*/ 2147483647 w 20698"/>
              <a:gd name="T1" fmla="*/ 2147483647 h 20052"/>
              <a:gd name="T2" fmla="*/ 0 w 20698"/>
              <a:gd name="T3" fmla="*/ 2147483647 h 20052"/>
              <a:gd name="T4" fmla="*/ 2147483647 w 20698"/>
              <a:gd name="T5" fmla="*/ 0 h 20052"/>
              <a:gd name="T6" fmla="*/ 0 60000 65536"/>
              <a:gd name="T7" fmla="*/ 0 60000 65536"/>
              <a:gd name="T8" fmla="*/ 0 60000 65536"/>
              <a:gd name="T9" fmla="*/ 0 w 20698"/>
              <a:gd name="T10" fmla="*/ 0 h 20052"/>
              <a:gd name="T11" fmla="*/ 20698 w 20698"/>
              <a:gd name="T12" fmla="*/ 20052 h 20052"/>
            </a:gdLst>
            <a:ahLst/>
            <a:cxnLst>
              <a:cxn ang="T6">
                <a:pos x="T0" y="T1"/>
              </a:cxn>
              <a:cxn ang="T7">
                <a:pos x="T2" y="T3"/>
              </a:cxn>
              <a:cxn ang="T8">
                <a:pos x="T4" y="T5"/>
              </a:cxn>
            </a:cxnLst>
            <a:rect l="T9" t="T10" r="T11" b="T12"/>
            <a:pathLst>
              <a:path w="20698" h="20052" fill="none" extrusionOk="0">
                <a:moveTo>
                  <a:pt x="12668" y="20051"/>
                </a:moveTo>
                <a:cubicBezTo>
                  <a:pt x="6550" y="17601"/>
                  <a:pt x="1885" y="12492"/>
                  <a:pt x="0" y="6177"/>
                </a:cubicBezTo>
              </a:path>
              <a:path w="20698" h="20052" stroke="0" extrusionOk="0">
                <a:moveTo>
                  <a:pt x="12668" y="20051"/>
                </a:moveTo>
                <a:cubicBezTo>
                  <a:pt x="6550" y="17601"/>
                  <a:pt x="1885" y="12492"/>
                  <a:pt x="0" y="6177"/>
                </a:cubicBezTo>
                <a:lnTo>
                  <a:pt x="20698" y="0"/>
                </a:lnTo>
                <a:close/>
              </a:path>
            </a:pathLst>
          </a:custGeom>
          <a:noFill/>
          <a:ln w="38100" cap="rnd">
            <a:solidFill>
              <a:schemeClr val="tx2"/>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en-GB"/>
          </a:p>
        </p:txBody>
      </p:sp>
      <p:sp>
        <p:nvSpPr>
          <p:cNvPr id="40970" name="Rectangle 10">
            <a:extLst>
              <a:ext uri="{FF2B5EF4-FFF2-40B4-BE49-F238E27FC236}">
                <a16:creationId xmlns:a16="http://schemas.microsoft.com/office/drawing/2014/main" id="{19A3EA3A-5604-48AD-848C-1610E1703E7D}"/>
              </a:ext>
            </a:extLst>
          </p:cNvPr>
          <p:cNvSpPr>
            <a:spLocks noChangeArrowheads="1"/>
          </p:cNvSpPr>
          <p:nvPr/>
        </p:nvSpPr>
        <p:spPr bwMode="auto">
          <a:xfrm>
            <a:off x="6561431" y="1173164"/>
            <a:ext cx="596317" cy="462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defRPr sz="2400">
                <a:solidFill>
                  <a:schemeClr val="tx1"/>
                </a:solidFill>
                <a:latin typeface="Times New Roman" panose="02020603050405020304" pitchFamily="18" charset="0"/>
              </a:defRPr>
            </a:lvl1pPr>
            <a:lvl2pPr marL="742950" indent="-285750" defTabSz="762000">
              <a:defRPr sz="2400">
                <a:solidFill>
                  <a:schemeClr val="tx1"/>
                </a:solidFill>
                <a:latin typeface="Times New Roman" panose="02020603050405020304" pitchFamily="18" charset="0"/>
              </a:defRPr>
            </a:lvl2pPr>
            <a:lvl3pPr marL="1143000" indent="-228600" defTabSz="762000">
              <a:defRPr sz="2400">
                <a:solidFill>
                  <a:schemeClr val="tx1"/>
                </a:solidFill>
                <a:latin typeface="Times New Roman" panose="02020603050405020304" pitchFamily="18" charset="0"/>
              </a:defRPr>
            </a:lvl3pPr>
            <a:lvl4pPr marL="1600200" indent="-228600" defTabSz="762000">
              <a:defRPr sz="2400">
                <a:solidFill>
                  <a:schemeClr val="tx1"/>
                </a:solidFill>
                <a:latin typeface="Times New Roman" panose="02020603050405020304" pitchFamily="18" charset="0"/>
              </a:defRPr>
            </a:lvl4pPr>
            <a:lvl5pPr marL="2057400" indent="-228600" defTabSz="762000">
              <a:defRPr sz="2400">
                <a:solidFill>
                  <a:schemeClr val="tx1"/>
                </a:solidFill>
                <a:latin typeface="Times New Roman" panose="02020603050405020304" pitchFamily="18" charset="0"/>
              </a:defRPr>
            </a:lvl5pPr>
            <a:lvl6pPr marL="2514600" indent="-228600" defTabSz="7620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7620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7620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GB" altLang="en-US" i="1" dirty="0">
                <a:solidFill>
                  <a:schemeClr val="tx2"/>
                </a:solidFill>
                <a:latin typeface="Arial" panose="020B0604020202020204" pitchFamily="34" charset="0"/>
              </a:rPr>
              <a:t>AS</a:t>
            </a:r>
          </a:p>
        </p:txBody>
      </p:sp>
      <p:sp>
        <p:nvSpPr>
          <p:cNvPr id="40971" name="Rectangle 11">
            <a:extLst>
              <a:ext uri="{FF2B5EF4-FFF2-40B4-BE49-F238E27FC236}">
                <a16:creationId xmlns:a16="http://schemas.microsoft.com/office/drawing/2014/main" id="{4AE28D67-9853-4A81-9757-5D39327B31CF}"/>
              </a:ext>
            </a:extLst>
          </p:cNvPr>
          <p:cNvSpPr>
            <a:spLocks noChangeArrowheads="1"/>
          </p:cNvSpPr>
          <p:nvPr/>
        </p:nvSpPr>
        <p:spPr bwMode="auto">
          <a:xfrm>
            <a:off x="7832726" y="5135564"/>
            <a:ext cx="727763" cy="462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defRPr sz="2400">
                <a:solidFill>
                  <a:schemeClr val="tx1"/>
                </a:solidFill>
                <a:latin typeface="Times New Roman" panose="02020603050405020304" pitchFamily="18" charset="0"/>
              </a:defRPr>
            </a:lvl1pPr>
            <a:lvl2pPr marL="742950" indent="-285750" defTabSz="762000">
              <a:defRPr sz="2400">
                <a:solidFill>
                  <a:schemeClr val="tx1"/>
                </a:solidFill>
                <a:latin typeface="Times New Roman" panose="02020603050405020304" pitchFamily="18" charset="0"/>
              </a:defRPr>
            </a:lvl2pPr>
            <a:lvl3pPr marL="1143000" indent="-228600" defTabSz="762000">
              <a:defRPr sz="2400">
                <a:solidFill>
                  <a:schemeClr val="tx1"/>
                </a:solidFill>
                <a:latin typeface="Times New Roman" panose="02020603050405020304" pitchFamily="18" charset="0"/>
              </a:defRPr>
            </a:lvl3pPr>
            <a:lvl4pPr marL="1600200" indent="-228600" defTabSz="762000">
              <a:defRPr sz="2400">
                <a:solidFill>
                  <a:schemeClr val="tx1"/>
                </a:solidFill>
                <a:latin typeface="Times New Roman" panose="02020603050405020304" pitchFamily="18" charset="0"/>
              </a:defRPr>
            </a:lvl4pPr>
            <a:lvl5pPr marL="2057400" indent="-228600" defTabSz="762000">
              <a:defRPr sz="2400">
                <a:solidFill>
                  <a:schemeClr val="tx1"/>
                </a:solidFill>
                <a:latin typeface="Times New Roman" panose="02020603050405020304" pitchFamily="18" charset="0"/>
              </a:defRPr>
            </a:lvl5pPr>
            <a:lvl6pPr marL="2514600" indent="-228600" defTabSz="7620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7620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7620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762000" eaLnBrk="0" fontAlgn="base" hangingPunct="0">
              <a:spcBef>
                <a:spcPct val="0"/>
              </a:spcBef>
              <a:spcAft>
                <a:spcPct val="0"/>
              </a:spcAft>
              <a:defRPr sz="2400">
                <a:solidFill>
                  <a:schemeClr val="tx1"/>
                </a:solidFill>
                <a:latin typeface="Times New Roman" panose="02020603050405020304" pitchFamily="18" charset="0"/>
              </a:defRPr>
            </a:lvl9pPr>
          </a:lstStyle>
          <a:p>
            <a:r>
              <a:rPr lang="en-GB" altLang="en-US" i="1">
                <a:solidFill>
                  <a:schemeClr val="tx2"/>
                </a:solidFill>
                <a:latin typeface="Arial" panose="020B0604020202020204" pitchFamily="34" charset="0"/>
              </a:rPr>
              <a:t>AD</a:t>
            </a:r>
            <a:r>
              <a:rPr lang="en-GB" altLang="en-US" baseline="-25000">
                <a:solidFill>
                  <a:schemeClr val="tx2"/>
                </a:solidFill>
                <a:latin typeface="Arial" panose="020B0604020202020204" pitchFamily="34" charset="0"/>
              </a:rPr>
              <a:t>1</a:t>
            </a:r>
          </a:p>
        </p:txBody>
      </p:sp>
      <p:sp>
        <p:nvSpPr>
          <p:cNvPr id="40972" name="Line 12">
            <a:extLst>
              <a:ext uri="{FF2B5EF4-FFF2-40B4-BE49-F238E27FC236}">
                <a16:creationId xmlns:a16="http://schemas.microsoft.com/office/drawing/2014/main" id="{2592ABDE-3C56-4DE4-95A0-E6EB9F01B651}"/>
              </a:ext>
            </a:extLst>
          </p:cNvPr>
          <p:cNvSpPr>
            <a:spLocks noChangeShapeType="1"/>
          </p:cNvSpPr>
          <p:nvPr/>
        </p:nvSpPr>
        <p:spPr bwMode="auto">
          <a:xfrm flipH="1">
            <a:off x="2592389" y="4160838"/>
            <a:ext cx="2840037" cy="0"/>
          </a:xfrm>
          <a:prstGeom prst="line">
            <a:avLst/>
          </a:prstGeom>
          <a:noFill/>
          <a:ln w="19050">
            <a:solidFill>
              <a:schemeClr val="tx2"/>
            </a:solidFill>
            <a:prstDash val="dash"/>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40973" name="Rectangle 13">
            <a:extLst>
              <a:ext uri="{FF2B5EF4-FFF2-40B4-BE49-F238E27FC236}">
                <a16:creationId xmlns:a16="http://schemas.microsoft.com/office/drawing/2014/main" id="{FC9741B4-CC6B-4E8C-BD59-B0958E4BB9CF}"/>
              </a:ext>
            </a:extLst>
          </p:cNvPr>
          <p:cNvSpPr>
            <a:spLocks noChangeArrowheads="1"/>
          </p:cNvSpPr>
          <p:nvPr/>
        </p:nvSpPr>
        <p:spPr bwMode="auto">
          <a:xfrm>
            <a:off x="2146690" y="3937000"/>
            <a:ext cx="452048" cy="4007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defRPr sz="2400">
                <a:solidFill>
                  <a:schemeClr val="tx1"/>
                </a:solidFill>
                <a:latin typeface="Times New Roman" panose="02020603050405020304" pitchFamily="18" charset="0"/>
              </a:defRPr>
            </a:lvl1pPr>
            <a:lvl2pPr marL="742950" indent="-285750" defTabSz="762000">
              <a:defRPr sz="2400">
                <a:solidFill>
                  <a:schemeClr val="tx1"/>
                </a:solidFill>
                <a:latin typeface="Times New Roman" panose="02020603050405020304" pitchFamily="18" charset="0"/>
              </a:defRPr>
            </a:lvl2pPr>
            <a:lvl3pPr marL="1143000" indent="-228600" defTabSz="762000">
              <a:defRPr sz="2400">
                <a:solidFill>
                  <a:schemeClr val="tx1"/>
                </a:solidFill>
                <a:latin typeface="Times New Roman" panose="02020603050405020304" pitchFamily="18" charset="0"/>
              </a:defRPr>
            </a:lvl3pPr>
            <a:lvl4pPr marL="1600200" indent="-228600" defTabSz="762000">
              <a:defRPr sz="2400">
                <a:solidFill>
                  <a:schemeClr val="tx1"/>
                </a:solidFill>
                <a:latin typeface="Times New Roman" panose="02020603050405020304" pitchFamily="18" charset="0"/>
              </a:defRPr>
            </a:lvl4pPr>
            <a:lvl5pPr marL="2057400" indent="-228600" defTabSz="762000">
              <a:defRPr sz="2400">
                <a:solidFill>
                  <a:schemeClr val="tx1"/>
                </a:solidFill>
                <a:latin typeface="Times New Roman" panose="02020603050405020304" pitchFamily="18" charset="0"/>
              </a:defRPr>
            </a:lvl5pPr>
            <a:lvl6pPr marL="2514600" indent="-228600" defTabSz="7620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7620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7620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r"/>
            <a:r>
              <a:rPr lang="en-GB" altLang="en-US" sz="2000" i="1">
                <a:solidFill>
                  <a:schemeClr val="tx2"/>
                </a:solidFill>
                <a:latin typeface="Arial" panose="020B0604020202020204" pitchFamily="34" charset="0"/>
              </a:rPr>
              <a:t>P</a:t>
            </a:r>
            <a:r>
              <a:rPr lang="en-GB" altLang="en-US" sz="2000" baseline="-25000">
                <a:solidFill>
                  <a:schemeClr val="tx2"/>
                </a:solidFill>
                <a:latin typeface="Arial" panose="020B0604020202020204" pitchFamily="34" charset="0"/>
              </a:rPr>
              <a:t>1</a:t>
            </a:r>
          </a:p>
        </p:txBody>
      </p:sp>
      <p:sp>
        <p:nvSpPr>
          <p:cNvPr id="40974" name="Line 15">
            <a:extLst>
              <a:ext uri="{FF2B5EF4-FFF2-40B4-BE49-F238E27FC236}">
                <a16:creationId xmlns:a16="http://schemas.microsoft.com/office/drawing/2014/main" id="{5A285A0B-4AB8-4183-9460-7B9C3B51679A}"/>
              </a:ext>
            </a:extLst>
          </p:cNvPr>
          <p:cNvSpPr>
            <a:spLocks noChangeShapeType="1"/>
          </p:cNvSpPr>
          <p:nvPr/>
        </p:nvSpPr>
        <p:spPr bwMode="auto">
          <a:xfrm>
            <a:off x="5467350" y="4176714"/>
            <a:ext cx="0" cy="1768475"/>
          </a:xfrm>
          <a:prstGeom prst="line">
            <a:avLst/>
          </a:prstGeom>
          <a:noFill/>
          <a:ln w="19050">
            <a:solidFill>
              <a:schemeClr val="tx2"/>
            </a:solidFill>
            <a:prstDash val="dash"/>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40975" name="Rectangle 16">
            <a:extLst>
              <a:ext uri="{FF2B5EF4-FFF2-40B4-BE49-F238E27FC236}">
                <a16:creationId xmlns:a16="http://schemas.microsoft.com/office/drawing/2014/main" id="{F4C721F6-4AA0-4357-9752-4F91BC120603}"/>
              </a:ext>
            </a:extLst>
          </p:cNvPr>
          <p:cNvSpPr>
            <a:spLocks noChangeArrowheads="1"/>
          </p:cNvSpPr>
          <p:nvPr/>
        </p:nvSpPr>
        <p:spPr bwMode="auto">
          <a:xfrm>
            <a:off x="5230940" y="5959475"/>
            <a:ext cx="479298" cy="4007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defRPr sz="2400">
                <a:solidFill>
                  <a:schemeClr val="tx1"/>
                </a:solidFill>
                <a:latin typeface="Times New Roman" panose="02020603050405020304" pitchFamily="18" charset="0"/>
              </a:defRPr>
            </a:lvl1pPr>
            <a:lvl2pPr marL="742950" indent="-285750" defTabSz="762000">
              <a:defRPr sz="2400">
                <a:solidFill>
                  <a:schemeClr val="tx1"/>
                </a:solidFill>
                <a:latin typeface="Times New Roman" panose="02020603050405020304" pitchFamily="18" charset="0"/>
              </a:defRPr>
            </a:lvl2pPr>
            <a:lvl3pPr marL="1143000" indent="-228600" defTabSz="762000">
              <a:defRPr sz="2400">
                <a:solidFill>
                  <a:schemeClr val="tx1"/>
                </a:solidFill>
                <a:latin typeface="Times New Roman" panose="02020603050405020304" pitchFamily="18" charset="0"/>
              </a:defRPr>
            </a:lvl3pPr>
            <a:lvl4pPr marL="1600200" indent="-228600" defTabSz="762000">
              <a:defRPr sz="2400">
                <a:solidFill>
                  <a:schemeClr val="tx1"/>
                </a:solidFill>
                <a:latin typeface="Times New Roman" panose="02020603050405020304" pitchFamily="18" charset="0"/>
              </a:defRPr>
            </a:lvl4pPr>
            <a:lvl5pPr marL="2057400" indent="-228600" defTabSz="762000">
              <a:defRPr sz="2400">
                <a:solidFill>
                  <a:schemeClr val="tx1"/>
                </a:solidFill>
                <a:latin typeface="Times New Roman" panose="02020603050405020304" pitchFamily="18" charset="0"/>
              </a:defRPr>
            </a:lvl5pPr>
            <a:lvl6pPr marL="2514600" indent="-228600" defTabSz="7620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7620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7620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r"/>
            <a:r>
              <a:rPr lang="en-GB" altLang="en-US" sz="2000" i="1">
                <a:solidFill>
                  <a:schemeClr val="tx2"/>
                </a:solidFill>
                <a:latin typeface="Arial" panose="020B0604020202020204" pitchFamily="34" charset="0"/>
              </a:rPr>
              <a:t>Q</a:t>
            </a:r>
            <a:r>
              <a:rPr lang="en-GB" altLang="en-US" sz="2000" baseline="-25000">
                <a:solidFill>
                  <a:schemeClr val="tx2"/>
                </a:solidFill>
                <a:latin typeface="Arial" panose="020B0604020202020204" pitchFamily="34" charset="0"/>
              </a:rPr>
              <a:t>1</a:t>
            </a:r>
          </a:p>
        </p:txBody>
      </p:sp>
      <p:sp>
        <p:nvSpPr>
          <p:cNvPr id="40976" name="Arc 17">
            <a:extLst>
              <a:ext uri="{FF2B5EF4-FFF2-40B4-BE49-F238E27FC236}">
                <a16:creationId xmlns:a16="http://schemas.microsoft.com/office/drawing/2014/main" id="{6DCA58D6-6CDE-447A-9E33-4F834A17A01F}"/>
              </a:ext>
            </a:extLst>
          </p:cNvPr>
          <p:cNvSpPr>
            <a:spLocks/>
          </p:cNvSpPr>
          <p:nvPr/>
        </p:nvSpPr>
        <p:spPr bwMode="auto">
          <a:xfrm>
            <a:off x="4227513" y="28575"/>
            <a:ext cx="6361112" cy="4565650"/>
          </a:xfrm>
          <a:custGeom>
            <a:avLst/>
            <a:gdLst>
              <a:gd name="T0" fmla="*/ 2147483647 w 20948"/>
              <a:gd name="T1" fmla="*/ 2147483647 h 20344"/>
              <a:gd name="T2" fmla="*/ 0 w 20948"/>
              <a:gd name="T3" fmla="*/ 2147483647 h 20344"/>
              <a:gd name="T4" fmla="*/ 2147483647 w 20948"/>
              <a:gd name="T5" fmla="*/ 0 h 20344"/>
              <a:gd name="T6" fmla="*/ 0 60000 65536"/>
              <a:gd name="T7" fmla="*/ 0 60000 65536"/>
              <a:gd name="T8" fmla="*/ 0 60000 65536"/>
              <a:gd name="T9" fmla="*/ 0 w 20948"/>
              <a:gd name="T10" fmla="*/ 0 h 20344"/>
              <a:gd name="T11" fmla="*/ 20948 w 20948"/>
              <a:gd name="T12" fmla="*/ 20344 h 20344"/>
            </a:gdLst>
            <a:ahLst/>
            <a:cxnLst>
              <a:cxn ang="T6">
                <a:pos x="T0" y="T1"/>
              </a:cxn>
              <a:cxn ang="T7">
                <a:pos x="T2" y="T3"/>
              </a:cxn>
              <a:cxn ang="T8">
                <a:pos x="T4" y="T5"/>
              </a:cxn>
            </a:cxnLst>
            <a:rect l="T9" t="T10" r="T11" b="T12"/>
            <a:pathLst>
              <a:path w="20948" h="20344" fill="none" extrusionOk="0">
                <a:moveTo>
                  <a:pt x="13690" y="20344"/>
                </a:moveTo>
                <a:cubicBezTo>
                  <a:pt x="6895" y="17920"/>
                  <a:pt x="1759" y="12264"/>
                  <a:pt x="0" y="5267"/>
                </a:cubicBezTo>
              </a:path>
              <a:path w="20948" h="20344" stroke="0" extrusionOk="0">
                <a:moveTo>
                  <a:pt x="13690" y="20344"/>
                </a:moveTo>
                <a:cubicBezTo>
                  <a:pt x="6895" y="17920"/>
                  <a:pt x="1759" y="12264"/>
                  <a:pt x="0" y="5267"/>
                </a:cubicBezTo>
                <a:lnTo>
                  <a:pt x="20948" y="0"/>
                </a:lnTo>
                <a:close/>
              </a:path>
            </a:pathLst>
          </a:custGeom>
          <a:noFill/>
          <a:ln w="38100" cap="rnd">
            <a:solidFill>
              <a:schemeClr val="accent2"/>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en-GB"/>
          </a:p>
        </p:txBody>
      </p:sp>
      <p:sp>
        <p:nvSpPr>
          <p:cNvPr id="40977" name="Rectangle 18">
            <a:extLst>
              <a:ext uri="{FF2B5EF4-FFF2-40B4-BE49-F238E27FC236}">
                <a16:creationId xmlns:a16="http://schemas.microsoft.com/office/drawing/2014/main" id="{50863BCE-A2E5-417B-86EA-7A135EC9C72C}"/>
              </a:ext>
            </a:extLst>
          </p:cNvPr>
          <p:cNvSpPr>
            <a:spLocks noChangeArrowheads="1"/>
          </p:cNvSpPr>
          <p:nvPr/>
        </p:nvSpPr>
        <p:spPr bwMode="auto">
          <a:xfrm>
            <a:off x="8393114" y="4386264"/>
            <a:ext cx="727763" cy="462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defRPr sz="2400">
                <a:solidFill>
                  <a:schemeClr val="tx1"/>
                </a:solidFill>
                <a:latin typeface="Times New Roman" panose="02020603050405020304" pitchFamily="18" charset="0"/>
              </a:defRPr>
            </a:lvl1pPr>
            <a:lvl2pPr marL="742950" indent="-285750" defTabSz="762000">
              <a:defRPr sz="2400">
                <a:solidFill>
                  <a:schemeClr val="tx1"/>
                </a:solidFill>
                <a:latin typeface="Times New Roman" panose="02020603050405020304" pitchFamily="18" charset="0"/>
              </a:defRPr>
            </a:lvl2pPr>
            <a:lvl3pPr marL="1143000" indent="-228600" defTabSz="762000">
              <a:defRPr sz="2400">
                <a:solidFill>
                  <a:schemeClr val="tx1"/>
                </a:solidFill>
                <a:latin typeface="Times New Roman" panose="02020603050405020304" pitchFamily="18" charset="0"/>
              </a:defRPr>
            </a:lvl3pPr>
            <a:lvl4pPr marL="1600200" indent="-228600" defTabSz="762000">
              <a:defRPr sz="2400">
                <a:solidFill>
                  <a:schemeClr val="tx1"/>
                </a:solidFill>
                <a:latin typeface="Times New Roman" panose="02020603050405020304" pitchFamily="18" charset="0"/>
              </a:defRPr>
            </a:lvl4pPr>
            <a:lvl5pPr marL="2057400" indent="-228600" defTabSz="762000">
              <a:defRPr sz="2400">
                <a:solidFill>
                  <a:schemeClr val="tx1"/>
                </a:solidFill>
                <a:latin typeface="Times New Roman" panose="02020603050405020304" pitchFamily="18" charset="0"/>
              </a:defRPr>
            </a:lvl5pPr>
            <a:lvl6pPr marL="2514600" indent="-228600" defTabSz="7620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7620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7620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762000" eaLnBrk="0" fontAlgn="base" hangingPunct="0">
              <a:spcBef>
                <a:spcPct val="0"/>
              </a:spcBef>
              <a:spcAft>
                <a:spcPct val="0"/>
              </a:spcAft>
              <a:defRPr sz="2400">
                <a:solidFill>
                  <a:schemeClr val="tx1"/>
                </a:solidFill>
                <a:latin typeface="Times New Roman" panose="02020603050405020304" pitchFamily="18" charset="0"/>
              </a:defRPr>
            </a:lvl9pPr>
          </a:lstStyle>
          <a:p>
            <a:r>
              <a:rPr lang="en-GB" altLang="en-US" i="1">
                <a:solidFill>
                  <a:schemeClr val="accent2"/>
                </a:solidFill>
                <a:latin typeface="Arial" panose="020B0604020202020204" pitchFamily="34" charset="0"/>
              </a:rPr>
              <a:t>AD</a:t>
            </a:r>
            <a:r>
              <a:rPr lang="en-GB" altLang="en-US" baseline="-25000">
                <a:solidFill>
                  <a:schemeClr val="accent2"/>
                </a:solidFill>
                <a:latin typeface="Arial" panose="020B0604020202020204" pitchFamily="34" charset="0"/>
              </a:rPr>
              <a:t>2</a:t>
            </a:r>
          </a:p>
        </p:txBody>
      </p:sp>
      <p:sp>
        <p:nvSpPr>
          <p:cNvPr id="22547" name="Line 19">
            <a:extLst>
              <a:ext uri="{FF2B5EF4-FFF2-40B4-BE49-F238E27FC236}">
                <a16:creationId xmlns:a16="http://schemas.microsoft.com/office/drawing/2014/main" id="{7F239D12-0B59-4AB0-AF03-9C6C624CF0DB}"/>
              </a:ext>
            </a:extLst>
          </p:cNvPr>
          <p:cNvSpPr>
            <a:spLocks noChangeShapeType="1"/>
          </p:cNvSpPr>
          <p:nvPr/>
        </p:nvSpPr>
        <p:spPr bwMode="auto">
          <a:xfrm flipH="1">
            <a:off x="2592388" y="3497263"/>
            <a:ext cx="3402012" cy="0"/>
          </a:xfrm>
          <a:prstGeom prst="line">
            <a:avLst/>
          </a:prstGeom>
          <a:noFill/>
          <a:ln w="19050">
            <a:solidFill>
              <a:schemeClr val="accent2"/>
            </a:solidFill>
            <a:prstDash val="dash"/>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22549" name="Rectangle 21">
            <a:extLst>
              <a:ext uri="{FF2B5EF4-FFF2-40B4-BE49-F238E27FC236}">
                <a16:creationId xmlns:a16="http://schemas.microsoft.com/office/drawing/2014/main" id="{5B54CE95-F4A7-4249-A2F9-2313A2B08AFC}"/>
              </a:ext>
            </a:extLst>
          </p:cNvPr>
          <p:cNvSpPr>
            <a:spLocks noChangeArrowheads="1"/>
          </p:cNvSpPr>
          <p:nvPr/>
        </p:nvSpPr>
        <p:spPr bwMode="auto">
          <a:xfrm>
            <a:off x="2146690" y="3290888"/>
            <a:ext cx="452048" cy="4007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defRPr sz="2400">
                <a:solidFill>
                  <a:schemeClr val="tx1"/>
                </a:solidFill>
                <a:latin typeface="Times New Roman" panose="02020603050405020304" pitchFamily="18" charset="0"/>
              </a:defRPr>
            </a:lvl1pPr>
            <a:lvl2pPr marL="742950" indent="-285750" defTabSz="762000">
              <a:defRPr sz="2400">
                <a:solidFill>
                  <a:schemeClr val="tx1"/>
                </a:solidFill>
                <a:latin typeface="Times New Roman" panose="02020603050405020304" pitchFamily="18" charset="0"/>
              </a:defRPr>
            </a:lvl2pPr>
            <a:lvl3pPr marL="1143000" indent="-228600" defTabSz="762000">
              <a:defRPr sz="2400">
                <a:solidFill>
                  <a:schemeClr val="tx1"/>
                </a:solidFill>
                <a:latin typeface="Times New Roman" panose="02020603050405020304" pitchFamily="18" charset="0"/>
              </a:defRPr>
            </a:lvl3pPr>
            <a:lvl4pPr marL="1600200" indent="-228600" defTabSz="762000">
              <a:defRPr sz="2400">
                <a:solidFill>
                  <a:schemeClr val="tx1"/>
                </a:solidFill>
                <a:latin typeface="Times New Roman" panose="02020603050405020304" pitchFamily="18" charset="0"/>
              </a:defRPr>
            </a:lvl4pPr>
            <a:lvl5pPr marL="2057400" indent="-228600" defTabSz="762000">
              <a:defRPr sz="2400">
                <a:solidFill>
                  <a:schemeClr val="tx1"/>
                </a:solidFill>
                <a:latin typeface="Times New Roman" panose="02020603050405020304" pitchFamily="18" charset="0"/>
              </a:defRPr>
            </a:lvl5pPr>
            <a:lvl6pPr marL="2514600" indent="-228600" defTabSz="7620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7620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7620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r"/>
            <a:r>
              <a:rPr lang="en-GB" altLang="en-US" sz="2000" i="1">
                <a:solidFill>
                  <a:schemeClr val="accent2"/>
                </a:solidFill>
                <a:latin typeface="Arial" panose="020B0604020202020204" pitchFamily="34" charset="0"/>
              </a:rPr>
              <a:t>P</a:t>
            </a:r>
            <a:r>
              <a:rPr lang="en-GB" altLang="en-US" sz="2000" baseline="-25000">
                <a:solidFill>
                  <a:schemeClr val="accent2"/>
                </a:solidFill>
                <a:latin typeface="Arial" panose="020B0604020202020204" pitchFamily="34" charset="0"/>
              </a:rPr>
              <a:t>2</a:t>
            </a:r>
          </a:p>
        </p:txBody>
      </p:sp>
      <p:grpSp>
        <p:nvGrpSpPr>
          <p:cNvPr id="2" name="Group 30">
            <a:extLst>
              <a:ext uri="{FF2B5EF4-FFF2-40B4-BE49-F238E27FC236}">
                <a16:creationId xmlns:a16="http://schemas.microsoft.com/office/drawing/2014/main" id="{58536FDC-2725-4F48-B166-F45168F53A46}"/>
              </a:ext>
            </a:extLst>
          </p:cNvPr>
          <p:cNvGrpSpPr>
            <a:grpSpLocks/>
          </p:cNvGrpSpPr>
          <p:nvPr/>
        </p:nvGrpSpPr>
        <p:grpSpPr bwMode="auto">
          <a:xfrm>
            <a:off x="5775326" y="3497263"/>
            <a:ext cx="479425" cy="2862262"/>
            <a:chOff x="2678" y="2203"/>
            <a:chExt cx="302" cy="1803"/>
          </a:xfrm>
        </p:grpSpPr>
        <p:sp>
          <p:nvSpPr>
            <p:cNvPr id="40981" name="Line 20">
              <a:extLst>
                <a:ext uri="{FF2B5EF4-FFF2-40B4-BE49-F238E27FC236}">
                  <a16:creationId xmlns:a16="http://schemas.microsoft.com/office/drawing/2014/main" id="{430164A0-7AB7-423D-BD4B-94BA80EF55B9}"/>
                </a:ext>
              </a:extLst>
            </p:cNvPr>
            <p:cNvSpPr>
              <a:spLocks noChangeShapeType="1"/>
            </p:cNvSpPr>
            <p:nvPr/>
          </p:nvSpPr>
          <p:spPr bwMode="auto">
            <a:xfrm>
              <a:off x="2816" y="2203"/>
              <a:ext cx="0" cy="1542"/>
            </a:xfrm>
            <a:prstGeom prst="line">
              <a:avLst/>
            </a:prstGeom>
            <a:noFill/>
            <a:ln w="19050">
              <a:solidFill>
                <a:schemeClr val="accent2"/>
              </a:solidFill>
              <a:prstDash val="dash"/>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40982" name="Rectangle 23">
              <a:extLst>
                <a:ext uri="{FF2B5EF4-FFF2-40B4-BE49-F238E27FC236}">
                  <a16:creationId xmlns:a16="http://schemas.microsoft.com/office/drawing/2014/main" id="{69A4F0EB-9C25-4CAA-A588-A193A4E99D1D}"/>
                </a:ext>
              </a:extLst>
            </p:cNvPr>
            <p:cNvSpPr>
              <a:spLocks noChangeArrowheads="1"/>
            </p:cNvSpPr>
            <p:nvPr/>
          </p:nvSpPr>
          <p:spPr bwMode="auto">
            <a:xfrm>
              <a:off x="2678" y="3754"/>
              <a:ext cx="302"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defRPr sz="2400">
                  <a:solidFill>
                    <a:schemeClr val="tx1"/>
                  </a:solidFill>
                  <a:latin typeface="Times New Roman" panose="02020603050405020304" pitchFamily="18" charset="0"/>
                </a:defRPr>
              </a:lvl1pPr>
              <a:lvl2pPr marL="742950" indent="-285750" defTabSz="762000">
                <a:defRPr sz="2400">
                  <a:solidFill>
                    <a:schemeClr val="tx1"/>
                  </a:solidFill>
                  <a:latin typeface="Times New Roman" panose="02020603050405020304" pitchFamily="18" charset="0"/>
                </a:defRPr>
              </a:lvl2pPr>
              <a:lvl3pPr marL="1143000" indent="-228600" defTabSz="762000">
                <a:defRPr sz="2400">
                  <a:solidFill>
                    <a:schemeClr val="tx1"/>
                  </a:solidFill>
                  <a:latin typeface="Times New Roman" panose="02020603050405020304" pitchFamily="18" charset="0"/>
                </a:defRPr>
              </a:lvl3pPr>
              <a:lvl4pPr marL="1600200" indent="-228600" defTabSz="762000">
                <a:defRPr sz="2400">
                  <a:solidFill>
                    <a:schemeClr val="tx1"/>
                  </a:solidFill>
                  <a:latin typeface="Times New Roman" panose="02020603050405020304" pitchFamily="18" charset="0"/>
                </a:defRPr>
              </a:lvl4pPr>
              <a:lvl5pPr marL="2057400" indent="-228600" defTabSz="762000">
                <a:defRPr sz="2400">
                  <a:solidFill>
                    <a:schemeClr val="tx1"/>
                  </a:solidFill>
                  <a:latin typeface="Times New Roman" panose="02020603050405020304" pitchFamily="18" charset="0"/>
                </a:defRPr>
              </a:lvl5pPr>
              <a:lvl6pPr marL="2514600" indent="-228600" defTabSz="7620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7620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7620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r"/>
              <a:r>
                <a:rPr lang="en-GB" altLang="en-US" sz="2000" i="1">
                  <a:solidFill>
                    <a:schemeClr val="accent2"/>
                  </a:solidFill>
                  <a:latin typeface="Arial" panose="020B0604020202020204" pitchFamily="34" charset="0"/>
                </a:rPr>
                <a:t>Q</a:t>
              </a:r>
              <a:r>
                <a:rPr lang="en-GB" altLang="en-US" sz="2000" baseline="-25000">
                  <a:solidFill>
                    <a:schemeClr val="accent2"/>
                  </a:solidFill>
                  <a:latin typeface="Arial" panose="020B0604020202020204" pitchFamily="34" charset="0"/>
                </a:rPr>
                <a:t>2</a:t>
              </a:r>
            </a:p>
          </p:txBody>
        </p:sp>
      </p:grpSp>
      <p:sp>
        <p:nvSpPr>
          <p:cNvPr id="40983" name="Line 24">
            <a:extLst>
              <a:ext uri="{FF2B5EF4-FFF2-40B4-BE49-F238E27FC236}">
                <a16:creationId xmlns:a16="http://schemas.microsoft.com/office/drawing/2014/main" id="{4A6D0947-CA0A-49D3-9E42-CB447C8F0DD6}"/>
              </a:ext>
            </a:extLst>
          </p:cNvPr>
          <p:cNvSpPr>
            <a:spLocks noChangeShapeType="1"/>
          </p:cNvSpPr>
          <p:nvPr/>
        </p:nvSpPr>
        <p:spPr bwMode="auto">
          <a:xfrm>
            <a:off x="2590800" y="609600"/>
            <a:ext cx="0" cy="5334000"/>
          </a:xfrm>
          <a:prstGeom prst="line">
            <a:avLst/>
          </a:prstGeom>
          <a:noFill/>
          <a:ln w="25400">
            <a:solidFill>
              <a:schemeClr val="tx1"/>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40984" name="Line 25">
            <a:extLst>
              <a:ext uri="{FF2B5EF4-FFF2-40B4-BE49-F238E27FC236}">
                <a16:creationId xmlns:a16="http://schemas.microsoft.com/office/drawing/2014/main" id="{5E2E4BF4-3BAE-4702-8381-1B78AE8C6E7D}"/>
              </a:ext>
            </a:extLst>
          </p:cNvPr>
          <p:cNvSpPr>
            <a:spLocks noChangeShapeType="1"/>
          </p:cNvSpPr>
          <p:nvPr/>
        </p:nvSpPr>
        <p:spPr bwMode="auto">
          <a:xfrm>
            <a:off x="2590800" y="5943600"/>
            <a:ext cx="7010400" cy="0"/>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GB"/>
          </a:p>
        </p:txBody>
      </p:sp>
      <p:sp>
        <p:nvSpPr>
          <p:cNvPr id="40986" name="Oval 27">
            <a:extLst>
              <a:ext uri="{FF2B5EF4-FFF2-40B4-BE49-F238E27FC236}">
                <a16:creationId xmlns:a16="http://schemas.microsoft.com/office/drawing/2014/main" id="{78EE65C2-7D8C-4DCA-98F9-55645DD90B7D}"/>
              </a:ext>
            </a:extLst>
          </p:cNvPr>
          <p:cNvSpPr>
            <a:spLocks noChangeArrowheads="1"/>
          </p:cNvSpPr>
          <p:nvPr/>
        </p:nvSpPr>
        <p:spPr bwMode="auto">
          <a:xfrm>
            <a:off x="5411789" y="4106864"/>
            <a:ext cx="109537" cy="109537"/>
          </a:xfrm>
          <a:prstGeom prst="ellipse">
            <a:avLst/>
          </a:prstGeom>
          <a:solidFill>
            <a:srgbClr val="99CCFF"/>
          </a:solidFill>
          <a:ln w="25400">
            <a:solidFill>
              <a:schemeClr val="bg2"/>
            </a:solidFill>
            <a:round/>
            <a:headEnd/>
            <a:tailEnd/>
          </a:ln>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22550" name="Oval 22">
            <a:extLst>
              <a:ext uri="{FF2B5EF4-FFF2-40B4-BE49-F238E27FC236}">
                <a16:creationId xmlns:a16="http://schemas.microsoft.com/office/drawing/2014/main" id="{40AFBE94-AB34-4EDA-B7DD-8BE827F332D4}"/>
              </a:ext>
            </a:extLst>
          </p:cNvPr>
          <p:cNvSpPr>
            <a:spLocks noChangeArrowheads="1"/>
          </p:cNvSpPr>
          <p:nvPr/>
        </p:nvSpPr>
        <p:spPr bwMode="auto">
          <a:xfrm>
            <a:off x="5938839" y="3443289"/>
            <a:ext cx="109537" cy="109537"/>
          </a:xfrm>
          <a:prstGeom prst="ellipse">
            <a:avLst/>
          </a:prstGeom>
          <a:solidFill>
            <a:srgbClr val="FF9999"/>
          </a:solidFill>
          <a:ln w="25400">
            <a:solidFill>
              <a:schemeClr val="bg2"/>
            </a:solidFill>
            <a:round/>
            <a:headEnd/>
            <a:tailEnd/>
          </a:ln>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40988" name="AutoShape 31">
            <a:extLst>
              <a:ext uri="{FF2B5EF4-FFF2-40B4-BE49-F238E27FC236}">
                <a16:creationId xmlns:a16="http://schemas.microsoft.com/office/drawing/2014/main" id="{C3C1EAB8-FDD9-482F-963B-9C91404D0075}"/>
              </a:ext>
            </a:extLst>
          </p:cNvPr>
          <p:cNvSpPr>
            <a:spLocks noChangeArrowheads="1"/>
          </p:cNvSpPr>
          <p:nvPr/>
        </p:nvSpPr>
        <p:spPr bwMode="auto">
          <a:xfrm>
            <a:off x="6138864" y="4365625"/>
            <a:ext cx="1292225" cy="128588"/>
          </a:xfrm>
          <a:prstGeom prst="rightArrow">
            <a:avLst>
              <a:gd name="adj1" fmla="val 50000"/>
              <a:gd name="adj2" fmla="val 251234"/>
            </a:avLst>
          </a:prstGeom>
          <a:gradFill rotWithShape="0">
            <a:gsLst>
              <a:gs pos="0">
                <a:schemeClr val="tx2"/>
              </a:gs>
              <a:gs pos="100000">
                <a:schemeClr val="accent2"/>
              </a:gs>
            </a:gsLst>
            <a:lin ang="0" scaled="1"/>
          </a:gra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2053" name="Rectangle 5">
            <a:extLst>
              <a:ext uri="{FF2B5EF4-FFF2-40B4-BE49-F238E27FC236}">
                <a16:creationId xmlns:a16="http://schemas.microsoft.com/office/drawing/2014/main" id="{280ADCC2-43D6-43E1-89D6-658B3A519F6F}"/>
              </a:ext>
            </a:extLst>
          </p:cNvPr>
          <p:cNvSpPr>
            <a:spLocks noChangeArrowheads="1"/>
          </p:cNvSpPr>
          <p:nvPr/>
        </p:nvSpPr>
        <p:spPr bwMode="auto">
          <a:xfrm>
            <a:off x="0" y="1"/>
            <a:ext cx="12240977" cy="557213"/>
          </a:xfrm>
          <a:prstGeom prst="rect">
            <a:avLst/>
          </a:prstGeom>
          <a:noFill/>
          <a:ln>
            <a:noFill/>
          </a:ln>
          <a:effectLst>
            <a:outerShdw dist="12700" dir="2700000" algn="ctr" rotWithShape="0">
              <a:schemeClr val="tx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91440" rIns="92075" bIns="46038" anchor="ctr"/>
          <a:lstStyle/>
          <a:p>
            <a:pPr algn="ctr">
              <a:defRPr/>
            </a:pPr>
            <a:r>
              <a:rPr lang="en-GB" sz="2800" b="1" kern="0" dirty="0">
                <a:latin typeface="+mj-lt"/>
                <a:ea typeface="+mj-ea"/>
                <a:cs typeface="+mj-cs"/>
              </a:rPr>
              <a:t>Demand-pull inflation</a:t>
            </a:r>
          </a:p>
        </p:txBody>
      </p:sp>
      <p:sp>
        <p:nvSpPr>
          <p:cNvPr id="29" name="Rectangle 6">
            <a:extLst>
              <a:ext uri="{FF2B5EF4-FFF2-40B4-BE49-F238E27FC236}">
                <a16:creationId xmlns:a16="http://schemas.microsoft.com/office/drawing/2014/main" id="{C54A470F-5C15-46AA-9864-EB3435E54C08}"/>
              </a:ext>
            </a:extLst>
          </p:cNvPr>
          <p:cNvSpPr>
            <a:spLocks noChangeArrowheads="1"/>
          </p:cNvSpPr>
          <p:nvPr/>
        </p:nvSpPr>
        <p:spPr bwMode="auto">
          <a:xfrm>
            <a:off x="4405642" y="6374513"/>
            <a:ext cx="337913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a:defRPr sz="1900">
                <a:solidFill>
                  <a:schemeClr val="hlink"/>
                </a:solidFill>
                <a:latin typeface="Arial" panose="020B0604020202020204" pitchFamily="34" charset="0"/>
              </a:defRPr>
            </a:lvl1pPr>
            <a:lvl2pPr marL="742950" indent="-285750" defTabSz="762000">
              <a:defRPr sz="1900">
                <a:solidFill>
                  <a:schemeClr val="hlink"/>
                </a:solidFill>
                <a:latin typeface="Arial" panose="020B0604020202020204" pitchFamily="34" charset="0"/>
              </a:defRPr>
            </a:lvl2pPr>
            <a:lvl3pPr marL="1143000" indent="-228600" defTabSz="762000">
              <a:defRPr sz="1900">
                <a:solidFill>
                  <a:schemeClr val="hlink"/>
                </a:solidFill>
                <a:latin typeface="Arial" panose="020B0604020202020204" pitchFamily="34" charset="0"/>
              </a:defRPr>
            </a:lvl3pPr>
            <a:lvl4pPr marL="1600200" indent="-228600" defTabSz="762000">
              <a:defRPr sz="1900">
                <a:solidFill>
                  <a:schemeClr val="hlink"/>
                </a:solidFill>
                <a:latin typeface="Arial" panose="020B0604020202020204" pitchFamily="34" charset="0"/>
              </a:defRPr>
            </a:lvl4pPr>
            <a:lvl5pPr marL="2057400" indent="-228600" defTabSz="762000">
              <a:defRPr sz="1900">
                <a:solidFill>
                  <a:schemeClr val="hlink"/>
                </a:solidFill>
                <a:latin typeface="Arial" panose="020B0604020202020204" pitchFamily="34" charset="0"/>
              </a:defRPr>
            </a:lvl5pPr>
            <a:lvl6pPr marL="2514600" indent="-228600" defTabSz="762000" eaLnBrk="0" fontAlgn="base" hangingPunct="0">
              <a:spcBef>
                <a:spcPct val="0"/>
              </a:spcBef>
              <a:spcAft>
                <a:spcPct val="0"/>
              </a:spcAft>
              <a:defRPr sz="1900">
                <a:solidFill>
                  <a:schemeClr val="hlink"/>
                </a:solidFill>
                <a:latin typeface="Arial" panose="020B0604020202020204" pitchFamily="34" charset="0"/>
              </a:defRPr>
            </a:lvl6pPr>
            <a:lvl7pPr marL="2971800" indent="-228600" defTabSz="762000" eaLnBrk="0" fontAlgn="base" hangingPunct="0">
              <a:spcBef>
                <a:spcPct val="0"/>
              </a:spcBef>
              <a:spcAft>
                <a:spcPct val="0"/>
              </a:spcAft>
              <a:defRPr sz="1900">
                <a:solidFill>
                  <a:schemeClr val="hlink"/>
                </a:solidFill>
                <a:latin typeface="Arial" panose="020B0604020202020204" pitchFamily="34" charset="0"/>
              </a:defRPr>
            </a:lvl7pPr>
            <a:lvl8pPr marL="3429000" indent="-228600" defTabSz="762000" eaLnBrk="0" fontAlgn="base" hangingPunct="0">
              <a:spcBef>
                <a:spcPct val="0"/>
              </a:spcBef>
              <a:spcAft>
                <a:spcPct val="0"/>
              </a:spcAft>
              <a:defRPr sz="1900">
                <a:solidFill>
                  <a:schemeClr val="hlink"/>
                </a:solidFill>
                <a:latin typeface="Arial" panose="020B0604020202020204" pitchFamily="34" charset="0"/>
              </a:defRPr>
            </a:lvl8pPr>
            <a:lvl9pPr marL="3886200" indent="-228600" defTabSz="762000" eaLnBrk="0" fontAlgn="base" hangingPunct="0">
              <a:spcBef>
                <a:spcPct val="0"/>
              </a:spcBef>
              <a:spcAft>
                <a:spcPct val="0"/>
              </a:spcAft>
              <a:defRPr sz="1900">
                <a:solidFill>
                  <a:schemeClr val="hlink"/>
                </a:solidFill>
                <a:latin typeface="Arial" panose="020B0604020202020204" pitchFamily="34" charset="0"/>
              </a:defRPr>
            </a:lvl9pPr>
          </a:lstStyle>
          <a:p>
            <a:pPr algn="ctr"/>
            <a:r>
              <a:rPr lang="en-GB" altLang="en-US" sz="2000">
                <a:solidFill>
                  <a:schemeClr val="tx1"/>
                </a:solidFill>
              </a:rPr>
              <a:t>Real national inc</a:t>
            </a:r>
            <a:r>
              <a:rPr lang="en-US" altLang="en-US" sz="2000">
                <a:solidFill>
                  <a:schemeClr val="tx1"/>
                </a:solidFill>
              </a:rPr>
              <a:t>ome (GDP)</a:t>
            </a:r>
            <a:endParaRPr lang="en-GB" altLang="en-US" sz="2000">
              <a:solidFill>
                <a:schemeClr val="tx1"/>
              </a:solidFill>
            </a:endParaRPr>
          </a:p>
        </p:txBody>
      </p:sp>
    </p:spTree>
    <p:extLst>
      <p:ext uri="{BB962C8B-B14F-4D97-AF65-F5344CB8AC3E}">
        <p14:creationId xmlns:p14="http://schemas.microsoft.com/office/powerpoint/2010/main" val="2574977366"/>
      </p:ext>
    </p:extLst>
  </p:cSld>
  <p:clrMapOvr>
    <a:masterClrMapping/>
  </p:clrMapOvr>
  <mc:AlternateContent xmlns:mc="http://schemas.openxmlformats.org/markup-compatibility/2006" xmlns:p14="http://schemas.microsoft.com/office/powerpoint/2010/main">
    <mc:Choice Requires="p14">
      <p:transition spd="slow" p14:dur="1750">
        <p:wipe dir="r"/>
      </p:transition>
    </mc:Choice>
    <mc:Fallback xmlns="">
      <p:transition spd="slow">
        <p:wipe dir="r"/>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5" presetClass="entr" presetSubtype="0" fill="hold" grpId="0" nodeType="clickEffect">
                                  <p:stCondLst>
                                    <p:cond delay="0"/>
                                  </p:stCondLst>
                                  <p:childTnLst>
                                    <p:set>
                                      <p:cBhvr>
                                        <p:cTn id="6" dur="1" fill="hold">
                                          <p:stCondLst>
                                            <p:cond delay="0"/>
                                          </p:stCondLst>
                                        </p:cTn>
                                        <p:tgtEl>
                                          <p:spTgt spid="22550"/>
                                        </p:tgtEl>
                                        <p:attrNameLst>
                                          <p:attrName>style.visibility</p:attrName>
                                        </p:attrNameLst>
                                      </p:cBhvr>
                                      <p:to>
                                        <p:strVal val="visible"/>
                                      </p:to>
                                    </p:set>
                                    <p:anim calcmode="lin" valueType="num">
                                      <p:cBhvr>
                                        <p:cTn id="7" dur="1000" fill="hold"/>
                                        <p:tgtEl>
                                          <p:spTgt spid="22550"/>
                                        </p:tgtEl>
                                        <p:attrNameLst>
                                          <p:attrName>ppt_w</p:attrName>
                                        </p:attrNameLst>
                                      </p:cBhvr>
                                      <p:tavLst>
                                        <p:tav tm="0">
                                          <p:val>
                                            <p:fltVal val="0"/>
                                          </p:val>
                                        </p:tav>
                                        <p:tav tm="100000">
                                          <p:val>
                                            <p:strVal val="#ppt_w"/>
                                          </p:val>
                                        </p:tav>
                                      </p:tavLst>
                                    </p:anim>
                                    <p:anim calcmode="lin" valueType="num">
                                      <p:cBhvr>
                                        <p:cTn id="8" dur="1000" fill="hold"/>
                                        <p:tgtEl>
                                          <p:spTgt spid="22550"/>
                                        </p:tgtEl>
                                        <p:attrNameLst>
                                          <p:attrName>ppt_h</p:attrName>
                                        </p:attrNameLst>
                                      </p:cBhvr>
                                      <p:tavLst>
                                        <p:tav tm="0">
                                          <p:val>
                                            <p:fltVal val="0"/>
                                          </p:val>
                                        </p:tav>
                                        <p:tav tm="100000">
                                          <p:val>
                                            <p:strVal val="#ppt_h"/>
                                          </p:val>
                                        </p:tav>
                                      </p:tavLst>
                                    </p:anim>
                                    <p:anim calcmode="lin" valueType="num">
                                      <p:cBhvr>
                                        <p:cTn id="9" dur="1000" fill="hold"/>
                                        <p:tgtEl>
                                          <p:spTgt spid="22550"/>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22550"/>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1" fill="hold" nodeType="clickPar">
                      <p:stCondLst>
                        <p:cond delay="indefinite"/>
                      </p:stCondLst>
                      <p:childTnLst>
                        <p:par>
                          <p:cTn id="12" fill="hold" nodeType="withGroup">
                            <p:stCondLst>
                              <p:cond delay="0"/>
                            </p:stCondLst>
                            <p:childTnLst>
                              <p:par>
                                <p:cTn id="13" presetID="22" presetClass="entr" presetSubtype="2" fill="hold" nodeType="clickEffect">
                                  <p:stCondLst>
                                    <p:cond delay="0"/>
                                  </p:stCondLst>
                                  <p:childTnLst>
                                    <p:set>
                                      <p:cBhvr>
                                        <p:cTn id="14" dur="1" fill="hold">
                                          <p:stCondLst>
                                            <p:cond delay="0"/>
                                          </p:stCondLst>
                                        </p:cTn>
                                        <p:tgtEl>
                                          <p:spTgt spid="22547"/>
                                        </p:tgtEl>
                                        <p:attrNameLst>
                                          <p:attrName>style.visibility</p:attrName>
                                        </p:attrNameLst>
                                      </p:cBhvr>
                                      <p:to>
                                        <p:strVal val="visible"/>
                                      </p:to>
                                    </p:set>
                                    <p:animEffect transition="in" filter="wipe(right)">
                                      <p:cBhvr>
                                        <p:cTn id="15" dur="500"/>
                                        <p:tgtEl>
                                          <p:spTgt spid="22547"/>
                                        </p:tgtEl>
                                      </p:cBhvr>
                                    </p:animEffect>
                                  </p:childTnLst>
                                </p:cTn>
                              </p:par>
                            </p:childTnLst>
                          </p:cTn>
                        </p:par>
                        <p:par>
                          <p:cTn id="16" fill="hold" nodeType="withGroup">
                            <p:stCondLst>
                              <p:cond delay="500"/>
                            </p:stCondLst>
                            <p:childTnLst>
                              <p:par>
                                <p:cTn id="17" presetID="2" presetClass="entr" presetSubtype="8" fill="hold" grpId="0" nodeType="afterEffect">
                                  <p:stCondLst>
                                    <p:cond delay="0"/>
                                  </p:stCondLst>
                                  <p:childTnLst>
                                    <p:set>
                                      <p:cBhvr>
                                        <p:cTn id="18" dur="1" fill="hold">
                                          <p:stCondLst>
                                            <p:cond delay="0"/>
                                          </p:stCondLst>
                                        </p:cTn>
                                        <p:tgtEl>
                                          <p:spTgt spid="22549"/>
                                        </p:tgtEl>
                                        <p:attrNameLst>
                                          <p:attrName>style.visibility</p:attrName>
                                        </p:attrNameLst>
                                      </p:cBhvr>
                                      <p:to>
                                        <p:strVal val="visible"/>
                                      </p:to>
                                    </p:set>
                                    <p:anim calcmode="lin" valueType="num">
                                      <p:cBhvr additive="base">
                                        <p:cTn id="19" dur="500" fill="hold"/>
                                        <p:tgtEl>
                                          <p:spTgt spid="22549"/>
                                        </p:tgtEl>
                                        <p:attrNameLst>
                                          <p:attrName>ppt_x</p:attrName>
                                        </p:attrNameLst>
                                      </p:cBhvr>
                                      <p:tavLst>
                                        <p:tav tm="0">
                                          <p:val>
                                            <p:strVal val="0-#ppt_w/2"/>
                                          </p:val>
                                        </p:tav>
                                        <p:tav tm="100000">
                                          <p:val>
                                            <p:strVal val="#ppt_x"/>
                                          </p:val>
                                        </p:tav>
                                      </p:tavLst>
                                    </p:anim>
                                    <p:anim calcmode="lin" valueType="num">
                                      <p:cBhvr additive="base">
                                        <p:cTn id="20" dur="500" fill="hold"/>
                                        <p:tgtEl>
                                          <p:spTgt spid="22549"/>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1" fill="hold" nodeType="clickEffect">
                                  <p:stCondLst>
                                    <p:cond delay="0"/>
                                  </p:stCondLst>
                                  <p:childTnLst>
                                    <p:set>
                                      <p:cBhvr>
                                        <p:cTn id="24" dur="1" fill="hold">
                                          <p:stCondLst>
                                            <p:cond delay="0"/>
                                          </p:stCondLst>
                                        </p:cTn>
                                        <p:tgtEl>
                                          <p:spTgt spid="2"/>
                                        </p:tgtEl>
                                        <p:attrNameLst>
                                          <p:attrName>style.visibility</p:attrName>
                                        </p:attrNameLst>
                                      </p:cBhvr>
                                      <p:to>
                                        <p:strVal val="visible"/>
                                      </p:to>
                                    </p:set>
                                    <p:animEffect transition="in" filter="wipe(up)">
                                      <p:cBhvr>
                                        <p:cTn id="25"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49" grpId="0" autoUpdateAnimBg="0"/>
      <p:bldP spid="22550" grpId="0" animBg="1" autoUpdateAnimBg="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9" name="Rectangle 3">
            <a:extLst>
              <a:ext uri="{FF2B5EF4-FFF2-40B4-BE49-F238E27FC236}">
                <a16:creationId xmlns:a16="http://schemas.microsoft.com/office/drawing/2014/main" id="{1CF4330E-D466-4466-B35A-F094624ED04B}"/>
              </a:ext>
            </a:extLst>
          </p:cNvPr>
          <p:cNvSpPr>
            <a:spLocks noChangeArrowheads="1"/>
          </p:cNvSpPr>
          <p:nvPr/>
        </p:nvSpPr>
        <p:spPr bwMode="auto">
          <a:xfrm>
            <a:off x="2209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45060" name="Rectangle 4">
            <a:extLst>
              <a:ext uri="{FF2B5EF4-FFF2-40B4-BE49-F238E27FC236}">
                <a16:creationId xmlns:a16="http://schemas.microsoft.com/office/drawing/2014/main" id="{717E2FFB-F77A-4214-844A-33C21138D2B5}"/>
              </a:ext>
            </a:extLst>
          </p:cNvPr>
          <p:cNvSpPr>
            <a:spLocks noChangeArrowheads="1"/>
          </p:cNvSpPr>
          <p:nvPr/>
        </p:nvSpPr>
        <p:spPr bwMode="auto">
          <a:xfrm>
            <a:off x="4648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45061" name="Line 5">
            <a:extLst>
              <a:ext uri="{FF2B5EF4-FFF2-40B4-BE49-F238E27FC236}">
                <a16:creationId xmlns:a16="http://schemas.microsoft.com/office/drawing/2014/main" id="{2AB795A9-CDF7-4A53-B32E-2B2610AEC954}"/>
              </a:ext>
            </a:extLst>
          </p:cNvPr>
          <p:cNvSpPr>
            <a:spLocks noChangeShapeType="1"/>
          </p:cNvSpPr>
          <p:nvPr/>
        </p:nvSpPr>
        <p:spPr bwMode="auto">
          <a:xfrm>
            <a:off x="2590800" y="609600"/>
            <a:ext cx="0" cy="5334000"/>
          </a:xfrm>
          <a:prstGeom prst="line">
            <a:avLst/>
          </a:prstGeom>
          <a:noFill/>
          <a:ln w="25400">
            <a:solidFill>
              <a:schemeClr val="tx1"/>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45062" name="Line 6">
            <a:extLst>
              <a:ext uri="{FF2B5EF4-FFF2-40B4-BE49-F238E27FC236}">
                <a16:creationId xmlns:a16="http://schemas.microsoft.com/office/drawing/2014/main" id="{D62FF0E7-754A-4AA2-8FC7-F74F55F5FDB1}"/>
              </a:ext>
            </a:extLst>
          </p:cNvPr>
          <p:cNvSpPr>
            <a:spLocks noChangeShapeType="1"/>
          </p:cNvSpPr>
          <p:nvPr/>
        </p:nvSpPr>
        <p:spPr bwMode="auto">
          <a:xfrm>
            <a:off x="2590800" y="5943600"/>
            <a:ext cx="7010400" cy="0"/>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GB"/>
          </a:p>
        </p:txBody>
      </p:sp>
      <p:sp>
        <p:nvSpPr>
          <p:cNvPr id="45063" name="Rectangle 7">
            <a:extLst>
              <a:ext uri="{FF2B5EF4-FFF2-40B4-BE49-F238E27FC236}">
                <a16:creationId xmlns:a16="http://schemas.microsoft.com/office/drawing/2014/main" id="{781F3ED1-1751-4E9A-A843-DEAF4C24F845}"/>
              </a:ext>
            </a:extLst>
          </p:cNvPr>
          <p:cNvSpPr>
            <a:spLocks noChangeArrowheads="1"/>
          </p:cNvSpPr>
          <p:nvPr/>
        </p:nvSpPr>
        <p:spPr bwMode="auto">
          <a:xfrm>
            <a:off x="2270126" y="5897563"/>
            <a:ext cx="384721" cy="4007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defRPr sz="2400">
                <a:solidFill>
                  <a:schemeClr val="tx1"/>
                </a:solidFill>
                <a:latin typeface="Times New Roman" panose="02020603050405020304" pitchFamily="18" charset="0"/>
              </a:defRPr>
            </a:lvl1pPr>
            <a:lvl2pPr marL="742950" indent="-285750" defTabSz="762000">
              <a:defRPr sz="2400">
                <a:solidFill>
                  <a:schemeClr val="tx1"/>
                </a:solidFill>
                <a:latin typeface="Times New Roman" panose="02020603050405020304" pitchFamily="18" charset="0"/>
              </a:defRPr>
            </a:lvl2pPr>
            <a:lvl3pPr marL="1143000" indent="-228600" defTabSz="762000">
              <a:defRPr sz="2400">
                <a:solidFill>
                  <a:schemeClr val="tx1"/>
                </a:solidFill>
                <a:latin typeface="Times New Roman" panose="02020603050405020304" pitchFamily="18" charset="0"/>
              </a:defRPr>
            </a:lvl3pPr>
            <a:lvl4pPr marL="1600200" indent="-228600" defTabSz="762000">
              <a:defRPr sz="2400">
                <a:solidFill>
                  <a:schemeClr val="tx1"/>
                </a:solidFill>
                <a:latin typeface="Times New Roman" panose="02020603050405020304" pitchFamily="18" charset="0"/>
              </a:defRPr>
            </a:lvl4pPr>
            <a:lvl5pPr marL="2057400" indent="-228600" defTabSz="762000">
              <a:defRPr sz="2400">
                <a:solidFill>
                  <a:schemeClr val="tx1"/>
                </a:solidFill>
                <a:latin typeface="Times New Roman" panose="02020603050405020304" pitchFamily="18" charset="0"/>
              </a:defRPr>
            </a:lvl5pPr>
            <a:lvl6pPr marL="2514600" indent="-228600" defTabSz="7620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7620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7620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762000" eaLnBrk="0" fontAlgn="base" hangingPunct="0">
              <a:spcBef>
                <a:spcPct val="0"/>
              </a:spcBef>
              <a:spcAft>
                <a:spcPct val="0"/>
              </a:spcAft>
              <a:defRPr sz="2400">
                <a:solidFill>
                  <a:schemeClr val="tx1"/>
                </a:solidFill>
                <a:latin typeface="Times New Roman" panose="02020603050405020304" pitchFamily="18" charset="0"/>
              </a:defRPr>
            </a:lvl9pPr>
          </a:lstStyle>
          <a:p>
            <a:r>
              <a:rPr lang="en-GB" altLang="en-US" sz="2000">
                <a:latin typeface="Arial" panose="020B0604020202020204" pitchFamily="34" charset="0"/>
              </a:rPr>
              <a:t>O</a:t>
            </a:r>
          </a:p>
        </p:txBody>
      </p:sp>
      <p:sp>
        <p:nvSpPr>
          <p:cNvPr id="45064" name="Rectangle 8">
            <a:extLst>
              <a:ext uri="{FF2B5EF4-FFF2-40B4-BE49-F238E27FC236}">
                <a16:creationId xmlns:a16="http://schemas.microsoft.com/office/drawing/2014/main" id="{F7A9AE99-31A6-4652-93BE-F2FCF4888D93}"/>
              </a:ext>
            </a:extLst>
          </p:cNvPr>
          <p:cNvSpPr>
            <a:spLocks noChangeArrowheads="1"/>
          </p:cNvSpPr>
          <p:nvPr/>
        </p:nvSpPr>
        <p:spPr bwMode="auto">
          <a:xfrm rot="16200000">
            <a:off x="1175267" y="2858737"/>
            <a:ext cx="1370568" cy="4007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defRPr sz="2400">
                <a:solidFill>
                  <a:schemeClr val="tx1"/>
                </a:solidFill>
                <a:latin typeface="Times New Roman" panose="02020603050405020304" pitchFamily="18" charset="0"/>
              </a:defRPr>
            </a:lvl1pPr>
            <a:lvl2pPr marL="742950" indent="-285750" defTabSz="762000">
              <a:defRPr sz="2400">
                <a:solidFill>
                  <a:schemeClr val="tx1"/>
                </a:solidFill>
                <a:latin typeface="Times New Roman" panose="02020603050405020304" pitchFamily="18" charset="0"/>
              </a:defRPr>
            </a:lvl2pPr>
            <a:lvl3pPr marL="1143000" indent="-228600" defTabSz="762000">
              <a:defRPr sz="2400">
                <a:solidFill>
                  <a:schemeClr val="tx1"/>
                </a:solidFill>
                <a:latin typeface="Times New Roman" panose="02020603050405020304" pitchFamily="18" charset="0"/>
              </a:defRPr>
            </a:lvl3pPr>
            <a:lvl4pPr marL="1600200" indent="-228600" defTabSz="762000">
              <a:defRPr sz="2400">
                <a:solidFill>
                  <a:schemeClr val="tx1"/>
                </a:solidFill>
                <a:latin typeface="Times New Roman" panose="02020603050405020304" pitchFamily="18" charset="0"/>
              </a:defRPr>
            </a:lvl4pPr>
            <a:lvl5pPr marL="2057400" indent="-228600" defTabSz="762000">
              <a:defRPr sz="2400">
                <a:solidFill>
                  <a:schemeClr val="tx1"/>
                </a:solidFill>
                <a:latin typeface="Times New Roman" panose="02020603050405020304" pitchFamily="18" charset="0"/>
              </a:defRPr>
            </a:lvl5pPr>
            <a:lvl6pPr marL="2514600" indent="-228600" defTabSz="7620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7620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7620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762000" eaLnBrk="0" fontAlgn="base" hangingPunct="0">
              <a:spcBef>
                <a:spcPct val="0"/>
              </a:spcBef>
              <a:spcAft>
                <a:spcPct val="0"/>
              </a:spcAft>
              <a:defRPr sz="2400">
                <a:solidFill>
                  <a:schemeClr val="tx1"/>
                </a:solidFill>
                <a:latin typeface="Times New Roman" panose="02020603050405020304" pitchFamily="18" charset="0"/>
              </a:defRPr>
            </a:lvl9pPr>
          </a:lstStyle>
          <a:p>
            <a:r>
              <a:rPr lang="en-GB" altLang="en-US" sz="2000">
                <a:latin typeface="Arial" panose="020B0604020202020204" pitchFamily="34" charset="0"/>
              </a:rPr>
              <a:t>Price level</a:t>
            </a:r>
          </a:p>
        </p:txBody>
      </p:sp>
      <p:sp>
        <p:nvSpPr>
          <p:cNvPr id="45066" name="Arc 10">
            <a:extLst>
              <a:ext uri="{FF2B5EF4-FFF2-40B4-BE49-F238E27FC236}">
                <a16:creationId xmlns:a16="http://schemas.microsoft.com/office/drawing/2014/main" id="{EA43F9C4-09AA-4415-AFD3-EDF53B5EC0AC}"/>
              </a:ext>
            </a:extLst>
          </p:cNvPr>
          <p:cNvSpPr>
            <a:spLocks/>
          </p:cNvSpPr>
          <p:nvPr/>
        </p:nvSpPr>
        <p:spPr bwMode="auto">
          <a:xfrm rot="21240000">
            <a:off x="2058989" y="228600"/>
            <a:ext cx="4860925" cy="5226050"/>
          </a:xfrm>
          <a:custGeom>
            <a:avLst/>
            <a:gdLst>
              <a:gd name="T0" fmla="*/ 2147483647 w 20593"/>
              <a:gd name="T1" fmla="*/ 2147483647 h 21428"/>
              <a:gd name="T2" fmla="*/ 2147483647 w 20593"/>
              <a:gd name="T3" fmla="*/ 2147483647 h 21428"/>
              <a:gd name="T4" fmla="*/ 0 w 20593"/>
              <a:gd name="T5" fmla="*/ 0 h 21428"/>
              <a:gd name="T6" fmla="*/ 0 60000 65536"/>
              <a:gd name="T7" fmla="*/ 0 60000 65536"/>
              <a:gd name="T8" fmla="*/ 0 60000 65536"/>
              <a:gd name="T9" fmla="*/ 0 w 20593"/>
              <a:gd name="T10" fmla="*/ 0 h 21428"/>
              <a:gd name="T11" fmla="*/ 20593 w 20593"/>
              <a:gd name="T12" fmla="*/ 21428 h 21428"/>
            </a:gdLst>
            <a:ahLst/>
            <a:cxnLst>
              <a:cxn ang="T6">
                <a:pos x="T0" y="T1"/>
              </a:cxn>
              <a:cxn ang="T7">
                <a:pos x="T2" y="T3"/>
              </a:cxn>
              <a:cxn ang="T8">
                <a:pos x="T4" y="T5"/>
              </a:cxn>
            </a:cxnLst>
            <a:rect l="T9" t="T10" r="T11" b="T12"/>
            <a:pathLst>
              <a:path w="20593" h="21428" fill="none" extrusionOk="0">
                <a:moveTo>
                  <a:pt x="20593" y="6518"/>
                </a:moveTo>
                <a:cubicBezTo>
                  <a:pt x="18051" y="14548"/>
                  <a:pt x="11073" y="20368"/>
                  <a:pt x="2718" y="21428"/>
                </a:cubicBezTo>
              </a:path>
              <a:path w="20593" h="21428" stroke="0" extrusionOk="0">
                <a:moveTo>
                  <a:pt x="20593" y="6518"/>
                </a:moveTo>
                <a:cubicBezTo>
                  <a:pt x="18051" y="14548"/>
                  <a:pt x="11073" y="20368"/>
                  <a:pt x="2718" y="21428"/>
                </a:cubicBezTo>
                <a:lnTo>
                  <a:pt x="0" y="0"/>
                </a:lnTo>
                <a:close/>
              </a:path>
            </a:pathLst>
          </a:custGeom>
          <a:noFill/>
          <a:ln w="38100" cap="rnd">
            <a:solidFill>
              <a:schemeClr val="tx2"/>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en-GB"/>
          </a:p>
        </p:txBody>
      </p:sp>
      <p:sp>
        <p:nvSpPr>
          <p:cNvPr id="45067" name="Arc 11">
            <a:extLst>
              <a:ext uri="{FF2B5EF4-FFF2-40B4-BE49-F238E27FC236}">
                <a16:creationId xmlns:a16="http://schemas.microsoft.com/office/drawing/2014/main" id="{2B588AF4-F35B-469C-ADBD-8AAFA004FDEC}"/>
              </a:ext>
            </a:extLst>
          </p:cNvPr>
          <p:cNvSpPr>
            <a:spLocks/>
          </p:cNvSpPr>
          <p:nvPr/>
        </p:nvSpPr>
        <p:spPr bwMode="auto">
          <a:xfrm>
            <a:off x="3460750" y="0"/>
            <a:ext cx="7207250" cy="5334000"/>
          </a:xfrm>
          <a:custGeom>
            <a:avLst/>
            <a:gdLst>
              <a:gd name="T0" fmla="*/ 2147483647 w 20698"/>
              <a:gd name="T1" fmla="*/ 2147483647 h 20052"/>
              <a:gd name="T2" fmla="*/ 0 w 20698"/>
              <a:gd name="T3" fmla="*/ 2147483647 h 20052"/>
              <a:gd name="T4" fmla="*/ 2147483647 w 20698"/>
              <a:gd name="T5" fmla="*/ 0 h 20052"/>
              <a:gd name="T6" fmla="*/ 0 60000 65536"/>
              <a:gd name="T7" fmla="*/ 0 60000 65536"/>
              <a:gd name="T8" fmla="*/ 0 60000 65536"/>
              <a:gd name="T9" fmla="*/ 0 w 20698"/>
              <a:gd name="T10" fmla="*/ 0 h 20052"/>
              <a:gd name="T11" fmla="*/ 20698 w 20698"/>
              <a:gd name="T12" fmla="*/ 20052 h 20052"/>
            </a:gdLst>
            <a:ahLst/>
            <a:cxnLst>
              <a:cxn ang="T6">
                <a:pos x="T0" y="T1"/>
              </a:cxn>
              <a:cxn ang="T7">
                <a:pos x="T2" y="T3"/>
              </a:cxn>
              <a:cxn ang="T8">
                <a:pos x="T4" y="T5"/>
              </a:cxn>
            </a:cxnLst>
            <a:rect l="T9" t="T10" r="T11" b="T12"/>
            <a:pathLst>
              <a:path w="20698" h="20052" fill="none" extrusionOk="0">
                <a:moveTo>
                  <a:pt x="12668" y="20051"/>
                </a:moveTo>
                <a:cubicBezTo>
                  <a:pt x="6550" y="17601"/>
                  <a:pt x="1885" y="12492"/>
                  <a:pt x="0" y="6177"/>
                </a:cubicBezTo>
              </a:path>
              <a:path w="20698" h="20052" stroke="0" extrusionOk="0">
                <a:moveTo>
                  <a:pt x="12668" y="20051"/>
                </a:moveTo>
                <a:cubicBezTo>
                  <a:pt x="6550" y="17601"/>
                  <a:pt x="1885" y="12492"/>
                  <a:pt x="0" y="6177"/>
                </a:cubicBezTo>
                <a:lnTo>
                  <a:pt x="20698" y="0"/>
                </a:lnTo>
                <a:close/>
              </a:path>
            </a:pathLst>
          </a:custGeom>
          <a:noFill/>
          <a:ln w="38100" cap="rnd">
            <a:solidFill>
              <a:schemeClr val="tx2"/>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en-GB"/>
          </a:p>
        </p:txBody>
      </p:sp>
      <p:sp>
        <p:nvSpPr>
          <p:cNvPr id="45068" name="Rectangle 12">
            <a:extLst>
              <a:ext uri="{FF2B5EF4-FFF2-40B4-BE49-F238E27FC236}">
                <a16:creationId xmlns:a16="http://schemas.microsoft.com/office/drawing/2014/main" id="{EBC5F47C-C34A-4120-9981-90ACBE3DC645}"/>
              </a:ext>
            </a:extLst>
          </p:cNvPr>
          <p:cNvSpPr>
            <a:spLocks noChangeArrowheads="1"/>
          </p:cNvSpPr>
          <p:nvPr/>
        </p:nvSpPr>
        <p:spPr bwMode="auto">
          <a:xfrm>
            <a:off x="6505317" y="1173164"/>
            <a:ext cx="710131" cy="462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defRPr sz="2400">
                <a:solidFill>
                  <a:schemeClr val="tx1"/>
                </a:solidFill>
                <a:latin typeface="Times New Roman" panose="02020603050405020304" pitchFamily="18" charset="0"/>
              </a:defRPr>
            </a:lvl1pPr>
            <a:lvl2pPr marL="742950" indent="-285750" defTabSz="762000">
              <a:defRPr sz="2400">
                <a:solidFill>
                  <a:schemeClr val="tx1"/>
                </a:solidFill>
                <a:latin typeface="Times New Roman" panose="02020603050405020304" pitchFamily="18" charset="0"/>
              </a:defRPr>
            </a:lvl2pPr>
            <a:lvl3pPr marL="1143000" indent="-228600" defTabSz="762000">
              <a:defRPr sz="2400">
                <a:solidFill>
                  <a:schemeClr val="tx1"/>
                </a:solidFill>
                <a:latin typeface="Times New Roman" panose="02020603050405020304" pitchFamily="18" charset="0"/>
              </a:defRPr>
            </a:lvl3pPr>
            <a:lvl4pPr marL="1600200" indent="-228600" defTabSz="762000">
              <a:defRPr sz="2400">
                <a:solidFill>
                  <a:schemeClr val="tx1"/>
                </a:solidFill>
                <a:latin typeface="Times New Roman" panose="02020603050405020304" pitchFamily="18" charset="0"/>
              </a:defRPr>
            </a:lvl4pPr>
            <a:lvl5pPr marL="2057400" indent="-228600" defTabSz="762000">
              <a:defRPr sz="2400">
                <a:solidFill>
                  <a:schemeClr val="tx1"/>
                </a:solidFill>
                <a:latin typeface="Times New Roman" panose="02020603050405020304" pitchFamily="18" charset="0"/>
              </a:defRPr>
            </a:lvl5pPr>
            <a:lvl6pPr marL="2514600" indent="-228600" defTabSz="7620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7620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7620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GB" altLang="en-US" i="1" dirty="0">
                <a:solidFill>
                  <a:schemeClr val="tx2"/>
                </a:solidFill>
                <a:latin typeface="Arial" panose="020B0604020202020204" pitchFamily="34" charset="0"/>
              </a:rPr>
              <a:t>AS</a:t>
            </a:r>
            <a:r>
              <a:rPr lang="en-GB" altLang="en-US" baseline="-25000" dirty="0">
                <a:solidFill>
                  <a:schemeClr val="tx2"/>
                </a:solidFill>
                <a:latin typeface="Arial" panose="020B0604020202020204" pitchFamily="34" charset="0"/>
              </a:rPr>
              <a:t>1</a:t>
            </a:r>
          </a:p>
        </p:txBody>
      </p:sp>
      <p:sp>
        <p:nvSpPr>
          <p:cNvPr id="45069" name="Rectangle 13">
            <a:extLst>
              <a:ext uri="{FF2B5EF4-FFF2-40B4-BE49-F238E27FC236}">
                <a16:creationId xmlns:a16="http://schemas.microsoft.com/office/drawing/2014/main" id="{BCE35216-0228-405C-AFF0-63CEC0A8F1B2}"/>
              </a:ext>
            </a:extLst>
          </p:cNvPr>
          <p:cNvSpPr>
            <a:spLocks noChangeArrowheads="1"/>
          </p:cNvSpPr>
          <p:nvPr/>
        </p:nvSpPr>
        <p:spPr bwMode="auto">
          <a:xfrm>
            <a:off x="7832726" y="5135564"/>
            <a:ext cx="613951" cy="462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defRPr sz="2400">
                <a:solidFill>
                  <a:schemeClr val="tx1"/>
                </a:solidFill>
                <a:latin typeface="Times New Roman" panose="02020603050405020304" pitchFamily="18" charset="0"/>
              </a:defRPr>
            </a:lvl1pPr>
            <a:lvl2pPr marL="742950" indent="-285750" defTabSz="762000">
              <a:defRPr sz="2400">
                <a:solidFill>
                  <a:schemeClr val="tx1"/>
                </a:solidFill>
                <a:latin typeface="Times New Roman" panose="02020603050405020304" pitchFamily="18" charset="0"/>
              </a:defRPr>
            </a:lvl2pPr>
            <a:lvl3pPr marL="1143000" indent="-228600" defTabSz="762000">
              <a:defRPr sz="2400">
                <a:solidFill>
                  <a:schemeClr val="tx1"/>
                </a:solidFill>
                <a:latin typeface="Times New Roman" panose="02020603050405020304" pitchFamily="18" charset="0"/>
              </a:defRPr>
            </a:lvl3pPr>
            <a:lvl4pPr marL="1600200" indent="-228600" defTabSz="762000">
              <a:defRPr sz="2400">
                <a:solidFill>
                  <a:schemeClr val="tx1"/>
                </a:solidFill>
                <a:latin typeface="Times New Roman" panose="02020603050405020304" pitchFamily="18" charset="0"/>
              </a:defRPr>
            </a:lvl4pPr>
            <a:lvl5pPr marL="2057400" indent="-228600" defTabSz="762000">
              <a:defRPr sz="2400">
                <a:solidFill>
                  <a:schemeClr val="tx1"/>
                </a:solidFill>
                <a:latin typeface="Times New Roman" panose="02020603050405020304" pitchFamily="18" charset="0"/>
              </a:defRPr>
            </a:lvl5pPr>
            <a:lvl6pPr marL="2514600" indent="-228600" defTabSz="7620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7620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7620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762000" eaLnBrk="0" fontAlgn="base" hangingPunct="0">
              <a:spcBef>
                <a:spcPct val="0"/>
              </a:spcBef>
              <a:spcAft>
                <a:spcPct val="0"/>
              </a:spcAft>
              <a:defRPr sz="2400">
                <a:solidFill>
                  <a:schemeClr val="tx1"/>
                </a:solidFill>
                <a:latin typeface="Times New Roman" panose="02020603050405020304" pitchFamily="18" charset="0"/>
              </a:defRPr>
            </a:lvl9pPr>
          </a:lstStyle>
          <a:p>
            <a:r>
              <a:rPr lang="en-GB" altLang="en-US" i="1">
                <a:solidFill>
                  <a:schemeClr val="tx2"/>
                </a:solidFill>
                <a:latin typeface="Arial" panose="020B0604020202020204" pitchFamily="34" charset="0"/>
              </a:rPr>
              <a:t>AD</a:t>
            </a:r>
          </a:p>
        </p:txBody>
      </p:sp>
      <p:sp>
        <p:nvSpPr>
          <p:cNvPr id="45070" name="Line 14">
            <a:extLst>
              <a:ext uri="{FF2B5EF4-FFF2-40B4-BE49-F238E27FC236}">
                <a16:creationId xmlns:a16="http://schemas.microsoft.com/office/drawing/2014/main" id="{97B341CC-6E00-4431-8C3D-5DB4205B4464}"/>
              </a:ext>
            </a:extLst>
          </p:cNvPr>
          <p:cNvSpPr>
            <a:spLocks noChangeShapeType="1"/>
          </p:cNvSpPr>
          <p:nvPr/>
        </p:nvSpPr>
        <p:spPr bwMode="auto">
          <a:xfrm flipH="1">
            <a:off x="2592389" y="4160838"/>
            <a:ext cx="2840037" cy="0"/>
          </a:xfrm>
          <a:prstGeom prst="line">
            <a:avLst/>
          </a:prstGeom>
          <a:noFill/>
          <a:ln w="19050">
            <a:solidFill>
              <a:schemeClr val="tx2"/>
            </a:solidFill>
            <a:prstDash val="dash"/>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45071" name="Rectangle 15">
            <a:extLst>
              <a:ext uri="{FF2B5EF4-FFF2-40B4-BE49-F238E27FC236}">
                <a16:creationId xmlns:a16="http://schemas.microsoft.com/office/drawing/2014/main" id="{8ACF9E4B-6FC3-4DBA-8137-3CD263D92898}"/>
              </a:ext>
            </a:extLst>
          </p:cNvPr>
          <p:cNvSpPr>
            <a:spLocks noChangeArrowheads="1"/>
          </p:cNvSpPr>
          <p:nvPr/>
        </p:nvSpPr>
        <p:spPr bwMode="auto">
          <a:xfrm>
            <a:off x="2146690" y="3937000"/>
            <a:ext cx="452048" cy="4007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defRPr sz="2400">
                <a:solidFill>
                  <a:schemeClr val="tx1"/>
                </a:solidFill>
                <a:latin typeface="Times New Roman" panose="02020603050405020304" pitchFamily="18" charset="0"/>
              </a:defRPr>
            </a:lvl1pPr>
            <a:lvl2pPr marL="742950" indent="-285750" defTabSz="762000">
              <a:defRPr sz="2400">
                <a:solidFill>
                  <a:schemeClr val="tx1"/>
                </a:solidFill>
                <a:latin typeface="Times New Roman" panose="02020603050405020304" pitchFamily="18" charset="0"/>
              </a:defRPr>
            </a:lvl2pPr>
            <a:lvl3pPr marL="1143000" indent="-228600" defTabSz="762000">
              <a:defRPr sz="2400">
                <a:solidFill>
                  <a:schemeClr val="tx1"/>
                </a:solidFill>
                <a:latin typeface="Times New Roman" panose="02020603050405020304" pitchFamily="18" charset="0"/>
              </a:defRPr>
            </a:lvl3pPr>
            <a:lvl4pPr marL="1600200" indent="-228600" defTabSz="762000">
              <a:defRPr sz="2400">
                <a:solidFill>
                  <a:schemeClr val="tx1"/>
                </a:solidFill>
                <a:latin typeface="Times New Roman" panose="02020603050405020304" pitchFamily="18" charset="0"/>
              </a:defRPr>
            </a:lvl4pPr>
            <a:lvl5pPr marL="2057400" indent="-228600" defTabSz="762000">
              <a:defRPr sz="2400">
                <a:solidFill>
                  <a:schemeClr val="tx1"/>
                </a:solidFill>
                <a:latin typeface="Times New Roman" panose="02020603050405020304" pitchFamily="18" charset="0"/>
              </a:defRPr>
            </a:lvl5pPr>
            <a:lvl6pPr marL="2514600" indent="-228600" defTabSz="7620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7620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7620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r"/>
            <a:r>
              <a:rPr lang="en-GB" altLang="en-US" sz="2000" i="1">
                <a:solidFill>
                  <a:schemeClr val="tx2"/>
                </a:solidFill>
                <a:latin typeface="Arial" panose="020B0604020202020204" pitchFamily="34" charset="0"/>
              </a:rPr>
              <a:t>P</a:t>
            </a:r>
            <a:r>
              <a:rPr lang="en-GB" altLang="en-US" sz="2000" baseline="-25000">
                <a:solidFill>
                  <a:schemeClr val="tx2"/>
                </a:solidFill>
                <a:latin typeface="Arial" panose="020B0604020202020204" pitchFamily="34" charset="0"/>
              </a:rPr>
              <a:t>1</a:t>
            </a:r>
          </a:p>
        </p:txBody>
      </p:sp>
      <p:sp>
        <p:nvSpPr>
          <p:cNvPr id="45072" name="Line 17">
            <a:extLst>
              <a:ext uri="{FF2B5EF4-FFF2-40B4-BE49-F238E27FC236}">
                <a16:creationId xmlns:a16="http://schemas.microsoft.com/office/drawing/2014/main" id="{A1CA3D84-4012-4C06-9E44-28C37D4AD95D}"/>
              </a:ext>
            </a:extLst>
          </p:cNvPr>
          <p:cNvSpPr>
            <a:spLocks noChangeShapeType="1"/>
          </p:cNvSpPr>
          <p:nvPr/>
        </p:nvSpPr>
        <p:spPr bwMode="auto">
          <a:xfrm>
            <a:off x="5467350" y="4176714"/>
            <a:ext cx="0" cy="1768475"/>
          </a:xfrm>
          <a:prstGeom prst="line">
            <a:avLst/>
          </a:prstGeom>
          <a:noFill/>
          <a:ln w="19050">
            <a:solidFill>
              <a:schemeClr val="tx2"/>
            </a:solidFill>
            <a:prstDash val="dash"/>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45073" name="Rectangle 18">
            <a:extLst>
              <a:ext uri="{FF2B5EF4-FFF2-40B4-BE49-F238E27FC236}">
                <a16:creationId xmlns:a16="http://schemas.microsoft.com/office/drawing/2014/main" id="{3068B415-9373-4C5F-A838-8D367C812326}"/>
              </a:ext>
            </a:extLst>
          </p:cNvPr>
          <p:cNvSpPr>
            <a:spLocks noChangeArrowheads="1"/>
          </p:cNvSpPr>
          <p:nvPr/>
        </p:nvSpPr>
        <p:spPr bwMode="auto">
          <a:xfrm>
            <a:off x="5230940" y="5959475"/>
            <a:ext cx="479298" cy="4007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defRPr sz="2400">
                <a:solidFill>
                  <a:schemeClr val="tx1"/>
                </a:solidFill>
                <a:latin typeface="Times New Roman" panose="02020603050405020304" pitchFamily="18" charset="0"/>
              </a:defRPr>
            </a:lvl1pPr>
            <a:lvl2pPr marL="742950" indent="-285750" defTabSz="762000">
              <a:defRPr sz="2400">
                <a:solidFill>
                  <a:schemeClr val="tx1"/>
                </a:solidFill>
                <a:latin typeface="Times New Roman" panose="02020603050405020304" pitchFamily="18" charset="0"/>
              </a:defRPr>
            </a:lvl2pPr>
            <a:lvl3pPr marL="1143000" indent="-228600" defTabSz="762000">
              <a:defRPr sz="2400">
                <a:solidFill>
                  <a:schemeClr val="tx1"/>
                </a:solidFill>
                <a:latin typeface="Times New Roman" panose="02020603050405020304" pitchFamily="18" charset="0"/>
              </a:defRPr>
            </a:lvl3pPr>
            <a:lvl4pPr marL="1600200" indent="-228600" defTabSz="762000">
              <a:defRPr sz="2400">
                <a:solidFill>
                  <a:schemeClr val="tx1"/>
                </a:solidFill>
                <a:latin typeface="Times New Roman" panose="02020603050405020304" pitchFamily="18" charset="0"/>
              </a:defRPr>
            </a:lvl4pPr>
            <a:lvl5pPr marL="2057400" indent="-228600" defTabSz="762000">
              <a:defRPr sz="2400">
                <a:solidFill>
                  <a:schemeClr val="tx1"/>
                </a:solidFill>
                <a:latin typeface="Times New Roman" panose="02020603050405020304" pitchFamily="18" charset="0"/>
              </a:defRPr>
            </a:lvl5pPr>
            <a:lvl6pPr marL="2514600" indent="-228600" defTabSz="7620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7620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7620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r"/>
            <a:r>
              <a:rPr lang="en-GB" altLang="en-US" sz="2000" i="1">
                <a:solidFill>
                  <a:schemeClr val="tx2"/>
                </a:solidFill>
                <a:latin typeface="Arial" panose="020B0604020202020204" pitchFamily="34" charset="0"/>
              </a:rPr>
              <a:t>Q</a:t>
            </a:r>
            <a:r>
              <a:rPr lang="en-GB" altLang="en-US" sz="2000" baseline="-25000">
                <a:solidFill>
                  <a:schemeClr val="tx2"/>
                </a:solidFill>
                <a:latin typeface="Arial" panose="020B0604020202020204" pitchFamily="34" charset="0"/>
              </a:rPr>
              <a:t>1</a:t>
            </a:r>
          </a:p>
        </p:txBody>
      </p:sp>
      <p:sp>
        <p:nvSpPr>
          <p:cNvPr id="45074" name="Arc 19">
            <a:extLst>
              <a:ext uri="{FF2B5EF4-FFF2-40B4-BE49-F238E27FC236}">
                <a16:creationId xmlns:a16="http://schemas.microsoft.com/office/drawing/2014/main" id="{69C4D806-63E6-4E85-A2CE-32034AD8BEE4}"/>
              </a:ext>
            </a:extLst>
          </p:cNvPr>
          <p:cNvSpPr>
            <a:spLocks/>
          </p:cNvSpPr>
          <p:nvPr/>
        </p:nvSpPr>
        <p:spPr bwMode="auto">
          <a:xfrm rot="21240000">
            <a:off x="2198689" y="225425"/>
            <a:ext cx="4002087" cy="4383088"/>
          </a:xfrm>
          <a:custGeom>
            <a:avLst/>
            <a:gdLst>
              <a:gd name="T0" fmla="*/ 2147483647 w 20594"/>
              <a:gd name="T1" fmla="*/ 2147483647 h 21428"/>
              <a:gd name="T2" fmla="*/ 2147483647 w 20594"/>
              <a:gd name="T3" fmla="*/ 2147483647 h 21428"/>
              <a:gd name="T4" fmla="*/ 0 w 20594"/>
              <a:gd name="T5" fmla="*/ 0 h 21428"/>
              <a:gd name="T6" fmla="*/ 0 60000 65536"/>
              <a:gd name="T7" fmla="*/ 0 60000 65536"/>
              <a:gd name="T8" fmla="*/ 0 60000 65536"/>
              <a:gd name="T9" fmla="*/ 0 w 20594"/>
              <a:gd name="T10" fmla="*/ 0 h 21428"/>
              <a:gd name="T11" fmla="*/ 20594 w 20594"/>
              <a:gd name="T12" fmla="*/ 21428 h 21428"/>
            </a:gdLst>
            <a:ahLst/>
            <a:cxnLst>
              <a:cxn ang="T6">
                <a:pos x="T0" y="T1"/>
              </a:cxn>
              <a:cxn ang="T7">
                <a:pos x="T2" y="T3"/>
              </a:cxn>
              <a:cxn ang="T8">
                <a:pos x="T4" y="T5"/>
              </a:cxn>
            </a:cxnLst>
            <a:rect l="T9" t="T10" r="T11" b="T12"/>
            <a:pathLst>
              <a:path w="20594" h="21428" fill="none" extrusionOk="0">
                <a:moveTo>
                  <a:pt x="20594" y="6515"/>
                </a:moveTo>
                <a:cubicBezTo>
                  <a:pt x="18053" y="14545"/>
                  <a:pt x="11076" y="20366"/>
                  <a:pt x="2720" y="21427"/>
                </a:cubicBezTo>
              </a:path>
              <a:path w="20594" h="21428" stroke="0" extrusionOk="0">
                <a:moveTo>
                  <a:pt x="20594" y="6515"/>
                </a:moveTo>
                <a:cubicBezTo>
                  <a:pt x="18053" y="14545"/>
                  <a:pt x="11076" y="20366"/>
                  <a:pt x="2720" y="21427"/>
                </a:cubicBezTo>
                <a:lnTo>
                  <a:pt x="0" y="0"/>
                </a:lnTo>
                <a:close/>
              </a:path>
            </a:pathLst>
          </a:custGeom>
          <a:noFill/>
          <a:ln w="38100" cap="rnd">
            <a:solidFill>
              <a:srgbClr val="CC33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en-GB"/>
          </a:p>
        </p:txBody>
      </p:sp>
      <p:sp>
        <p:nvSpPr>
          <p:cNvPr id="45075" name="Rectangle 20">
            <a:extLst>
              <a:ext uri="{FF2B5EF4-FFF2-40B4-BE49-F238E27FC236}">
                <a16:creationId xmlns:a16="http://schemas.microsoft.com/office/drawing/2014/main" id="{9FBC59CB-E070-4FE3-A45D-9CBE20AB3CE0}"/>
              </a:ext>
            </a:extLst>
          </p:cNvPr>
          <p:cNvSpPr>
            <a:spLocks noChangeArrowheads="1"/>
          </p:cNvSpPr>
          <p:nvPr/>
        </p:nvSpPr>
        <p:spPr bwMode="auto">
          <a:xfrm>
            <a:off x="5810084" y="889683"/>
            <a:ext cx="710131" cy="462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defRPr sz="2400">
                <a:solidFill>
                  <a:schemeClr val="tx1"/>
                </a:solidFill>
                <a:latin typeface="Times New Roman" panose="02020603050405020304" pitchFamily="18" charset="0"/>
              </a:defRPr>
            </a:lvl1pPr>
            <a:lvl2pPr marL="742950" indent="-285750" defTabSz="762000">
              <a:defRPr sz="2400">
                <a:solidFill>
                  <a:schemeClr val="tx1"/>
                </a:solidFill>
                <a:latin typeface="Times New Roman" panose="02020603050405020304" pitchFamily="18" charset="0"/>
              </a:defRPr>
            </a:lvl2pPr>
            <a:lvl3pPr marL="1143000" indent="-228600" defTabSz="762000">
              <a:defRPr sz="2400">
                <a:solidFill>
                  <a:schemeClr val="tx1"/>
                </a:solidFill>
                <a:latin typeface="Times New Roman" panose="02020603050405020304" pitchFamily="18" charset="0"/>
              </a:defRPr>
            </a:lvl3pPr>
            <a:lvl4pPr marL="1600200" indent="-228600" defTabSz="762000">
              <a:defRPr sz="2400">
                <a:solidFill>
                  <a:schemeClr val="tx1"/>
                </a:solidFill>
                <a:latin typeface="Times New Roman" panose="02020603050405020304" pitchFamily="18" charset="0"/>
              </a:defRPr>
            </a:lvl4pPr>
            <a:lvl5pPr marL="2057400" indent="-228600" defTabSz="762000">
              <a:defRPr sz="2400">
                <a:solidFill>
                  <a:schemeClr val="tx1"/>
                </a:solidFill>
                <a:latin typeface="Times New Roman" panose="02020603050405020304" pitchFamily="18" charset="0"/>
              </a:defRPr>
            </a:lvl5pPr>
            <a:lvl6pPr marL="2514600" indent="-228600" defTabSz="7620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7620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7620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GB" altLang="en-US" i="1" dirty="0">
                <a:solidFill>
                  <a:srgbClr val="CC3300"/>
                </a:solidFill>
                <a:latin typeface="Arial" panose="020B0604020202020204" pitchFamily="34" charset="0"/>
              </a:rPr>
              <a:t>AS</a:t>
            </a:r>
            <a:r>
              <a:rPr lang="en-GB" altLang="en-US" baseline="-25000" dirty="0">
                <a:solidFill>
                  <a:srgbClr val="CC3300"/>
                </a:solidFill>
                <a:latin typeface="Arial" panose="020B0604020202020204" pitchFamily="34" charset="0"/>
              </a:rPr>
              <a:t>2</a:t>
            </a:r>
          </a:p>
        </p:txBody>
      </p:sp>
      <p:sp>
        <p:nvSpPr>
          <p:cNvPr id="28693" name="Line 21">
            <a:extLst>
              <a:ext uri="{FF2B5EF4-FFF2-40B4-BE49-F238E27FC236}">
                <a16:creationId xmlns:a16="http://schemas.microsoft.com/office/drawing/2014/main" id="{BECE4740-A9AD-486F-8848-CD7BF2F598B2}"/>
              </a:ext>
            </a:extLst>
          </p:cNvPr>
          <p:cNvSpPr>
            <a:spLocks noChangeShapeType="1"/>
          </p:cNvSpPr>
          <p:nvPr/>
        </p:nvSpPr>
        <p:spPr bwMode="auto">
          <a:xfrm flipH="1">
            <a:off x="2641601" y="3667125"/>
            <a:ext cx="2246313" cy="0"/>
          </a:xfrm>
          <a:prstGeom prst="line">
            <a:avLst/>
          </a:prstGeom>
          <a:noFill/>
          <a:ln w="19050">
            <a:solidFill>
              <a:srgbClr val="CC3300"/>
            </a:solidFill>
            <a:prstDash val="dash"/>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28694" name="Rectangle 22">
            <a:extLst>
              <a:ext uri="{FF2B5EF4-FFF2-40B4-BE49-F238E27FC236}">
                <a16:creationId xmlns:a16="http://schemas.microsoft.com/office/drawing/2014/main" id="{8A156306-57FD-4D40-8895-B1EB3F98C2FA}"/>
              </a:ext>
            </a:extLst>
          </p:cNvPr>
          <p:cNvSpPr>
            <a:spLocks noChangeArrowheads="1"/>
          </p:cNvSpPr>
          <p:nvPr/>
        </p:nvSpPr>
        <p:spPr bwMode="auto">
          <a:xfrm>
            <a:off x="2145104" y="3460750"/>
            <a:ext cx="452047" cy="4007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defRPr sz="2400">
                <a:solidFill>
                  <a:schemeClr val="tx1"/>
                </a:solidFill>
                <a:latin typeface="Times New Roman" panose="02020603050405020304" pitchFamily="18" charset="0"/>
              </a:defRPr>
            </a:lvl1pPr>
            <a:lvl2pPr marL="742950" indent="-285750" defTabSz="762000">
              <a:defRPr sz="2400">
                <a:solidFill>
                  <a:schemeClr val="tx1"/>
                </a:solidFill>
                <a:latin typeface="Times New Roman" panose="02020603050405020304" pitchFamily="18" charset="0"/>
              </a:defRPr>
            </a:lvl2pPr>
            <a:lvl3pPr marL="1143000" indent="-228600" defTabSz="762000">
              <a:defRPr sz="2400">
                <a:solidFill>
                  <a:schemeClr val="tx1"/>
                </a:solidFill>
                <a:latin typeface="Times New Roman" panose="02020603050405020304" pitchFamily="18" charset="0"/>
              </a:defRPr>
            </a:lvl3pPr>
            <a:lvl4pPr marL="1600200" indent="-228600" defTabSz="762000">
              <a:defRPr sz="2400">
                <a:solidFill>
                  <a:schemeClr val="tx1"/>
                </a:solidFill>
                <a:latin typeface="Times New Roman" panose="02020603050405020304" pitchFamily="18" charset="0"/>
              </a:defRPr>
            </a:lvl4pPr>
            <a:lvl5pPr marL="2057400" indent="-228600" defTabSz="762000">
              <a:defRPr sz="2400">
                <a:solidFill>
                  <a:schemeClr val="tx1"/>
                </a:solidFill>
                <a:latin typeface="Times New Roman" panose="02020603050405020304" pitchFamily="18" charset="0"/>
              </a:defRPr>
            </a:lvl5pPr>
            <a:lvl6pPr marL="2514600" indent="-228600" defTabSz="7620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7620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7620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r"/>
            <a:r>
              <a:rPr lang="en-GB" altLang="en-US" sz="2000" i="1">
                <a:solidFill>
                  <a:srgbClr val="CC3300"/>
                </a:solidFill>
                <a:latin typeface="Arial" panose="020B0604020202020204" pitchFamily="34" charset="0"/>
              </a:rPr>
              <a:t>P</a:t>
            </a:r>
            <a:r>
              <a:rPr lang="en-GB" altLang="en-US" sz="2000" baseline="-25000">
                <a:solidFill>
                  <a:srgbClr val="CC3300"/>
                </a:solidFill>
                <a:latin typeface="Arial" panose="020B0604020202020204" pitchFamily="34" charset="0"/>
              </a:rPr>
              <a:t>2</a:t>
            </a:r>
          </a:p>
        </p:txBody>
      </p:sp>
      <p:grpSp>
        <p:nvGrpSpPr>
          <p:cNvPr id="2" name="Group 29">
            <a:extLst>
              <a:ext uri="{FF2B5EF4-FFF2-40B4-BE49-F238E27FC236}">
                <a16:creationId xmlns:a16="http://schemas.microsoft.com/office/drawing/2014/main" id="{13FA69E9-B402-41A4-8BA7-7614D3615500}"/>
              </a:ext>
            </a:extLst>
          </p:cNvPr>
          <p:cNvGrpSpPr>
            <a:grpSpLocks/>
          </p:cNvGrpSpPr>
          <p:nvPr/>
        </p:nvGrpSpPr>
        <p:grpSpPr bwMode="auto">
          <a:xfrm>
            <a:off x="4633914" y="3716338"/>
            <a:ext cx="479425" cy="2627312"/>
            <a:chOff x="1959" y="2341"/>
            <a:chExt cx="302" cy="1655"/>
          </a:xfrm>
        </p:grpSpPr>
        <p:sp>
          <p:nvSpPr>
            <p:cNvPr id="45079" name="Line 24">
              <a:extLst>
                <a:ext uri="{FF2B5EF4-FFF2-40B4-BE49-F238E27FC236}">
                  <a16:creationId xmlns:a16="http://schemas.microsoft.com/office/drawing/2014/main" id="{61724225-0EDE-4459-A28B-1DD25DE32362}"/>
                </a:ext>
              </a:extLst>
            </p:cNvPr>
            <p:cNvSpPr>
              <a:spLocks noChangeShapeType="1"/>
            </p:cNvSpPr>
            <p:nvPr/>
          </p:nvSpPr>
          <p:spPr bwMode="auto">
            <a:xfrm>
              <a:off x="2119" y="2341"/>
              <a:ext cx="1" cy="1393"/>
            </a:xfrm>
            <a:prstGeom prst="line">
              <a:avLst/>
            </a:prstGeom>
            <a:noFill/>
            <a:ln w="19050">
              <a:solidFill>
                <a:srgbClr val="CC3300"/>
              </a:solidFill>
              <a:prstDash val="dash"/>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45080" name="Rectangle 25">
              <a:extLst>
                <a:ext uri="{FF2B5EF4-FFF2-40B4-BE49-F238E27FC236}">
                  <a16:creationId xmlns:a16="http://schemas.microsoft.com/office/drawing/2014/main" id="{5941AE99-5018-4537-ACA5-776146DB64E8}"/>
                </a:ext>
              </a:extLst>
            </p:cNvPr>
            <p:cNvSpPr>
              <a:spLocks noChangeArrowheads="1"/>
            </p:cNvSpPr>
            <p:nvPr/>
          </p:nvSpPr>
          <p:spPr bwMode="auto">
            <a:xfrm>
              <a:off x="1959" y="3744"/>
              <a:ext cx="302"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defRPr sz="2400">
                  <a:solidFill>
                    <a:schemeClr val="tx1"/>
                  </a:solidFill>
                  <a:latin typeface="Times New Roman" panose="02020603050405020304" pitchFamily="18" charset="0"/>
                </a:defRPr>
              </a:lvl1pPr>
              <a:lvl2pPr marL="742950" indent="-285750" defTabSz="762000">
                <a:defRPr sz="2400">
                  <a:solidFill>
                    <a:schemeClr val="tx1"/>
                  </a:solidFill>
                  <a:latin typeface="Times New Roman" panose="02020603050405020304" pitchFamily="18" charset="0"/>
                </a:defRPr>
              </a:lvl2pPr>
              <a:lvl3pPr marL="1143000" indent="-228600" defTabSz="762000">
                <a:defRPr sz="2400">
                  <a:solidFill>
                    <a:schemeClr val="tx1"/>
                  </a:solidFill>
                  <a:latin typeface="Times New Roman" panose="02020603050405020304" pitchFamily="18" charset="0"/>
                </a:defRPr>
              </a:lvl3pPr>
              <a:lvl4pPr marL="1600200" indent="-228600" defTabSz="762000">
                <a:defRPr sz="2400">
                  <a:solidFill>
                    <a:schemeClr val="tx1"/>
                  </a:solidFill>
                  <a:latin typeface="Times New Roman" panose="02020603050405020304" pitchFamily="18" charset="0"/>
                </a:defRPr>
              </a:lvl4pPr>
              <a:lvl5pPr marL="2057400" indent="-228600" defTabSz="762000">
                <a:defRPr sz="2400">
                  <a:solidFill>
                    <a:schemeClr val="tx1"/>
                  </a:solidFill>
                  <a:latin typeface="Times New Roman" panose="02020603050405020304" pitchFamily="18" charset="0"/>
                </a:defRPr>
              </a:lvl5pPr>
              <a:lvl6pPr marL="2514600" indent="-228600" defTabSz="7620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7620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7620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r"/>
              <a:r>
                <a:rPr lang="en-GB" altLang="en-US" sz="2000" i="1">
                  <a:solidFill>
                    <a:srgbClr val="CC3300"/>
                  </a:solidFill>
                  <a:latin typeface="Arial" panose="020B0604020202020204" pitchFamily="34" charset="0"/>
                </a:rPr>
                <a:t>Q</a:t>
              </a:r>
              <a:r>
                <a:rPr lang="en-GB" altLang="en-US" sz="2000" baseline="-25000">
                  <a:solidFill>
                    <a:srgbClr val="CC3300"/>
                  </a:solidFill>
                  <a:latin typeface="Arial" panose="020B0604020202020204" pitchFamily="34" charset="0"/>
                </a:rPr>
                <a:t>2</a:t>
              </a:r>
            </a:p>
          </p:txBody>
        </p:sp>
      </p:grpSp>
      <p:sp>
        <p:nvSpPr>
          <p:cNvPr id="45082" name="Oval 27">
            <a:extLst>
              <a:ext uri="{FF2B5EF4-FFF2-40B4-BE49-F238E27FC236}">
                <a16:creationId xmlns:a16="http://schemas.microsoft.com/office/drawing/2014/main" id="{58D190FA-8419-4F8F-A6B6-B433CD07E011}"/>
              </a:ext>
            </a:extLst>
          </p:cNvPr>
          <p:cNvSpPr>
            <a:spLocks noChangeArrowheads="1"/>
          </p:cNvSpPr>
          <p:nvPr/>
        </p:nvSpPr>
        <p:spPr bwMode="auto">
          <a:xfrm>
            <a:off x="5411789" y="4106864"/>
            <a:ext cx="109537" cy="109537"/>
          </a:xfrm>
          <a:prstGeom prst="ellipse">
            <a:avLst/>
          </a:prstGeom>
          <a:solidFill>
            <a:srgbClr val="99CCFF"/>
          </a:solidFill>
          <a:ln w="25400">
            <a:solidFill>
              <a:schemeClr val="bg2"/>
            </a:solidFill>
            <a:round/>
            <a:headEnd/>
            <a:tailEnd/>
          </a:ln>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28695" name="Oval 23">
            <a:extLst>
              <a:ext uri="{FF2B5EF4-FFF2-40B4-BE49-F238E27FC236}">
                <a16:creationId xmlns:a16="http://schemas.microsoft.com/office/drawing/2014/main" id="{18E991C9-1208-4DD8-B6AC-627BE9A086BD}"/>
              </a:ext>
            </a:extLst>
          </p:cNvPr>
          <p:cNvSpPr>
            <a:spLocks noChangeArrowheads="1"/>
          </p:cNvSpPr>
          <p:nvPr/>
        </p:nvSpPr>
        <p:spPr bwMode="auto">
          <a:xfrm>
            <a:off x="4832350" y="3611564"/>
            <a:ext cx="109538" cy="109537"/>
          </a:xfrm>
          <a:prstGeom prst="ellipse">
            <a:avLst/>
          </a:prstGeom>
          <a:solidFill>
            <a:srgbClr val="FF8000"/>
          </a:solidFill>
          <a:ln w="25400">
            <a:solidFill>
              <a:schemeClr val="bg2"/>
            </a:solidFill>
            <a:round/>
            <a:headEnd/>
            <a:tailEnd/>
          </a:ln>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45084" name="AutoShape 30">
            <a:extLst>
              <a:ext uri="{FF2B5EF4-FFF2-40B4-BE49-F238E27FC236}">
                <a16:creationId xmlns:a16="http://schemas.microsoft.com/office/drawing/2014/main" id="{B2519D1D-66B2-4AF1-AB3C-DC9F819BFB66}"/>
              </a:ext>
            </a:extLst>
          </p:cNvPr>
          <p:cNvSpPr>
            <a:spLocks noChangeArrowheads="1"/>
          </p:cNvSpPr>
          <p:nvPr/>
        </p:nvSpPr>
        <p:spPr bwMode="auto">
          <a:xfrm rot="16200000">
            <a:off x="5692493" y="2868614"/>
            <a:ext cx="81530" cy="725486"/>
          </a:xfrm>
          <a:prstGeom prst="upArrow">
            <a:avLst>
              <a:gd name="adj1" fmla="val 50000"/>
              <a:gd name="adj2" fmla="val 173388"/>
            </a:avLst>
          </a:prstGeom>
          <a:gradFill rotWithShape="0">
            <a:gsLst>
              <a:gs pos="0">
                <a:schemeClr val="accent2"/>
              </a:gs>
              <a:gs pos="100000">
                <a:schemeClr val="tx2"/>
              </a:gs>
            </a:gsLst>
            <a:lin ang="5400000" scaled="1"/>
          </a:gra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29" name="Rectangle 5">
            <a:extLst>
              <a:ext uri="{FF2B5EF4-FFF2-40B4-BE49-F238E27FC236}">
                <a16:creationId xmlns:a16="http://schemas.microsoft.com/office/drawing/2014/main" id="{E1FDF2CF-B4D5-44F0-98E9-5B5F27941073}"/>
              </a:ext>
            </a:extLst>
          </p:cNvPr>
          <p:cNvSpPr>
            <a:spLocks noChangeArrowheads="1"/>
          </p:cNvSpPr>
          <p:nvPr/>
        </p:nvSpPr>
        <p:spPr bwMode="auto">
          <a:xfrm>
            <a:off x="0" y="1"/>
            <a:ext cx="12240977" cy="557213"/>
          </a:xfrm>
          <a:prstGeom prst="rect">
            <a:avLst/>
          </a:prstGeom>
          <a:noFill/>
          <a:ln>
            <a:noFill/>
          </a:ln>
          <a:effectLst>
            <a:outerShdw dist="12700" dir="2700000" algn="ctr" rotWithShape="0">
              <a:schemeClr val="tx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91440" rIns="92075" bIns="46038" anchor="ctr"/>
          <a:lstStyle/>
          <a:p>
            <a:pPr algn="ctr">
              <a:defRPr/>
            </a:pPr>
            <a:r>
              <a:rPr lang="en-GB" sz="2800" b="1" kern="0" dirty="0">
                <a:latin typeface="+mj-lt"/>
                <a:ea typeface="+mj-ea"/>
                <a:cs typeface="+mj-cs"/>
              </a:rPr>
              <a:t>Cost-push inflation</a:t>
            </a:r>
          </a:p>
        </p:txBody>
      </p:sp>
      <p:sp>
        <p:nvSpPr>
          <p:cNvPr id="30" name="Rectangle 6">
            <a:extLst>
              <a:ext uri="{FF2B5EF4-FFF2-40B4-BE49-F238E27FC236}">
                <a16:creationId xmlns:a16="http://schemas.microsoft.com/office/drawing/2014/main" id="{048A85B5-7A83-46AA-83E0-0E833852AE17}"/>
              </a:ext>
            </a:extLst>
          </p:cNvPr>
          <p:cNvSpPr>
            <a:spLocks noChangeArrowheads="1"/>
          </p:cNvSpPr>
          <p:nvPr/>
        </p:nvSpPr>
        <p:spPr bwMode="auto">
          <a:xfrm>
            <a:off x="4405642" y="6374513"/>
            <a:ext cx="337913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a:defRPr sz="1900">
                <a:solidFill>
                  <a:schemeClr val="hlink"/>
                </a:solidFill>
                <a:latin typeface="Arial" panose="020B0604020202020204" pitchFamily="34" charset="0"/>
              </a:defRPr>
            </a:lvl1pPr>
            <a:lvl2pPr marL="742950" indent="-285750" defTabSz="762000">
              <a:defRPr sz="1900">
                <a:solidFill>
                  <a:schemeClr val="hlink"/>
                </a:solidFill>
                <a:latin typeface="Arial" panose="020B0604020202020204" pitchFamily="34" charset="0"/>
              </a:defRPr>
            </a:lvl2pPr>
            <a:lvl3pPr marL="1143000" indent="-228600" defTabSz="762000">
              <a:defRPr sz="1900">
                <a:solidFill>
                  <a:schemeClr val="hlink"/>
                </a:solidFill>
                <a:latin typeface="Arial" panose="020B0604020202020204" pitchFamily="34" charset="0"/>
              </a:defRPr>
            </a:lvl3pPr>
            <a:lvl4pPr marL="1600200" indent="-228600" defTabSz="762000">
              <a:defRPr sz="1900">
                <a:solidFill>
                  <a:schemeClr val="hlink"/>
                </a:solidFill>
                <a:latin typeface="Arial" panose="020B0604020202020204" pitchFamily="34" charset="0"/>
              </a:defRPr>
            </a:lvl4pPr>
            <a:lvl5pPr marL="2057400" indent="-228600" defTabSz="762000">
              <a:defRPr sz="1900">
                <a:solidFill>
                  <a:schemeClr val="hlink"/>
                </a:solidFill>
                <a:latin typeface="Arial" panose="020B0604020202020204" pitchFamily="34" charset="0"/>
              </a:defRPr>
            </a:lvl5pPr>
            <a:lvl6pPr marL="2514600" indent="-228600" defTabSz="762000" eaLnBrk="0" fontAlgn="base" hangingPunct="0">
              <a:spcBef>
                <a:spcPct val="0"/>
              </a:spcBef>
              <a:spcAft>
                <a:spcPct val="0"/>
              </a:spcAft>
              <a:defRPr sz="1900">
                <a:solidFill>
                  <a:schemeClr val="hlink"/>
                </a:solidFill>
                <a:latin typeface="Arial" panose="020B0604020202020204" pitchFamily="34" charset="0"/>
              </a:defRPr>
            </a:lvl6pPr>
            <a:lvl7pPr marL="2971800" indent="-228600" defTabSz="762000" eaLnBrk="0" fontAlgn="base" hangingPunct="0">
              <a:spcBef>
                <a:spcPct val="0"/>
              </a:spcBef>
              <a:spcAft>
                <a:spcPct val="0"/>
              </a:spcAft>
              <a:defRPr sz="1900">
                <a:solidFill>
                  <a:schemeClr val="hlink"/>
                </a:solidFill>
                <a:latin typeface="Arial" panose="020B0604020202020204" pitchFamily="34" charset="0"/>
              </a:defRPr>
            </a:lvl7pPr>
            <a:lvl8pPr marL="3429000" indent="-228600" defTabSz="762000" eaLnBrk="0" fontAlgn="base" hangingPunct="0">
              <a:spcBef>
                <a:spcPct val="0"/>
              </a:spcBef>
              <a:spcAft>
                <a:spcPct val="0"/>
              </a:spcAft>
              <a:defRPr sz="1900">
                <a:solidFill>
                  <a:schemeClr val="hlink"/>
                </a:solidFill>
                <a:latin typeface="Arial" panose="020B0604020202020204" pitchFamily="34" charset="0"/>
              </a:defRPr>
            </a:lvl8pPr>
            <a:lvl9pPr marL="3886200" indent="-228600" defTabSz="762000" eaLnBrk="0" fontAlgn="base" hangingPunct="0">
              <a:spcBef>
                <a:spcPct val="0"/>
              </a:spcBef>
              <a:spcAft>
                <a:spcPct val="0"/>
              </a:spcAft>
              <a:defRPr sz="1900">
                <a:solidFill>
                  <a:schemeClr val="hlink"/>
                </a:solidFill>
                <a:latin typeface="Arial" panose="020B0604020202020204" pitchFamily="34" charset="0"/>
              </a:defRPr>
            </a:lvl9pPr>
          </a:lstStyle>
          <a:p>
            <a:pPr algn="ctr"/>
            <a:r>
              <a:rPr lang="en-GB" altLang="en-US" sz="2000">
                <a:solidFill>
                  <a:schemeClr val="tx1"/>
                </a:solidFill>
              </a:rPr>
              <a:t>Real national inc</a:t>
            </a:r>
            <a:r>
              <a:rPr lang="en-US" altLang="en-US" sz="2000">
                <a:solidFill>
                  <a:schemeClr val="tx1"/>
                </a:solidFill>
              </a:rPr>
              <a:t>ome (GDP)</a:t>
            </a:r>
            <a:endParaRPr lang="en-GB" altLang="en-US" sz="2000">
              <a:solidFill>
                <a:schemeClr val="tx1"/>
              </a:solidFill>
            </a:endParaRPr>
          </a:p>
        </p:txBody>
      </p:sp>
    </p:spTree>
    <p:extLst>
      <p:ext uri="{BB962C8B-B14F-4D97-AF65-F5344CB8AC3E}">
        <p14:creationId xmlns:p14="http://schemas.microsoft.com/office/powerpoint/2010/main" val="1457701616"/>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5" presetClass="entr" presetSubtype="0" fill="hold" grpId="0" nodeType="clickEffect">
                                  <p:stCondLst>
                                    <p:cond delay="0"/>
                                  </p:stCondLst>
                                  <p:childTnLst>
                                    <p:set>
                                      <p:cBhvr>
                                        <p:cTn id="6" dur="1" fill="hold">
                                          <p:stCondLst>
                                            <p:cond delay="0"/>
                                          </p:stCondLst>
                                        </p:cTn>
                                        <p:tgtEl>
                                          <p:spTgt spid="28695"/>
                                        </p:tgtEl>
                                        <p:attrNameLst>
                                          <p:attrName>style.visibility</p:attrName>
                                        </p:attrNameLst>
                                      </p:cBhvr>
                                      <p:to>
                                        <p:strVal val="visible"/>
                                      </p:to>
                                    </p:set>
                                    <p:anim calcmode="lin" valueType="num">
                                      <p:cBhvr>
                                        <p:cTn id="7" dur="1000" fill="hold"/>
                                        <p:tgtEl>
                                          <p:spTgt spid="28695"/>
                                        </p:tgtEl>
                                        <p:attrNameLst>
                                          <p:attrName>ppt_w</p:attrName>
                                        </p:attrNameLst>
                                      </p:cBhvr>
                                      <p:tavLst>
                                        <p:tav tm="0">
                                          <p:val>
                                            <p:fltVal val="0"/>
                                          </p:val>
                                        </p:tav>
                                        <p:tav tm="100000">
                                          <p:val>
                                            <p:strVal val="#ppt_w"/>
                                          </p:val>
                                        </p:tav>
                                      </p:tavLst>
                                    </p:anim>
                                    <p:anim calcmode="lin" valueType="num">
                                      <p:cBhvr>
                                        <p:cTn id="8" dur="1000" fill="hold"/>
                                        <p:tgtEl>
                                          <p:spTgt spid="28695"/>
                                        </p:tgtEl>
                                        <p:attrNameLst>
                                          <p:attrName>ppt_h</p:attrName>
                                        </p:attrNameLst>
                                      </p:cBhvr>
                                      <p:tavLst>
                                        <p:tav tm="0">
                                          <p:val>
                                            <p:fltVal val="0"/>
                                          </p:val>
                                        </p:tav>
                                        <p:tav tm="100000">
                                          <p:val>
                                            <p:strVal val="#ppt_h"/>
                                          </p:val>
                                        </p:tav>
                                      </p:tavLst>
                                    </p:anim>
                                    <p:anim calcmode="lin" valueType="num">
                                      <p:cBhvr>
                                        <p:cTn id="9" dur="1000" fill="hold"/>
                                        <p:tgtEl>
                                          <p:spTgt spid="28695"/>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28695"/>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1" fill="hold" nodeType="clickPar">
                      <p:stCondLst>
                        <p:cond delay="indefinite"/>
                      </p:stCondLst>
                      <p:childTnLst>
                        <p:par>
                          <p:cTn id="12" fill="hold" nodeType="withGroup">
                            <p:stCondLst>
                              <p:cond delay="0"/>
                            </p:stCondLst>
                            <p:childTnLst>
                              <p:par>
                                <p:cTn id="13" presetID="22" presetClass="entr" presetSubtype="2" fill="hold" nodeType="clickEffect">
                                  <p:stCondLst>
                                    <p:cond delay="0"/>
                                  </p:stCondLst>
                                  <p:childTnLst>
                                    <p:set>
                                      <p:cBhvr>
                                        <p:cTn id="14" dur="1" fill="hold">
                                          <p:stCondLst>
                                            <p:cond delay="0"/>
                                          </p:stCondLst>
                                        </p:cTn>
                                        <p:tgtEl>
                                          <p:spTgt spid="28693"/>
                                        </p:tgtEl>
                                        <p:attrNameLst>
                                          <p:attrName>style.visibility</p:attrName>
                                        </p:attrNameLst>
                                      </p:cBhvr>
                                      <p:to>
                                        <p:strVal val="visible"/>
                                      </p:to>
                                    </p:set>
                                    <p:animEffect transition="in" filter="wipe(right)">
                                      <p:cBhvr>
                                        <p:cTn id="15" dur="500"/>
                                        <p:tgtEl>
                                          <p:spTgt spid="28693"/>
                                        </p:tgtEl>
                                      </p:cBhvr>
                                    </p:animEffect>
                                  </p:childTnLst>
                                </p:cTn>
                              </p:par>
                            </p:childTnLst>
                          </p:cTn>
                        </p:par>
                        <p:par>
                          <p:cTn id="16" fill="hold" nodeType="withGroup">
                            <p:stCondLst>
                              <p:cond delay="500"/>
                            </p:stCondLst>
                            <p:childTnLst>
                              <p:par>
                                <p:cTn id="17" presetID="2" presetClass="entr" presetSubtype="8" fill="hold" grpId="0" nodeType="afterEffect">
                                  <p:stCondLst>
                                    <p:cond delay="0"/>
                                  </p:stCondLst>
                                  <p:childTnLst>
                                    <p:set>
                                      <p:cBhvr>
                                        <p:cTn id="18" dur="1" fill="hold">
                                          <p:stCondLst>
                                            <p:cond delay="0"/>
                                          </p:stCondLst>
                                        </p:cTn>
                                        <p:tgtEl>
                                          <p:spTgt spid="28694"/>
                                        </p:tgtEl>
                                        <p:attrNameLst>
                                          <p:attrName>style.visibility</p:attrName>
                                        </p:attrNameLst>
                                      </p:cBhvr>
                                      <p:to>
                                        <p:strVal val="visible"/>
                                      </p:to>
                                    </p:set>
                                    <p:anim calcmode="lin" valueType="num">
                                      <p:cBhvr additive="base">
                                        <p:cTn id="19" dur="500" fill="hold"/>
                                        <p:tgtEl>
                                          <p:spTgt spid="28694"/>
                                        </p:tgtEl>
                                        <p:attrNameLst>
                                          <p:attrName>ppt_x</p:attrName>
                                        </p:attrNameLst>
                                      </p:cBhvr>
                                      <p:tavLst>
                                        <p:tav tm="0">
                                          <p:val>
                                            <p:strVal val="0-#ppt_w/2"/>
                                          </p:val>
                                        </p:tav>
                                        <p:tav tm="100000">
                                          <p:val>
                                            <p:strVal val="#ppt_x"/>
                                          </p:val>
                                        </p:tav>
                                      </p:tavLst>
                                    </p:anim>
                                    <p:anim calcmode="lin" valueType="num">
                                      <p:cBhvr additive="base">
                                        <p:cTn id="20" dur="500" fill="hold"/>
                                        <p:tgtEl>
                                          <p:spTgt spid="28694"/>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1" fill="hold" nodeType="clickEffect">
                                  <p:stCondLst>
                                    <p:cond delay="0"/>
                                  </p:stCondLst>
                                  <p:childTnLst>
                                    <p:set>
                                      <p:cBhvr>
                                        <p:cTn id="24" dur="1" fill="hold">
                                          <p:stCondLst>
                                            <p:cond delay="0"/>
                                          </p:stCondLst>
                                        </p:cTn>
                                        <p:tgtEl>
                                          <p:spTgt spid="2"/>
                                        </p:tgtEl>
                                        <p:attrNameLst>
                                          <p:attrName>style.visibility</p:attrName>
                                        </p:attrNameLst>
                                      </p:cBhvr>
                                      <p:to>
                                        <p:strVal val="visible"/>
                                      </p:to>
                                    </p:set>
                                    <p:animEffect transition="in" filter="wipe(up)">
                                      <p:cBhvr>
                                        <p:cTn id="25"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94" grpId="0" autoUpdateAnimBg="0"/>
      <p:bldP spid="28695" grpId="0" animBg="1" autoUpdateAnimBg="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5" name="Rectangle 5">
            <a:extLst>
              <a:ext uri="{FF2B5EF4-FFF2-40B4-BE49-F238E27FC236}">
                <a16:creationId xmlns:a16="http://schemas.microsoft.com/office/drawing/2014/main" id="{1F5916F4-6DD0-42AA-AA05-B964D5365F0B}"/>
              </a:ext>
            </a:extLst>
          </p:cNvPr>
          <p:cNvSpPr>
            <a:spLocks noChangeArrowheads="1"/>
          </p:cNvSpPr>
          <p:nvPr/>
        </p:nvSpPr>
        <p:spPr bwMode="auto">
          <a:xfrm>
            <a:off x="720726" y="6137492"/>
            <a:ext cx="384721" cy="4007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defRPr sz="2400">
                <a:solidFill>
                  <a:schemeClr val="tx1"/>
                </a:solidFill>
                <a:latin typeface="Times New Roman" panose="02020603050405020304" pitchFamily="18" charset="0"/>
              </a:defRPr>
            </a:lvl1pPr>
            <a:lvl2pPr marL="742950" indent="-285750" defTabSz="762000">
              <a:defRPr sz="2400">
                <a:solidFill>
                  <a:schemeClr val="tx1"/>
                </a:solidFill>
                <a:latin typeface="Times New Roman" panose="02020603050405020304" pitchFamily="18" charset="0"/>
              </a:defRPr>
            </a:lvl2pPr>
            <a:lvl3pPr marL="1143000" indent="-228600" defTabSz="762000">
              <a:defRPr sz="2400">
                <a:solidFill>
                  <a:schemeClr val="tx1"/>
                </a:solidFill>
                <a:latin typeface="Times New Roman" panose="02020603050405020304" pitchFamily="18" charset="0"/>
              </a:defRPr>
            </a:lvl3pPr>
            <a:lvl4pPr marL="1600200" indent="-228600" defTabSz="762000">
              <a:defRPr sz="2400">
                <a:solidFill>
                  <a:schemeClr val="tx1"/>
                </a:solidFill>
                <a:latin typeface="Times New Roman" panose="02020603050405020304" pitchFamily="18" charset="0"/>
              </a:defRPr>
            </a:lvl4pPr>
            <a:lvl5pPr marL="2057400" indent="-228600" defTabSz="762000">
              <a:defRPr sz="2400">
                <a:solidFill>
                  <a:schemeClr val="tx1"/>
                </a:solidFill>
                <a:latin typeface="Times New Roman" panose="02020603050405020304" pitchFamily="18" charset="0"/>
              </a:defRPr>
            </a:lvl5pPr>
            <a:lvl6pPr marL="2514600" indent="-228600" defTabSz="7620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7620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7620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762000" eaLnBrk="0" fontAlgn="base" hangingPunct="0">
              <a:spcBef>
                <a:spcPct val="0"/>
              </a:spcBef>
              <a:spcAft>
                <a:spcPct val="0"/>
              </a:spcAft>
              <a:defRPr sz="2400">
                <a:solidFill>
                  <a:schemeClr val="tx1"/>
                </a:solidFill>
                <a:latin typeface="Times New Roman" panose="02020603050405020304" pitchFamily="18" charset="0"/>
              </a:defRPr>
            </a:lvl9pPr>
          </a:lstStyle>
          <a:p>
            <a:r>
              <a:rPr lang="en-GB" altLang="en-US" sz="2000">
                <a:latin typeface="Arial" panose="020B0604020202020204" pitchFamily="34" charset="0"/>
              </a:rPr>
              <a:t>O</a:t>
            </a:r>
          </a:p>
        </p:txBody>
      </p:sp>
      <p:sp>
        <p:nvSpPr>
          <p:cNvPr id="51206" name="Rectangle 6">
            <a:extLst>
              <a:ext uri="{FF2B5EF4-FFF2-40B4-BE49-F238E27FC236}">
                <a16:creationId xmlns:a16="http://schemas.microsoft.com/office/drawing/2014/main" id="{8AFC2757-8B32-4ADD-88D3-4EBC97A0B516}"/>
              </a:ext>
            </a:extLst>
          </p:cNvPr>
          <p:cNvSpPr>
            <a:spLocks noChangeArrowheads="1"/>
          </p:cNvSpPr>
          <p:nvPr/>
        </p:nvSpPr>
        <p:spPr bwMode="auto">
          <a:xfrm rot="16200000">
            <a:off x="-374133" y="3098666"/>
            <a:ext cx="1370568" cy="4007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defRPr sz="2400">
                <a:solidFill>
                  <a:schemeClr val="tx1"/>
                </a:solidFill>
                <a:latin typeface="Times New Roman" panose="02020603050405020304" pitchFamily="18" charset="0"/>
              </a:defRPr>
            </a:lvl1pPr>
            <a:lvl2pPr marL="742950" indent="-285750" defTabSz="762000">
              <a:defRPr sz="2400">
                <a:solidFill>
                  <a:schemeClr val="tx1"/>
                </a:solidFill>
                <a:latin typeface="Times New Roman" panose="02020603050405020304" pitchFamily="18" charset="0"/>
              </a:defRPr>
            </a:lvl2pPr>
            <a:lvl3pPr marL="1143000" indent="-228600" defTabSz="762000">
              <a:defRPr sz="2400">
                <a:solidFill>
                  <a:schemeClr val="tx1"/>
                </a:solidFill>
                <a:latin typeface="Times New Roman" panose="02020603050405020304" pitchFamily="18" charset="0"/>
              </a:defRPr>
            </a:lvl3pPr>
            <a:lvl4pPr marL="1600200" indent="-228600" defTabSz="762000">
              <a:defRPr sz="2400">
                <a:solidFill>
                  <a:schemeClr val="tx1"/>
                </a:solidFill>
                <a:latin typeface="Times New Roman" panose="02020603050405020304" pitchFamily="18" charset="0"/>
              </a:defRPr>
            </a:lvl4pPr>
            <a:lvl5pPr marL="2057400" indent="-228600" defTabSz="762000">
              <a:defRPr sz="2400">
                <a:solidFill>
                  <a:schemeClr val="tx1"/>
                </a:solidFill>
                <a:latin typeface="Times New Roman" panose="02020603050405020304" pitchFamily="18" charset="0"/>
              </a:defRPr>
            </a:lvl5pPr>
            <a:lvl6pPr marL="2514600" indent="-228600" defTabSz="7620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7620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7620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762000" eaLnBrk="0" fontAlgn="base" hangingPunct="0">
              <a:spcBef>
                <a:spcPct val="0"/>
              </a:spcBef>
              <a:spcAft>
                <a:spcPct val="0"/>
              </a:spcAft>
              <a:defRPr sz="2400">
                <a:solidFill>
                  <a:schemeClr val="tx1"/>
                </a:solidFill>
                <a:latin typeface="Times New Roman" panose="02020603050405020304" pitchFamily="18" charset="0"/>
              </a:defRPr>
            </a:lvl9pPr>
          </a:lstStyle>
          <a:p>
            <a:r>
              <a:rPr lang="en-GB" altLang="en-US" sz="2000">
                <a:latin typeface="Arial" panose="020B0604020202020204" pitchFamily="34" charset="0"/>
              </a:rPr>
              <a:t>Price level</a:t>
            </a:r>
          </a:p>
        </p:txBody>
      </p:sp>
      <p:sp>
        <p:nvSpPr>
          <p:cNvPr id="51208" name="Arc 8">
            <a:extLst>
              <a:ext uri="{FF2B5EF4-FFF2-40B4-BE49-F238E27FC236}">
                <a16:creationId xmlns:a16="http://schemas.microsoft.com/office/drawing/2014/main" id="{BF5690A4-D964-44B0-8F72-AFCEF8F0BEA8}"/>
              </a:ext>
            </a:extLst>
          </p:cNvPr>
          <p:cNvSpPr>
            <a:spLocks/>
          </p:cNvSpPr>
          <p:nvPr/>
        </p:nvSpPr>
        <p:spPr bwMode="auto">
          <a:xfrm rot="21240000">
            <a:off x="509589" y="468529"/>
            <a:ext cx="4860925" cy="5226050"/>
          </a:xfrm>
          <a:custGeom>
            <a:avLst/>
            <a:gdLst>
              <a:gd name="T0" fmla="*/ 2147483647 w 20593"/>
              <a:gd name="T1" fmla="*/ 2147483647 h 21428"/>
              <a:gd name="T2" fmla="*/ 2147483647 w 20593"/>
              <a:gd name="T3" fmla="*/ 2147483647 h 21428"/>
              <a:gd name="T4" fmla="*/ 0 w 20593"/>
              <a:gd name="T5" fmla="*/ 0 h 21428"/>
              <a:gd name="T6" fmla="*/ 0 60000 65536"/>
              <a:gd name="T7" fmla="*/ 0 60000 65536"/>
              <a:gd name="T8" fmla="*/ 0 60000 65536"/>
              <a:gd name="T9" fmla="*/ 0 w 20593"/>
              <a:gd name="T10" fmla="*/ 0 h 21428"/>
              <a:gd name="T11" fmla="*/ 20593 w 20593"/>
              <a:gd name="T12" fmla="*/ 21428 h 21428"/>
            </a:gdLst>
            <a:ahLst/>
            <a:cxnLst>
              <a:cxn ang="T6">
                <a:pos x="T0" y="T1"/>
              </a:cxn>
              <a:cxn ang="T7">
                <a:pos x="T2" y="T3"/>
              </a:cxn>
              <a:cxn ang="T8">
                <a:pos x="T4" y="T5"/>
              </a:cxn>
            </a:cxnLst>
            <a:rect l="T9" t="T10" r="T11" b="T12"/>
            <a:pathLst>
              <a:path w="20593" h="21428" fill="none" extrusionOk="0">
                <a:moveTo>
                  <a:pt x="20593" y="6518"/>
                </a:moveTo>
                <a:cubicBezTo>
                  <a:pt x="18051" y="14548"/>
                  <a:pt x="11073" y="20368"/>
                  <a:pt x="2718" y="21428"/>
                </a:cubicBezTo>
              </a:path>
              <a:path w="20593" h="21428" stroke="0" extrusionOk="0">
                <a:moveTo>
                  <a:pt x="20593" y="6518"/>
                </a:moveTo>
                <a:cubicBezTo>
                  <a:pt x="18051" y="14548"/>
                  <a:pt x="11073" y="20368"/>
                  <a:pt x="2718" y="21428"/>
                </a:cubicBezTo>
                <a:lnTo>
                  <a:pt x="0" y="0"/>
                </a:lnTo>
                <a:close/>
              </a:path>
            </a:pathLst>
          </a:custGeom>
          <a:noFill/>
          <a:ln w="38100" cap="rnd">
            <a:solidFill>
              <a:schemeClr val="tx2"/>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en-GB"/>
          </a:p>
        </p:txBody>
      </p:sp>
      <p:sp>
        <p:nvSpPr>
          <p:cNvPr id="51209" name="Arc 9">
            <a:extLst>
              <a:ext uri="{FF2B5EF4-FFF2-40B4-BE49-F238E27FC236}">
                <a16:creationId xmlns:a16="http://schemas.microsoft.com/office/drawing/2014/main" id="{C312DFF7-476B-4EE2-9080-04024AFCC4F9}"/>
              </a:ext>
            </a:extLst>
          </p:cNvPr>
          <p:cNvSpPr>
            <a:spLocks/>
          </p:cNvSpPr>
          <p:nvPr/>
        </p:nvSpPr>
        <p:spPr bwMode="auto">
          <a:xfrm>
            <a:off x="1911350" y="239929"/>
            <a:ext cx="7207250" cy="5334000"/>
          </a:xfrm>
          <a:custGeom>
            <a:avLst/>
            <a:gdLst>
              <a:gd name="T0" fmla="*/ 2147483647 w 20698"/>
              <a:gd name="T1" fmla="*/ 2147483647 h 20052"/>
              <a:gd name="T2" fmla="*/ 0 w 20698"/>
              <a:gd name="T3" fmla="*/ 2147483647 h 20052"/>
              <a:gd name="T4" fmla="*/ 2147483647 w 20698"/>
              <a:gd name="T5" fmla="*/ 0 h 20052"/>
              <a:gd name="T6" fmla="*/ 0 60000 65536"/>
              <a:gd name="T7" fmla="*/ 0 60000 65536"/>
              <a:gd name="T8" fmla="*/ 0 60000 65536"/>
              <a:gd name="T9" fmla="*/ 0 w 20698"/>
              <a:gd name="T10" fmla="*/ 0 h 20052"/>
              <a:gd name="T11" fmla="*/ 20698 w 20698"/>
              <a:gd name="T12" fmla="*/ 20052 h 20052"/>
            </a:gdLst>
            <a:ahLst/>
            <a:cxnLst>
              <a:cxn ang="T6">
                <a:pos x="T0" y="T1"/>
              </a:cxn>
              <a:cxn ang="T7">
                <a:pos x="T2" y="T3"/>
              </a:cxn>
              <a:cxn ang="T8">
                <a:pos x="T4" y="T5"/>
              </a:cxn>
            </a:cxnLst>
            <a:rect l="T9" t="T10" r="T11" b="T12"/>
            <a:pathLst>
              <a:path w="20698" h="20052" fill="none" extrusionOk="0">
                <a:moveTo>
                  <a:pt x="12668" y="20051"/>
                </a:moveTo>
                <a:cubicBezTo>
                  <a:pt x="6550" y="17601"/>
                  <a:pt x="1885" y="12492"/>
                  <a:pt x="0" y="6177"/>
                </a:cubicBezTo>
              </a:path>
              <a:path w="20698" h="20052" stroke="0" extrusionOk="0">
                <a:moveTo>
                  <a:pt x="12668" y="20051"/>
                </a:moveTo>
                <a:cubicBezTo>
                  <a:pt x="6550" y="17601"/>
                  <a:pt x="1885" y="12492"/>
                  <a:pt x="0" y="6177"/>
                </a:cubicBezTo>
                <a:lnTo>
                  <a:pt x="20698" y="0"/>
                </a:lnTo>
                <a:close/>
              </a:path>
            </a:pathLst>
          </a:custGeom>
          <a:noFill/>
          <a:ln w="38100" cap="rnd">
            <a:solidFill>
              <a:schemeClr val="tx2"/>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en-GB"/>
          </a:p>
        </p:txBody>
      </p:sp>
      <p:sp>
        <p:nvSpPr>
          <p:cNvPr id="51211" name="Rectangle 11">
            <a:extLst>
              <a:ext uri="{FF2B5EF4-FFF2-40B4-BE49-F238E27FC236}">
                <a16:creationId xmlns:a16="http://schemas.microsoft.com/office/drawing/2014/main" id="{215B8E43-1AA2-4C5C-AA5D-000B54926108}"/>
              </a:ext>
            </a:extLst>
          </p:cNvPr>
          <p:cNvSpPr>
            <a:spLocks noChangeArrowheads="1"/>
          </p:cNvSpPr>
          <p:nvPr/>
        </p:nvSpPr>
        <p:spPr bwMode="auto">
          <a:xfrm>
            <a:off x="6283326" y="5375493"/>
            <a:ext cx="727763" cy="462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defRPr sz="2400">
                <a:solidFill>
                  <a:schemeClr val="tx1"/>
                </a:solidFill>
                <a:latin typeface="Times New Roman" panose="02020603050405020304" pitchFamily="18" charset="0"/>
              </a:defRPr>
            </a:lvl1pPr>
            <a:lvl2pPr marL="742950" indent="-285750" defTabSz="762000">
              <a:defRPr sz="2400">
                <a:solidFill>
                  <a:schemeClr val="tx1"/>
                </a:solidFill>
                <a:latin typeface="Times New Roman" panose="02020603050405020304" pitchFamily="18" charset="0"/>
              </a:defRPr>
            </a:lvl2pPr>
            <a:lvl3pPr marL="1143000" indent="-228600" defTabSz="762000">
              <a:defRPr sz="2400">
                <a:solidFill>
                  <a:schemeClr val="tx1"/>
                </a:solidFill>
                <a:latin typeface="Times New Roman" panose="02020603050405020304" pitchFamily="18" charset="0"/>
              </a:defRPr>
            </a:lvl3pPr>
            <a:lvl4pPr marL="1600200" indent="-228600" defTabSz="762000">
              <a:defRPr sz="2400">
                <a:solidFill>
                  <a:schemeClr val="tx1"/>
                </a:solidFill>
                <a:latin typeface="Times New Roman" panose="02020603050405020304" pitchFamily="18" charset="0"/>
              </a:defRPr>
            </a:lvl4pPr>
            <a:lvl5pPr marL="2057400" indent="-228600" defTabSz="762000">
              <a:defRPr sz="2400">
                <a:solidFill>
                  <a:schemeClr val="tx1"/>
                </a:solidFill>
                <a:latin typeface="Times New Roman" panose="02020603050405020304" pitchFamily="18" charset="0"/>
              </a:defRPr>
            </a:lvl5pPr>
            <a:lvl6pPr marL="2514600" indent="-228600" defTabSz="7620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7620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7620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762000" eaLnBrk="0" fontAlgn="base" hangingPunct="0">
              <a:spcBef>
                <a:spcPct val="0"/>
              </a:spcBef>
              <a:spcAft>
                <a:spcPct val="0"/>
              </a:spcAft>
              <a:defRPr sz="2400">
                <a:solidFill>
                  <a:schemeClr val="tx1"/>
                </a:solidFill>
                <a:latin typeface="Times New Roman" panose="02020603050405020304" pitchFamily="18" charset="0"/>
              </a:defRPr>
            </a:lvl9pPr>
          </a:lstStyle>
          <a:p>
            <a:r>
              <a:rPr lang="en-GB" altLang="en-US" i="1">
                <a:solidFill>
                  <a:schemeClr val="tx2"/>
                </a:solidFill>
                <a:latin typeface="Arial" panose="020B0604020202020204" pitchFamily="34" charset="0"/>
              </a:rPr>
              <a:t>AD</a:t>
            </a:r>
            <a:r>
              <a:rPr lang="en-GB" altLang="en-US" baseline="-25000">
                <a:solidFill>
                  <a:schemeClr val="tx2"/>
                </a:solidFill>
                <a:latin typeface="Arial" panose="020B0604020202020204" pitchFamily="34" charset="0"/>
              </a:rPr>
              <a:t>1</a:t>
            </a:r>
          </a:p>
        </p:txBody>
      </p:sp>
      <p:sp>
        <p:nvSpPr>
          <p:cNvPr id="51212" name="Line 12">
            <a:extLst>
              <a:ext uri="{FF2B5EF4-FFF2-40B4-BE49-F238E27FC236}">
                <a16:creationId xmlns:a16="http://schemas.microsoft.com/office/drawing/2014/main" id="{A4D31979-FB7C-41AD-9CA7-5DCDBEC4BC97}"/>
              </a:ext>
            </a:extLst>
          </p:cNvPr>
          <p:cNvSpPr>
            <a:spLocks noChangeShapeType="1"/>
          </p:cNvSpPr>
          <p:nvPr/>
        </p:nvSpPr>
        <p:spPr bwMode="auto">
          <a:xfrm flipH="1">
            <a:off x="1042989" y="4400767"/>
            <a:ext cx="2840037" cy="0"/>
          </a:xfrm>
          <a:prstGeom prst="line">
            <a:avLst/>
          </a:prstGeom>
          <a:noFill/>
          <a:ln w="19050">
            <a:solidFill>
              <a:schemeClr val="tx2"/>
            </a:solidFill>
            <a:prstDash val="dash"/>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51213" name="Rectangle 13">
            <a:extLst>
              <a:ext uri="{FF2B5EF4-FFF2-40B4-BE49-F238E27FC236}">
                <a16:creationId xmlns:a16="http://schemas.microsoft.com/office/drawing/2014/main" id="{D054CD4A-9C72-4DF5-9D5D-981FE18B0E9A}"/>
              </a:ext>
            </a:extLst>
          </p:cNvPr>
          <p:cNvSpPr>
            <a:spLocks noChangeArrowheads="1"/>
          </p:cNvSpPr>
          <p:nvPr/>
        </p:nvSpPr>
        <p:spPr bwMode="auto">
          <a:xfrm>
            <a:off x="597290" y="4176929"/>
            <a:ext cx="452048" cy="4007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defRPr sz="2400">
                <a:solidFill>
                  <a:schemeClr val="tx1"/>
                </a:solidFill>
                <a:latin typeface="Times New Roman" panose="02020603050405020304" pitchFamily="18" charset="0"/>
              </a:defRPr>
            </a:lvl1pPr>
            <a:lvl2pPr marL="742950" indent="-285750" defTabSz="762000">
              <a:defRPr sz="2400">
                <a:solidFill>
                  <a:schemeClr val="tx1"/>
                </a:solidFill>
                <a:latin typeface="Times New Roman" panose="02020603050405020304" pitchFamily="18" charset="0"/>
              </a:defRPr>
            </a:lvl2pPr>
            <a:lvl3pPr marL="1143000" indent="-228600" defTabSz="762000">
              <a:defRPr sz="2400">
                <a:solidFill>
                  <a:schemeClr val="tx1"/>
                </a:solidFill>
                <a:latin typeface="Times New Roman" panose="02020603050405020304" pitchFamily="18" charset="0"/>
              </a:defRPr>
            </a:lvl3pPr>
            <a:lvl4pPr marL="1600200" indent="-228600" defTabSz="762000">
              <a:defRPr sz="2400">
                <a:solidFill>
                  <a:schemeClr val="tx1"/>
                </a:solidFill>
                <a:latin typeface="Times New Roman" panose="02020603050405020304" pitchFamily="18" charset="0"/>
              </a:defRPr>
            </a:lvl4pPr>
            <a:lvl5pPr marL="2057400" indent="-228600" defTabSz="762000">
              <a:defRPr sz="2400">
                <a:solidFill>
                  <a:schemeClr val="tx1"/>
                </a:solidFill>
                <a:latin typeface="Times New Roman" panose="02020603050405020304" pitchFamily="18" charset="0"/>
              </a:defRPr>
            </a:lvl5pPr>
            <a:lvl6pPr marL="2514600" indent="-228600" defTabSz="7620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7620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7620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r"/>
            <a:r>
              <a:rPr lang="en-GB" altLang="en-US" sz="2000" i="1">
                <a:solidFill>
                  <a:schemeClr val="tx2"/>
                </a:solidFill>
                <a:latin typeface="Arial" panose="020B0604020202020204" pitchFamily="34" charset="0"/>
              </a:rPr>
              <a:t>P</a:t>
            </a:r>
            <a:r>
              <a:rPr lang="en-GB" altLang="en-US" sz="2000" baseline="-25000">
                <a:solidFill>
                  <a:schemeClr val="tx2"/>
                </a:solidFill>
                <a:latin typeface="Arial" panose="020B0604020202020204" pitchFamily="34" charset="0"/>
              </a:rPr>
              <a:t>1</a:t>
            </a:r>
          </a:p>
        </p:txBody>
      </p:sp>
      <p:sp>
        <p:nvSpPr>
          <p:cNvPr id="51214" name="Arc 15">
            <a:extLst>
              <a:ext uri="{FF2B5EF4-FFF2-40B4-BE49-F238E27FC236}">
                <a16:creationId xmlns:a16="http://schemas.microsoft.com/office/drawing/2014/main" id="{9687283E-0F5D-4F92-B898-3D984B1AB57F}"/>
              </a:ext>
            </a:extLst>
          </p:cNvPr>
          <p:cNvSpPr>
            <a:spLocks/>
          </p:cNvSpPr>
          <p:nvPr/>
        </p:nvSpPr>
        <p:spPr bwMode="auto">
          <a:xfrm>
            <a:off x="2592389" y="370104"/>
            <a:ext cx="5900737" cy="4624388"/>
          </a:xfrm>
          <a:custGeom>
            <a:avLst/>
            <a:gdLst>
              <a:gd name="T0" fmla="*/ 2147483647 w 20883"/>
              <a:gd name="T1" fmla="*/ 2147483647 h 20584"/>
              <a:gd name="T2" fmla="*/ 0 w 20883"/>
              <a:gd name="T3" fmla="*/ 2147483647 h 20584"/>
              <a:gd name="T4" fmla="*/ 2147483647 w 20883"/>
              <a:gd name="T5" fmla="*/ 0 h 20584"/>
              <a:gd name="T6" fmla="*/ 0 60000 65536"/>
              <a:gd name="T7" fmla="*/ 0 60000 65536"/>
              <a:gd name="T8" fmla="*/ 0 60000 65536"/>
              <a:gd name="T9" fmla="*/ 0 w 20883"/>
              <a:gd name="T10" fmla="*/ 0 h 20584"/>
              <a:gd name="T11" fmla="*/ 20883 w 20883"/>
              <a:gd name="T12" fmla="*/ 20584 h 20584"/>
            </a:gdLst>
            <a:ahLst/>
            <a:cxnLst>
              <a:cxn ang="T6">
                <a:pos x="T0" y="T1"/>
              </a:cxn>
              <a:cxn ang="T7">
                <a:pos x="T2" y="T3"/>
              </a:cxn>
              <a:cxn ang="T8">
                <a:pos x="T4" y="T5"/>
              </a:cxn>
            </a:cxnLst>
            <a:rect l="T9" t="T10" r="T11" b="T12"/>
            <a:pathLst>
              <a:path w="20883" h="20584" fill="none" extrusionOk="0">
                <a:moveTo>
                  <a:pt x="14337" y="20584"/>
                </a:moveTo>
                <a:cubicBezTo>
                  <a:pt x="7296" y="18345"/>
                  <a:pt x="1887" y="12662"/>
                  <a:pt x="-1" y="5518"/>
                </a:cubicBezTo>
              </a:path>
              <a:path w="20883" h="20584" stroke="0" extrusionOk="0">
                <a:moveTo>
                  <a:pt x="14337" y="20584"/>
                </a:moveTo>
                <a:cubicBezTo>
                  <a:pt x="7296" y="18345"/>
                  <a:pt x="1887" y="12662"/>
                  <a:pt x="-1" y="5518"/>
                </a:cubicBezTo>
                <a:lnTo>
                  <a:pt x="20883" y="0"/>
                </a:lnTo>
                <a:close/>
              </a:path>
            </a:pathLst>
          </a:custGeom>
          <a:noFill/>
          <a:ln w="38100" cap="rnd">
            <a:solidFill>
              <a:schemeClr val="accent2"/>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en-GB"/>
          </a:p>
        </p:txBody>
      </p:sp>
      <p:sp>
        <p:nvSpPr>
          <p:cNvPr id="51215" name="Arc 16">
            <a:extLst>
              <a:ext uri="{FF2B5EF4-FFF2-40B4-BE49-F238E27FC236}">
                <a16:creationId xmlns:a16="http://schemas.microsoft.com/office/drawing/2014/main" id="{5BF00A93-7ED5-45FB-BABC-EC6D14BAFE63}"/>
              </a:ext>
            </a:extLst>
          </p:cNvPr>
          <p:cNvSpPr>
            <a:spLocks/>
          </p:cNvSpPr>
          <p:nvPr/>
        </p:nvSpPr>
        <p:spPr bwMode="auto">
          <a:xfrm rot="21240000">
            <a:off x="735013" y="587593"/>
            <a:ext cx="4125912" cy="4473575"/>
          </a:xfrm>
          <a:custGeom>
            <a:avLst/>
            <a:gdLst>
              <a:gd name="T0" fmla="*/ 2147483647 w 20758"/>
              <a:gd name="T1" fmla="*/ 2147483647 h 21429"/>
              <a:gd name="T2" fmla="*/ 2147483647 w 20758"/>
              <a:gd name="T3" fmla="*/ 2147483647 h 21429"/>
              <a:gd name="T4" fmla="*/ 0 w 20758"/>
              <a:gd name="T5" fmla="*/ 0 h 21429"/>
              <a:gd name="T6" fmla="*/ 0 60000 65536"/>
              <a:gd name="T7" fmla="*/ 0 60000 65536"/>
              <a:gd name="T8" fmla="*/ 0 60000 65536"/>
              <a:gd name="T9" fmla="*/ 0 w 20758"/>
              <a:gd name="T10" fmla="*/ 0 h 21429"/>
              <a:gd name="T11" fmla="*/ 20758 w 20758"/>
              <a:gd name="T12" fmla="*/ 21429 h 21429"/>
            </a:gdLst>
            <a:ahLst/>
            <a:cxnLst>
              <a:cxn ang="T6">
                <a:pos x="T0" y="T1"/>
              </a:cxn>
              <a:cxn ang="T7">
                <a:pos x="T2" y="T3"/>
              </a:cxn>
              <a:cxn ang="T8">
                <a:pos x="T4" y="T5"/>
              </a:cxn>
            </a:cxnLst>
            <a:rect l="T9" t="T10" r="T11" b="T12"/>
            <a:pathLst>
              <a:path w="20758" h="21429" fill="none" extrusionOk="0">
                <a:moveTo>
                  <a:pt x="20757" y="5972"/>
                </a:moveTo>
                <a:cubicBezTo>
                  <a:pt x="18371" y="14266"/>
                  <a:pt x="11277" y="20343"/>
                  <a:pt x="2715" y="21428"/>
                </a:cubicBezTo>
              </a:path>
              <a:path w="20758" h="21429" stroke="0" extrusionOk="0">
                <a:moveTo>
                  <a:pt x="20757" y="5972"/>
                </a:moveTo>
                <a:cubicBezTo>
                  <a:pt x="18371" y="14266"/>
                  <a:pt x="11277" y="20343"/>
                  <a:pt x="2715" y="21428"/>
                </a:cubicBezTo>
                <a:lnTo>
                  <a:pt x="0" y="0"/>
                </a:lnTo>
                <a:close/>
              </a:path>
            </a:pathLst>
          </a:custGeom>
          <a:noFill/>
          <a:ln w="38100" cap="rnd">
            <a:solidFill>
              <a:schemeClr val="accent2"/>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en-GB"/>
          </a:p>
        </p:txBody>
      </p:sp>
      <p:sp>
        <p:nvSpPr>
          <p:cNvPr id="51216" name="Rectangle 17">
            <a:extLst>
              <a:ext uri="{FF2B5EF4-FFF2-40B4-BE49-F238E27FC236}">
                <a16:creationId xmlns:a16="http://schemas.microsoft.com/office/drawing/2014/main" id="{A25A686A-A5B9-4B3F-AF02-560B15AFDD3D}"/>
              </a:ext>
            </a:extLst>
          </p:cNvPr>
          <p:cNvSpPr>
            <a:spLocks noChangeArrowheads="1"/>
          </p:cNvSpPr>
          <p:nvPr/>
        </p:nvSpPr>
        <p:spPr bwMode="auto">
          <a:xfrm>
            <a:off x="6624639" y="4746843"/>
            <a:ext cx="727763" cy="462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defRPr sz="2400">
                <a:solidFill>
                  <a:schemeClr val="tx1"/>
                </a:solidFill>
                <a:latin typeface="Times New Roman" panose="02020603050405020304" pitchFamily="18" charset="0"/>
              </a:defRPr>
            </a:lvl1pPr>
            <a:lvl2pPr marL="742950" indent="-285750" defTabSz="762000">
              <a:defRPr sz="2400">
                <a:solidFill>
                  <a:schemeClr val="tx1"/>
                </a:solidFill>
                <a:latin typeface="Times New Roman" panose="02020603050405020304" pitchFamily="18" charset="0"/>
              </a:defRPr>
            </a:lvl2pPr>
            <a:lvl3pPr marL="1143000" indent="-228600" defTabSz="762000">
              <a:defRPr sz="2400">
                <a:solidFill>
                  <a:schemeClr val="tx1"/>
                </a:solidFill>
                <a:latin typeface="Times New Roman" panose="02020603050405020304" pitchFamily="18" charset="0"/>
              </a:defRPr>
            </a:lvl3pPr>
            <a:lvl4pPr marL="1600200" indent="-228600" defTabSz="762000">
              <a:defRPr sz="2400">
                <a:solidFill>
                  <a:schemeClr val="tx1"/>
                </a:solidFill>
                <a:latin typeface="Times New Roman" panose="02020603050405020304" pitchFamily="18" charset="0"/>
              </a:defRPr>
            </a:lvl4pPr>
            <a:lvl5pPr marL="2057400" indent="-228600" defTabSz="762000">
              <a:defRPr sz="2400">
                <a:solidFill>
                  <a:schemeClr val="tx1"/>
                </a:solidFill>
                <a:latin typeface="Times New Roman" panose="02020603050405020304" pitchFamily="18" charset="0"/>
              </a:defRPr>
            </a:lvl5pPr>
            <a:lvl6pPr marL="2514600" indent="-228600" defTabSz="7620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7620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7620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762000" eaLnBrk="0" fontAlgn="base" hangingPunct="0">
              <a:spcBef>
                <a:spcPct val="0"/>
              </a:spcBef>
              <a:spcAft>
                <a:spcPct val="0"/>
              </a:spcAft>
              <a:defRPr sz="2400">
                <a:solidFill>
                  <a:schemeClr val="tx1"/>
                </a:solidFill>
                <a:latin typeface="Times New Roman" panose="02020603050405020304" pitchFamily="18" charset="0"/>
              </a:defRPr>
            </a:lvl9pPr>
          </a:lstStyle>
          <a:p>
            <a:r>
              <a:rPr lang="en-GB" altLang="en-US" i="1">
                <a:solidFill>
                  <a:schemeClr val="accent2"/>
                </a:solidFill>
                <a:latin typeface="Arial" panose="020B0604020202020204" pitchFamily="34" charset="0"/>
              </a:rPr>
              <a:t>AD</a:t>
            </a:r>
            <a:r>
              <a:rPr lang="en-GB" altLang="en-US" baseline="-25000">
                <a:solidFill>
                  <a:schemeClr val="accent2"/>
                </a:solidFill>
                <a:latin typeface="Arial" panose="020B0604020202020204" pitchFamily="34" charset="0"/>
              </a:rPr>
              <a:t>2</a:t>
            </a:r>
          </a:p>
        </p:txBody>
      </p:sp>
      <p:sp>
        <p:nvSpPr>
          <p:cNvPr id="51217" name="Rectangle 19">
            <a:extLst>
              <a:ext uri="{FF2B5EF4-FFF2-40B4-BE49-F238E27FC236}">
                <a16:creationId xmlns:a16="http://schemas.microsoft.com/office/drawing/2014/main" id="{F1A366D7-4435-4D83-86CE-D470F8081CD2}"/>
              </a:ext>
            </a:extLst>
          </p:cNvPr>
          <p:cNvSpPr>
            <a:spLocks noChangeArrowheads="1"/>
          </p:cNvSpPr>
          <p:nvPr/>
        </p:nvSpPr>
        <p:spPr bwMode="auto">
          <a:xfrm>
            <a:off x="597290" y="3376829"/>
            <a:ext cx="452048" cy="4007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defRPr sz="2400">
                <a:solidFill>
                  <a:schemeClr val="tx1"/>
                </a:solidFill>
                <a:latin typeface="Times New Roman" panose="02020603050405020304" pitchFamily="18" charset="0"/>
              </a:defRPr>
            </a:lvl1pPr>
            <a:lvl2pPr marL="742950" indent="-285750" defTabSz="762000">
              <a:defRPr sz="2400">
                <a:solidFill>
                  <a:schemeClr val="tx1"/>
                </a:solidFill>
                <a:latin typeface="Times New Roman" panose="02020603050405020304" pitchFamily="18" charset="0"/>
              </a:defRPr>
            </a:lvl2pPr>
            <a:lvl3pPr marL="1143000" indent="-228600" defTabSz="762000">
              <a:defRPr sz="2400">
                <a:solidFill>
                  <a:schemeClr val="tx1"/>
                </a:solidFill>
                <a:latin typeface="Times New Roman" panose="02020603050405020304" pitchFamily="18" charset="0"/>
              </a:defRPr>
            </a:lvl3pPr>
            <a:lvl4pPr marL="1600200" indent="-228600" defTabSz="762000">
              <a:defRPr sz="2400">
                <a:solidFill>
                  <a:schemeClr val="tx1"/>
                </a:solidFill>
                <a:latin typeface="Times New Roman" panose="02020603050405020304" pitchFamily="18" charset="0"/>
              </a:defRPr>
            </a:lvl4pPr>
            <a:lvl5pPr marL="2057400" indent="-228600" defTabSz="762000">
              <a:defRPr sz="2400">
                <a:solidFill>
                  <a:schemeClr val="tx1"/>
                </a:solidFill>
                <a:latin typeface="Times New Roman" panose="02020603050405020304" pitchFamily="18" charset="0"/>
              </a:defRPr>
            </a:lvl5pPr>
            <a:lvl6pPr marL="2514600" indent="-228600" defTabSz="7620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7620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7620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r"/>
            <a:r>
              <a:rPr lang="en-GB" altLang="en-US" sz="2000" i="1">
                <a:solidFill>
                  <a:schemeClr val="accent2"/>
                </a:solidFill>
                <a:latin typeface="Arial" panose="020B0604020202020204" pitchFamily="34" charset="0"/>
              </a:rPr>
              <a:t>P</a:t>
            </a:r>
            <a:r>
              <a:rPr lang="en-GB" altLang="en-US" sz="2000" baseline="-25000">
                <a:solidFill>
                  <a:schemeClr val="accent2"/>
                </a:solidFill>
                <a:latin typeface="Arial" panose="020B0604020202020204" pitchFamily="34" charset="0"/>
              </a:rPr>
              <a:t>2</a:t>
            </a:r>
          </a:p>
        </p:txBody>
      </p:sp>
      <p:sp>
        <p:nvSpPr>
          <p:cNvPr id="51218" name="Arc 20">
            <a:extLst>
              <a:ext uri="{FF2B5EF4-FFF2-40B4-BE49-F238E27FC236}">
                <a16:creationId xmlns:a16="http://schemas.microsoft.com/office/drawing/2014/main" id="{47153693-5820-4F46-8EEA-96EE5A61EAD1}"/>
              </a:ext>
            </a:extLst>
          </p:cNvPr>
          <p:cNvSpPr>
            <a:spLocks/>
          </p:cNvSpPr>
          <p:nvPr/>
        </p:nvSpPr>
        <p:spPr bwMode="auto">
          <a:xfrm>
            <a:off x="3217864" y="239930"/>
            <a:ext cx="5411787" cy="4143375"/>
          </a:xfrm>
          <a:custGeom>
            <a:avLst/>
            <a:gdLst>
              <a:gd name="T0" fmla="*/ 2147483647 w 20883"/>
              <a:gd name="T1" fmla="*/ 2147483647 h 20585"/>
              <a:gd name="T2" fmla="*/ 0 w 20883"/>
              <a:gd name="T3" fmla="*/ 2147483647 h 20585"/>
              <a:gd name="T4" fmla="*/ 2147483647 w 20883"/>
              <a:gd name="T5" fmla="*/ 0 h 20585"/>
              <a:gd name="T6" fmla="*/ 0 60000 65536"/>
              <a:gd name="T7" fmla="*/ 0 60000 65536"/>
              <a:gd name="T8" fmla="*/ 0 60000 65536"/>
              <a:gd name="T9" fmla="*/ 0 w 20883"/>
              <a:gd name="T10" fmla="*/ 0 h 20585"/>
              <a:gd name="T11" fmla="*/ 20883 w 20883"/>
              <a:gd name="T12" fmla="*/ 20585 h 20585"/>
            </a:gdLst>
            <a:ahLst/>
            <a:cxnLst>
              <a:cxn ang="T6">
                <a:pos x="T0" y="T1"/>
              </a:cxn>
              <a:cxn ang="T7">
                <a:pos x="T2" y="T3"/>
              </a:cxn>
              <a:cxn ang="T8">
                <a:pos x="T4" y="T5"/>
              </a:cxn>
            </a:cxnLst>
            <a:rect l="T9" t="T10" r="T11" b="T12"/>
            <a:pathLst>
              <a:path w="20883" h="20585" fill="none" extrusionOk="0">
                <a:moveTo>
                  <a:pt x="14339" y="20585"/>
                </a:moveTo>
                <a:cubicBezTo>
                  <a:pt x="7297" y="18346"/>
                  <a:pt x="1888" y="12663"/>
                  <a:pt x="0" y="5519"/>
                </a:cubicBezTo>
              </a:path>
              <a:path w="20883" h="20585" stroke="0" extrusionOk="0">
                <a:moveTo>
                  <a:pt x="14339" y="20585"/>
                </a:moveTo>
                <a:cubicBezTo>
                  <a:pt x="7297" y="18346"/>
                  <a:pt x="1888" y="12663"/>
                  <a:pt x="0" y="5519"/>
                </a:cubicBezTo>
                <a:lnTo>
                  <a:pt x="20883" y="0"/>
                </a:lnTo>
                <a:close/>
              </a:path>
            </a:pathLst>
          </a:custGeom>
          <a:noFill/>
          <a:ln w="38100" cap="rnd">
            <a:solidFill>
              <a:schemeClr val="folHlink"/>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en-GB"/>
          </a:p>
        </p:txBody>
      </p:sp>
      <p:sp>
        <p:nvSpPr>
          <p:cNvPr id="51219" name="Arc 21">
            <a:extLst>
              <a:ext uri="{FF2B5EF4-FFF2-40B4-BE49-F238E27FC236}">
                <a16:creationId xmlns:a16="http://schemas.microsoft.com/office/drawing/2014/main" id="{85CF8057-3A55-4743-B781-CDF09FA5D38E}"/>
              </a:ext>
            </a:extLst>
          </p:cNvPr>
          <p:cNvSpPr>
            <a:spLocks/>
          </p:cNvSpPr>
          <p:nvPr/>
        </p:nvSpPr>
        <p:spPr bwMode="auto">
          <a:xfrm rot="21240000">
            <a:off x="652464" y="487579"/>
            <a:ext cx="3749675" cy="4121150"/>
          </a:xfrm>
          <a:custGeom>
            <a:avLst/>
            <a:gdLst>
              <a:gd name="T0" fmla="*/ 2147483647 w 20757"/>
              <a:gd name="T1" fmla="*/ 2147483647 h 21429"/>
              <a:gd name="T2" fmla="*/ 2147483647 w 20757"/>
              <a:gd name="T3" fmla="*/ 2147483647 h 21429"/>
              <a:gd name="T4" fmla="*/ 0 w 20757"/>
              <a:gd name="T5" fmla="*/ 0 h 21429"/>
              <a:gd name="T6" fmla="*/ 0 60000 65536"/>
              <a:gd name="T7" fmla="*/ 0 60000 65536"/>
              <a:gd name="T8" fmla="*/ 0 60000 65536"/>
              <a:gd name="T9" fmla="*/ 0 w 20757"/>
              <a:gd name="T10" fmla="*/ 0 h 21429"/>
              <a:gd name="T11" fmla="*/ 20757 w 20757"/>
              <a:gd name="T12" fmla="*/ 21429 h 21429"/>
            </a:gdLst>
            <a:ahLst/>
            <a:cxnLst>
              <a:cxn ang="T6">
                <a:pos x="T0" y="T1"/>
              </a:cxn>
              <a:cxn ang="T7">
                <a:pos x="T2" y="T3"/>
              </a:cxn>
              <a:cxn ang="T8">
                <a:pos x="T4" y="T5"/>
              </a:cxn>
            </a:cxnLst>
            <a:rect l="T9" t="T10" r="T11" b="T12"/>
            <a:pathLst>
              <a:path w="20757" h="21429" fill="none" extrusionOk="0">
                <a:moveTo>
                  <a:pt x="20756" y="5976"/>
                </a:moveTo>
                <a:cubicBezTo>
                  <a:pt x="18369" y="14268"/>
                  <a:pt x="11275" y="20343"/>
                  <a:pt x="2715" y="21428"/>
                </a:cubicBezTo>
              </a:path>
              <a:path w="20757" h="21429" stroke="0" extrusionOk="0">
                <a:moveTo>
                  <a:pt x="20756" y="5976"/>
                </a:moveTo>
                <a:cubicBezTo>
                  <a:pt x="18369" y="14268"/>
                  <a:pt x="11275" y="20343"/>
                  <a:pt x="2715" y="21428"/>
                </a:cubicBezTo>
                <a:lnTo>
                  <a:pt x="0" y="0"/>
                </a:lnTo>
                <a:close/>
              </a:path>
            </a:pathLst>
          </a:custGeom>
          <a:noFill/>
          <a:ln w="38100" cap="rnd">
            <a:solidFill>
              <a:schemeClr val="folHlink"/>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en-GB"/>
          </a:p>
        </p:txBody>
      </p:sp>
      <p:sp>
        <p:nvSpPr>
          <p:cNvPr id="51220" name="Rectangle 22">
            <a:extLst>
              <a:ext uri="{FF2B5EF4-FFF2-40B4-BE49-F238E27FC236}">
                <a16:creationId xmlns:a16="http://schemas.microsoft.com/office/drawing/2014/main" id="{18137B57-2FFD-4C38-B8C1-45CF9522A081}"/>
              </a:ext>
            </a:extLst>
          </p:cNvPr>
          <p:cNvSpPr>
            <a:spLocks noChangeArrowheads="1"/>
          </p:cNvSpPr>
          <p:nvPr/>
        </p:nvSpPr>
        <p:spPr bwMode="auto">
          <a:xfrm>
            <a:off x="3956871" y="986507"/>
            <a:ext cx="710131" cy="462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defRPr sz="2400">
                <a:solidFill>
                  <a:schemeClr val="tx1"/>
                </a:solidFill>
                <a:latin typeface="Times New Roman" panose="02020603050405020304" pitchFamily="18" charset="0"/>
              </a:defRPr>
            </a:lvl1pPr>
            <a:lvl2pPr marL="742950" indent="-285750" defTabSz="762000">
              <a:defRPr sz="2400">
                <a:solidFill>
                  <a:schemeClr val="tx1"/>
                </a:solidFill>
                <a:latin typeface="Times New Roman" panose="02020603050405020304" pitchFamily="18" charset="0"/>
              </a:defRPr>
            </a:lvl2pPr>
            <a:lvl3pPr marL="1143000" indent="-228600" defTabSz="762000">
              <a:defRPr sz="2400">
                <a:solidFill>
                  <a:schemeClr val="tx1"/>
                </a:solidFill>
                <a:latin typeface="Times New Roman" panose="02020603050405020304" pitchFamily="18" charset="0"/>
              </a:defRPr>
            </a:lvl3pPr>
            <a:lvl4pPr marL="1600200" indent="-228600" defTabSz="762000">
              <a:defRPr sz="2400">
                <a:solidFill>
                  <a:schemeClr val="tx1"/>
                </a:solidFill>
                <a:latin typeface="Times New Roman" panose="02020603050405020304" pitchFamily="18" charset="0"/>
              </a:defRPr>
            </a:lvl4pPr>
            <a:lvl5pPr marL="2057400" indent="-228600" defTabSz="762000">
              <a:defRPr sz="2400">
                <a:solidFill>
                  <a:schemeClr val="tx1"/>
                </a:solidFill>
                <a:latin typeface="Times New Roman" panose="02020603050405020304" pitchFamily="18" charset="0"/>
              </a:defRPr>
            </a:lvl5pPr>
            <a:lvl6pPr marL="2514600" indent="-228600" defTabSz="7620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7620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7620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GB" altLang="en-US" i="1" dirty="0">
                <a:solidFill>
                  <a:schemeClr val="folHlink"/>
                </a:solidFill>
                <a:latin typeface="Arial" panose="020B0604020202020204" pitchFamily="34" charset="0"/>
              </a:rPr>
              <a:t>AS</a:t>
            </a:r>
            <a:r>
              <a:rPr lang="en-GB" altLang="en-US" baseline="-25000" dirty="0">
                <a:solidFill>
                  <a:schemeClr val="folHlink"/>
                </a:solidFill>
                <a:latin typeface="Arial" panose="020B0604020202020204" pitchFamily="34" charset="0"/>
              </a:rPr>
              <a:t>3</a:t>
            </a:r>
          </a:p>
        </p:txBody>
      </p:sp>
      <p:sp>
        <p:nvSpPr>
          <p:cNvPr id="51221" name="Rectangle 23">
            <a:extLst>
              <a:ext uri="{FF2B5EF4-FFF2-40B4-BE49-F238E27FC236}">
                <a16:creationId xmlns:a16="http://schemas.microsoft.com/office/drawing/2014/main" id="{CB5C6C64-46D9-43F7-AFF7-02ECE240C9C4}"/>
              </a:ext>
            </a:extLst>
          </p:cNvPr>
          <p:cNvSpPr>
            <a:spLocks noChangeArrowheads="1"/>
          </p:cNvSpPr>
          <p:nvPr/>
        </p:nvSpPr>
        <p:spPr bwMode="auto">
          <a:xfrm>
            <a:off x="6896101" y="4118193"/>
            <a:ext cx="727763" cy="462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defRPr sz="2400">
                <a:solidFill>
                  <a:schemeClr val="tx1"/>
                </a:solidFill>
                <a:latin typeface="Times New Roman" panose="02020603050405020304" pitchFamily="18" charset="0"/>
              </a:defRPr>
            </a:lvl1pPr>
            <a:lvl2pPr marL="742950" indent="-285750" defTabSz="762000">
              <a:defRPr sz="2400">
                <a:solidFill>
                  <a:schemeClr val="tx1"/>
                </a:solidFill>
                <a:latin typeface="Times New Roman" panose="02020603050405020304" pitchFamily="18" charset="0"/>
              </a:defRPr>
            </a:lvl2pPr>
            <a:lvl3pPr marL="1143000" indent="-228600" defTabSz="762000">
              <a:defRPr sz="2400">
                <a:solidFill>
                  <a:schemeClr val="tx1"/>
                </a:solidFill>
                <a:latin typeface="Times New Roman" panose="02020603050405020304" pitchFamily="18" charset="0"/>
              </a:defRPr>
            </a:lvl3pPr>
            <a:lvl4pPr marL="1600200" indent="-228600" defTabSz="762000">
              <a:defRPr sz="2400">
                <a:solidFill>
                  <a:schemeClr val="tx1"/>
                </a:solidFill>
                <a:latin typeface="Times New Roman" panose="02020603050405020304" pitchFamily="18" charset="0"/>
              </a:defRPr>
            </a:lvl4pPr>
            <a:lvl5pPr marL="2057400" indent="-228600" defTabSz="762000">
              <a:defRPr sz="2400">
                <a:solidFill>
                  <a:schemeClr val="tx1"/>
                </a:solidFill>
                <a:latin typeface="Times New Roman" panose="02020603050405020304" pitchFamily="18" charset="0"/>
              </a:defRPr>
            </a:lvl5pPr>
            <a:lvl6pPr marL="2514600" indent="-228600" defTabSz="7620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7620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7620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762000" eaLnBrk="0" fontAlgn="base" hangingPunct="0">
              <a:spcBef>
                <a:spcPct val="0"/>
              </a:spcBef>
              <a:spcAft>
                <a:spcPct val="0"/>
              </a:spcAft>
              <a:defRPr sz="2400">
                <a:solidFill>
                  <a:schemeClr val="tx1"/>
                </a:solidFill>
                <a:latin typeface="Times New Roman" panose="02020603050405020304" pitchFamily="18" charset="0"/>
              </a:defRPr>
            </a:lvl9pPr>
          </a:lstStyle>
          <a:p>
            <a:r>
              <a:rPr lang="en-GB" altLang="en-US" i="1">
                <a:solidFill>
                  <a:schemeClr val="folHlink"/>
                </a:solidFill>
                <a:latin typeface="Arial" panose="020B0604020202020204" pitchFamily="34" charset="0"/>
              </a:rPr>
              <a:t>AD</a:t>
            </a:r>
            <a:r>
              <a:rPr lang="en-GB" altLang="en-US" baseline="-25000">
                <a:solidFill>
                  <a:schemeClr val="folHlink"/>
                </a:solidFill>
                <a:latin typeface="Arial" panose="020B0604020202020204" pitchFamily="34" charset="0"/>
              </a:rPr>
              <a:t>3</a:t>
            </a:r>
          </a:p>
        </p:txBody>
      </p:sp>
      <p:grpSp>
        <p:nvGrpSpPr>
          <p:cNvPr id="2" name="Group 38">
            <a:extLst>
              <a:ext uri="{FF2B5EF4-FFF2-40B4-BE49-F238E27FC236}">
                <a16:creationId xmlns:a16="http://schemas.microsoft.com/office/drawing/2014/main" id="{6D7E53F9-4CCF-4F30-833C-14B85454844D}"/>
              </a:ext>
            </a:extLst>
          </p:cNvPr>
          <p:cNvGrpSpPr>
            <a:grpSpLocks/>
          </p:cNvGrpSpPr>
          <p:nvPr/>
        </p:nvGrpSpPr>
        <p:grpSpPr bwMode="auto">
          <a:xfrm>
            <a:off x="612776" y="2356067"/>
            <a:ext cx="3286125" cy="400050"/>
            <a:chOff x="402" y="1333"/>
            <a:chExt cx="2070" cy="252"/>
          </a:xfrm>
        </p:grpSpPr>
        <p:sp>
          <p:nvSpPr>
            <p:cNvPr id="51223" name="Rectangle 25">
              <a:extLst>
                <a:ext uri="{FF2B5EF4-FFF2-40B4-BE49-F238E27FC236}">
                  <a16:creationId xmlns:a16="http://schemas.microsoft.com/office/drawing/2014/main" id="{A2DF2292-7576-43F6-94F5-33B31A061AA7}"/>
                </a:ext>
              </a:extLst>
            </p:cNvPr>
            <p:cNvSpPr>
              <a:spLocks noChangeArrowheads="1"/>
            </p:cNvSpPr>
            <p:nvPr/>
          </p:nvSpPr>
          <p:spPr bwMode="auto">
            <a:xfrm>
              <a:off x="402" y="1333"/>
              <a:ext cx="285"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defRPr sz="2400">
                  <a:solidFill>
                    <a:schemeClr val="tx1"/>
                  </a:solidFill>
                  <a:latin typeface="Times New Roman" panose="02020603050405020304" pitchFamily="18" charset="0"/>
                </a:defRPr>
              </a:lvl1pPr>
              <a:lvl2pPr marL="742950" indent="-285750" defTabSz="762000">
                <a:defRPr sz="2400">
                  <a:solidFill>
                    <a:schemeClr val="tx1"/>
                  </a:solidFill>
                  <a:latin typeface="Times New Roman" panose="02020603050405020304" pitchFamily="18" charset="0"/>
                </a:defRPr>
              </a:lvl2pPr>
              <a:lvl3pPr marL="1143000" indent="-228600" defTabSz="762000">
                <a:defRPr sz="2400">
                  <a:solidFill>
                    <a:schemeClr val="tx1"/>
                  </a:solidFill>
                  <a:latin typeface="Times New Roman" panose="02020603050405020304" pitchFamily="18" charset="0"/>
                </a:defRPr>
              </a:lvl3pPr>
              <a:lvl4pPr marL="1600200" indent="-228600" defTabSz="762000">
                <a:defRPr sz="2400">
                  <a:solidFill>
                    <a:schemeClr val="tx1"/>
                  </a:solidFill>
                  <a:latin typeface="Times New Roman" panose="02020603050405020304" pitchFamily="18" charset="0"/>
                </a:defRPr>
              </a:lvl4pPr>
              <a:lvl5pPr marL="2057400" indent="-228600" defTabSz="762000">
                <a:defRPr sz="2400">
                  <a:solidFill>
                    <a:schemeClr val="tx1"/>
                  </a:solidFill>
                  <a:latin typeface="Times New Roman" panose="02020603050405020304" pitchFamily="18" charset="0"/>
                </a:defRPr>
              </a:lvl5pPr>
              <a:lvl6pPr marL="2514600" indent="-228600" defTabSz="7620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7620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7620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r"/>
              <a:r>
                <a:rPr lang="en-GB" altLang="en-US" sz="2000" i="1">
                  <a:solidFill>
                    <a:schemeClr val="folHlink"/>
                  </a:solidFill>
                  <a:latin typeface="Arial" panose="020B0604020202020204" pitchFamily="34" charset="0"/>
                </a:rPr>
                <a:t>P</a:t>
              </a:r>
              <a:r>
                <a:rPr lang="en-GB" altLang="en-US" sz="2000" baseline="-25000">
                  <a:solidFill>
                    <a:schemeClr val="folHlink"/>
                  </a:solidFill>
                  <a:latin typeface="Arial" panose="020B0604020202020204" pitchFamily="34" charset="0"/>
                </a:rPr>
                <a:t>3</a:t>
              </a:r>
            </a:p>
          </p:txBody>
        </p:sp>
        <p:sp>
          <p:nvSpPr>
            <p:cNvPr id="51224" name="Line 26">
              <a:extLst>
                <a:ext uri="{FF2B5EF4-FFF2-40B4-BE49-F238E27FC236}">
                  <a16:creationId xmlns:a16="http://schemas.microsoft.com/office/drawing/2014/main" id="{BE63F06B-8068-46A4-B0FD-1C5FC64D4B33}"/>
                </a:ext>
              </a:extLst>
            </p:cNvPr>
            <p:cNvSpPr>
              <a:spLocks noChangeShapeType="1"/>
            </p:cNvSpPr>
            <p:nvPr/>
          </p:nvSpPr>
          <p:spPr bwMode="auto">
            <a:xfrm flipH="1">
              <a:off x="683" y="1474"/>
              <a:ext cx="1789" cy="0"/>
            </a:xfrm>
            <a:prstGeom prst="line">
              <a:avLst/>
            </a:prstGeom>
            <a:noFill/>
            <a:ln w="19050">
              <a:solidFill>
                <a:schemeClr val="folHlink"/>
              </a:solidFill>
              <a:prstDash val="dash"/>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grpSp>
      <p:sp>
        <p:nvSpPr>
          <p:cNvPr id="51225" name="Line 29">
            <a:extLst>
              <a:ext uri="{FF2B5EF4-FFF2-40B4-BE49-F238E27FC236}">
                <a16:creationId xmlns:a16="http://schemas.microsoft.com/office/drawing/2014/main" id="{DC0BA0E6-6899-4EEB-9B61-07F022915435}"/>
              </a:ext>
            </a:extLst>
          </p:cNvPr>
          <p:cNvSpPr>
            <a:spLocks noChangeShapeType="1"/>
          </p:cNvSpPr>
          <p:nvPr/>
        </p:nvSpPr>
        <p:spPr bwMode="auto">
          <a:xfrm>
            <a:off x="1041400" y="849529"/>
            <a:ext cx="0" cy="5334000"/>
          </a:xfrm>
          <a:prstGeom prst="line">
            <a:avLst/>
          </a:prstGeom>
          <a:noFill/>
          <a:ln w="25400">
            <a:solidFill>
              <a:schemeClr val="tx1"/>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51226" name="Line 30">
            <a:extLst>
              <a:ext uri="{FF2B5EF4-FFF2-40B4-BE49-F238E27FC236}">
                <a16:creationId xmlns:a16="http://schemas.microsoft.com/office/drawing/2014/main" id="{9D077BD4-3022-4EED-97B9-D5D9D42D6E34}"/>
              </a:ext>
            </a:extLst>
          </p:cNvPr>
          <p:cNvSpPr>
            <a:spLocks noChangeShapeType="1"/>
          </p:cNvSpPr>
          <p:nvPr/>
        </p:nvSpPr>
        <p:spPr bwMode="auto">
          <a:xfrm>
            <a:off x="1041400" y="6183529"/>
            <a:ext cx="7010400" cy="0"/>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GB"/>
          </a:p>
        </p:txBody>
      </p:sp>
      <p:sp>
        <p:nvSpPr>
          <p:cNvPr id="51227" name="Line 31">
            <a:extLst>
              <a:ext uri="{FF2B5EF4-FFF2-40B4-BE49-F238E27FC236}">
                <a16:creationId xmlns:a16="http://schemas.microsoft.com/office/drawing/2014/main" id="{C8B86C1B-6A78-461A-8F06-DC2546F31CB1}"/>
              </a:ext>
            </a:extLst>
          </p:cNvPr>
          <p:cNvSpPr>
            <a:spLocks noChangeShapeType="1"/>
          </p:cNvSpPr>
          <p:nvPr/>
        </p:nvSpPr>
        <p:spPr bwMode="auto">
          <a:xfrm flipH="1">
            <a:off x="1042989" y="3583204"/>
            <a:ext cx="2840037" cy="0"/>
          </a:xfrm>
          <a:prstGeom prst="line">
            <a:avLst/>
          </a:prstGeom>
          <a:noFill/>
          <a:ln w="19050">
            <a:solidFill>
              <a:schemeClr val="accent2"/>
            </a:solidFill>
            <a:prstDash val="dash"/>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51229" name="Rectangle 33">
            <a:extLst>
              <a:ext uri="{FF2B5EF4-FFF2-40B4-BE49-F238E27FC236}">
                <a16:creationId xmlns:a16="http://schemas.microsoft.com/office/drawing/2014/main" id="{EC456BDF-9324-4D35-867E-F08058DBAD8D}"/>
              </a:ext>
            </a:extLst>
          </p:cNvPr>
          <p:cNvSpPr>
            <a:spLocks noChangeArrowheads="1"/>
          </p:cNvSpPr>
          <p:nvPr/>
        </p:nvSpPr>
        <p:spPr bwMode="auto">
          <a:xfrm>
            <a:off x="4475588" y="1180548"/>
            <a:ext cx="710131" cy="462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defRPr sz="2400">
                <a:solidFill>
                  <a:schemeClr val="tx1"/>
                </a:solidFill>
                <a:latin typeface="Times New Roman" panose="02020603050405020304" pitchFamily="18" charset="0"/>
              </a:defRPr>
            </a:lvl1pPr>
            <a:lvl2pPr marL="742950" indent="-285750" defTabSz="762000">
              <a:defRPr sz="2400">
                <a:solidFill>
                  <a:schemeClr val="tx1"/>
                </a:solidFill>
                <a:latin typeface="Times New Roman" panose="02020603050405020304" pitchFamily="18" charset="0"/>
              </a:defRPr>
            </a:lvl2pPr>
            <a:lvl3pPr marL="1143000" indent="-228600" defTabSz="762000">
              <a:defRPr sz="2400">
                <a:solidFill>
                  <a:schemeClr val="tx1"/>
                </a:solidFill>
                <a:latin typeface="Times New Roman" panose="02020603050405020304" pitchFamily="18" charset="0"/>
              </a:defRPr>
            </a:lvl3pPr>
            <a:lvl4pPr marL="1600200" indent="-228600" defTabSz="762000">
              <a:defRPr sz="2400">
                <a:solidFill>
                  <a:schemeClr val="tx1"/>
                </a:solidFill>
                <a:latin typeface="Times New Roman" panose="02020603050405020304" pitchFamily="18" charset="0"/>
              </a:defRPr>
            </a:lvl4pPr>
            <a:lvl5pPr marL="2057400" indent="-228600" defTabSz="762000">
              <a:defRPr sz="2400">
                <a:solidFill>
                  <a:schemeClr val="tx1"/>
                </a:solidFill>
                <a:latin typeface="Times New Roman" panose="02020603050405020304" pitchFamily="18" charset="0"/>
              </a:defRPr>
            </a:lvl5pPr>
            <a:lvl6pPr marL="2514600" indent="-228600" defTabSz="7620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7620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7620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GB" altLang="en-US" i="1" dirty="0">
                <a:solidFill>
                  <a:schemeClr val="accent2"/>
                </a:solidFill>
                <a:latin typeface="Arial" panose="020B0604020202020204" pitchFamily="34" charset="0"/>
              </a:rPr>
              <a:t>AS</a:t>
            </a:r>
            <a:r>
              <a:rPr lang="en-GB" altLang="en-US" baseline="-25000" dirty="0">
                <a:solidFill>
                  <a:schemeClr val="accent2"/>
                </a:solidFill>
                <a:latin typeface="Arial" panose="020B0604020202020204" pitchFamily="34" charset="0"/>
              </a:rPr>
              <a:t>2</a:t>
            </a:r>
          </a:p>
        </p:txBody>
      </p:sp>
      <p:sp>
        <p:nvSpPr>
          <p:cNvPr id="51230" name="Oval 34">
            <a:extLst>
              <a:ext uri="{FF2B5EF4-FFF2-40B4-BE49-F238E27FC236}">
                <a16:creationId xmlns:a16="http://schemas.microsoft.com/office/drawing/2014/main" id="{C15C06A5-CBCE-4133-847A-83E59D9DB15E}"/>
              </a:ext>
            </a:extLst>
          </p:cNvPr>
          <p:cNvSpPr>
            <a:spLocks noChangeArrowheads="1"/>
          </p:cNvSpPr>
          <p:nvPr/>
        </p:nvSpPr>
        <p:spPr bwMode="auto">
          <a:xfrm>
            <a:off x="3862389" y="4346793"/>
            <a:ext cx="109537" cy="109537"/>
          </a:xfrm>
          <a:prstGeom prst="ellipse">
            <a:avLst/>
          </a:prstGeom>
          <a:solidFill>
            <a:srgbClr val="99CCFF"/>
          </a:solidFill>
          <a:ln w="25400">
            <a:solidFill>
              <a:schemeClr val="bg2"/>
            </a:solidFill>
            <a:round/>
            <a:headEnd/>
            <a:tailEnd/>
          </a:ln>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4840" name="Oval 24">
            <a:extLst>
              <a:ext uri="{FF2B5EF4-FFF2-40B4-BE49-F238E27FC236}">
                <a16:creationId xmlns:a16="http://schemas.microsoft.com/office/drawing/2014/main" id="{485B6E39-BDA8-4748-AEA0-418B751C83D2}"/>
              </a:ext>
            </a:extLst>
          </p:cNvPr>
          <p:cNvSpPr>
            <a:spLocks noChangeArrowheads="1"/>
          </p:cNvSpPr>
          <p:nvPr/>
        </p:nvSpPr>
        <p:spPr bwMode="auto">
          <a:xfrm>
            <a:off x="3862389" y="2525929"/>
            <a:ext cx="109537" cy="109538"/>
          </a:xfrm>
          <a:prstGeom prst="ellipse">
            <a:avLst/>
          </a:prstGeom>
          <a:solidFill>
            <a:srgbClr val="66FF66"/>
          </a:solidFill>
          <a:ln w="25400">
            <a:solidFill>
              <a:schemeClr val="bg2"/>
            </a:solidFill>
            <a:round/>
            <a:headEnd/>
            <a:tailEnd/>
          </a:ln>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51232" name="Oval 18">
            <a:extLst>
              <a:ext uri="{FF2B5EF4-FFF2-40B4-BE49-F238E27FC236}">
                <a16:creationId xmlns:a16="http://schemas.microsoft.com/office/drawing/2014/main" id="{C470DF1D-B4A7-4339-BFD7-2C7EBF9D1123}"/>
              </a:ext>
            </a:extLst>
          </p:cNvPr>
          <p:cNvSpPr>
            <a:spLocks noChangeArrowheads="1"/>
          </p:cNvSpPr>
          <p:nvPr/>
        </p:nvSpPr>
        <p:spPr bwMode="auto">
          <a:xfrm>
            <a:off x="3862389" y="3529229"/>
            <a:ext cx="109537" cy="109538"/>
          </a:xfrm>
          <a:prstGeom prst="ellipse">
            <a:avLst/>
          </a:prstGeom>
          <a:solidFill>
            <a:srgbClr val="FF9999"/>
          </a:solidFill>
          <a:ln w="25400">
            <a:solidFill>
              <a:schemeClr val="bg2"/>
            </a:solidFill>
            <a:round/>
            <a:headEnd/>
            <a:tailEnd/>
          </a:ln>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51233" name="AutoShape 39">
            <a:extLst>
              <a:ext uri="{FF2B5EF4-FFF2-40B4-BE49-F238E27FC236}">
                <a16:creationId xmlns:a16="http://schemas.microsoft.com/office/drawing/2014/main" id="{22232D14-FDDC-4E4B-BF9F-05D8B308C624}"/>
              </a:ext>
            </a:extLst>
          </p:cNvPr>
          <p:cNvSpPr>
            <a:spLocks noChangeArrowheads="1"/>
          </p:cNvSpPr>
          <p:nvPr/>
        </p:nvSpPr>
        <p:spPr bwMode="auto">
          <a:xfrm>
            <a:off x="5210176" y="4267418"/>
            <a:ext cx="885825" cy="128587"/>
          </a:xfrm>
          <a:prstGeom prst="rightArrow">
            <a:avLst>
              <a:gd name="adj1" fmla="val 50000"/>
              <a:gd name="adj2" fmla="val 172223"/>
            </a:avLst>
          </a:prstGeom>
          <a:gradFill rotWithShape="0">
            <a:gsLst>
              <a:gs pos="0">
                <a:schemeClr val="accent2"/>
              </a:gs>
              <a:gs pos="100000">
                <a:schemeClr val="folHlink"/>
              </a:gs>
            </a:gsLst>
            <a:lin ang="0" scaled="1"/>
          </a:gra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51234" name="AutoShape 40">
            <a:extLst>
              <a:ext uri="{FF2B5EF4-FFF2-40B4-BE49-F238E27FC236}">
                <a16:creationId xmlns:a16="http://schemas.microsoft.com/office/drawing/2014/main" id="{CB0DB89A-5A37-41EC-99B3-57F88889F81E}"/>
              </a:ext>
            </a:extLst>
          </p:cNvPr>
          <p:cNvSpPr>
            <a:spLocks noChangeArrowheads="1"/>
          </p:cNvSpPr>
          <p:nvPr/>
        </p:nvSpPr>
        <p:spPr bwMode="auto">
          <a:xfrm rot="16200000">
            <a:off x="2417764" y="4245193"/>
            <a:ext cx="147637" cy="581025"/>
          </a:xfrm>
          <a:prstGeom prst="upArrow">
            <a:avLst>
              <a:gd name="adj1" fmla="val 50000"/>
              <a:gd name="adj2" fmla="val 98387"/>
            </a:avLst>
          </a:prstGeom>
          <a:gradFill rotWithShape="0">
            <a:gsLst>
              <a:gs pos="0">
                <a:schemeClr val="folHlink"/>
              </a:gs>
              <a:gs pos="100000">
                <a:schemeClr val="accent2"/>
              </a:gs>
            </a:gsLst>
            <a:lin ang="5400000" scaled="1"/>
          </a:gra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51235" name="AutoShape 41">
            <a:extLst>
              <a:ext uri="{FF2B5EF4-FFF2-40B4-BE49-F238E27FC236}">
                <a16:creationId xmlns:a16="http://schemas.microsoft.com/office/drawing/2014/main" id="{7A6B4D7D-C2B1-41F3-A719-67221393312D}"/>
              </a:ext>
            </a:extLst>
          </p:cNvPr>
          <p:cNvSpPr>
            <a:spLocks noChangeArrowheads="1"/>
          </p:cNvSpPr>
          <p:nvPr/>
        </p:nvSpPr>
        <p:spPr bwMode="auto">
          <a:xfrm>
            <a:off x="4354514" y="4557929"/>
            <a:ext cx="885825" cy="128588"/>
          </a:xfrm>
          <a:prstGeom prst="rightArrow">
            <a:avLst>
              <a:gd name="adj1" fmla="val 50000"/>
              <a:gd name="adj2" fmla="val 172222"/>
            </a:avLst>
          </a:prstGeom>
          <a:gradFill rotWithShape="0">
            <a:gsLst>
              <a:gs pos="0">
                <a:schemeClr val="tx2"/>
              </a:gs>
              <a:gs pos="100000">
                <a:schemeClr val="accent2"/>
              </a:gs>
            </a:gsLst>
            <a:lin ang="0" scaled="1"/>
          </a:gra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51236" name="AutoShape 42">
            <a:extLst>
              <a:ext uri="{FF2B5EF4-FFF2-40B4-BE49-F238E27FC236}">
                <a16:creationId xmlns:a16="http://schemas.microsoft.com/office/drawing/2014/main" id="{CD0F5778-8417-4741-B2F2-5A0E8AF7D269}"/>
              </a:ext>
            </a:extLst>
          </p:cNvPr>
          <p:cNvSpPr>
            <a:spLocks noChangeArrowheads="1"/>
          </p:cNvSpPr>
          <p:nvPr/>
        </p:nvSpPr>
        <p:spPr bwMode="auto">
          <a:xfrm rot="16200000">
            <a:off x="2282825" y="4932580"/>
            <a:ext cx="147638" cy="581025"/>
          </a:xfrm>
          <a:prstGeom prst="upArrow">
            <a:avLst>
              <a:gd name="adj1" fmla="val 50000"/>
              <a:gd name="adj2" fmla="val 98387"/>
            </a:avLst>
          </a:prstGeom>
          <a:gradFill rotWithShape="0">
            <a:gsLst>
              <a:gs pos="0">
                <a:schemeClr val="accent2"/>
              </a:gs>
              <a:gs pos="100000">
                <a:schemeClr val="tx2"/>
              </a:gs>
            </a:gsLst>
            <a:lin ang="5400000" scaled="1"/>
          </a:gra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7" name="Rectangle 26">
            <a:extLst>
              <a:ext uri="{FF2B5EF4-FFF2-40B4-BE49-F238E27FC236}">
                <a16:creationId xmlns:a16="http://schemas.microsoft.com/office/drawing/2014/main" id="{D920705B-0FDF-4AF6-9D48-13EAE9E7F3F2}"/>
              </a:ext>
            </a:extLst>
          </p:cNvPr>
          <p:cNvSpPr txBox="1">
            <a:spLocks noChangeArrowheads="1"/>
          </p:cNvSpPr>
          <p:nvPr/>
        </p:nvSpPr>
        <p:spPr bwMode="auto">
          <a:xfrm>
            <a:off x="-48980" y="-1"/>
            <a:ext cx="12240979" cy="735162"/>
          </a:xfrm>
          <a:prstGeom prst="rect">
            <a:avLst/>
          </a:prstGeom>
          <a:noFill/>
          <a:ln>
            <a:noFill/>
          </a:ln>
          <a:effectLst>
            <a:outerShdw dist="12700" dir="2700000" algn="ctr" rotWithShape="0">
              <a:schemeClr val="tx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91440" rIns="92075" bIns="46038" numCol="1" anchor="ctr" anchorCtr="0" compatLnSpc="1">
            <a:prstTxWarp prst="textNoShape">
              <a:avLst/>
            </a:prstTxWarp>
          </a:bodyPr>
          <a:lstStyle>
            <a:lvl1pPr algn="ctr" rtl="0" eaLnBrk="1" fontAlgn="base" hangingPunct="1">
              <a:spcBef>
                <a:spcPct val="0"/>
              </a:spcBef>
              <a:spcAft>
                <a:spcPct val="0"/>
              </a:spcAft>
              <a:defRPr sz="3800" kern="1200">
                <a:solidFill>
                  <a:srgbClr val="000066"/>
                </a:solidFill>
                <a:effectLst>
                  <a:outerShdw blurRad="38100" dist="38100" dir="2700000" algn="tl">
                    <a:srgbClr val="000000"/>
                  </a:outerShdw>
                </a:effectLst>
                <a:latin typeface="+mj-lt"/>
                <a:ea typeface="+mj-ea"/>
                <a:cs typeface="+mj-cs"/>
              </a:defRPr>
            </a:lvl1pPr>
            <a:lvl2pPr algn="ctr" rtl="0" eaLnBrk="1" fontAlgn="base" hangingPunct="1">
              <a:spcBef>
                <a:spcPct val="0"/>
              </a:spcBef>
              <a:spcAft>
                <a:spcPct val="0"/>
              </a:spcAft>
              <a:defRPr sz="3800">
                <a:solidFill>
                  <a:srgbClr val="000066"/>
                </a:solidFill>
                <a:effectLst>
                  <a:outerShdw blurRad="38100" dist="38100" dir="2700000" algn="tl">
                    <a:srgbClr val="000000"/>
                  </a:outerShdw>
                </a:effectLst>
                <a:latin typeface="Arial" panose="020B0604020202020204" pitchFamily="34" charset="0"/>
              </a:defRPr>
            </a:lvl2pPr>
            <a:lvl3pPr algn="ctr" rtl="0" eaLnBrk="1" fontAlgn="base" hangingPunct="1">
              <a:spcBef>
                <a:spcPct val="0"/>
              </a:spcBef>
              <a:spcAft>
                <a:spcPct val="0"/>
              </a:spcAft>
              <a:defRPr sz="3800">
                <a:solidFill>
                  <a:srgbClr val="000066"/>
                </a:solidFill>
                <a:effectLst>
                  <a:outerShdw blurRad="38100" dist="38100" dir="2700000" algn="tl">
                    <a:srgbClr val="000000"/>
                  </a:outerShdw>
                </a:effectLst>
                <a:latin typeface="Arial" panose="020B0604020202020204" pitchFamily="34" charset="0"/>
              </a:defRPr>
            </a:lvl3pPr>
            <a:lvl4pPr algn="ctr" rtl="0" eaLnBrk="1" fontAlgn="base" hangingPunct="1">
              <a:spcBef>
                <a:spcPct val="0"/>
              </a:spcBef>
              <a:spcAft>
                <a:spcPct val="0"/>
              </a:spcAft>
              <a:defRPr sz="3800">
                <a:solidFill>
                  <a:srgbClr val="000066"/>
                </a:solidFill>
                <a:effectLst>
                  <a:outerShdw blurRad="38100" dist="38100" dir="2700000" algn="tl">
                    <a:srgbClr val="000000"/>
                  </a:outerShdw>
                </a:effectLst>
                <a:latin typeface="Arial" panose="020B0604020202020204" pitchFamily="34" charset="0"/>
              </a:defRPr>
            </a:lvl4pPr>
            <a:lvl5pPr algn="ctr" rtl="0" eaLnBrk="1" fontAlgn="base" hangingPunct="1">
              <a:spcBef>
                <a:spcPct val="0"/>
              </a:spcBef>
              <a:spcAft>
                <a:spcPct val="0"/>
              </a:spcAft>
              <a:defRPr sz="3800">
                <a:solidFill>
                  <a:srgbClr val="000066"/>
                </a:solidFill>
                <a:effectLst>
                  <a:outerShdw blurRad="38100" dist="38100" dir="2700000" algn="tl">
                    <a:srgbClr val="000000"/>
                  </a:outerShdw>
                </a:effectLst>
                <a:latin typeface="Arial" panose="020B0604020202020204" pitchFamily="34" charset="0"/>
              </a:defRPr>
            </a:lvl5pPr>
            <a:lvl6pPr marL="457200" algn="ctr" rtl="0" eaLnBrk="1" fontAlgn="base" hangingPunct="1">
              <a:spcBef>
                <a:spcPct val="0"/>
              </a:spcBef>
              <a:spcAft>
                <a:spcPct val="0"/>
              </a:spcAft>
              <a:defRPr sz="3800">
                <a:solidFill>
                  <a:srgbClr val="000066"/>
                </a:solidFill>
                <a:effectLst>
                  <a:outerShdw blurRad="38100" dist="38100" dir="2700000" algn="tl">
                    <a:srgbClr val="000000"/>
                  </a:outerShdw>
                </a:effectLst>
                <a:latin typeface="Arial" panose="020B0604020202020204" pitchFamily="34" charset="0"/>
              </a:defRPr>
            </a:lvl6pPr>
            <a:lvl7pPr marL="914400" algn="ctr" rtl="0" eaLnBrk="1" fontAlgn="base" hangingPunct="1">
              <a:spcBef>
                <a:spcPct val="0"/>
              </a:spcBef>
              <a:spcAft>
                <a:spcPct val="0"/>
              </a:spcAft>
              <a:defRPr sz="3800">
                <a:solidFill>
                  <a:srgbClr val="000066"/>
                </a:solidFill>
                <a:effectLst>
                  <a:outerShdw blurRad="38100" dist="38100" dir="2700000" algn="tl">
                    <a:srgbClr val="000000"/>
                  </a:outerShdw>
                </a:effectLst>
                <a:latin typeface="Arial" panose="020B0604020202020204" pitchFamily="34" charset="0"/>
              </a:defRPr>
            </a:lvl7pPr>
            <a:lvl8pPr marL="1371600" algn="ctr" rtl="0" eaLnBrk="1" fontAlgn="base" hangingPunct="1">
              <a:spcBef>
                <a:spcPct val="0"/>
              </a:spcBef>
              <a:spcAft>
                <a:spcPct val="0"/>
              </a:spcAft>
              <a:defRPr sz="3800">
                <a:solidFill>
                  <a:srgbClr val="000066"/>
                </a:solidFill>
                <a:effectLst>
                  <a:outerShdw blurRad="38100" dist="38100" dir="2700000" algn="tl">
                    <a:srgbClr val="000000"/>
                  </a:outerShdw>
                </a:effectLst>
                <a:latin typeface="Arial" panose="020B0604020202020204" pitchFamily="34" charset="0"/>
              </a:defRPr>
            </a:lvl8pPr>
            <a:lvl9pPr marL="1828800" algn="ctr" rtl="0" eaLnBrk="1" fontAlgn="base" hangingPunct="1">
              <a:spcBef>
                <a:spcPct val="0"/>
              </a:spcBef>
              <a:spcAft>
                <a:spcPct val="0"/>
              </a:spcAft>
              <a:defRPr sz="3800">
                <a:solidFill>
                  <a:srgbClr val="000066"/>
                </a:solidFill>
                <a:effectLst>
                  <a:outerShdw blurRad="38100" dist="38100" dir="2700000" algn="tl">
                    <a:srgbClr val="000000"/>
                  </a:outerShdw>
                </a:effectLst>
                <a:latin typeface="Arial" panose="020B0604020202020204" pitchFamily="34" charset="0"/>
              </a:defRPr>
            </a:lvl9pPr>
          </a:lstStyle>
          <a:p>
            <a:pPr>
              <a:defRPr/>
            </a:pPr>
            <a:r>
              <a:rPr lang="en-GB" sz="2800" b="1" kern="0" dirty="0">
                <a:solidFill>
                  <a:schemeClr val="tx1"/>
                </a:solidFill>
                <a:effectLst/>
              </a:rPr>
              <a:t>Interaction of demand-pull and cost-push inflation in a spiral</a:t>
            </a:r>
          </a:p>
        </p:txBody>
      </p:sp>
      <p:sp>
        <p:nvSpPr>
          <p:cNvPr id="39" name="Rectangle 6">
            <a:extLst>
              <a:ext uri="{FF2B5EF4-FFF2-40B4-BE49-F238E27FC236}">
                <a16:creationId xmlns:a16="http://schemas.microsoft.com/office/drawing/2014/main" id="{6319B7FF-60A3-410D-B0FB-102216F57322}"/>
              </a:ext>
            </a:extLst>
          </p:cNvPr>
          <p:cNvSpPr>
            <a:spLocks noChangeArrowheads="1"/>
          </p:cNvSpPr>
          <p:nvPr/>
        </p:nvSpPr>
        <p:spPr bwMode="auto">
          <a:xfrm>
            <a:off x="2856401" y="6457248"/>
            <a:ext cx="337913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a:defRPr sz="1900">
                <a:solidFill>
                  <a:schemeClr val="hlink"/>
                </a:solidFill>
                <a:latin typeface="Arial" panose="020B0604020202020204" pitchFamily="34" charset="0"/>
              </a:defRPr>
            </a:lvl1pPr>
            <a:lvl2pPr marL="742950" indent="-285750" defTabSz="762000">
              <a:defRPr sz="1900">
                <a:solidFill>
                  <a:schemeClr val="hlink"/>
                </a:solidFill>
                <a:latin typeface="Arial" panose="020B0604020202020204" pitchFamily="34" charset="0"/>
              </a:defRPr>
            </a:lvl2pPr>
            <a:lvl3pPr marL="1143000" indent="-228600" defTabSz="762000">
              <a:defRPr sz="1900">
                <a:solidFill>
                  <a:schemeClr val="hlink"/>
                </a:solidFill>
                <a:latin typeface="Arial" panose="020B0604020202020204" pitchFamily="34" charset="0"/>
              </a:defRPr>
            </a:lvl3pPr>
            <a:lvl4pPr marL="1600200" indent="-228600" defTabSz="762000">
              <a:defRPr sz="1900">
                <a:solidFill>
                  <a:schemeClr val="hlink"/>
                </a:solidFill>
                <a:latin typeface="Arial" panose="020B0604020202020204" pitchFamily="34" charset="0"/>
              </a:defRPr>
            </a:lvl4pPr>
            <a:lvl5pPr marL="2057400" indent="-228600" defTabSz="762000">
              <a:defRPr sz="1900">
                <a:solidFill>
                  <a:schemeClr val="hlink"/>
                </a:solidFill>
                <a:latin typeface="Arial" panose="020B0604020202020204" pitchFamily="34" charset="0"/>
              </a:defRPr>
            </a:lvl5pPr>
            <a:lvl6pPr marL="2514600" indent="-228600" defTabSz="762000" eaLnBrk="0" fontAlgn="base" hangingPunct="0">
              <a:spcBef>
                <a:spcPct val="0"/>
              </a:spcBef>
              <a:spcAft>
                <a:spcPct val="0"/>
              </a:spcAft>
              <a:defRPr sz="1900">
                <a:solidFill>
                  <a:schemeClr val="hlink"/>
                </a:solidFill>
                <a:latin typeface="Arial" panose="020B0604020202020204" pitchFamily="34" charset="0"/>
              </a:defRPr>
            </a:lvl6pPr>
            <a:lvl7pPr marL="2971800" indent="-228600" defTabSz="762000" eaLnBrk="0" fontAlgn="base" hangingPunct="0">
              <a:spcBef>
                <a:spcPct val="0"/>
              </a:spcBef>
              <a:spcAft>
                <a:spcPct val="0"/>
              </a:spcAft>
              <a:defRPr sz="1900">
                <a:solidFill>
                  <a:schemeClr val="hlink"/>
                </a:solidFill>
                <a:latin typeface="Arial" panose="020B0604020202020204" pitchFamily="34" charset="0"/>
              </a:defRPr>
            </a:lvl7pPr>
            <a:lvl8pPr marL="3429000" indent="-228600" defTabSz="762000" eaLnBrk="0" fontAlgn="base" hangingPunct="0">
              <a:spcBef>
                <a:spcPct val="0"/>
              </a:spcBef>
              <a:spcAft>
                <a:spcPct val="0"/>
              </a:spcAft>
              <a:defRPr sz="1900">
                <a:solidFill>
                  <a:schemeClr val="hlink"/>
                </a:solidFill>
                <a:latin typeface="Arial" panose="020B0604020202020204" pitchFamily="34" charset="0"/>
              </a:defRPr>
            </a:lvl8pPr>
            <a:lvl9pPr marL="3886200" indent="-228600" defTabSz="762000" eaLnBrk="0" fontAlgn="base" hangingPunct="0">
              <a:spcBef>
                <a:spcPct val="0"/>
              </a:spcBef>
              <a:spcAft>
                <a:spcPct val="0"/>
              </a:spcAft>
              <a:defRPr sz="1900">
                <a:solidFill>
                  <a:schemeClr val="hlink"/>
                </a:solidFill>
                <a:latin typeface="Arial" panose="020B0604020202020204" pitchFamily="34" charset="0"/>
              </a:defRPr>
            </a:lvl9pPr>
          </a:lstStyle>
          <a:p>
            <a:pPr algn="ctr"/>
            <a:r>
              <a:rPr lang="en-GB" altLang="en-US" sz="2000">
                <a:solidFill>
                  <a:schemeClr val="tx1"/>
                </a:solidFill>
              </a:rPr>
              <a:t>Real national inc</a:t>
            </a:r>
            <a:r>
              <a:rPr lang="en-US" altLang="en-US" sz="2000">
                <a:solidFill>
                  <a:schemeClr val="tx1"/>
                </a:solidFill>
              </a:rPr>
              <a:t>ome (GDP)</a:t>
            </a:r>
            <a:endParaRPr lang="en-GB" altLang="en-US" sz="2000">
              <a:solidFill>
                <a:schemeClr val="tx1"/>
              </a:solidFill>
            </a:endParaRPr>
          </a:p>
        </p:txBody>
      </p:sp>
      <p:sp>
        <p:nvSpPr>
          <p:cNvPr id="35" name="Rectangle 10">
            <a:extLst>
              <a:ext uri="{FF2B5EF4-FFF2-40B4-BE49-F238E27FC236}">
                <a16:creationId xmlns:a16="http://schemas.microsoft.com/office/drawing/2014/main" id="{D162BEAD-A076-4DBC-8C04-F7CD6319E5F1}"/>
              </a:ext>
            </a:extLst>
          </p:cNvPr>
          <p:cNvSpPr>
            <a:spLocks noChangeArrowheads="1"/>
          </p:cNvSpPr>
          <p:nvPr/>
        </p:nvSpPr>
        <p:spPr bwMode="auto">
          <a:xfrm>
            <a:off x="5073869" y="1389214"/>
            <a:ext cx="710131" cy="462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defRPr sz="2400">
                <a:solidFill>
                  <a:schemeClr val="tx1"/>
                </a:solidFill>
                <a:latin typeface="Times New Roman" panose="02020603050405020304" pitchFamily="18" charset="0"/>
              </a:defRPr>
            </a:lvl1pPr>
            <a:lvl2pPr marL="742950" indent="-285750" defTabSz="762000">
              <a:defRPr sz="2400">
                <a:solidFill>
                  <a:schemeClr val="tx1"/>
                </a:solidFill>
                <a:latin typeface="Times New Roman" panose="02020603050405020304" pitchFamily="18" charset="0"/>
              </a:defRPr>
            </a:lvl2pPr>
            <a:lvl3pPr marL="1143000" indent="-228600" defTabSz="762000">
              <a:defRPr sz="2400">
                <a:solidFill>
                  <a:schemeClr val="tx1"/>
                </a:solidFill>
                <a:latin typeface="Times New Roman" panose="02020603050405020304" pitchFamily="18" charset="0"/>
              </a:defRPr>
            </a:lvl3pPr>
            <a:lvl4pPr marL="1600200" indent="-228600" defTabSz="762000">
              <a:defRPr sz="2400">
                <a:solidFill>
                  <a:schemeClr val="tx1"/>
                </a:solidFill>
                <a:latin typeface="Times New Roman" panose="02020603050405020304" pitchFamily="18" charset="0"/>
              </a:defRPr>
            </a:lvl4pPr>
            <a:lvl5pPr marL="2057400" indent="-228600" defTabSz="762000">
              <a:defRPr sz="2400">
                <a:solidFill>
                  <a:schemeClr val="tx1"/>
                </a:solidFill>
                <a:latin typeface="Times New Roman" panose="02020603050405020304" pitchFamily="18" charset="0"/>
              </a:defRPr>
            </a:lvl5pPr>
            <a:lvl6pPr marL="2514600" indent="-228600" defTabSz="7620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7620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7620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GB" altLang="en-US" i="1" dirty="0">
                <a:solidFill>
                  <a:schemeClr val="tx2"/>
                </a:solidFill>
                <a:latin typeface="Arial" panose="020B0604020202020204" pitchFamily="34" charset="0"/>
              </a:rPr>
              <a:t>AS</a:t>
            </a:r>
            <a:r>
              <a:rPr lang="en-GB" altLang="en-US" baseline="-25000" dirty="0">
                <a:solidFill>
                  <a:schemeClr val="tx2"/>
                </a:solidFill>
                <a:latin typeface="Arial" panose="020B0604020202020204" pitchFamily="34" charset="0"/>
              </a:rPr>
              <a:t>1</a:t>
            </a:r>
          </a:p>
        </p:txBody>
      </p:sp>
      <p:sp>
        <p:nvSpPr>
          <p:cNvPr id="3" name="TextBox 2">
            <a:extLst>
              <a:ext uri="{FF2B5EF4-FFF2-40B4-BE49-F238E27FC236}">
                <a16:creationId xmlns:a16="http://schemas.microsoft.com/office/drawing/2014/main" id="{8D84B74E-DCEA-5484-68AF-81F430ABF7D6}"/>
              </a:ext>
            </a:extLst>
          </p:cNvPr>
          <p:cNvSpPr txBox="1"/>
          <p:nvPr/>
        </p:nvSpPr>
        <p:spPr>
          <a:xfrm>
            <a:off x="5764470" y="744258"/>
            <a:ext cx="6427529" cy="3207592"/>
          </a:xfrm>
          <a:prstGeom prst="rect">
            <a:avLst/>
          </a:prstGeom>
          <a:noFill/>
        </p:spPr>
        <p:txBody>
          <a:bodyPr wrap="square" rtlCol="0">
            <a:noAutofit/>
          </a:bodyPr>
          <a:lstStyle/>
          <a:p>
            <a:r>
              <a:rPr lang="en-GB" b="1" dirty="0">
                <a:solidFill>
                  <a:schemeClr val="tx2">
                    <a:lumMod val="75000"/>
                  </a:schemeClr>
                </a:solidFill>
                <a:latin typeface="+mj-lt"/>
              </a:rPr>
              <a:t>Why is happening here?</a:t>
            </a:r>
          </a:p>
          <a:p>
            <a:r>
              <a:rPr lang="en-GB" b="1" i="1" dirty="0">
                <a:solidFill>
                  <a:schemeClr val="tx2">
                    <a:lumMod val="75000"/>
                  </a:schemeClr>
                </a:solidFill>
                <a:latin typeface="+mj-lt"/>
              </a:rPr>
              <a:t>Why might costs and output rise together?</a:t>
            </a:r>
          </a:p>
          <a:p>
            <a:endParaRPr lang="en-GB" dirty="0">
              <a:solidFill>
                <a:schemeClr val="accent6"/>
              </a:solidFill>
              <a:latin typeface="+mj-lt"/>
            </a:endParaRPr>
          </a:p>
          <a:p>
            <a:endParaRPr lang="en-GB" dirty="0">
              <a:solidFill>
                <a:schemeClr val="accent6"/>
              </a:solidFill>
              <a:latin typeface="+mj-lt"/>
            </a:endParaRPr>
          </a:p>
          <a:p>
            <a:endParaRPr lang="en-GB" dirty="0">
              <a:solidFill>
                <a:schemeClr val="accent6"/>
              </a:solidFill>
              <a:latin typeface="+mj-lt"/>
            </a:endParaRPr>
          </a:p>
          <a:p>
            <a:endParaRPr lang="en-GB" dirty="0">
              <a:solidFill>
                <a:schemeClr val="accent6"/>
              </a:solidFill>
              <a:latin typeface="+mj-lt"/>
            </a:endParaRPr>
          </a:p>
          <a:p>
            <a:endParaRPr lang="en-GB" dirty="0">
              <a:solidFill>
                <a:schemeClr val="accent6"/>
              </a:solidFill>
              <a:latin typeface="+mj-lt"/>
            </a:endParaRPr>
          </a:p>
          <a:p>
            <a:endParaRPr lang="en-GB" dirty="0">
              <a:solidFill>
                <a:schemeClr val="accent6"/>
              </a:solidFill>
              <a:latin typeface="+mj-lt"/>
            </a:endParaRPr>
          </a:p>
          <a:p>
            <a:endParaRPr lang="en-GB" dirty="0">
              <a:solidFill>
                <a:schemeClr val="accent6"/>
              </a:solidFill>
              <a:latin typeface="+mj-lt"/>
            </a:endParaRPr>
          </a:p>
        </p:txBody>
      </p:sp>
    </p:spTree>
    <p:extLst>
      <p:ext uri="{BB962C8B-B14F-4D97-AF65-F5344CB8AC3E}">
        <p14:creationId xmlns:p14="http://schemas.microsoft.com/office/powerpoint/2010/main" val="1244567192"/>
      </p:ext>
    </p:extLst>
  </p:cSld>
  <p:clrMapOvr>
    <a:masterClrMapping/>
  </p:clrMapOvr>
  <mc:AlternateContent xmlns:mc="http://schemas.openxmlformats.org/markup-compatibility/2006" xmlns:p14="http://schemas.microsoft.com/office/powerpoint/2010/main">
    <mc:Choice Requires="p14">
      <p:transition spd="slow" p14:dur="1750">
        <p:wipe dir="u"/>
      </p:transition>
    </mc:Choice>
    <mc:Fallback xmlns="">
      <p:transition spd="slow">
        <p:wipe dir="u"/>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5" presetClass="entr" presetSubtype="0" fill="hold" grpId="0" nodeType="clickEffect">
                                  <p:stCondLst>
                                    <p:cond delay="0"/>
                                  </p:stCondLst>
                                  <p:childTnLst>
                                    <p:set>
                                      <p:cBhvr>
                                        <p:cTn id="6" dur="1" fill="hold">
                                          <p:stCondLst>
                                            <p:cond delay="0"/>
                                          </p:stCondLst>
                                        </p:cTn>
                                        <p:tgtEl>
                                          <p:spTgt spid="34840"/>
                                        </p:tgtEl>
                                        <p:attrNameLst>
                                          <p:attrName>style.visibility</p:attrName>
                                        </p:attrNameLst>
                                      </p:cBhvr>
                                      <p:to>
                                        <p:strVal val="visible"/>
                                      </p:to>
                                    </p:set>
                                    <p:anim calcmode="lin" valueType="num">
                                      <p:cBhvr>
                                        <p:cTn id="7" dur="1000" fill="hold"/>
                                        <p:tgtEl>
                                          <p:spTgt spid="34840"/>
                                        </p:tgtEl>
                                        <p:attrNameLst>
                                          <p:attrName>ppt_w</p:attrName>
                                        </p:attrNameLst>
                                      </p:cBhvr>
                                      <p:tavLst>
                                        <p:tav tm="0">
                                          <p:val>
                                            <p:fltVal val="0"/>
                                          </p:val>
                                        </p:tav>
                                        <p:tav tm="100000">
                                          <p:val>
                                            <p:strVal val="#ppt_w"/>
                                          </p:val>
                                        </p:tav>
                                      </p:tavLst>
                                    </p:anim>
                                    <p:anim calcmode="lin" valueType="num">
                                      <p:cBhvr>
                                        <p:cTn id="8" dur="1000" fill="hold"/>
                                        <p:tgtEl>
                                          <p:spTgt spid="34840"/>
                                        </p:tgtEl>
                                        <p:attrNameLst>
                                          <p:attrName>ppt_h</p:attrName>
                                        </p:attrNameLst>
                                      </p:cBhvr>
                                      <p:tavLst>
                                        <p:tav tm="0">
                                          <p:val>
                                            <p:fltVal val="0"/>
                                          </p:val>
                                        </p:tav>
                                        <p:tav tm="100000">
                                          <p:val>
                                            <p:strVal val="#ppt_h"/>
                                          </p:val>
                                        </p:tav>
                                      </p:tavLst>
                                    </p:anim>
                                    <p:anim calcmode="lin" valueType="num">
                                      <p:cBhvr>
                                        <p:cTn id="9" dur="1000" fill="hold"/>
                                        <p:tgtEl>
                                          <p:spTgt spid="34840"/>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34840"/>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1" fill="hold" nodeType="clickPar">
                      <p:stCondLst>
                        <p:cond delay="indefinite"/>
                      </p:stCondLst>
                      <p:childTnLst>
                        <p:par>
                          <p:cTn id="12" fill="hold" nodeType="withGroup">
                            <p:stCondLst>
                              <p:cond delay="0"/>
                            </p:stCondLst>
                            <p:childTnLst>
                              <p:par>
                                <p:cTn id="13" presetID="22" presetClass="entr" presetSubtype="2" fill="hold" nodeType="click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wipe(right)">
                                      <p:cBhvr>
                                        <p:cTn id="15"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40" grpId="0" animBg="1" autoUpdateAnimBg="0"/>
    </p:bldLst>
  </p:timing>
</p:sld>
</file>

<file path=ppt/slides/slide47.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ED57D191-34CA-7C14-6E65-3E091188CE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116079-9A21-FB08-E19A-4C10CF05FC63}"/>
              </a:ext>
            </a:extLst>
          </p:cNvPr>
          <p:cNvSpPr>
            <a:spLocks noGrp="1"/>
          </p:cNvSpPr>
          <p:nvPr>
            <p:ph type="title"/>
          </p:nvPr>
        </p:nvSpPr>
        <p:spPr>
          <a:xfrm>
            <a:off x="402167" y="365126"/>
            <a:ext cx="10951633" cy="908198"/>
          </a:xfrm>
        </p:spPr>
        <p:txBody>
          <a:bodyPr>
            <a:normAutofit/>
          </a:bodyPr>
          <a:lstStyle/>
          <a:p>
            <a:r>
              <a:rPr lang="en-GB" altLang="en-US" dirty="0"/>
              <a:t>Applications 2: Business cycles</a:t>
            </a:r>
            <a:endParaRPr lang="en-GB" dirty="0"/>
          </a:p>
        </p:txBody>
      </p:sp>
      <p:sp>
        <p:nvSpPr>
          <p:cNvPr id="144387" name="Rectangle 1027">
            <a:extLst>
              <a:ext uri="{FF2B5EF4-FFF2-40B4-BE49-F238E27FC236}">
                <a16:creationId xmlns:a16="http://schemas.microsoft.com/office/drawing/2014/main" id="{7407071C-48DA-CD3B-3B2B-7D24BB234A54}"/>
              </a:ext>
            </a:extLst>
          </p:cNvPr>
          <p:cNvSpPr>
            <a:spLocks noGrp="1" noChangeArrowheads="1"/>
          </p:cNvSpPr>
          <p:nvPr>
            <p:ph idx="1"/>
          </p:nvPr>
        </p:nvSpPr>
        <p:spPr>
          <a:xfrm>
            <a:off x="402167" y="1463898"/>
            <a:ext cx="11379200" cy="4500022"/>
          </a:xfrm>
        </p:spPr>
        <p:txBody>
          <a:bodyPr>
            <a:normAutofit/>
          </a:bodyPr>
          <a:lstStyle/>
          <a:p>
            <a:pPr marL="0" indent="0">
              <a:spcBef>
                <a:spcPts val="800"/>
              </a:spcBef>
              <a:buNone/>
            </a:pPr>
            <a:r>
              <a:rPr lang="en-GB" dirty="0">
                <a:latin typeface="+mn-lt"/>
              </a:rPr>
              <a:t>What causes the cycle?</a:t>
            </a:r>
          </a:p>
          <a:p>
            <a:pPr>
              <a:spcBef>
                <a:spcPts val="800"/>
              </a:spcBef>
            </a:pPr>
            <a:r>
              <a:rPr lang="en-GB" dirty="0">
                <a:latin typeface="+mn-lt"/>
              </a:rPr>
              <a:t>We can see that </a:t>
            </a:r>
            <a:r>
              <a:rPr lang="en-GB" altLang="en-US" dirty="0">
                <a:latin typeface="+mn-lt"/>
              </a:rPr>
              <a:t>business cycles are </a:t>
            </a:r>
            <a:r>
              <a:rPr lang="en-GB" altLang="en-US" b="1" dirty="0">
                <a:latin typeface="+mn-lt"/>
              </a:rPr>
              <a:t>irregular</a:t>
            </a:r>
            <a:r>
              <a:rPr lang="en-GB" altLang="en-US" dirty="0">
                <a:latin typeface="+mn-lt"/>
              </a:rPr>
              <a:t> with differences in</a:t>
            </a:r>
          </a:p>
          <a:p>
            <a:pPr lvl="2">
              <a:spcBef>
                <a:spcPts val="800"/>
              </a:spcBef>
            </a:pPr>
            <a:r>
              <a:rPr lang="en-GB" altLang="en-US" dirty="0">
                <a:latin typeface="+mn-lt"/>
              </a:rPr>
              <a:t>length (period)</a:t>
            </a:r>
          </a:p>
          <a:p>
            <a:pPr lvl="2">
              <a:spcBef>
                <a:spcPts val="800"/>
              </a:spcBef>
            </a:pPr>
            <a:r>
              <a:rPr lang="en-GB" altLang="en-US" dirty="0">
                <a:latin typeface="+mn-lt"/>
              </a:rPr>
              <a:t>differences in the magnitude (amplitude) of the phases</a:t>
            </a:r>
          </a:p>
          <a:p>
            <a:pPr>
              <a:spcBef>
                <a:spcPts val="800"/>
              </a:spcBef>
            </a:pPr>
            <a:r>
              <a:rPr lang="en-GB" altLang="en-US" dirty="0">
                <a:latin typeface="+mn-lt"/>
              </a:rPr>
              <a:t>What causes the cycle? </a:t>
            </a:r>
          </a:p>
          <a:p>
            <a:pPr lvl="1">
              <a:spcBef>
                <a:spcPts val="800"/>
              </a:spcBef>
            </a:pPr>
            <a:r>
              <a:rPr lang="en-GB" altLang="en-US" dirty="0">
                <a:latin typeface="+mn-lt"/>
              </a:rPr>
              <a:t>Changes in spending, and so output – fluctuations in aggregate demand</a:t>
            </a:r>
          </a:p>
          <a:p>
            <a:pPr lvl="1">
              <a:spcBef>
                <a:spcPts val="800"/>
              </a:spcBef>
            </a:pPr>
            <a:r>
              <a:rPr lang="en-GB" altLang="en-US" i="1" dirty="0">
                <a:latin typeface="+mn-lt"/>
              </a:rPr>
              <a:t>Changes </a:t>
            </a:r>
            <a:r>
              <a:rPr lang="en-GB" altLang="en-US" dirty="0">
                <a:latin typeface="+mn-lt"/>
              </a:rPr>
              <a:t>in aggregate supply – the capacity to produce output</a:t>
            </a:r>
          </a:p>
          <a:p>
            <a:pPr lvl="2">
              <a:spcBef>
                <a:spcPts val="800"/>
              </a:spcBef>
            </a:pPr>
            <a:r>
              <a:rPr lang="en-GB" altLang="en-US" dirty="0">
                <a:latin typeface="+mn-lt"/>
              </a:rPr>
              <a:t>changes in technology, </a:t>
            </a:r>
          </a:p>
          <a:p>
            <a:pPr lvl="2">
              <a:spcBef>
                <a:spcPts val="800"/>
              </a:spcBef>
            </a:pPr>
            <a:r>
              <a:rPr lang="en-GB" altLang="en-US" dirty="0">
                <a:latin typeface="+mn-lt"/>
              </a:rPr>
              <a:t>political shocks – especially regulatory environment, </a:t>
            </a:r>
          </a:p>
          <a:p>
            <a:pPr lvl="2">
              <a:spcBef>
                <a:spcPts val="800"/>
              </a:spcBef>
            </a:pPr>
            <a:r>
              <a:rPr lang="en-GB" altLang="en-US" dirty="0">
                <a:latin typeface="+mn-lt"/>
              </a:rPr>
              <a:t>health emergency</a:t>
            </a:r>
          </a:p>
          <a:p>
            <a:pPr marL="0" indent="0">
              <a:buNone/>
            </a:pPr>
            <a:endParaRPr lang="en-MY" dirty="0"/>
          </a:p>
          <a:p>
            <a:endParaRPr lang="en-MY" dirty="0"/>
          </a:p>
          <a:p>
            <a:endParaRPr lang="en-GB" altLang="en-US" dirty="0"/>
          </a:p>
        </p:txBody>
      </p:sp>
      <p:sp>
        <p:nvSpPr>
          <p:cNvPr id="146436" name="Rectangle 4">
            <a:extLst>
              <a:ext uri="{FF2B5EF4-FFF2-40B4-BE49-F238E27FC236}">
                <a16:creationId xmlns:a16="http://schemas.microsoft.com/office/drawing/2014/main" id="{CBA34C25-F874-2496-A051-797FB8FC10D8}"/>
              </a:ext>
            </a:extLst>
          </p:cNvPr>
          <p:cNvSpPr>
            <a:spLocks/>
          </p:cNvSpPr>
          <p:nvPr/>
        </p:nvSpPr>
        <p:spPr bwMode="auto">
          <a:xfrm>
            <a:off x="1689101" y="180976"/>
            <a:ext cx="8791575" cy="758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17961" dir="2700000" algn="ctr" rotWithShape="0">
                    <a:schemeClr val="tx1"/>
                  </a:outerShdw>
                </a:effectLst>
              </a14:hiddenEffects>
            </a:ext>
          </a:extLst>
        </p:spPr>
        <p:txBody>
          <a:bodyPr anchor="b"/>
          <a:lstStyle>
            <a:lvl1pPr algn="ctr">
              <a:defRPr sz="3800">
                <a:solidFill>
                  <a:srgbClr val="638D39"/>
                </a:solidFill>
                <a:effectLst>
                  <a:outerShdw blurRad="38100" dist="38100" dir="2700000" algn="tl">
                    <a:srgbClr val="000000"/>
                  </a:outerShdw>
                </a:effectLst>
                <a:latin typeface="Arial" panose="020B0604020202020204" pitchFamily="34" charset="0"/>
              </a:defRPr>
            </a:lvl1pPr>
            <a:lvl2pPr algn="ctr">
              <a:defRPr sz="3800">
                <a:solidFill>
                  <a:srgbClr val="638D39"/>
                </a:solidFill>
                <a:effectLst>
                  <a:outerShdw blurRad="38100" dist="38100" dir="2700000" algn="tl">
                    <a:srgbClr val="000000"/>
                  </a:outerShdw>
                </a:effectLst>
                <a:latin typeface="Arial" panose="020B0604020202020204" pitchFamily="34" charset="0"/>
              </a:defRPr>
            </a:lvl2pPr>
            <a:lvl3pPr algn="ctr">
              <a:defRPr sz="3800">
                <a:solidFill>
                  <a:srgbClr val="638D39"/>
                </a:solidFill>
                <a:effectLst>
                  <a:outerShdw blurRad="38100" dist="38100" dir="2700000" algn="tl">
                    <a:srgbClr val="000000"/>
                  </a:outerShdw>
                </a:effectLst>
                <a:latin typeface="Arial" panose="020B0604020202020204" pitchFamily="34" charset="0"/>
              </a:defRPr>
            </a:lvl3pPr>
            <a:lvl4pPr algn="ctr">
              <a:defRPr sz="3800">
                <a:solidFill>
                  <a:srgbClr val="638D39"/>
                </a:solidFill>
                <a:effectLst>
                  <a:outerShdw blurRad="38100" dist="38100" dir="2700000" algn="tl">
                    <a:srgbClr val="000000"/>
                  </a:outerShdw>
                </a:effectLst>
                <a:latin typeface="Arial" panose="020B0604020202020204" pitchFamily="34" charset="0"/>
              </a:defRPr>
            </a:lvl4pPr>
            <a:lvl5pPr algn="ctr">
              <a:defRPr sz="3800">
                <a:solidFill>
                  <a:srgbClr val="638D39"/>
                </a:solidFill>
                <a:effectLst>
                  <a:outerShdw blurRad="38100" dist="38100" dir="2700000" algn="tl">
                    <a:srgbClr val="000000"/>
                  </a:outerShdw>
                </a:effectLst>
                <a:latin typeface="Arial" panose="020B0604020202020204" pitchFamily="34" charset="0"/>
              </a:defRPr>
            </a:lvl5pPr>
            <a:lvl6pPr marL="457200" algn="ctr" eaLnBrk="0" fontAlgn="base" hangingPunct="0">
              <a:spcBef>
                <a:spcPct val="0"/>
              </a:spcBef>
              <a:spcAft>
                <a:spcPct val="0"/>
              </a:spcAft>
              <a:defRPr sz="3800">
                <a:solidFill>
                  <a:srgbClr val="638D39"/>
                </a:solidFill>
                <a:effectLst>
                  <a:outerShdw blurRad="38100" dist="38100" dir="2700000" algn="tl">
                    <a:srgbClr val="000000"/>
                  </a:outerShdw>
                </a:effectLst>
                <a:latin typeface="Arial" panose="020B0604020202020204" pitchFamily="34" charset="0"/>
              </a:defRPr>
            </a:lvl6pPr>
            <a:lvl7pPr marL="914400" algn="ctr" eaLnBrk="0" fontAlgn="base" hangingPunct="0">
              <a:spcBef>
                <a:spcPct val="0"/>
              </a:spcBef>
              <a:spcAft>
                <a:spcPct val="0"/>
              </a:spcAft>
              <a:defRPr sz="3800">
                <a:solidFill>
                  <a:srgbClr val="638D39"/>
                </a:solidFill>
                <a:effectLst>
                  <a:outerShdw blurRad="38100" dist="38100" dir="2700000" algn="tl">
                    <a:srgbClr val="000000"/>
                  </a:outerShdw>
                </a:effectLst>
                <a:latin typeface="Arial" panose="020B0604020202020204" pitchFamily="34" charset="0"/>
              </a:defRPr>
            </a:lvl7pPr>
            <a:lvl8pPr marL="1371600" algn="ctr" eaLnBrk="0" fontAlgn="base" hangingPunct="0">
              <a:spcBef>
                <a:spcPct val="0"/>
              </a:spcBef>
              <a:spcAft>
                <a:spcPct val="0"/>
              </a:spcAft>
              <a:defRPr sz="3800">
                <a:solidFill>
                  <a:srgbClr val="638D39"/>
                </a:solidFill>
                <a:effectLst>
                  <a:outerShdw blurRad="38100" dist="38100" dir="2700000" algn="tl">
                    <a:srgbClr val="000000"/>
                  </a:outerShdw>
                </a:effectLst>
                <a:latin typeface="Arial" panose="020B0604020202020204" pitchFamily="34" charset="0"/>
              </a:defRPr>
            </a:lvl8pPr>
            <a:lvl9pPr marL="1828800" algn="ctr" eaLnBrk="0" fontAlgn="base" hangingPunct="0">
              <a:spcBef>
                <a:spcPct val="0"/>
              </a:spcBef>
              <a:spcAft>
                <a:spcPct val="0"/>
              </a:spcAft>
              <a:defRPr sz="3800">
                <a:solidFill>
                  <a:srgbClr val="638D39"/>
                </a:solidFill>
                <a:effectLst>
                  <a:outerShdw blurRad="38100" dist="38100" dir="2700000" algn="tl">
                    <a:srgbClr val="000000"/>
                  </a:outerShdw>
                </a:effectLst>
                <a:latin typeface="Arial" panose="020B0604020202020204" pitchFamily="34" charset="0"/>
              </a:defRPr>
            </a:lvl9pPr>
          </a:lstStyle>
          <a:p>
            <a:endParaRPr lang="en-GB" altLang="en-US" dirty="0"/>
          </a:p>
        </p:txBody>
      </p:sp>
    </p:spTree>
    <p:extLst>
      <p:ext uri="{BB962C8B-B14F-4D97-AF65-F5344CB8AC3E}">
        <p14:creationId xmlns:p14="http://schemas.microsoft.com/office/powerpoint/2010/main" val="2342272498"/>
      </p:ext>
    </p:extLst>
  </p:cSld>
  <p:clrMapOvr>
    <a:masterClrMapping/>
  </p:clrMapOvr>
  <p:transition spd="med">
    <p:pull dir="r"/>
  </p:transition>
</p:sld>
</file>

<file path=ppt/slides/slide48.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C7C8E467-FEF3-8C8F-887C-85C51E8607DD}"/>
            </a:ext>
          </a:extLst>
        </p:cNvPr>
        <p:cNvGrpSpPr/>
        <p:nvPr/>
      </p:nvGrpSpPr>
      <p:grpSpPr>
        <a:xfrm>
          <a:off x="0" y="0"/>
          <a:ext cx="0" cy="0"/>
          <a:chOff x="0" y="0"/>
          <a:chExt cx="0" cy="0"/>
        </a:xfrm>
      </p:grpSpPr>
      <p:sp>
        <p:nvSpPr>
          <p:cNvPr id="14338" name="Rectangle 2">
            <a:extLst>
              <a:ext uri="{FF2B5EF4-FFF2-40B4-BE49-F238E27FC236}">
                <a16:creationId xmlns:a16="http://schemas.microsoft.com/office/drawing/2014/main" id="{E2218BB6-8BC4-8B3D-ED35-C91668950BE0}"/>
              </a:ext>
            </a:extLst>
          </p:cNvPr>
          <p:cNvSpPr>
            <a:spLocks noChangeArrowheads="1"/>
          </p:cNvSpPr>
          <p:nvPr/>
        </p:nvSpPr>
        <p:spPr bwMode="auto">
          <a:xfrm>
            <a:off x="2209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a:solidFill>
                  <a:schemeClr val="tx1"/>
                </a:solidFill>
                <a:latin typeface="Times New Roman" panose="02020603050405020304" pitchFamily="18" charset="0"/>
              </a:defRPr>
            </a:lvl1pPr>
            <a:lvl2pPr marL="742950" indent="-285750">
              <a:defRPr sz="2800">
                <a:solidFill>
                  <a:schemeClr val="tx1"/>
                </a:solidFill>
                <a:latin typeface="Times New Roman" panose="02020603050405020304" pitchFamily="18" charset="0"/>
              </a:defRPr>
            </a:lvl2pPr>
            <a:lvl3pPr marL="1143000" indent="-228600">
              <a:defRPr sz="2800">
                <a:solidFill>
                  <a:schemeClr val="tx1"/>
                </a:solidFill>
                <a:latin typeface="Times New Roman" panose="02020603050405020304" pitchFamily="18" charset="0"/>
              </a:defRPr>
            </a:lvl3pPr>
            <a:lvl4pPr marL="1600200" indent="-228600">
              <a:defRPr sz="2800">
                <a:solidFill>
                  <a:schemeClr val="tx1"/>
                </a:solidFill>
                <a:latin typeface="Times New Roman" panose="02020603050405020304" pitchFamily="18" charset="0"/>
              </a:defRPr>
            </a:lvl4pPr>
            <a:lvl5pPr marL="2057400" indent="-228600">
              <a:defRPr sz="28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defRPr>
            </a:lvl9pPr>
          </a:lstStyle>
          <a:p>
            <a:endParaRPr lang="en-GB" altLang="en-US" noProof="1"/>
          </a:p>
        </p:txBody>
      </p:sp>
      <p:sp>
        <p:nvSpPr>
          <p:cNvPr id="14339" name="Rectangle 3">
            <a:extLst>
              <a:ext uri="{FF2B5EF4-FFF2-40B4-BE49-F238E27FC236}">
                <a16:creationId xmlns:a16="http://schemas.microsoft.com/office/drawing/2014/main" id="{95FD86E1-3414-3682-D6F0-39D5935CA8A7}"/>
              </a:ext>
            </a:extLst>
          </p:cNvPr>
          <p:cNvSpPr>
            <a:spLocks noChangeArrowheads="1"/>
          </p:cNvSpPr>
          <p:nvPr/>
        </p:nvSpPr>
        <p:spPr bwMode="auto">
          <a:xfrm>
            <a:off x="4648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a:solidFill>
                  <a:schemeClr val="tx1"/>
                </a:solidFill>
                <a:latin typeface="Times New Roman" panose="02020603050405020304" pitchFamily="18" charset="0"/>
              </a:defRPr>
            </a:lvl1pPr>
            <a:lvl2pPr marL="742950" indent="-285750">
              <a:defRPr sz="2800">
                <a:solidFill>
                  <a:schemeClr val="tx1"/>
                </a:solidFill>
                <a:latin typeface="Times New Roman" panose="02020603050405020304" pitchFamily="18" charset="0"/>
              </a:defRPr>
            </a:lvl2pPr>
            <a:lvl3pPr marL="1143000" indent="-228600">
              <a:defRPr sz="2800">
                <a:solidFill>
                  <a:schemeClr val="tx1"/>
                </a:solidFill>
                <a:latin typeface="Times New Roman" panose="02020603050405020304" pitchFamily="18" charset="0"/>
              </a:defRPr>
            </a:lvl3pPr>
            <a:lvl4pPr marL="1600200" indent="-228600">
              <a:defRPr sz="2800">
                <a:solidFill>
                  <a:schemeClr val="tx1"/>
                </a:solidFill>
                <a:latin typeface="Times New Roman" panose="02020603050405020304" pitchFamily="18" charset="0"/>
              </a:defRPr>
            </a:lvl4pPr>
            <a:lvl5pPr marL="2057400" indent="-228600">
              <a:defRPr sz="28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defRPr>
            </a:lvl9pPr>
          </a:lstStyle>
          <a:p>
            <a:endParaRPr lang="en-GB" altLang="en-US" noProof="1"/>
          </a:p>
        </p:txBody>
      </p:sp>
      <p:sp>
        <p:nvSpPr>
          <p:cNvPr id="14340" name="Rectangle 4">
            <a:extLst>
              <a:ext uri="{FF2B5EF4-FFF2-40B4-BE49-F238E27FC236}">
                <a16:creationId xmlns:a16="http://schemas.microsoft.com/office/drawing/2014/main" id="{59AFAEFB-3CAE-D7D6-97ED-14F91163E2AD}"/>
              </a:ext>
            </a:extLst>
          </p:cNvPr>
          <p:cNvSpPr>
            <a:spLocks noGrp="1"/>
          </p:cNvSpPr>
          <p:nvPr>
            <p:ph type="title"/>
          </p:nvPr>
        </p:nvSpPr>
        <p:spPr/>
        <p:txBody>
          <a:bodyPr>
            <a:normAutofit/>
          </a:bodyPr>
          <a:lstStyle/>
          <a:p>
            <a:pPr>
              <a:lnSpc>
                <a:spcPct val="90000"/>
              </a:lnSpc>
              <a:spcBef>
                <a:spcPts val="800"/>
              </a:spcBef>
            </a:pPr>
            <a:r>
              <a:rPr lang="en-GB" altLang="en-US" dirty="0"/>
              <a:t>Aggregate demand and the business cycle</a:t>
            </a:r>
          </a:p>
        </p:txBody>
      </p:sp>
      <p:sp>
        <p:nvSpPr>
          <p:cNvPr id="394245" name="Rectangle 5">
            <a:extLst>
              <a:ext uri="{FF2B5EF4-FFF2-40B4-BE49-F238E27FC236}">
                <a16:creationId xmlns:a16="http://schemas.microsoft.com/office/drawing/2014/main" id="{308D51A8-C569-5392-44C1-83E7E95261CC}"/>
              </a:ext>
            </a:extLst>
          </p:cNvPr>
          <p:cNvSpPr>
            <a:spLocks noGrp="1"/>
          </p:cNvSpPr>
          <p:nvPr>
            <p:ph sz="quarter" idx="1"/>
          </p:nvPr>
        </p:nvSpPr>
        <p:spPr>
          <a:xfrm>
            <a:off x="173935" y="1377695"/>
            <a:ext cx="11832535" cy="5031493"/>
          </a:xfrm>
        </p:spPr>
        <p:txBody>
          <a:bodyPr>
            <a:normAutofit/>
          </a:bodyPr>
          <a:lstStyle/>
          <a:p>
            <a:r>
              <a:rPr lang="en-GB" dirty="0">
                <a:latin typeface="+mn-lt"/>
              </a:rPr>
              <a:t>In the expansionary phase of the business cycle (phase 2), aggregate demand grows rapidly. There will be relatively rapid growth in output, with a positive output gap emerging, unemployment will fall as firms take on more labour and inflation will increase. </a:t>
            </a:r>
          </a:p>
          <a:p>
            <a:endParaRPr lang="en-GB" dirty="0">
              <a:latin typeface="+mn-lt"/>
            </a:endParaRPr>
          </a:p>
          <a:p>
            <a:r>
              <a:rPr lang="en-GB" dirty="0">
                <a:latin typeface="+mn-lt"/>
              </a:rPr>
              <a:t>At the peak of the cycle (phase 3), unemployment is probably at its lowest and output at its highest (for the time being). But growth has already ceased or at least slowed down. Inflation and balance of payments problems are probably acute. </a:t>
            </a:r>
          </a:p>
          <a:p>
            <a:endParaRPr lang="en-GB" dirty="0">
              <a:latin typeface="+mn-lt"/>
            </a:endParaRPr>
          </a:p>
          <a:p>
            <a:r>
              <a:rPr lang="en-GB" dirty="0">
                <a:latin typeface="+mn-lt"/>
              </a:rPr>
              <a:t>As the economy moves into phase 4 (let us assume that this is an actual recession with falling output), the reverse will happen to that in phase 2. Falling aggregate demand will make growth negative and demand-deficient unemployment higher, but inflation is likely to slow down and the balance of payments will improve. </a:t>
            </a:r>
          </a:p>
          <a:p>
            <a:endParaRPr lang="en-GB" dirty="0"/>
          </a:p>
        </p:txBody>
      </p:sp>
    </p:spTree>
    <p:extLst>
      <p:ext uri="{BB962C8B-B14F-4D97-AF65-F5344CB8AC3E}">
        <p14:creationId xmlns:p14="http://schemas.microsoft.com/office/powerpoint/2010/main" val="2275573830"/>
      </p:ext>
    </p:extLst>
  </p:cSld>
  <p:clrMapOvr>
    <a:masterClrMapping/>
  </p:clrMapOvr>
  <p:transition spd="slow">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394245">
                                            <p:txEl>
                                              <p:pRg st="0" end="0"/>
                                            </p:txEl>
                                          </p:spTgt>
                                        </p:tgtEl>
                                        <p:attrNameLst>
                                          <p:attrName>style.visibility</p:attrName>
                                        </p:attrNameLst>
                                      </p:cBhvr>
                                      <p:to>
                                        <p:strVal val="visible"/>
                                      </p:to>
                                    </p:set>
                                    <p:anim calcmode="lin" valueType="num">
                                      <p:cBhvr additive="base">
                                        <p:cTn id="7" dur="500"/>
                                        <p:tgtEl>
                                          <p:spTgt spid="394245">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39424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4245" grpId="0" build="p" bldLvl="3" autoUpdateAnimBg="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Line 1029">
            <a:extLst>
              <a:ext uri="{FF2B5EF4-FFF2-40B4-BE49-F238E27FC236}">
                <a16:creationId xmlns:a16="http://schemas.microsoft.com/office/drawing/2014/main" id="{2C526CE7-C996-4847-8818-44708B784D70}"/>
              </a:ext>
            </a:extLst>
          </p:cNvPr>
          <p:cNvSpPr>
            <a:spLocks noChangeShapeType="1"/>
          </p:cNvSpPr>
          <p:nvPr/>
        </p:nvSpPr>
        <p:spPr bwMode="auto">
          <a:xfrm>
            <a:off x="2590800" y="5943600"/>
            <a:ext cx="7386797" cy="0"/>
          </a:xfrm>
          <a:prstGeom prst="line">
            <a:avLst/>
          </a:prstGeom>
          <a:noFill/>
          <a:ln w="25400">
            <a:solidFill>
              <a:schemeClr val="tx1"/>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6386" name="Rectangle 2">
            <a:extLst>
              <a:ext uri="{FF2B5EF4-FFF2-40B4-BE49-F238E27FC236}">
                <a16:creationId xmlns:a16="http://schemas.microsoft.com/office/drawing/2014/main" id="{229A2834-D114-4F1C-B332-B5CF7C982870}"/>
              </a:ext>
            </a:extLst>
          </p:cNvPr>
          <p:cNvSpPr>
            <a:spLocks noChangeArrowheads="1"/>
          </p:cNvSpPr>
          <p:nvPr/>
        </p:nvSpPr>
        <p:spPr bwMode="auto">
          <a:xfrm>
            <a:off x="2209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6387" name="Rectangle 3">
            <a:extLst>
              <a:ext uri="{FF2B5EF4-FFF2-40B4-BE49-F238E27FC236}">
                <a16:creationId xmlns:a16="http://schemas.microsoft.com/office/drawing/2014/main" id="{6CBA0F3E-3B96-43C7-A277-1A7A5B557138}"/>
              </a:ext>
            </a:extLst>
          </p:cNvPr>
          <p:cNvSpPr>
            <a:spLocks noChangeArrowheads="1"/>
          </p:cNvSpPr>
          <p:nvPr/>
        </p:nvSpPr>
        <p:spPr bwMode="auto">
          <a:xfrm>
            <a:off x="4648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6389" name="Line 5">
            <a:extLst>
              <a:ext uri="{FF2B5EF4-FFF2-40B4-BE49-F238E27FC236}">
                <a16:creationId xmlns:a16="http://schemas.microsoft.com/office/drawing/2014/main" id="{45E43BB8-7772-47EF-8888-B0D57E399F74}"/>
              </a:ext>
            </a:extLst>
          </p:cNvPr>
          <p:cNvSpPr>
            <a:spLocks noChangeShapeType="1"/>
          </p:cNvSpPr>
          <p:nvPr/>
        </p:nvSpPr>
        <p:spPr bwMode="auto">
          <a:xfrm>
            <a:off x="2590800" y="609600"/>
            <a:ext cx="0" cy="5334000"/>
          </a:xfrm>
          <a:prstGeom prst="line">
            <a:avLst/>
          </a:prstGeom>
          <a:noFill/>
          <a:ln w="25400">
            <a:solidFill>
              <a:schemeClr val="tx1"/>
            </a:solidFill>
            <a:round/>
            <a:headEnd type="stealth" w="med" len="lg"/>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6391" name="Rectangle 7">
            <a:extLst>
              <a:ext uri="{FF2B5EF4-FFF2-40B4-BE49-F238E27FC236}">
                <a16:creationId xmlns:a16="http://schemas.microsoft.com/office/drawing/2014/main" id="{24805C9C-CB59-4989-9250-B195E05F5012}"/>
              </a:ext>
            </a:extLst>
          </p:cNvPr>
          <p:cNvSpPr>
            <a:spLocks noChangeArrowheads="1"/>
          </p:cNvSpPr>
          <p:nvPr/>
        </p:nvSpPr>
        <p:spPr bwMode="auto">
          <a:xfrm>
            <a:off x="2270127" y="5897563"/>
            <a:ext cx="384721"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r>
              <a:rPr lang="en-GB" altLang="en-US" sz="2000">
                <a:latin typeface="Arial" panose="020B0604020202020204" pitchFamily="34" charset="0"/>
              </a:rPr>
              <a:t>O</a:t>
            </a:r>
          </a:p>
        </p:txBody>
      </p:sp>
      <p:sp>
        <p:nvSpPr>
          <p:cNvPr id="16393" name="Rectangle 9">
            <a:extLst>
              <a:ext uri="{FF2B5EF4-FFF2-40B4-BE49-F238E27FC236}">
                <a16:creationId xmlns:a16="http://schemas.microsoft.com/office/drawing/2014/main" id="{3149C022-947B-468A-87BF-8EA219FF35CF}"/>
              </a:ext>
            </a:extLst>
          </p:cNvPr>
          <p:cNvSpPr>
            <a:spLocks noChangeArrowheads="1"/>
          </p:cNvSpPr>
          <p:nvPr/>
        </p:nvSpPr>
        <p:spPr bwMode="auto">
          <a:xfrm>
            <a:off x="5622925" y="6180140"/>
            <a:ext cx="803874" cy="4315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r>
              <a:rPr lang="en-GB" altLang="en-US" sz="2200">
                <a:latin typeface="Arial" panose="020B0604020202020204" pitchFamily="34" charset="0"/>
              </a:rPr>
              <a:t>Time</a:t>
            </a:r>
          </a:p>
        </p:txBody>
      </p:sp>
      <p:sp>
        <p:nvSpPr>
          <p:cNvPr id="16396" name="Rectangle 12">
            <a:extLst>
              <a:ext uri="{FF2B5EF4-FFF2-40B4-BE49-F238E27FC236}">
                <a16:creationId xmlns:a16="http://schemas.microsoft.com/office/drawing/2014/main" id="{A3BAE5AD-7B60-48DB-A8B5-418D125BEB7C}"/>
              </a:ext>
            </a:extLst>
          </p:cNvPr>
          <p:cNvSpPr>
            <a:spLocks noChangeArrowheads="1"/>
          </p:cNvSpPr>
          <p:nvPr/>
        </p:nvSpPr>
        <p:spPr bwMode="auto">
          <a:xfrm>
            <a:off x="7562781" y="1821947"/>
            <a:ext cx="899285" cy="7085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GB" altLang="en-US" sz="2000" dirty="0">
                <a:solidFill>
                  <a:schemeClr val="tx2"/>
                </a:solidFill>
                <a:latin typeface="Arial" panose="020B0604020202020204" pitchFamily="34" charset="0"/>
              </a:rPr>
              <a:t>Actual</a:t>
            </a:r>
          </a:p>
          <a:p>
            <a:pPr algn="ctr"/>
            <a:r>
              <a:rPr lang="en-GB" altLang="en-US" sz="2000" dirty="0">
                <a:solidFill>
                  <a:schemeClr val="tx2"/>
                </a:solidFill>
                <a:latin typeface="Arial" panose="020B0604020202020204" pitchFamily="34" charset="0"/>
              </a:rPr>
              <a:t>output</a:t>
            </a:r>
          </a:p>
        </p:txBody>
      </p:sp>
      <p:sp>
        <p:nvSpPr>
          <p:cNvPr id="16397" name="Rectangle 13">
            <a:extLst>
              <a:ext uri="{FF2B5EF4-FFF2-40B4-BE49-F238E27FC236}">
                <a16:creationId xmlns:a16="http://schemas.microsoft.com/office/drawing/2014/main" id="{2C77EFEE-303E-4B9A-A5EC-43D0F37D27E2}"/>
              </a:ext>
            </a:extLst>
          </p:cNvPr>
          <p:cNvSpPr>
            <a:spLocks noChangeArrowheads="1"/>
          </p:cNvSpPr>
          <p:nvPr/>
        </p:nvSpPr>
        <p:spPr bwMode="auto">
          <a:xfrm>
            <a:off x="3267075" y="4810125"/>
            <a:ext cx="328616"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r>
              <a:rPr lang="en-GB" altLang="en-US" sz="2000" b="1">
                <a:solidFill>
                  <a:schemeClr val="folHlink"/>
                </a:solidFill>
                <a:latin typeface="Arial" panose="020B0604020202020204" pitchFamily="34" charset="0"/>
              </a:rPr>
              <a:t>1</a:t>
            </a:r>
          </a:p>
        </p:txBody>
      </p:sp>
      <p:sp>
        <p:nvSpPr>
          <p:cNvPr id="16398" name="Rectangle 14">
            <a:extLst>
              <a:ext uri="{FF2B5EF4-FFF2-40B4-BE49-F238E27FC236}">
                <a16:creationId xmlns:a16="http://schemas.microsoft.com/office/drawing/2014/main" id="{ADF87216-E65A-460A-AAB2-A27B7AD6F488}"/>
              </a:ext>
            </a:extLst>
          </p:cNvPr>
          <p:cNvSpPr>
            <a:spLocks noChangeArrowheads="1"/>
          </p:cNvSpPr>
          <p:nvPr/>
        </p:nvSpPr>
        <p:spPr bwMode="auto">
          <a:xfrm>
            <a:off x="4259263" y="4105275"/>
            <a:ext cx="328616"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r>
              <a:rPr lang="en-GB" altLang="en-US" sz="2000" b="1">
                <a:solidFill>
                  <a:schemeClr val="accent1"/>
                </a:solidFill>
                <a:latin typeface="Arial" panose="020B0604020202020204" pitchFamily="34" charset="0"/>
              </a:rPr>
              <a:t>2</a:t>
            </a:r>
          </a:p>
        </p:txBody>
      </p:sp>
      <p:sp>
        <p:nvSpPr>
          <p:cNvPr id="16399" name="Rectangle 15">
            <a:extLst>
              <a:ext uri="{FF2B5EF4-FFF2-40B4-BE49-F238E27FC236}">
                <a16:creationId xmlns:a16="http://schemas.microsoft.com/office/drawing/2014/main" id="{7284B40E-B1DD-4FB9-BA41-D14622ECEEB8}"/>
              </a:ext>
            </a:extLst>
          </p:cNvPr>
          <p:cNvSpPr>
            <a:spLocks noChangeArrowheads="1"/>
          </p:cNvSpPr>
          <p:nvPr/>
        </p:nvSpPr>
        <p:spPr bwMode="auto">
          <a:xfrm>
            <a:off x="4881563" y="3240088"/>
            <a:ext cx="328616"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r>
              <a:rPr lang="en-GB" altLang="en-US" sz="2000" b="1">
                <a:solidFill>
                  <a:schemeClr val="hlink"/>
                </a:solidFill>
                <a:latin typeface="Arial" panose="020B0604020202020204" pitchFamily="34" charset="0"/>
              </a:rPr>
              <a:t>3</a:t>
            </a:r>
          </a:p>
        </p:txBody>
      </p:sp>
      <p:sp>
        <p:nvSpPr>
          <p:cNvPr id="16400" name="Rectangle 16">
            <a:extLst>
              <a:ext uri="{FF2B5EF4-FFF2-40B4-BE49-F238E27FC236}">
                <a16:creationId xmlns:a16="http://schemas.microsoft.com/office/drawing/2014/main" id="{F20DF2F7-4501-41BD-AF25-156577A9CD98}"/>
              </a:ext>
            </a:extLst>
          </p:cNvPr>
          <p:cNvSpPr>
            <a:spLocks noChangeArrowheads="1"/>
          </p:cNvSpPr>
          <p:nvPr/>
        </p:nvSpPr>
        <p:spPr bwMode="auto">
          <a:xfrm>
            <a:off x="5541963" y="3767138"/>
            <a:ext cx="328616"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r>
              <a:rPr lang="en-GB" altLang="en-US" sz="2000" b="1">
                <a:latin typeface="Arial" panose="020B0604020202020204" pitchFamily="34" charset="0"/>
              </a:rPr>
              <a:t>4</a:t>
            </a:r>
          </a:p>
        </p:txBody>
      </p:sp>
      <p:sp>
        <p:nvSpPr>
          <p:cNvPr id="16401" name="Rectangle 17">
            <a:extLst>
              <a:ext uri="{FF2B5EF4-FFF2-40B4-BE49-F238E27FC236}">
                <a16:creationId xmlns:a16="http://schemas.microsoft.com/office/drawing/2014/main" id="{22AF6583-A326-4E5E-812B-01E34EA712D0}"/>
              </a:ext>
            </a:extLst>
          </p:cNvPr>
          <p:cNvSpPr>
            <a:spLocks noChangeArrowheads="1"/>
          </p:cNvSpPr>
          <p:nvPr/>
        </p:nvSpPr>
        <p:spPr bwMode="auto">
          <a:xfrm>
            <a:off x="6343650" y="4157663"/>
            <a:ext cx="328616"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r>
              <a:rPr lang="en-GB" altLang="en-US" sz="2000" b="1">
                <a:solidFill>
                  <a:schemeClr val="folHlink"/>
                </a:solidFill>
                <a:latin typeface="Arial" panose="020B0604020202020204" pitchFamily="34" charset="0"/>
              </a:rPr>
              <a:t>1</a:t>
            </a:r>
          </a:p>
        </p:txBody>
      </p:sp>
      <p:sp>
        <p:nvSpPr>
          <p:cNvPr id="16402" name="Rectangle 18">
            <a:extLst>
              <a:ext uri="{FF2B5EF4-FFF2-40B4-BE49-F238E27FC236}">
                <a16:creationId xmlns:a16="http://schemas.microsoft.com/office/drawing/2014/main" id="{1522F1C8-F658-45A6-BDE1-5B962ED1C3F2}"/>
              </a:ext>
            </a:extLst>
          </p:cNvPr>
          <p:cNvSpPr>
            <a:spLocks noChangeArrowheads="1"/>
          </p:cNvSpPr>
          <p:nvPr/>
        </p:nvSpPr>
        <p:spPr bwMode="auto">
          <a:xfrm>
            <a:off x="7121525" y="3103563"/>
            <a:ext cx="328616"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r>
              <a:rPr lang="en-GB" altLang="en-US" sz="2000" b="1">
                <a:solidFill>
                  <a:schemeClr val="accent1"/>
                </a:solidFill>
                <a:latin typeface="Arial" panose="020B0604020202020204" pitchFamily="34" charset="0"/>
              </a:rPr>
              <a:t>2</a:t>
            </a:r>
          </a:p>
        </p:txBody>
      </p:sp>
      <p:sp>
        <p:nvSpPr>
          <p:cNvPr id="16403" name="Rectangle 19">
            <a:extLst>
              <a:ext uri="{FF2B5EF4-FFF2-40B4-BE49-F238E27FC236}">
                <a16:creationId xmlns:a16="http://schemas.microsoft.com/office/drawing/2014/main" id="{B5D65A65-F5BF-4893-A604-09D76C53D533}"/>
              </a:ext>
            </a:extLst>
          </p:cNvPr>
          <p:cNvSpPr>
            <a:spLocks noChangeArrowheads="1"/>
          </p:cNvSpPr>
          <p:nvPr/>
        </p:nvSpPr>
        <p:spPr bwMode="auto">
          <a:xfrm>
            <a:off x="8094663" y="2530475"/>
            <a:ext cx="328616"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r>
              <a:rPr lang="en-GB" altLang="en-US" sz="2000" b="1">
                <a:solidFill>
                  <a:schemeClr val="hlink"/>
                </a:solidFill>
                <a:latin typeface="Arial" panose="020B0604020202020204" pitchFamily="34" charset="0"/>
              </a:rPr>
              <a:t>3</a:t>
            </a:r>
          </a:p>
        </p:txBody>
      </p:sp>
      <p:sp>
        <p:nvSpPr>
          <p:cNvPr id="16404" name="Rectangle 20">
            <a:extLst>
              <a:ext uri="{FF2B5EF4-FFF2-40B4-BE49-F238E27FC236}">
                <a16:creationId xmlns:a16="http://schemas.microsoft.com/office/drawing/2014/main" id="{7DB6C01C-095B-4F20-A094-78EB3619B44E}"/>
              </a:ext>
            </a:extLst>
          </p:cNvPr>
          <p:cNvSpPr>
            <a:spLocks noChangeArrowheads="1"/>
          </p:cNvSpPr>
          <p:nvPr/>
        </p:nvSpPr>
        <p:spPr bwMode="auto">
          <a:xfrm>
            <a:off x="9004295" y="2995265"/>
            <a:ext cx="328616"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r>
              <a:rPr lang="en-GB" altLang="en-US" sz="2000" b="1" dirty="0">
                <a:latin typeface="Arial" panose="020B0604020202020204" pitchFamily="34" charset="0"/>
              </a:rPr>
              <a:t>4</a:t>
            </a:r>
          </a:p>
        </p:txBody>
      </p:sp>
      <p:sp>
        <p:nvSpPr>
          <p:cNvPr id="16405" name="Freeform 21">
            <a:extLst>
              <a:ext uri="{FF2B5EF4-FFF2-40B4-BE49-F238E27FC236}">
                <a16:creationId xmlns:a16="http://schemas.microsoft.com/office/drawing/2014/main" id="{FA13EF54-F1F4-4622-808A-E5FD8A490AD3}"/>
              </a:ext>
            </a:extLst>
          </p:cNvPr>
          <p:cNvSpPr>
            <a:spLocks/>
          </p:cNvSpPr>
          <p:nvPr/>
        </p:nvSpPr>
        <p:spPr bwMode="auto">
          <a:xfrm>
            <a:off x="2651125" y="2474915"/>
            <a:ext cx="6845300" cy="2338387"/>
          </a:xfrm>
          <a:custGeom>
            <a:avLst/>
            <a:gdLst>
              <a:gd name="T0" fmla="*/ 0 w 4312"/>
              <a:gd name="T1" fmla="*/ 1483 h 1739"/>
              <a:gd name="T2" fmla="*/ 212 w 4312"/>
              <a:gd name="T3" fmla="*/ 1694 h 1739"/>
              <a:gd name="T4" fmla="*/ 467 w 4312"/>
              <a:gd name="T5" fmla="*/ 1728 h 1739"/>
              <a:gd name="T6" fmla="*/ 712 w 4312"/>
              <a:gd name="T7" fmla="*/ 1628 h 1739"/>
              <a:gd name="T8" fmla="*/ 945 w 4312"/>
              <a:gd name="T9" fmla="*/ 1372 h 1739"/>
              <a:gd name="T10" fmla="*/ 1067 w 4312"/>
              <a:gd name="T11" fmla="*/ 1061 h 1739"/>
              <a:gd name="T12" fmla="*/ 1223 w 4312"/>
              <a:gd name="T13" fmla="*/ 683 h 1739"/>
              <a:gd name="T14" fmla="*/ 1501 w 4312"/>
              <a:gd name="T15" fmla="*/ 550 h 1739"/>
              <a:gd name="T16" fmla="*/ 1756 w 4312"/>
              <a:gd name="T17" fmla="*/ 661 h 1739"/>
              <a:gd name="T18" fmla="*/ 2001 w 4312"/>
              <a:gd name="T19" fmla="*/ 983 h 1739"/>
              <a:gd name="T20" fmla="*/ 2167 w 4312"/>
              <a:gd name="T21" fmla="*/ 1139 h 1739"/>
              <a:gd name="T22" fmla="*/ 2334 w 4312"/>
              <a:gd name="T23" fmla="*/ 1206 h 1739"/>
              <a:gd name="T24" fmla="*/ 2579 w 4312"/>
              <a:gd name="T25" fmla="*/ 1194 h 1739"/>
              <a:gd name="T26" fmla="*/ 2834 w 4312"/>
              <a:gd name="T27" fmla="*/ 1061 h 1739"/>
              <a:gd name="T28" fmla="*/ 3023 w 4312"/>
              <a:gd name="T29" fmla="*/ 794 h 1739"/>
              <a:gd name="T30" fmla="*/ 3090 w 4312"/>
              <a:gd name="T31" fmla="*/ 561 h 1739"/>
              <a:gd name="T32" fmla="*/ 3145 w 4312"/>
              <a:gd name="T33" fmla="*/ 317 h 1739"/>
              <a:gd name="T34" fmla="*/ 3268 w 4312"/>
              <a:gd name="T35" fmla="*/ 95 h 1739"/>
              <a:gd name="T36" fmla="*/ 3445 w 4312"/>
              <a:gd name="T37" fmla="*/ 6 h 1739"/>
              <a:gd name="T38" fmla="*/ 3723 w 4312"/>
              <a:gd name="T39" fmla="*/ 61 h 1739"/>
              <a:gd name="T40" fmla="*/ 3901 w 4312"/>
              <a:gd name="T41" fmla="*/ 239 h 1739"/>
              <a:gd name="T42" fmla="*/ 4034 w 4312"/>
              <a:gd name="T43" fmla="*/ 395 h 1739"/>
              <a:gd name="T44" fmla="*/ 4145 w 4312"/>
              <a:gd name="T45" fmla="*/ 439 h 1739"/>
              <a:gd name="T46" fmla="*/ 4312 w 4312"/>
              <a:gd name="T47" fmla="*/ 461 h 17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4312" h="1739">
                <a:moveTo>
                  <a:pt x="0" y="1483"/>
                </a:moveTo>
                <a:cubicBezTo>
                  <a:pt x="67" y="1568"/>
                  <a:pt x="134" y="1653"/>
                  <a:pt x="212" y="1694"/>
                </a:cubicBezTo>
                <a:cubicBezTo>
                  <a:pt x="290" y="1735"/>
                  <a:pt x="384" y="1739"/>
                  <a:pt x="467" y="1728"/>
                </a:cubicBezTo>
                <a:cubicBezTo>
                  <a:pt x="550" y="1717"/>
                  <a:pt x="632" y="1687"/>
                  <a:pt x="712" y="1628"/>
                </a:cubicBezTo>
                <a:cubicBezTo>
                  <a:pt x="792" y="1569"/>
                  <a:pt x="886" y="1466"/>
                  <a:pt x="945" y="1372"/>
                </a:cubicBezTo>
                <a:cubicBezTo>
                  <a:pt x="1004" y="1278"/>
                  <a:pt x="1021" y="1176"/>
                  <a:pt x="1067" y="1061"/>
                </a:cubicBezTo>
                <a:cubicBezTo>
                  <a:pt x="1113" y="946"/>
                  <a:pt x="1151" y="768"/>
                  <a:pt x="1223" y="683"/>
                </a:cubicBezTo>
                <a:cubicBezTo>
                  <a:pt x="1295" y="598"/>
                  <a:pt x="1412" y="554"/>
                  <a:pt x="1501" y="550"/>
                </a:cubicBezTo>
                <a:cubicBezTo>
                  <a:pt x="1590" y="546"/>
                  <a:pt x="1673" y="589"/>
                  <a:pt x="1756" y="661"/>
                </a:cubicBezTo>
                <a:cubicBezTo>
                  <a:pt x="1839" y="733"/>
                  <a:pt x="1933" y="903"/>
                  <a:pt x="2001" y="983"/>
                </a:cubicBezTo>
                <a:cubicBezTo>
                  <a:pt x="2069" y="1063"/>
                  <a:pt x="2112" y="1102"/>
                  <a:pt x="2167" y="1139"/>
                </a:cubicBezTo>
                <a:cubicBezTo>
                  <a:pt x="2222" y="1176"/>
                  <a:pt x="2265" y="1197"/>
                  <a:pt x="2334" y="1206"/>
                </a:cubicBezTo>
                <a:cubicBezTo>
                  <a:pt x="2403" y="1215"/>
                  <a:pt x="2496" y="1218"/>
                  <a:pt x="2579" y="1194"/>
                </a:cubicBezTo>
                <a:cubicBezTo>
                  <a:pt x="2662" y="1170"/>
                  <a:pt x="2760" y="1128"/>
                  <a:pt x="2834" y="1061"/>
                </a:cubicBezTo>
                <a:cubicBezTo>
                  <a:pt x="2908" y="994"/>
                  <a:pt x="2980" y="877"/>
                  <a:pt x="3023" y="794"/>
                </a:cubicBezTo>
                <a:cubicBezTo>
                  <a:pt x="3066" y="711"/>
                  <a:pt x="3070" y="640"/>
                  <a:pt x="3090" y="561"/>
                </a:cubicBezTo>
                <a:cubicBezTo>
                  <a:pt x="3110" y="482"/>
                  <a:pt x="3115" y="395"/>
                  <a:pt x="3145" y="317"/>
                </a:cubicBezTo>
                <a:cubicBezTo>
                  <a:pt x="3175" y="239"/>
                  <a:pt x="3218" y="147"/>
                  <a:pt x="3268" y="95"/>
                </a:cubicBezTo>
                <a:cubicBezTo>
                  <a:pt x="3318" y="43"/>
                  <a:pt x="3369" y="12"/>
                  <a:pt x="3445" y="6"/>
                </a:cubicBezTo>
                <a:cubicBezTo>
                  <a:pt x="3521" y="0"/>
                  <a:pt x="3647" y="22"/>
                  <a:pt x="3723" y="61"/>
                </a:cubicBezTo>
                <a:cubicBezTo>
                  <a:pt x="3799" y="100"/>
                  <a:pt x="3849" y="183"/>
                  <a:pt x="3901" y="239"/>
                </a:cubicBezTo>
                <a:cubicBezTo>
                  <a:pt x="3953" y="295"/>
                  <a:pt x="3993" y="362"/>
                  <a:pt x="4034" y="395"/>
                </a:cubicBezTo>
                <a:cubicBezTo>
                  <a:pt x="4075" y="428"/>
                  <a:pt x="4099" y="428"/>
                  <a:pt x="4145" y="439"/>
                </a:cubicBezTo>
                <a:cubicBezTo>
                  <a:pt x="4191" y="450"/>
                  <a:pt x="4251" y="455"/>
                  <a:pt x="4312" y="461"/>
                </a:cubicBezTo>
              </a:path>
            </a:pathLst>
          </a:custGeom>
          <a:noFill/>
          <a:ln w="38100" cap="flat" cmpd="sng">
            <a:solidFill>
              <a:srgbClr val="0000CC"/>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nvGrpSpPr>
          <p:cNvPr id="3" name="Group 2">
            <a:extLst>
              <a:ext uri="{FF2B5EF4-FFF2-40B4-BE49-F238E27FC236}">
                <a16:creationId xmlns:a16="http://schemas.microsoft.com/office/drawing/2014/main" id="{062AE067-6B5E-41B3-9F01-02E2B13867FA}"/>
              </a:ext>
            </a:extLst>
          </p:cNvPr>
          <p:cNvGrpSpPr/>
          <p:nvPr/>
        </p:nvGrpSpPr>
        <p:grpSpPr>
          <a:xfrm>
            <a:off x="4792665" y="4179888"/>
            <a:ext cx="4587875" cy="1662114"/>
            <a:chOff x="4792665" y="4179888"/>
            <a:chExt cx="4587875" cy="1662114"/>
          </a:xfrm>
        </p:grpSpPr>
        <p:sp>
          <p:nvSpPr>
            <p:cNvPr id="16406" name="Line 22">
              <a:extLst>
                <a:ext uri="{FF2B5EF4-FFF2-40B4-BE49-F238E27FC236}">
                  <a16:creationId xmlns:a16="http://schemas.microsoft.com/office/drawing/2014/main" id="{E353B8A2-C728-4408-A1ED-909F37510A38}"/>
                </a:ext>
              </a:extLst>
            </p:cNvPr>
            <p:cNvSpPr>
              <a:spLocks noChangeShapeType="1"/>
            </p:cNvSpPr>
            <p:nvPr/>
          </p:nvSpPr>
          <p:spPr bwMode="auto">
            <a:xfrm>
              <a:off x="6664327" y="4179888"/>
              <a:ext cx="327025" cy="590550"/>
            </a:xfrm>
            <a:prstGeom prst="line">
              <a:avLst/>
            </a:prstGeom>
            <a:noFill/>
            <a:ln w="28575">
              <a:solidFill>
                <a:schemeClr val="folHlink"/>
              </a:solidFill>
              <a:round/>
              <a:headEnd type="stealth" w="med" len="lg"/>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6407" name="AutoShape 23">
              <a:extLst>
                <a:ext uri="{FF2B5EF4-FFF2-40B4-BE49-F238E27FC236}">
                  <a16:creationId xmlns:a16="http://schemas.microsoft.com/office/drawing/2014/main" id="{6938E879-83AF-4C67-9974-6E5B1A39BCE1}"/>
                </a:ext>
              </a:extLst>
            </p:cNvPr>
            <p:cNvSpPr>
              <a:spLocks noChangeArrowheads="1"/>
            </p:cNvSpPr>
            <p:nvPr/>
          </p:nvSpPr>
          <p:spPr bwMode="auto">
            <a:xfrm>
              <a:off x="4792665" y="4733927"/>
              <a:ext cx="4587875" cy="1108075"/>
            </a:xfrm>
            <a:prstGeom prst="roundRect">
              <a:avLst>
                <a:gd name="adj" fmla="val 12495"/>
              </a:avLst>
            </a:prstGeom>
            <a:solidFill>
              <a:srgbClr val="E7FFE7"/>
            </a:solidFill>
            <a:ln w="28575">
              <a:solidFill>
                <a:schemeClr val="accent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GB" altLang="en-US" sz="2000" dirty="0">
                  <a:solidFill>
                    <a:schemeClr val="folHlink"/>
                  </a:solidFill>
                  <a:latin typeface="Arial" panose="020B0604020202020204" pitchFamily="34" charset="0"/>
                </a:rPr>
                <a:t>Low inflation, current account surplus</a:t>
              </a:r>
            </a:p>
            <a:p>
              <a:pPr algn="ctr"/>
              <a:r>
                <a:rPr lang="en-GB" altLang="en-US" sz="2000" b="1" i="1" dirty="0">
                  <a:solidFill>
                    <a:srgbClr val="FF0000"/>
                  </a:solidFill>
                  <a:latin typeface="Arial" panose="020B0604020202020204" pitchFamily="34" charset="0"/>
                </a:rPr>
                <a:t>but</a:t>
              </a:r>
              <a:endParaRPr lang="en-GB" altLang="en-US" sz="2000" b="1" dirty="0">
                <a:solidFill>
                  <a:srgbClr val="FF0000"/>
                </a:solidFill>
                <a:latin typeface="Arial" panose="020B0604020202020204" pitchFamily="34" charset="0"/>
              </a:endParaRPr>
            </a:p>
            <a:p>
              <a:pPr algn="ctr"/>
              <a:r>
                <a:rPr lang="en-GB" altLang="en-US" sz="2000" b="1" dirty="0">
                  <a:solidFill>
                    <a:srgbClr val="FF0000"/>
                  </a:solidFill>
                  <a:latin typeface="Arial" panose="020B0604020202020204" pitchFamily="34" charset="0"/>
                </a:rPr>
                <a:t>low output, high unemployment</a:t>
              </a:r>
            </a:p>
          </p:txBody>
        </p:sp>
      </p:grpSp>
      <p:sp>
        <p:nvSpPr>
          <p:cNvPr id="27" name="Rectangle 1047">
            <a:extLst>
              <a:ext uri="{FF2B5EF4-FFF2-40B4-BE49-F238E27FC236}">
                <a16:creationId xmlns:a16="http://schemas.microsoft.com/office/drawing/2014/main" id="{90D59000-4CB5-4A77-8CE0-CA4B950A7F23}"/>
              </a:ext>
            </a:extLst>
          </p:cNvPr>
          <p:cNvSpPr>
            <a:spLocks noGrp="1" noChangeArrowheads="1"/>
          </p:cNvSpPr>
          <p:nvPr>
            <p:ph type="title"/>
          </p:nvPr>
        </p:nvSpPr>
        <p:spPr>
          <a:xfrm>
            <a:off x="1" y="-1"/>
            <a:ext cx="12191998" cy="559685"/>
          </a:xfrm>
          <a:effectLst>
            <a:outerShdw dist="12700" dir="2700000" algn="tl" rotWithShape="0">
              <a:prstClr val="black"/>
            </a:outerShdw>
          </a:effectLst>
        </p:spPr>
        <p:txBody>
          <a:bodyPr>
            <a:normAutofit fontScale="90000"/>
          </a:bodyPr>
          <a:lstStyle/>
          <a:p>
            <a:pPr algn="ctr"/>
            <a:r>
              <a:rPr lang="en-GB" altLang="en-US" dirty="0">
                <a:effectLst/>
              </a:rPr>
              <a:t>The business cycle and macroeconomic variables</a:t>
            </a:r>
          </a:p>
        </p:txBody>
      </p:sp>
      <p:sp>
        <p:nvSpPr>
          <p:cNvPr id="30" name="Rectangle 1031">
            <a:extLst>
              <a:ext uri="{FF2B5EF4-FFF2-40B4-BE49-F238E27FC236}">
                <a16:creationId xmlns:a16="http://schemas.microsoft.com/office/drawing/2014/main" id="{857BDBD0-D0CF-46F0-B450-050EF83088F1}"/>
              </a:ext>
            </a:extLst>
          </p:cNvPr>
          <p:cNvSpPr>
            <a:spLocks noChangeArrowheads="1"/>
          </p:cNvSpPr>
          <p:nvPr/>
        </p:nvSpPr>
        <p:spPr bwMode="auto">
          <a:xfrm rot="16200000">
            <a:off x="1066908" y="2979876"/>
            <a:ext cx="1455527" cy="4315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r>
              <a:rPr lang="en-GB" altLang="en-US" sz="2200" dirty="0">
                <a:latin typeface="Arial" panose="020B0604020202020204" pitchFamily="34" charset="0"/>
              </a:rPr>
              <a:t>Real GDP</a:t>
            </a:r>
          </a:p>
        </p:txBody>
      </p:sp>
      <p:grpSp>
        <p:nvGrpSpPr>
          <p:cNvPr id="2" name="Group 1">
            <a:extLst>
              <a:ext uri="{FF2B5EF4-FFF2-40B4-BE49-F238E27FC236}">
                <a16:creationId xmlns:a16="http://schemas.microsoft.com/office/drawing/2014/main" id="{803F63B7-F2C6-4031-B2FF-935C99DCCE97}"/>
              </a:ext>
            </a:extLst>
          </p:cNvPr>
          <p:cNvGrpSpPr/>
          <p:nvPr/>
        </p:nvGrpSpPr>
        <p:grpSpPr>
          <a:xfrm>
            <a:off x="2651125" y="947725"/>
            <a:ext cx="4912070" cy="2190008"/>
            <a:chOff x="2651125" y="947725"/>
            <a:chExt cx="4912070" cy="2190008"/>
          </a:xfrm>
        </p:grpSpPr>
        <p:sp>
          <p:nvSpPr>
            <p:cNvPr id="29" name="Line 11">
              <a:extLst>
                <a:ext uri="{FF2B5EF4-FFF2-40B4-BE49-F238E27FC236}">
                  <a16:creationId xmlns:a16="http://schemas.microsoft.com/office/drawing/2014/main" id="{5CE858AF-591D-425D-B59E-421B9C65D3A0}"/>
                </a:ext>
              </a:extLst>
            </p:cNvPr>
            <p:cNvSpPr>
              <a:spLocks noChangeShapeType="1"/>
            </p:cNvSpPr>
            <p:nvPr/>
          </p:nvSpPr>
          <p:spPr bwMode="auto">
            <a:xfrm flipH="1" flipV="1">
              <a:off x="4526584" y="2026483"/>
              <a:ext cx="412750" cy="1111250"/>
            </a:xfrm>
            <a:prstGeom prst="line">
              <a:avLst/>
            </a:prstGeom>
            <a:noFill/>
            <a:ln w="28575">
              <a:solidFill>
                <a:schemeClr val="hlink"/>
              </a:solidFill>
              <a:round/>
              <a:headEnd type="stealth" w="med" len="lg"/>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1" name="AutoShape 22">
              <a:extLst>
                <a:ext uri="{FF2B5EF4-FFF2-40B4-BE49-F238E27FC236}">
                  <a16:creationId xmlns:a16="http://schemas.microsoft.com/office/drawing/2014/main" id="{5091E2A5-5047-4959-BA5A-829243D76051}"/>
                </a:ext>
              </a:extLst>
            </p:cNvPr>
            <p:cNvSpPr>
              <a:spLocks noChangeArrowheads="1"/>
            </p:cNvSpPr>
            <p:nvPr/>
          </p:nvSpPr>
          <p:spPr bwMode="auto">
            <a:xfrm>
              <a:off x="2651125" y="947725"/>
              <a:ext cx="4912070" cy="1094244"/>
            </a:xfrm>
            <a:prstGeom prst="roundRect">
              <a:avLst>
                <a:gd name="adj" fmla="val 12495"/>
              </a:avLst>
            </a:prstGeom>
            <a:solidFill>
              <a:srgbClr val="FFEBD7"/>
            </a:solidFill>
            <a:ln w="28575">
              <a:solidFill>
                <a:schemeClr val="accent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GB" altLang="en-US" sz="2000" dirty="0">
                  <a:solidFill>
                    <a:schemeClr val="hlink"/>
                  </a:solidFill>
                  <a:latin typeface="Arial" panose="020B0604020202020204" pitchFamily="34" charset="0"/>
                </a:rPr>
                <a:t>Boom: high output, low unemployment</a:t>
              </a:r>
            </a:p>
            <a:p>
              <a:pPr algn="ctr"/>
              <a:r>
                <a:rPr lang="en-GB" altLang="en-US" sz="2000" b="1" i="1" dirty="0">
                  <a:solidFill>
                    <a:srgbClr val="C00000"/>
                  </a:solidFill>
                  <a:latin typeface="Arial" panose="020B0604020202020204" pitchFamily="34" charset="0"/>
                </a:rPr>
                <a:t>but</a:t>
              </a:r>
            </a:p>
            <a:p>
              <a:pPr algn="ctr"/>
              <a:r>
                <a:rPr lang="en-GB" altLang="en-US" sz="2000" b="1" dirty="0">
                  <a:solidFill>
                    <a:srgbClr val="C00000"/>
                  </a:solidFill>
                  <a:latin typeface="Arial" panose="020B0604020202020204" pitchFamily="34" charset="0"/>
                </a:rPr>
                <a:t>high inflation, current account deficit</a:t>
              </a:r>
            </a:p>
          </p:txBody>
        </p:sp>
      </p:grpSp>
      <p:grpSp>
        <p:nvGrpSpPr>
          <p:cNvPr id="4" name="Group 17">
            <a:extLst>
              <a:ext uri="{FF2B5EF4-FFF2-40B4-BE49-F238E27FC236}">
                <a16:creationId xmlns:a16="http://schemas.microsoft.com/office/drawing/2014/main" id="{38188595-98B3-33FF-5467-9B7A20981215}"/>
              </a:ext>
            </a:extLst>
          </p:cNvPr>
          <p:cNvGrpSpPr>
            <a:grpSpLocks/>
          </p:cNvGrpSpPr>
          <p:nvPr/>
        </p:nvGrpSpPr>
        <p:grpSpPr bwMode="auto">
          <a:xfrm>
            <a:off x="2584450" y="2073102"/>
            <a:ext cx="7042150" cy="2514600"/>
            <a:chOff x="668" y="1238"/>
            <a:chExt cx="4436" cy="1584"/>
          </a:xfrm>
        </p:grpSpPr>
        <p:sp>
          <p:nvSpPr>
            <p:cNvPr id="5" name="Line 15">
              <a:extLst>
                <a:ext uri="{FF2B5EF4-FFF2-40B4-BE49-F238E27FC236}">
                  <a16:creationId xmlns:a16="http://schemas.microsoft.com/office/drawing/2014/main" id="{1C7699EF-A1FA-35DD-345F-422193D19270}"/>
                </a:ext>
              </a:extLst>
            </p:cNvPr>
            <p:cNvSpPr>
              <a:spLocks noChangeShapeType="1"/>
            </p:cNvSpPr>
            <p:nvPr/>
          </p:nvSpPr>
          <p:spPr bwMode="auto">
            <a:xfrm flipV="1">
              <a:off x="668" y="1711"/>
              <a:ext cx="4355" cy="1111"/>
            </a:xfrm>
            <a:prstGeom prst="line">
              <a:avLst/>
            </a:prstGeom>
            <a:noFill/>
            <a:ln w="38100">
              <a:solidFill>
                <a:schemeClr val="folHlink"/>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6" name="Rectangle 16">
              <a:extLst>
                <a:ext uri="{FF2B5EF4-FFF2-40B4-BE49-F238E27FC236}">
                  <a16:creationId xmlns:a16="http://schemas.microsoft.com/office/drawing/2014/main" id="{1A058B47-927C-9F4D-D8B0-35EF6FEF4F3E}"/>
                </a:ext>
              </a:extLst>
            </p:cNvPr>
            <p:cNvSpPr>
              <a:spLocks noChangeArrowheads="1"/>
            </p:cNvSpPr>
            <p:nvPr/>
          </p:nvSpPr>
          <p:spPr bwMode="auto">
            <a:xfrm>
              <a:off x="4539" y="1238"/>
              <a:ext cx="565" cy="4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defRPr sz="2400">
                  <a:solidFill>
                    <a:schemeClr val="tx1"/>
                  </a:solidFill>
                  <a:latin typeface="Times New Roman" panose="02020603050405020304" pitchFamily="18" charset="0"/>
                </a:defRPr>
              </a:lvl1pPr>
              <a:lvl2pPr marL="742950" indent="-285750" defTabSz="762000">
                <a:defRPr sz="2400">
                  <a:solidFill>
                    <a:schemeClr val="tx1"/>
                  </a:solidFill>
                  <a:latin typeface="Times New Roman" panose="02020603050405020304" pitchFamily="18" charset="0"/>
                </a:defRPr>
              </a:lvl2pPr>
              <a:lvl3pPr marL="1143000" indent="-228600" defTabSz="762000">
                <a:defRPr sz="2400">
                  <a:solidFill>
                    <a:schemeClr val="tx1"/>
                  </a:solidFill>
                  <a:latin typeface="Times New Roman" panose="02020603050405020304" pitchFamily="18" charset="0"/>
                </a:defRPr>
              </a:lvl3pPr>
              <a:lvl4pPr marL="1600200" indent="-228600" defTabSz="762000">
                <a:defRPr sz="2400">
                  <a:solidFill>
                    <a:schemeClr val="tx1"/>
                  </a:solidFill>
                  <a:latin typeface="Times New Roman" panose="02020603050405020304" pitchFamily="18" charset="0"/>
                </a:defRPr>
              </a:lvl4pPr>
              <a:lvl5pPr marL="2057400" indent="-228600" defTabSz="762000">
                <a:defRPr sz="2400">
                  <a:solidFill>
                    <a:schemeClr val="tx1"/>
                  </a:solidFill>
                  <a:latin typeface="Times New Roman" panose="02020603050405020304" pitchFamily="18" charset="0"/>
                </a:defRPr>
              </a:lvl5pPr>
              <a:lvl6pPr marL="2514600" indent="-228600" defTabSz="7620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7620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7620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GB" altLang="en-US" sz="2000">
                  <a:solidFill>
                    <a:schemeClr val="folHlink"/>
                  </a:solidFill>
                  <a:latin typeface="Arial" panose="020B0604020202020204" pitchFamily="34" charset="0"/>
                </a:rPr>
                <a:t>Trend</a:t>
              </a:r>
            </a:p>
            <a:p>
              <a:pPr algn="ctr"/>
              <a:r>
                <a:rPr lang="en-GB" altLang="en-US" sz="2000">
                  <a:solidFill>
                    <a:schemeClr val="folHlink"/>
                  </a:solidFill>
                  <a:latin typeface="Arial" panose="020B0604020202020204" pitchFamily="34" charset="0"/>
                </a:rPr>
                <a:t>output</a:t>
              </a:r>
            </a:p>
          </p:txBody>
        </p:sp>
      </p:grpSp>
    </p:spTree>
    <p:extLst>
      <p:ext uri="{BB962C8B-B14F-4D97-AF65-F5344CB8AC3E}">
        <p14:creationId xmlns:p14="http://schemas.microsoft.com/office/powerpoint/2010/main" val="1269562499"/>
      </p:ext>
    </p:extLst>
  </p:cSld>
  <p:clrMapOvr>
    <a:masterClrMapping/>
  </p:clrMapOvr>
  <p:transition spd="med">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strVal val="#ppt_h"/>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7" presetClass="entr" presetSubtype="10"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p:cTn id="13" dur="500" fill="hold"/>
                                        <p:tgtEl>
                                          <p:spTgt spid="3"/>
                                        </p:tgtEl>
                                        <p:attrNameLst>
                                          <p:attrName>ppt_w</p:attrName>
                                        </p:attrNameLst>
                                      </p:cBhvr>
                                      <p:tavLst>
                                        <p:tav tm="0">
                                          <p:val>
                                            <p:fltVal val="0"/>
                                          </p:val>
                                        </p:tav>
                                        <p:tav tm="100000">
                                          <p:val>
                                            <p:strVal val="#ppt_w"/>
                                          </p:val>
                                        </p:tav>
                                      </p:tavLst>
                                    </p:anim>
                                    <p:anim calcmode="lin" valueType="num">
                                      <p:cBhvr>
                                        <p:cTn id="14" dur="500" fill="hold"/>
                                        <p:tgtEl>
                                          <p:spTgt spid="3"/>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115D77-56E2-C5CC-FEFF-2EBFDCCD1007}"/>
              </a:ext>
            </a:extLst>
          </p:cNvPr>
          <p:cNvSpPr>
            <a:spLocks noGrp="1"/>
          </p:cNvSpPr>
          <p:nvPr>
            <p:ph type="title"/>
          </p:nvPr>
        </p:nvSpPr>
        <p:spPr/>
        <p:txBody>
          <a:bodyPr/>
          <a:lstStyle/>
          <a:p>
            <a:r>
              <a:rPr lang="en-GB" dirty="0"/>
              <a:t>Summary</a:t>
            </a:r>
          </a:p>
        </p:txBody>
      </p:sp>
      <p:sp>
        <p:nvSpPr>
          <p:cNvPr id="3" name="Content Placeholder 2">
            <a:extLst>
              <a:ext uri="{FF2B5EF4-FFF2-40B4-BE49-F238E27FC236}">
                <a16:creationId xmlns:a16="http://schemas.microsoft.com/office/drawing/2014/main" id="{C3F94351-E975-5326-C8C5-4A4544AAE5B3}"/>
              </a:ext>
            </a:extLst>
          </p:cNvPr>
          <p:cNvSpPr>
            <a:spLocks noGrp="1"/>
          </p:cNvSpPr>
          <p:nvPr>
            <p:ph sz="quarter" idx="1"/>
          </p:nvPr>
        </p:nvSpPr>
        <p:spPr/>
        <p:txBody>
          <a:bodyPr/>
          <a:lstStyle/>
          <a:p>
            <a:r>
              <a:rPr lang="en-GB" dirty="0"/>
              <a:t>A government is tasked with fulfilling a number of macroeconomic policy objectives. Some of these objectives can be conflicting</a:t>
            </a:r>
          </a:p>
          <a:p>
            <a:r>
              <a:rPr lang="en-GB" dirty="0"/>
              <a:t>The key macroeconomic concerns covered today include inflation, unemployment, economic growth and business cycles</a:t>
            </a:r>
          </a:p>
          <a:p>
            <a:r>
              <a:rPr lang="en-GB" dirty="0"/>
              <a:t>There are 3 methods for calculating national income </a:t>
            </a:r>
          </a:p>
          <a:p>
            <a:r>
              <a:rPr lang="en-GB" dirty="0"/>
              <a:t>The circular flow of income in Week 1 is reintroduced in this session, and shows the movement of incomes between various components of an economy</a:t>
            </a:r>
          </a:p>
          <a:p>
            <a:r>
              <a:rPr lang="en-GB" dirty="0"/>
              <a:t>The AD-AS model captures the price and production levels of an economy. Inflation and business cycles are better understood with this model</a:t>
            </a:r>
          </a:p>
        </p:txBody>
      </p:sp>
    </p:spTree>
    <p:extLst>
      <p:ext uri="{BB962C8B-B14F-4D97-AF65-F5344CB8AC3E}">
        <p14:creationId xmlns:p14="http://schemas.microsoft.com/office/powerpoint/2010/main" val="208730815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CCFAA43-C71D-D714-A0AA-1489DC293CF0}"/>
              </a:ext>
            </a:extLst>
          </p:cNvPr>
          <p:cNvSpPr txBox="1"/>
          <p:nvPr/>
        </p:nvSpPr>
        <p:spPr>
          <a:xfrm>
            <a:off x="1564640" y="2438400"/>
            <a:ext cx="10022937" cy="584775"/>
          </a:xfrm>
          <a:prstGeom prst="rect">
            <a:avLst/>
          </a:prstGeom>
          <a:noFill/>
        </p:spPr>
        <p:txBody>
          <a:bodyPr wrap="none" rtlCol="0">
            <a:spAutoFit/>
          </a:bodyPr>
          <a:lstStyle/>
          <a:p>
            <a:r>
              <a:rPr lang="en-MY" sz="3200" b="1" dirty="0"/>
              <a:t>Additional reading materials (will not be covered in class) </a:t>
            </a:r>
          </a:p>
        </p:txBody>
      </p:sp>
    </p:spTree>
    <p:extLst>
      <p:ext uri="{BB962C8B-B14F-4D97-AF65-F5344CB8AC3E}">
        <p14:creationId xmlns:p14="http://schemas.microsoft.com/office/powerpoint/2010/main" val="141715391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70020" name="Rectangle 4">
            <a:extLst>
              <a:ext uri="{FF2B5EF4-FFF2-40B4-BE49-F238E27FC236}">
                <a16:creationId xmlns:a16="http://schemas.microsoft.com/office/drawing/2014/main" id="{0C5C4F14-6454-4902-8ED9-9FA3E8240269}"/>
              </a:ext>
            </a:extLst>
          </p:cNvPr>
          <p:cNvSpPr>
            <a:spLocks noGrp="1"/>
          </p:cNvSpPr>
          <p:nvPr>
            <p:ph type="title"/>
          </p:nvPr>
        </p:nvSpPr>
        <p:spPr>
          <a:xfrm>
            <a:off x="502920" y="344806"/>
            <a:ext cx="10515600" cy="908198"/>
          </a:xfrm>
        </p:spPr>
        <p:txBody>
          <a:bodyPr/>
          <a:lstStyle/>
          <a:p>
            <a:r>
              <a:rPr lang="en-GB" altLang="en-US" dirty="0"/>
              <a:t>Measuring National Income and Output</a:t>
            </a:r>
          </a:p>
        </p:txBody>
      </p:sp>
      <p:sp>
        <p:nvSpPr>
          <p:cNvPr id="470021" name="Rectangle 5">
            <a:extLst>
              <a:ext uri="{FF2B5EF4-FFF2-40B4-BE49-F238E27FC236}">
                <a16:creationId xmlns:a16="http://schemas.microsoft.com/office/drawing/2014/main" id="{80C47BBE-EE77-4165-A14A-E1C077E52A62}"/>
              </a:ext>
            </a:extLst>
          </p:cNvPr>
          <p:cNvSpPr>
            <a:spLocks noGrp="1"/>
          </p:cNvSpPr>
          <p:nvPr>
            <p:ph sz="quarter" idx="1"/>
          </p:nvPr>
        </p:nvSpPr>
        <p:spPr>
          <a:xfrm>
            <a:off x="402336" y="1556792"/>
            <a:ext cx="11338560" cy="4824536"/>
          </a:xfrm>
        </p:spPr>
        <p:txBody>
          <a:bodyPr/>
          <a:lstStyle/>
          <a:p>
            <a:pPr>
              <a:spcBef>
                <a:spcPts val="200"/>
              </a:spcBef>
            </a:pPr>
            <a:r>
              <a:rPr lang="en-GB" altLang="en-US" noProof="1">
                <a:latin typeface="+mn-lt"/>
              </a:rPr>
              <a:t>There are three ways of measuring GDP</a:t>
            </a:r>
          </a:p>
          <a:p>
            <a:pPr lvl="1">
              <a:spcBef>
                <a:spcPts val="200"/>
              </a:spcBef>
            </a:pPr>
            <a:r>
              <a:rPr lang="en-GB" altLang="en-US" noProof="1">
                <a:latin typeface="+mn-lt"/>
              </a:rPr>
              <a:t>The incomes which people receive </a:t>
            </a:r>
            <a:r>
              <a:rPr lang="en-GB" altLang="en-US" noProof="1">
                <a:solidFill>
                  <a:schemeClr val="accent6"/>
                </a:solidFill>
                <a:latin typeface="+mn-lt"/>
              </a:rPr>
              <a:t>(income basis)</a:t>
            </a:r>
            <a:endParaRPr lang="en-GB" altLang="en-US" noProof="1">
              <a:latin typeface="+mn-lt"/>
            </a:endParaRPr>
          </a:p>
          <a:p>
            <a:pPr lvl="1">
              <a:spcBef>
                <a:spcPts val="200"/>
              </a:spcBef>
            </a:pPr>
            <a:r>
              <a:rPr lang="en-GB" altLang="en-US" noProof="1">
                <a:latin typeface="+mn-lt"/>
              </a:rPr>
              <a:t>The receipts from the sale of goods and services </a:t>
            </a:r>
            <a:r>
              <a:rPr lang="en-GB" altLang="en-US" noProof="1">
                <a:solidFill>
                  <a:schemeClr val="accent6"/>
                </a:solidFill>
                <a:latin typeface="+mn-lt"/>
              </a:rPr>
              <a:t>(expenditure basis)</a:t>
            </a:r>
            <a:endParaRPr lang="en-GB" altLang="en-US" noProof="1">
              <a:latin typeface="+mn-lt"/>
            </a:endParaRPr>
          </a:p>
          <a:p>
            <a:pPr lvl="1">
              <a:spcBef>
                <a:spcPts val="200"/>
              </a:spcBef>
            </a:pPr>
            <a:r>
              <a:rPr lang="en-GB" altLang="en-US" noProof="1">
                <a:latin typeface="+mn-lt"/>
              </a:rPr>
              <a:t>The value of invoices for goods and services </a:t>
            </a:r>
            <a:r>
              <a:rPr lang="en-GB" altLang="en-US" noProof="1">
                <a:solidFill>
                  <a:schemeClr val="accent6"/>
                </a:solidFill>
                <a:latin typeface="+mn-lt"/>
              </a:rPr>
              <a:t>(production basis)</a:t>
            </a:r>
          </a:p>
          <a:p>
            <a:pPr lvl="1">
              <a:spcBef>
                <a:spcPts val="200"/>
              </a:spcBef>
            </a:pPr>
            <a:endParaRPr lang="en-GB" altLang="en-US" noProof="1">
              <a:latin typeface="+mn-lt"/>
            </a:endParaRPr>
          </a:p>
          <a:p>
            <a:pPr>
              <a:spcBef>
                <a:spcPts val="200"/>
              </a:spcBef>
            </a:pPr>
            <a:r>
              <a:rPr lang="en-GB" altLang="en-US" noProof="1">
                <a:latin typeface="+mn-lt"/>
              </a:rPr>
              <a:t>Show these in a simple circular flow model</a:t>
            </a:r>
          </a:p>
        </p:txBody>
      </p:sp>
    </p:spTree>
    <p:extLst>
      <p:ext uri="{BB962C8B-B14F-4D97-AF65-F5344CB8AC3E}">
        <p14:creationId xmlns:p14="http://schemas.microsoft.com/office/powerpoint/2010/main" val="2579649066"/>
      </p:ext>
    </p:extLst>
  </p:cSld>
  <p:clrMapOvr>
    <a:masterClrMapping/>
  </p:clrMapOvr>
  <p:transition spd="med">
    <p:pull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272" fill="hold" grpId="0" nodeType="clickEffect">
                                  <p:stCondLst>
                                    <p:cond delay="0"/>
                                  </p:stCondLst>
                                  <p:childTnLst>
                                    <p:set>
                                      <p:cBhvr>
                                        <p:cTn id="6" dur="1" fill="hold">
                                          <p:stCondLst>
                                            <p:cond delay="0"/>
                                          </p:stCondLst>
                                        </p:cTn>
                                        <p:tgtEl>
                                          <p:spTgt spid="470020"/>
                                        </p:tgtEl>
                                        <p:attrNameLst>
                                          <p:attrName>style.visibility</p:attrName>
                                        </p:attrNameLst>
                                      </p:cBhvr>
                                      <p:to>
                                        <p:strVal val="visible"/>
                                      </p:to>
                                    </p:set>
                                    <p:anim calcmode="lin" valueType="num">
                                      <p:cBhvr>
                                        <p:cTn id="7" dur="500" fill="hold"/>
                                        <p:tgtEl>
                                          <p:spTgt spid="470020"/>
                                        </p:tgtEl>
                                        <p:attrNameLst>
                                          <p:attrName>ppt_w</p:attrName>
                                        </p:attrNameLst>
                                      </p:cBhvr>
                                      <p:tavLst>
                                        <p:tav tm="0">
                                          <p:val>
                                            <p:strVal val="2/3*#ppt_w"/>
                                          </p:val>
                                        </p:tav>
                                        <p:tav tm="100000">
                                          <p:val>
                                            <p:strVal val="#ppt_w"/>
                                          </p:val>
                                        </p:tav>
                                      </p:tavLst>
                                    </p:anim>
                                    <p:anim calcmode="lin" valueType="num">
                                      <p:cBhvr>
                                        <p:cTn id="8" dur="500" fill="hold"/>
                                        <p:tgtEl>
                                          <p:spTgt spid="470020"/>
                                        </p:tgtEl>
                                        <p:attrNameLst>
                                          <p:attrName>ppt_h</p:attrName>
                                        </p:attrNameLst>
                                      </p:cBhvr>
                                      <p:tavLst>
                                        <p:tav tm="0">
                                          <p:val>
                                            <p:strVal val="2/3*#ppt_h"/>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470021">
                                            <p:txEl>
                                              <p:pRg st="0" end="0"/>
                                            </p:txEl>
                                          </p:spTgt>
                                        </p:tgtEl>
                                        <p:attrNameLst>
                                          <p:attrName>style.visibility</p:attrName>
                                        </p:attrNameLst>
                                      </p:cBhvr>
                                      <p:to>
                                        <p:strVal val="visible"/>
                                      </p:to>
                                    </p:set>
                                    <p:anim calcmode="lin" valueType="num">
                                      <p:cBhvr additive="base">
                                        <p:cTn id="13" dur="500"/>
                                        <p:tgtEl>
                                          <p:spTgt spid="470021">
                                            <p:txEl>
                                              <p:pRg st="0" end="0"/>
                                            </p:txEl>
                                          </p:spTgt>
                                        </p:tgtEl>
                                        <p:attrNameLst>
                                          <p:attrName>ppt_y</p:attrName>
                                        </p:attrNameLst>
                                      </p:cBhvr>
                                      <p:tavLst>
                                        <p:tav tm="0">
                                          <p:val>
                                            <p:strVal val="#ppt_y+#ppt_h*1.125000"/>
                                          </p:val>
                                        </p:tav>
                                        <p:tav tm="100000">
                                          <p:val>
                                            <p:strVal val="#ppt_y"/>
                                          </p:val>
                                        </p:tav>
                                      </p:tavLst>
                                    </p:anim>
                                    <p:animEffect transition="in" filter="wipe(up)">
                                      <p:cBhvr>
                                        <p:cTn id="14" dur="500"/>
                                        <p:tgtEl>
                                          <p:spTgt spid="470021">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grpId="0" nodeType="clickEffect">
                                  <p:stCondLst>
                                    <p:cond delay="0"/>
                                  </p:stCondLst>
                                  <p:childTnLst>
                                    <p:set>
                                      <p:cBhvr>
                                        <p:cTn id="18" dur="1" fill="hold">
                                          <p:stCondLst>
                                            <p:cond delay="0"/>
                                          </p:stCondLst>
                                        </p:cTn>
                                        <p:tgtEl>
                                          <p:spTgt spid="470021">
                                            <p:txEl>
                                              <p:pRg st="1" end="1"/>
                                            </p:txEl>
                                          </p:spTgt>
                                        </p:tgtEl>
                                        <p:attrNameLst>
                                          <p:attrName>style.visibility</p:attrName>
                                        </p:attrNameLst>
                                      </p:cBhvr>
                                      <p:to>
                                        <p:strVal val="visible"/>
                                      </p:to>
                                    </p:set>
                                    <p:anim calcmode="lin" valueType="num">
                                      <p:cBhvr additive="base">
                                        <p:cTn id="19" dur="500"/>
                                        <p:tgtEl>
                                          <p:spTgt spid="470021">
                                            <p:txEl>
                                              <p:pRg st="1" end="1"/>
                                            </p:txEl>
                                          </p:spTgt>
                                        </p:tgtEl>
                                        <p:attrNameLst>
                                          <p:attrName>ppt_y</p:attrName>
                                        </p:attrNameLst>
                                      </p:cBhvr>
                                      <p:tavLst>
                                        <p:tav tm="0">
                                          <p:val>
                                            <p:strVal val="#ppt_y+#ppt_h*1.125000"/>
                                          </p:val>
                                        </p:tav>
                                        <p:tav tm="100000">
                                          <p:val>
                                            <p:strVal val="#ppt_y"/>
                                          </p:val>
                                        </p:tav>
                                      </p:tavLst>
                                    </p:anim>
                                    <p:animEffect transition="in" filter="wipe(up)">
                                      <p:cBhvr>
                                        <p:cTn id="20" dur="500"/>
                                        <p:tgtEl>
                                          <p:spTgt spid="470021">
                                            <p:txEl>
                                              <p:pRg st="1" end="1"/>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4" fill="hold" grpId="0" nodeType="clickEffect">
                                  <p:stCondLst>
                                    <p:cond delay="0"/>
                                  </p:stCondLst>
                                  <p:childTnLst>
                                    <p:set>
                                      <p:cBhvr>
                                        <p:cTn id="24" dur="1" fill="hold">
                                          <p:stCondLst>
                                            <p:cond delay="0"/>
                                          </p:stCondLst>
                                        </p:cTn>
                                        <p:tgtEl>
                                          <p:spTgt spid="470021">
                                            <p:txEl>
                                              <p:pRg st="2" end="2"/>
                                            </p:txEl>
                                          </p:spTgt>
                                        </p:tgtEl>
                                        <p:attrNameLst>
                                          <p:attrName>style.visibility</p:attrName>
                                        </p:attrNameLst>
                                      </p:cBhvr>
                                      <p:to>
                                        <p:strVal val="visible"/>
                                      </p:to>
                                    </p:set>
                                    <p:anim calcmode="lin" valueType="num">
                                      <p:cBhvr additive="base">
                                        <p:cTn id="25" dur="500"/>
                                        <p:tgtEl>
                                          <p:spTgt spid="470021">
                                            <p:txEl>
                                              <p:pRg st="2" end="2"/>
                                            </p:txEl>
                                          </p:spTgt>
                                        </p:tgtEl>
                                        <p:attrNameLst>
                                          <p:attrName>ppt_y</p:attrName>
                                        </p:attrNameLst>
                                      </p:cBhvr>
                                      <p:tavLst>
                                        <p:tav tm="0">
                                          <p:val>
                                            <p:strVal val="#ppt_y+#ppt_h*1.125000"/>
                                          </p:val>
                                        </p:tav>
                                        <p:tav tm="100000">
                                          <p:val>
                                            <p:strVal val="#ppt_y"/>
                                          </p:val>
                                        </p:tav>
                                      </p:tavLst>
                                    </p:anim>
                                    <p:animEffect transition="in" filter="wipe(up)">
                                      <p:cBhvr>
                                        <p:cTn id="26" dur="500"/>
                                        <p:tgtEl>
                                          <p:spTgt spid="470021">
                                            <p:txEl>
                                              <p:pRg st="2" end="2"/>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2" presetClass="entr" presetSubtype="4" fill="hold" grpId="0" nodeType="clickEffect">
                                  <p:stCondLst>
                                    <p:cond delay="0"/>
                                  </p:stCondLst>
                                  <p:childTnLst>
                                    <p:set>
                                      <p:cBhvr>
                                        <p:cTn id="30" dur="1" fill="hold">
                                          <p:stCondLst>
                                            <p:cond delay="0"/>
                                          </p:stCondLst>
                                        </p:cTn>
                                        <p:tgtEl>
                                          <p:spTgt spid="470021">
                                            <p:txEl>
                                              <p:pRg st="3" end="3"/>
                                            </p:txEl>
                                          </p:spTgt>
                                        </p:tgtEl>
                                        <p:attrNameLst>
                                          <p:attrName>style.visibility</p:attrName>
                                        </p:attrNameLst>
                                      </p:cBhvr>
                                      <p:to>
                                        <p:strVal val="visible"/>
                                      </p:to>
                                    </p:set>
                                    <p:anim calcmode="lin" valueType="num">
                                      <p:cBhvr additive="base">
                                        <p:cTn id="31" dur="500"/>
                                        <p:tgtEl>
                                          <p:spTgt spid="470021">
                                            <p:txEl>
                                              <p:pRg st="3" end="3"/>
                                            </p:txEl>
                                          </p:spTgt>
                                        </p:tgtEl>
                                        <p:attrNameLst>
                                          <p:attrName>ppt_y</p:attrName>
                                        </p:attrNameLst>
                                      </p:cBhvr>
                                      <p:tavLst>
                                        <p:tav tm="0">
                                          <p:val>
                                            <p:strVal val="#ppt_y+#ppt_h*1.125000"/>
                                          </p:val>
                                        </p:tav>
                                        <p:tav tm="100000">
                                          <p:val>
                                            <p:strVal val="#ppt_y"/>
                                          </p:val>
                                        </p:tav>
                                      </p:tavLst>
                                    </p:anim>
                                    <p:animEffect transition="in" filter="wipe(up)">
                                      <p:cBhvr>
                                        <p:cTn id="32" dur="500"/>
                                        <p:tgtEl>
                                          <p:spTgt spid="470021">
                                            <p:txEl>
                                              <p:pRg st="3" end="3"/>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4" fill="hold" grpId="0" nodeType="clickEffect">
                                  <p:stCondLst>
                                    <p:cond delay="0"/>
                                  </p:stCondLst>
                                  <p:childTnLst>
                                    <p:set>
                                      <p:cBhvr>
                                        <p:cTn id="36" dur="1" fill="hold">
                                          <p:stCondLst>
                                            <p:cond delay="0"/>
                                          </p:stCondLst>
                                        </p:cTn>
                                        <p:tgtEl>
                                          <p:spTgt spid="470021">
                                            <p:txEl>
                                              <p:pRg st="5" end="5"/>
                                            </p:txEl>
                                          </p:spTgt>
                                        </p:tgtEl>
                                        <p:attrNameLst>
                                          <p:attrName>style.visibility</p:attrName>
                                        </p:attrNameLst>
                                      </p:cBhvr>
                                      <p:to>
                                        <p:strVal val="visible"/>
                                      </p:to>
                                    </p:set>
                                    <p:anim calcmode="lin" valueType="num">
                                      <p:cBhvr additive="base">
                                        <p:cTn id="37" dur="500"/>
                                        <p:tgtEl>
                                          <p:spTgt spid="470021">
                                            <p:txEl>
                                              <p:pRg st="5" end="5"/>
                                            </p:txEl>
                                          </p:spTgt>
                                        </p:tgtEl>
                                        <p:attrNameLst>
                                          <p:attrName>ppt_y</p:attrName>
                                        </p:attrNameLst>
                                      </p:cBhvr>
                                      <p:tavLst>
                                        <p:tav tm="0">
                                          <p:val>
                                            <p:strVal val="#ppt_y+#ppt_h*1.125000"/>
                                          </p:val>
                                        </p:tav>
                                        <p:tav tm="100000">
                                          <p:val>
                                            <p:strVal val="#ppt_y"/>
                                          </p:val>
                                        </p:tav>
                                      </p:tavLst>
                                    </p:anim>
                                    <p:animEffect transition="in" filter="wipe(up)">
                                      <p:cBhvr>
                                        <p:cTn id="38" dur="500"/>
                                        <p:tgtEl>
                                          <p:spTgt spid="470021">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0020" grpId="0" autoUpdateAnimBg="0"/>
      <p:bldP spid="470021" grpId="0" build="p" bldLvl="3" autoUpdateAnimBg="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4AEEB4D8-8FF1-4528-8E93-32E336C5612F}"/>
              </a:ext>
            </a:extLst>
          </p:cNvPr>
          <p:cNvSpPr>
            <a:spLocks noChangeArrowheads="1"/>
          </p:cNvSpPr>
          <p:nvPr/>
        </p:nvSpPr>
        <p:spPr bwMode="auto">
          <a:xfrm>
            <a:off x="828119" y="5908708"/>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0963" name="Rectangle 3">
            <a:extLst>
              <a:ext uri="{FF2B5EF4-FFF2-40B4-BE49-F238E27FC236}">
                <a16:creationId xmlns:a16="http://schemas.microsoft.com/office/drawing/2014/main" id="{F1B1807C-3F34-4B03-9B6F-4B204717947A}"/>
              </a:ext>
            </a:extLst>
          </p:cNvPr>
          <p:cNvSpPr>
            <a:spLocks noChangeArrowheads="1"/>
          </p:cNvSpPr>
          <p:nvPr/>
        </p:nvSpPr>
        <p:spPr bwMode="auto">
          <a:xfrm>
            <a:off x="1" y="0"/>
            <a:ext cx="12191999" cy="569708"/>
          </a:xfrm>
          <a:prstGeom prst="rect">
            <a:avLst/>
          </a:prstGeom>
          <a:noFill/>
          <a:ln>
            <a:noFill/>
          </a:ln>
          <a:effectLst>
            <a:outerShdw dist="17961" dir="2700000" algn="ctr" rotWithShape="0">
              <a:schemeClr val="tx1"/>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lIns="92075" tIns="91440" rIns="92075" bIns="46038">
            <a:spAutoFit/>
          </a:bodyPr>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GB" altLang="en-US" sz="2800" b="1">
                <a:solidFill>
                  <a:srgbClr val="663300"/>
                </a:solidFill>
                <a:latin typeface="Arial" panose="020B0604020202020204" pitchFamily="34" charset="0"/>
              </a:rPr>
              <a:t>The circular flow of national income and expenditure</a:t>
            </a:r>
          </a:p>
        </p:txBody>
      </p:sp>
      <p:sp>
        <p:nvSpPr>
          <p:cNvPr id="40964" name="Rectangle 4">
            <a:extLst>
              <a:ext uri="{FF2B5EF4-FFF2-40B4-BE49-F238E27FC236}">
                <a16:creationId xmlns:a16="http://schemas.microsoft.com/office/drawing/2014/main" id="{3856A15D-3728-4AA9-9E51-2C9836E6D36B}"/>
              </a:ext>
            </a:extLst>
          </p:cNvPr>
          <p:cNvSpPr>
            <a:spLocks noChangeArrowheads="1"/>
          </p:cNvSpPr>
          <p:nvPr/>
        </p:nvSpPr>
        <p:spPr bwMode="auto">
          <a:xfrm>
            <a:off x="5659480" y="1724062"/>
            <a:ext cx="2269852" cy="462307"/>
          </a:xfrm>
          <a:prstGeom prst="rect">
            <a:avLst/>
          </a:prstGeom>
          <a:noFill/>
          <a:ln>
            <a:noFill/>
          </a:ln>
          <a:effectLst>
            <a:outerShdw dist="12700" dir="2700000" algn="ctr" rotWithShape="0">
              <a:schemeClr val="tx1"/>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92075" tIns="46038" rIns="92075" bIns="46038">
            <a:spAutoFit/>
          </a:bodyPr>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GB" altLang="en-US" b="1" dirty="0">
                <a:solidFill>
                  <a:srgbClr val="006600"/>
                </a:solidFill>
                <a:latin typeface="Arial" panose="020B0604020202020204" pitchFamily="34" charset="0"/>
              </a:rPr>
              <a:t>(1) Production</a:t>
            </a:r>
          </a:p>
        </p:txBody>
      </p:sp>
      <p:sp>
        <p:nvSpPr>
          <p:cNvPr id="40965" name="Arc 5">
            <a:extLst>
              <a:ext uri="{FF2B5EF4-FFF2-40B4-BE49-F238E27FC236}">
                <a16:creationId xmlns:a16="http://schemas.microsoft.com/office/drawing/2014/main" id="{33AB25B3-BACD-4656-B01E-6AB32B6EFD5B}"/>
              </a:ext>
            </a:extLst>
          </p:cNvPr>
          <p:cNvSpPr>
            <a:spLocks/>
          </p:cNvSpPr>
          <p:nvPr/>
        </p:nvSpPr>
        <p:spPr bwMode="auto">
          <a:xfrm>
            <a:off x="2023507" y="2432083"/>
            <a:ext cx="1428750" cy="3589338"/>
          </a:xfrm>
          <a:custGeom>
            <a:avLst/>
            <a:gdLst>
              <a:gd name="G0" fmla="+- 21600 0 0"/>
              <a:gd name="G1" fmla="+- 21510 0 0"/>
              <a:gd name="G2" fmla="+- 21600 0 0"/>
              <a:gd name="T0" fmla="*/ 21384 w 21600"/>
              <a:gd name="T1" fmla="*/ 43109 h 43109"/>
              <a:gd name="T2" fmla="*/ 19633 w 21600"/>
              <a:gd name="T3" fmla="*/ 0 h 43109"/>
              <a:gd name="T4" fmla="*/ 21600 w 21600"/>
              <a:gd name="T5" fmla="*/ 21510 h 43109"/>
            </a:gdLst>
            <a:ahLst/>
            <a:cxnLst>
              <a:cxn ang="0">
                <a:pos x="T0" y="T1"/>
              </a:cxn>
              <a:cxn ang="0">
                <a:pos x="T2" y="T3"/>
              </a:cxn>
              <a:cxn ang="0">
                <a:pos x="T4" y="T5"/>
              </a:cxn>
            </a:cxnLst>
            <a:rect l="0" t="0" r="r" b="b"/>
            <a:pathLst>
              <a:path w="21600" h="43109" fill="none" extrusionOk="0">
                <a:moveTo>
                  <a:pt x="21384" y="43108"/>
                </a:moveTo>
                <a:cubicBezTo>
                  <a:pt x="9539" y="42990"/>
                  <a:pt x="0" y="33355"/>
                  <a:pt x="0" y="21510"/>
                </a:cubicBezTo>
                <a:cubicBezTo>
                  <a:pt x="0" y="10342"/>
                  <a:pt x="8512" y="1016"/>
                  <a:pt x="19632" y="-1"/>
                </a:cubicBezTo>
              </a:path>
              <a:path w="21600" h="43109" stroke="0" extrusionOk="0">
                <a:moveTo>
                  <a:pt x="21384" y="43108"/>
                </a:moveTo>
                <a:cubicBezTo>
                  <a:pt x="9539" y="42990"/>
                  <a:pt x="0" y="33355"/>
                  <a:pt x="0" y="21510"/>
                </a:cubicBezTo>
                <a:cubicBezTo>
                  <a:pt x="0" y="10342"/>
                  <a:pt x="8512" y="1016"/>
                  <a:pt x="19632" y="-1"/>
                </a:cubicBezTo>
                <a:lnTo>
                  <a:pt x="21600" y="21510"/>
                </a:lnTo>
                <a:close/>
              </a:path>
            </a:pathLst>
          </a:custGeom>
          <a:noFill/>
          <a:ln w="38100" cap="rnd">
            <a:solidFill>
              <a:schemeClr val="tx2"/>
            </a:solidFill>
            <a:round/>
            <a:headEnd type="stealth" w="med" len="lg"/>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0966" name="Rectangle 6">
            <a:extLst>
              <a:ext uri="{FF2B5EF4-FFF2-40B4-BE49-F238E27FC236}">
                <a16:creationId xmlns:a16="http://schemas.microsoft.com/office/drawing/2014/main" id="{02D2294B-4A43-42D7-A552-46341CF9CDD2}"/>
              </a:ext>
            </a:extLst>
          </p:cNvPr>
          <p:cNvSpPr>
            <a:spLocks noChangeArrowheads="1"/>
          </p:cNvSpPr>
          <p:nvPr/>
        </p:nvSpPr>
        <p:spPr bwMode="auto">
          <a:xfrm>
            <a:off x="2023507" y="3901975"/>
            <a:ext cx="1896353" cy="462307"/>
          </a:xfrm>
          <a:prstGeom prst="rect">
            <a:avLst/>
          </a:prstGeom>
          <a:noFill/>
          <a:ln>
            <a:noFill/>
          </a:ln>
          <a:effectLst>
            <a:outerShdw dist="12700" dir="2700000" algn="ctr" rotWithShape="0">
              <a:schemeClr val="tx1"/>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92075" tIns="46038" rIns="92075" bIns="46038">
            <a:spAutoFit/>
          </a:bodyPr>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GB" altLang="en-US" b="1" dirty="0">
                <a:solidFill>
                  <a:schemeClr val="accent1"/>
                </a:solidFill>
                <a:latin typeface="Arial" panose="020B0604020202020204" pitchFamily="34" charset="0"/>
              </a:rPr>
              <a:t>(2) Incomes</a:t>
            </a:r>
          </a:p>
        </p:txBody>
      </p:sp>
      <p:sp>
        <p:nvSpPr>
          <p:cNvPr id="40967" name="Arc 7">
            <a:extLst>
              <a:ext uri="{FF2B5EF4-FFF2-40B4-BE49-F238E27FC236}">
                <a16:creationId xmlns:a16="http://schemas.microsoft.com/office/drawing/2014/main" id="{95CFBA41-27E4-42C7-B00F-9AF3987AC2AD}"/>
              </a:ext>
            </a:extLst>
          </p:cNvPr>
          <p:cNvSpPr>
            <a:spLocks/>
          </p:cNvSpPr>
          <p:nvPr/>
        </p:nvSpPr>
        <p:spPr bwMode="auto">
          <a:xfrm>
            <a:off x="5244545" y="2414621"/>
            <a:ext cx="1679575" cy="3632200"/>
          </a:xfrm>
          <a:custGeom>
            <a:avLst/>
            <a:gdLst>
              <a:gd name="G0" fmla="+- 0 0 0"/>
              <a:gd name="G1" fmla="+- 21441 0 0"/>
              <a:gd name="G2" fmla="+- 21600 0 0"/>
              <a:gd name="T0" fmla="*/ 2612 w 21600"/>
              <a:gd name="T1" fmla="*/ 0 h 42817"/>
              <a:gd name="T2" fmla="*/ 3106 w 21600"/>
              <a:gd name="T3" fmla="*/ 42817 h 42817"/>
              <a:gd name="T4" fmla="*/ 0 w 21600"/>
              <a:gd name="T5" fmla="*/ 21441 h 42817"/>
            </a:gdLst>
            <a:ahLst/>
            <a:cxnLst>
              <a:cxn ang="0">
                <a:pos x="T0" y="T1"/>
              </a:cxn>
              <a:cxn ang="0">
                <a:pos x="T2" y="T3"/>
              </a:cxn>
              <a:cxn ang="0">
                <a:pos x="T4" y="T5"/>
              </a:cxn>
            </a:cxnLst>
            <a:rect l="0" t="0" r="r" b="b"/>
            <a:pathLst>
              <a:path w="21600" h="42817" fill="none" extrusionOk="0">
                <a:moveTo>
                  <a:pt x="2612" y="-1"/>
                </a:moveTo>
                <a:cubicBezTo>
                  <a:pt x="13451" y="1319"/>
                  <a:pt x="21600" y="10521"/>
                  <a:pt x="21600" y="21441"/>
                </a:cubicBezTo>
                <a:cubicBezTo>
                  <a:pt x="21600" y="32170"/>
                  <a:pt x="13724" y="41273"/>
                  <a:pt x="3105" y="42816"/>
                </a:cubicBezTo>
              </a:path>
              <a:path w="21600" h="42817" stroke="0" extrusionOk="0">
                <a:moveTo>
                  <a:pt x="2612" y="-1"/>
                </a:moveTo>
                <a:cubicBezTo>
                  <a:pt x="13451" y="1319"/>
                  <a:pt x="21600" y="10521"/>
                  <a:pt x="21600" y="21441"/>
                </a:cubicBezTo>
                <a:cubicBezTo>
                  <a:pt x="21600" y="32170"/>
                  <a:pt x="13724" y="41273"/>
                  <a:pt x="3105" y="42816"/>
                </a:cubicBezTo>
                <a:lnTo>
                  <a:pt x="0" y="21441"/>
                </a:lnTo>
                <a:close/>
              </a:path>
            </a:pathLst>
          </a:custGeom>
          <a:noFill/>
          <a:ln w="38100" cap="rnd">
            <a:solidFill>
              <a:schemeClr val="tx2"/>
            </a:solidFill>
            <a:round/>
            <a:headEnd type="stealth" w="med" len="lg"/>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0968" name="Rectangle 8">
            <a:extLst>
              <a:ext uri="{FF2B5EF4-FFF2-40B4-BE49-F238E27FC236}">
                <a16:creationId xmlns:a16="http://schemas.microsoft.com/office/drawing/2014/main" id="{E66AF259-B217-4B6F-8BF2-1C0C4AE0D1AC}"/>
              </a:ext>
            </a:extLst>
          </p:cNvPr>
          <p:cNvSpPr>
            <a:spLocks noChangeArrowheads="1"/>
          </p:cNvSpPr>
          <p:nvPr/>
        </p:nvSpPr>
        <p:spPr bwMode="auto">
          <a:xfrm>
            <a:off x="4507746" y="3891308"/>
            <a:ext cx="2425344" cy="462307"/>
          </a:xfrm>
          <a:prstGeom prst="rect">
            <a:avLst/>
          </a:prstGeom>
          <a:noFill/>
          <a:ln>
            <a:noFill/>
          </a:ln>
          <a:effectLst>
            <a:outerShdw dist="12700" dir="2700000" algn="ctr" rotWithShape="0">
              <a:schemeClr val="tx1"/>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92075" tIns="46038" rIns="92075" bIns="46038">
            <a:spAutoFit/>
          </a:bodyPr>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r>
              <a:rPr lang="en-GB" altLang="en-US" b="1" dirty="0">
                <a:solidFill>
                  <a:schemeClr val="accent2"/>
                </a:solidFill>
                <a:latin typeface="Arial" panose="020B0604020202020204" pitchFamily="34" charset="0"/>
              </a:rPr>
              <a:t>(3) Expenditure</a:t>
            </a:r>
          </a:p>
        </p:txBody>
      </p:sp>
      <p:graphicFrame>
        <p:nvGraphicFramePr>
          <p:cNvPr id="40969" name="Object 9">
            <a:extLst>
              <a:ext uri="{FF2B5EF4-FFF2-40B4-BE49-F238E27FC236}">
                <a16:creationId xmlns:a16="http://schemas.microsoft.com/office/drawing/2014/main" id="{D4D8FD71-29D2-4C65-B436-BB5655D38A86}"/>
              </a:ext>
            </a:extLst>
          </p:cNvPr>
          <p:cNvGraphicFramePr>
            <a:graphicFrameLocks noChangeAspect="1"/>
          </p:cNvGraphicFramePr>
          <p:nvPr/>
        </p:nvGraphicFramePr>
        <p:xfrm>
          <a:off x="3265205" y="992799"/>
          <a:ext cx="2269852" cy="1728500"/>
        </p:xfrm>
        <a:graphic>
          <a:graphicData uri="http://schemas.openxmlformats.org/presentationml/2006/ole">
            <mc:AlternateContent xmlns:mc="http://schemas.openxmlformats.org/markup-compatibility/2006">
              <mc:Choice xmlns:v="urn:schemas-microsoft-com:vml" Requires="v">
                <p:oleObj name="Clip" r:id="rId3" imgW="5905440" imgH="3697560" progId="MS_ClipArt_Gallery.2">
                  <p:embed/>
                </p:oleObj>
              </mc:Choice>
              <mc:Fallback>
                <p:oleObj name="Clip" r:id="rId3" imgW="5905440" imgH="3697560" progId="MS_ClipArt_Gallery.2">
                  <p:embed/>
                  <p:pic>
                    <p:nvPicPr>
                      <p:cNvPr id="40969" name="Object 9">
                        <a:extLst>
                          <a:ext uri="{FF2B5EF4-FFF2-40B4-BE49-F238E27FC236}">
                            <a16:creationId xmlns:a16="http://schemas.microsoft.com/office/drawing/2014/main" id="{D4D8FD71-29D2-4C65-B436-BB5655D38A8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65205" y="992799"/>
                        <a:ext cx="2269852" cy="1728500"/>
                      </a:xfrm>
                      <a:prstGeom prst="rect">
                        <a:avLst/>
                      </a:prstGeom>
                      <a:noFill/>
                      <a:ln>
                        <a:noFill/>
                      </a:ln>
                      <a:effectLst/>
                    </p:spPr>
                  </p:pic>
                </p:oleObj>
              </mc:Fallback>
            </mc:AlternateContent>
          </a:graphicData>
        </a:graphic>
      </p:graphicFrame>
      <p:graphicFrame>
        <p:nvGraphicFramePr>
          <p:cNvPr id="40970" name="Object 10">
            <a:extLst>
              <a:ext uri="{FF2B5EF4-FFF2-40B4-BE49-F238E27FC236}">
                <a16:creationId xmlns:a16="http://schemas.microsoft.com/office/drawing/2014/main" id="{9439B0E4-7A92-428B-A4C0-C1A1C40D5092}"/>
              </a:ext>
            </a:extLst>
          </p:cNvPr>
          <p:cNvGraphicFramePr>
            <a:graphicFrameLocks noChangeAspect="1"/>
          </p:cNvGraphicFramePr>
          <p:nvPr/>
        </p:nvGraphicFramePr>
        <p:xfrm>
          <a:off x="3457809" y="5095787"/>
          <a:ext cx="2162187" cy="1893680"/>
        </p:xfrm>
        <a:graphic>
          <a:graphicData uri="http://schemas.openxmlformats.org/presentationml/2006/ole">
            <mc:AlternateContent xmlns:mc="http://schemas.openxmlformats.org/markup-compatibility/2006">
              <mc:Choice xmlns:v="urn:schemas-microsoft-com:vml" Requires="v">
                <p:oleObj name="Clip" r:id="rId5" imgW="1107720" imgH="1631880" progId="MS_ClipArt_Gallery.2">
                  <p:embed/>
                </p:oleObj>
              </mc:Choice>
              <mc:Fallback>
                <p:oleObj name="Clip" r:id="rId5" imgW="1107720" imgH="1631880" progId="MS_ClipArt_Gallery.2">
                  <p:embed/>
                  <p:pic>
                    <p:nvPicPr>
                      <p:cNvPr id="40970" name="Object 10">
                        <a:extLst>
                          <a:ext uri="{FF2B5EF4-FFF2-40B4-BE49-F238E27FC236}">
                            <a16:creationId xmlns:a16="http://schemas.microsoft.com/office/drawing/2014/main" id="{9439B0E4-7A92-428B-A4C0-C1A1C40D509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t="7588" r="3009" b="17120"/>
                      <a:stretch>
                        <a:fillRect/>
                      </a:stretch>
                    </p:blipFill>
                    <p:spPr bwMode="auto">
                      <a:xfrm>
                        <a:off x="3457809" y="5095787"/>
                        <a:ext cx="2162187" cy="1893680"/>
                      </a:xfrm>
                      <a:prstGeom prst="rect">
                        <a:avLst/>
                      </a:prstGeom>
                      <a:noFill/>
                      <a:ln>
                        <a:noFill/>
                      </a:ln>
                      <a:effectLst/>
                    </p:spPr>
                  </p:pic>
                </p:oleObj>
              </mc:Fallback>
            </mc:AlternateContent>
          </a:graphicData>
        </a:graphic>
      </p:graphicFrame>
      <p:sp>
        <p:nvSpPr>
          <p:cNvPr id="3" name="Arc 5">
            <a:extLst>
              <a:ext uri="{FF2B5EF4-FFF2-40B4-BE49-F238E27FC236}">
                <a16:creationId xmlns:a16="http://schemas.microsoft.com/office/drawing/2014/main" id="{CCC308E0-ACDC-B93B-49A8-0F3DC8673689}"/>
              </a:ext>
            </a:extLst>
          </p:cNvPr>
          <p:cNvSpPr>
            <a:spLocks noChangeAspect="1"/>
          </p:cNvSpPr>
          <p:nvPr/>
        </p:nvSpPr>
        <p:spPr bwMode="auto">
          <a:xfrm flipV="1">
            <a:off x="1910863" y="2137299"/>
            <a:ext cx="1640246" cy="4120663"/>
          </a:xfrm>
          <a:custGeom>
            <a:avLst/>
            <a:gdLst>
              <a:gd name="G0" fmla="+- 21600 0 0"/>
              <a:gd name="G1" fmla="+- 21510 0 0"/>
              <a:gd name="G2" fmla="+- 21600 0 0"/>
              <a:gd name="T0" fmla="*/ 21384 w 21600"/>
              <a:gd name="T1" fmla="*/ 43109 h 43109"/>
              <a:gd name="T2" fmla="*/ 19633 w 21600"/>
              <a:gd name="T3" fmla="*/ 0 h 43109"/>
              <a:gd name="T4" fmla="*/ 21600 w 21600"/>
              <a:gd name="T5" fmla="*/ 21510 h 43109"/>
            </a:gdLst>
            <a:ahLst/>
            <a:cxnLst>
              <a:cxn ang="0">
                <a:pos x="T0" y="T1"/>
              </a:cxn>
              <a:cxn ang="0">
                <a:pos x="T2" y="T3"/>
              </a:cxn>
              <a:cxn ang="0">
                <a:pos x="T4" y="T5"/>
              </a:cxn>
            </a:cxnLst>
            <a:rect l="0" t="0" r="r" b="b"/>
            <a:pathLst>
              <a:path w="21600" h="43109" fill="none" extrusionOk="0">
                <a:moveTo>
                  <a:pt x="21384" y="43108"/>
                </a:moveTo>
                <a:cubicBezTo>
                  <a:pt x="9539" y="42990"/>
                  <a:pt x="0" y="33355"/>
                  <a:pt x="0" y="21510"/>
                </a:cubicBezTo>
                <a:cubicBezTo>
                  <a:pt x="0" y="10342"/>
                  <a:pt x="8512" y="1016"/>
                  <a:pt x="19632" y="-1"/>
                </a:cubicBezTo>
              </a:path>
              <a:path w="21600" h="43109" stroke="0" extrusionOk="0">
                <a:moveTo>
                  <a:pt x="21384" y="43108"/>
                </a:moveTo>
                <a:cubicBezTo>
                  <a:pt x="9539" y="42990"/>
                  <a:pt x="0" y="33355"/>
                  <a:pt x="0" y="21510"/>
                </a:cubicBezTo>
                <a:cubicBezTo>
                  <a:pt x="0" y="10342"/>
                  <a:pt x="8512" y="1016"/>
                  <a:pt x="19632" y="-1"/>
                </a:cubicBezTo>
                <a:lnTo>
                  <a:pt x="21600" y="21510"/>
                </a:lnTo>
                <a:close/>
              </a:path>
            </a:pathLst>
          </a:custGeom>
          <a:noFill/>
          <a:ln w="38100" cap="rnd">
            <a:solidFill>
              <a:schemeClr val="accent2"/>
            </a:solidFill>
            <a:round/>
            <a:headEnd type="stealth" w="med" len="lg"/>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 name="Arc 7">
            <a:extLst>
              <a:ext uri="{FF2B5EF4-FFF2-40B4-BE49-F238E27FC236}">
                <a16:creationId xmlns:a16="http://schemas.microsoft.com/office/drawing/2014/main" id="{DD2AA4B4-9045-248E-3C3C-90F90698DDCD}"/>
              </a:ext>
            </a:extLst>
          </p:cNvPr>
          <p:cNvSpPr>
            <a:spLocks noChangeAspect="1"/>
          </p:cNvSpPr>
          <p:nvPr/>
        </p:nvSpPr>
        <p:spPr bwMode="auto">
          <a:xfrm flipV="1">
            <a:off x="5131900" y="2119837"/>
            <a:ext cx="1928200" cy="4169870"/>
          </a:xfrm>
          <a:custGeom>
            <a:avLst/>
            <a:gdLst>
              <a:gd name="G0" fmla="+- 0 0 0"/>
              <a:gd name="G1" fmla="+- 21441 0 0"/>
              <a:gd name="G2" fmla="+- 21600 0 0"/>
              <a:gd name="T0" fmla="*/ 2612 w 21600"/>
              <a:gd name="T1" fmla="*/ 0 h 42817"/>
              <a:gd name="T2" fmla="*/ 3106 w 21600"/>
              <a:gd name="T3" fmla="*/ 42817 h 42817"/>
              <a:gd name="T4" fmla="*/ 0 w 21600"/>
              <a:gd name="T5" fmla="*/ 21441 h 42817"/>
            </a:gdLst>
            <a:ahLst/>
            <a:cxnLst>
              <a:cxn ang="0">
                <a:pos x="T0" y="T1"/>
              </a:cxn>
              <a:cxn ang="0">
                <a:pos x="T2" y="T3"/>
              </a:cxn>
              <a:cxn ang="0">
                <a:pos x="T4" y="T5"/>
              </a:cxn>
            </a:cxnLst>
            <a:rect l="0" t="0" r="r" b="b"/>
            <a:pathLst>
              <a:path w="21600" h="42817" fill="none" extrusionOk="0">
                <a:moveTo>
                  <a:pt x="2612" y="-1"/>
                </a:moveTo>
                <a:cubicBezTo>
                  <a:pt x="13451" y="1319"/>
                  <a:pt x="21600" y="10521"/>
                  <a:pt x="21600" y="21441"/>
                </a:cubicBezTo>
                <a:cubicBezTo>
                  <a:pt x="21600" y="32170"/>
                  <a:pt x="13724" y="41273"/>
                  <a:pt x="3105" y="42816"/>
                </a:cubicBezTo>
              </a:path>
              <a:path w="21600" h="42817" stroke="0" extrusionOk="0">
                <a:moveTo>
                  <a:pt x="2612" y="-1"/>
                </a:moveTo>
                <a:cubicBezTo>
                  <a:pt x="13451" y="1319"/>
                  <a:pt x="21600" y="10521"/>
                  <a:pt x="21600" y="21441"/>
                </a:cubicBezTo>
                <a:cubicBezTo>
                  <a:pt x="21600" y="32170"/>
                  <a:pt x="13724" y="41273"/>
                  <a:pt x="3105" y="42816"/>
                </a:cubicBezTo>
                <a:lnTo>
                  <a:pt x="0" y="21441"/>
                </a:lnTo>
                <a:close/>
              </a:path>
            </a:pathLst>
          </a:custGeom>
          <a:noFill/>
          <a:ln w="38100" cap="rnd">
            <a:solidFill>
              <a:schemeClr val="accent2"/>
            </a:solidFill>
            <a:round/>
            <a:headEnd type="stealth" w="med" len="lg"/>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cxnSp>
        <p:nvCxnSpPr>
          <p:cNvPr id="6" name="Straight Connector 5">
            <a:extLst>
              <a:ext uri="{FF2B5EF4-FFF2-40B4-BE49-F238E27FC236}">
                <a16:creationId xmlns:a16="http://schemas.microsoft.com/office/drawing/2014/main" id="{8E4E94B2-5B47-DC37-5171-5A5BFB583F91}"/>
              </a:ext>
            </a:extLst>
          </p:cNvPr>
          <p:cNvCxnSpPr/>
          <p:nvPr/>
        </p:nvCxnSpPr>
        <p:spPr>
          <a:xfrm>
            <a:off x="7563536" y="3075150"/>
            <a:ext cx="708604"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176F5897-9886-FA10-BC82-1536CAA7A5A3}"/>
              </a:ext>
            </a:extLst>
          </p:cNvPr>
          <p:cNvCxnSpPr/>
          <p:nvPr/>
        </p:nvCxnSpPr>
        <p:spPr>
          <a:xfrm>
            <a:off x="7575030" y="3545602"/>
            <a:ext cx="708604" cy="0"/>
          </a:xfrm>
          <a:prstGeom prst="line">
            <a:avLst/>
          </a:prstGeom>
          <a:ln w="38100">
            <a:solidFill>
              <a:schemeClr val="tx2"/>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114E9198-61DA-8F7B-A1BB-F0C2C927206D}"/>
              </a:ext>
            </a:extLst>
          </p:cNvPr>
          <p:cNvSpPr txBox="1"/>
          <p:nvPr/>
        </p:nvSpPr>
        <p:spPr>
          <a:xfrm>
            <a:off x="8283634" y="2844317"/>
            <a:ext cx="2752677" cy="461665"/>
          </a:xfrm>
          <a:prstGeom prst="rect">
            <a:avLst/>
          </a:prstGeom>
          <a:noFill/>
        </p:spPr>
        <p:txBody>
          <a:bodyPr wrap="none" rtlCol="0">
            <a:spAutoFit/>
          </a:bodyPr>
          <a:lstStyle/>
          <a:p>
            <a:r>
              <a:rPr lang="en-GB" dirty="0">
                <a:solidFill>
                  <a:schemeClr val="accent2"/>
                </a:solidFill>
                <a:latin typeface="+mj-lt"/>
              </a:rPr>
              <a:t>Good and services</a:t>
            </a:r>
          </a:p>
        </p:txBody>
      </p:sp>
      <p:sp>
        <p:nvSpPr>
          <p:cNvPr id="9" name="TextBox 8">
            <a:extLst>
              <a:ext uri="{FF2B5EF4-FFF2-40B4-BE49-F238E27FC236}">
                <a16:creationId xmlns:a16="http://schemas.microsoft.com/office/drawing/2014/main" id="{8D1C07DB-D849-9643-BB5D-BA0223AC3876}"/>
              </a:ext>
            </a:extLst>
          </p:cNvPr>
          <p:cNvSpPr txBox="1"/>
          <p:nvPr/>
        </p:nvSpPr>
        <p:spPr>
          <a:xfrm>
            <a:off x="8295128" y="3305982"/>
            <a:ext cx="1109599" cy="461665"/>
          </a:xfrm>
          <a:prstGeom prst="rect">
            <a:avLst/>
          </a:prstGeom>
          <a:noFill/>
        </p:spPr>
        <p:txBody>
          <a:bodyPr wrap="none" rtlCol="0">
            <a:spAutoFit/>
          </a:bodyPr>
          <a:lstStyle/>
          <a:p>
            <a:r>
              <a:rPr lang="en-GB" dirty="0">
                <a:solidFill>
                  <a:schemeClr val="tx2"/>
                </a:solidFill>
                <a:latin typeface="+mj-lt"/>
              </a:rPr>
              <a:t>Money</a:t>
            </a:r>
          </a:p>
        </p:txBody>
      </p:sp>
    </p:spTree>
    <p:extLst>
      <p:ext uri="{BB962C8B-B14F-4D97-AF65-F5344CB8AC3E}">
        <p14:creationId xmlns:p14="http://schemas.microsoft.com/office/powerpoint/2010/main" val="1560062626"/>
      </p:ext>
    </p:extLst>
  </p:cSld>
  <p:clrMapOvr>
    <a:masterClrMapping/>
  </p:clrMapOvr>
  <p:transition spd="med">
    <p:pull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7" presetClass="entr" presetSubtype="10" fill="hold" grpId="0" nodeType="clickEffect">
                                  <p:stCondLst>
                                    <p:cond delay="0"/>
                                  </p:stCondLst>
                                  <p:childTnLst>
                                    <p:set>
                                      <p:cBhvr>
                                        <p:cTn id="6" dur="1" fill="hold">
                                          <p:stCondLst>
                                            <p:cond delay="0"/>
                                          </p:stCondLst>
                                        </p:cTn>
                                        <p:tgtEl>
                                          <p:spTgt spid="40964"/>
                                        </p:tgtEl>
                                        <p:attrNameLst>
                                          <p:attrName>style.visibility</p:attrName>
                                        </p:attrNameLst>
                                      </p:cBhvr>
                                      <p:to>
                                        <p:strVal val="visible"/>
                                      </p:to>
                                    </p:set>
                                    <p:anim calcmode="lin" valueType="num">
                                      <p:cBhvr>
                                        <p:cTn id="7" dur="500" fill="hold"/>
                                        <p:tgtEl>
                                          <p:spTgt spid="40964"/>
                                        </p:tgtEl>
                                        <p:attrNameLst>
                                          <p:attrName>ppt_w</p:attrName>
                                        </p:attrNameLst>
                                      </p:cBhvr>
                                      <p:tavLst>
                                        <p:tav tm="0">
                                          <p:val>
                                            <p:fltVal val="0"/>
                                          </p:val>
                                        </p:tav>
                                        <p:tav tm="100000">
                                          <p:val>
                                            <p:strVal val="#ppt_w"/>
                                          </p:val>
                                        </p:tav>
                                      </p:tavLst>
                                    </p:anim>
                                    <p:anim calcmode="lin" valueType="num">
                                      <p:cBhvr>
                                        <p:cTn id="8" dur="500" fill="hold"/>
                                        <p:tgtEl>
                                          <p:spTgt spid="40964"/>
                                        </p:tgtEl>
                                        <p:attrNameLst>
                                          <p:attrName>ppt_h</p:attrName>
                                        </p:attrNameLst>
                                      </p:cBhvr>
                                      <p:tavLst>
                                        <p:tav tm="0">
                                          <p:val>
                                            <p:strVal val="#ppt_h"/>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1" fill="hold" nodeType="clickEffect">
                                  <p:stCondLst>
                                    <p:cond delay="0"/>
                                  </p:stCondLst>
                                  <p:childTnLst>
                                    <p:set>
                                      <p:cBhvr>
                                        <p:cTn id="12" dur="1" fill="hold">
                                          <p:stCondLst>
                                            <p:cond delay="0"/>
                                          </p:stCondLst>
                                        </p:cTn>
                                        <p:tgtEl>
                                          <p:spTgt spid="40965"/>
                                        </p:tgtEl>
                                        <p:attrNameLst>
                                          <p:attrName>style.visibility</p:attrName>
                                        </p:attrNameLst>
                                      </p:cBhvr>
                                      <p:to>
                                        <p:strVal val="visible"/>
                                      </p:to>
                                    </p:set>
                                    <p:animEffect transition="in" filter="wipe(up)">
                                      <p:cBhvr>
                                        <p:cTn id="13" dur="500"/>
                                        <p:tgtEl>
                                          <p:spTgt spid="40965"/>
                                        </p:tgtEl>
                                      </p:cBhvr>
                                    </p:animEffect>
                                  </p:childTnLst>
                                </p:cTn>
                              </p:par>
                            </p:childTnLst>
                          </p:cTn>
                        </p:par>
                      </p:childTnLst>
                    </p:cTn>
                  </p:par>
                  <p:par>
                    <p:cTn id="14" fill="hold">
                      <p:stCondLst>
                        <p:cond delay="indefinite"/>
                      </p:stCondLst>
                      <p:childTnLst>
                        <p:par>
                          <p:cTn id="15" fill="hold">
                            <p:stCondLst>
                              <p:cond delay="0"/>
                            </p:stCondLst>
                            <p:childTnLst>
                              <p:par>
                                <p:cTn id="16" presetID="17" presetClass="entr" presetSubtype="10" fill="hold" grpId="0" nodeType="clickEffect">
                                  <p:stCondLst>
                                    <p:cond delay="0"/>
                                  </p:stCondLst>
                                  <p:childTnLst>
                                    <p:set>
                                      <p:cBhvr>
                                        <p:cTn id="17" dur="1" fill="hold">
                                          <p:stCondLst>
                                            <p:cond delay="0"/>
                                          </p:stCondLst>
                                        </p:cTn>
                                        <p:tgtEl>
                                          <p:spTgt spid="40966"/>
                                        </p:tgtEl>
                                        <p:attrNameLst>
                                          <p:attrName>style.visibility</p:attrName>
                                        </p:attrNameLst>
                                      </p:cBhvr>
                                      <p:to>
                                        <p:strVal val="visible"/>
                                      </p:to>
                                    </p:set>
                                    <p:anim calcmode="lin" valueType="num">
                                      <p:cBhvr>
                                        <p:cTn id="18" dur="500" fill="hold"/>
                                        <p:tgtEl>
                                          <p:spTgt spid="40966"/>
                                        </p:tgtEl>
                                        <p:attrNameLst>
                                          <p:attrName>ppt_w</p:attrName>
                                        </p:attrNameLst>
                                      </p:cBhvr>
                                      <p:tavLst>
                                        <p:tav tm="0">
                                          <p:val>
                                            <p:fltVal val="0"/>
                                          </p:val>
                                        </p:tav>
                                        <p:tav tm="100000">
                                          <p:val>
                                            <p:strVal val="#ppt_w"/>
                                          </p:val>
                                        </p:tav>
                                      </p:tavLst>
                                    </p:anim>
                                    <p:anim calcmode="lin" valueType="num">
                                      <p:cBhvr>
                                        <p:cTn id="19" dur="500" fill="hold"/>
                                        <p:tgtEl>
                                          <p:spTgt spid="40966"/>
                                        </p:tgtEl>
                                        <p:attrNameLst>
                                          <p:attrName>ppt_h</p:attrName>
                                        </p:attrNameLst>
                                      </p:cBhvr>
                                      <p:tavLst>
                                        <p:tav tm="0">
                                          <p:val>
                                            <p:strVal val="#ppt_h"/>
                                          </p:val>
                                        </p:tav>
                                        <p:tav tm="100000">
                                          <p:val>
                                            <p:strVal val="#ppt_h"/>
                                          </p:val>
                                        </p:tav>
                                      </p:tavLst>
                                    </p:anim>
                                  </p:childTnLst>
                                </p:cTn>
                              </p:par>
                            </p:childTnLst>
                          </p:cTn>
                        </p:par>
                      </p:childTnLst>
                    </p:cTn>
                  </p:par>
                  <p:par>
                    <p:cTn id="20" fill="hold">
                      <p:stCondLst>
                        <p:cond delay="indefinite"/>
                      </p:stCondLst>
                      <p:childTnLst>
                        <p:par>
                          <p:cTn id="21" fill="hold">
                            <p:stCondLst>
                              <p:cond delay="0"/>
                            </p:stCondLst>
                            <p:childTnLst>
                              <p:par>
                                <p:cTn id="22" presetID="22" presetClass="entr" presetSubtype="4" fill="hold" nodeType="clickEffect">
                                  <p:stCondLst>
                                    <p:cond delay="0"/>
                                  </p:stCondLst>
                                  <p:childTnLst>
                                    <p:set>
                                      <p:cBhvr>
                                        <p:cTn id="23" dur="1" fill="hold">
                                          <p:stCondLst>
                                            <p:cond delay="0"/>
                                          </p:stCondLst>
                                        </p:cTn>
                                        <p:tgtEl>
                                          <p:spTgt spid="40967"/>
                                        </p:tgtEl>
                                        <p:attrNameLst>
                                          <p:attrName>style.visibility</p:attrName>
                                        </p:attrNameLst>
                                      </p:cBhvr>
                                      <p:to>
                                        <p:strVal val="visible"/>
                                      </p:to>
                                    </p:set>
                                    <p:animEffect transition="in" filter="wipe(down)">
                                      <p:cBhvr>
                                        <p:cTn id="24" dur="500"/>
                                        <p:tgtEl>
                                          <p:spTgt spid="40967"/>
                                        </p:tgtEl>
                                      </p:cBhvr>
                                    </p:animEffect>
                                  </p:childTnLst>
                                </p:cTn>
                              </p:par>
                            </p:childTnLst>
                          </p:cTn>
                        </p:par>
                      </p:childTnLst>
                    </p:cTn>
                  </p:par>
                  <p:par>
                    <p:cTn id="25" fill="hold">
                      <p:stCondLst>
                        <p:cond delay="indefinite"/>
                      </p:stCondLst>
                      <p:childTnLst>
                        <p:par>
                          <p:cTn id="26" fill="hold">
                            <p:stCondLst>
                              <p:cond delay="0"/>
                            </p:stCondLst>
                            <p:childTnLst>
                              <p:par>
                                <p:cTn id="27" presetID="17" presetClass="entr" presetSubtype="10" fill="hold" grpId="0" nodeType="clickEffect">
                                  <p:stCondLst>
                                    <p:cond delay="0"/>
                                  </p:stCondLst>
                                  <p:childTnLst>
                                    <p:set>
                                      <p:cBhvr>
                                        <p:cTn id="28" dur="1" fill="hold">
                                          <p:stCondLst>
                                            <p:cond delay="0"/>
                                          </p:stCondLst>
                                        </p:cTn>
                                        <p:tgtEl>
                                          <p:spTgt spid="40968"/>
                                        </p:tgtEl>
                                        <p:attrNameLst>
                                          <p:attrName>style.visibility</p:attrName>
                                        </p:attrNameLst>
                                      </p:cBhvr>
                                      <p:to>
                                        <p:strVal val="visible"/>
                                      </p:to>
                                    </p:set>
                                    <p:anim calcmode="lin" valueType="num">
                                      <p:cBhvr>
                                        <p:cTn id="29" dur="500" fill="hold"/>
                                        <p:tgtEl>
                                          <p:spTgt spid="40968"/>
                                        </p:tgtEl>
                                        <p:attrNameLst>
                                          <p:attrName>ppt_w</p:attrName>
                                        </p:attrNameLst>
                                      </p:cBhvr>
                                      <p:tavLst>
                                        <p:tav tm="0">
                                          <p:val>
                                            <p:fltVal val="0"/>
                                          </p:val>
                                        </p:tav>
                                        <p:tav tm="100000">
                                          <p:val>
                                            <p:strVal val="#ppt_w"/>
                                          </p:val>
                                        </p:tav>
                                      </p:tavLst>
                                    </p:anim>
                                    <p:anim calcmode="lin" valueType="num">
                                      <p:cBhvr>
                                        <p:cTn id="30" dur="500" fill="hold"/>
                                        <p:tgtEl>
                                          <p:spTgt spid="40968"/>
                                        </p:tgtEl>
                                        <p:attrNameLst>
                                          <p:attrName>ppt_h</p:attrName>
                                        </p:attrNameLst>
                                      </p:cBhvr>
                                      <p:tavLst>
                                        <p:tav tm="0">
                                          <p:val>
                                            <p:strVal val="#ppt_h"/>
                                          </p:val>
                                        </p:tav>
                                        <p:tav tm="100000">
                                          <p:val>
                                            <p:strVal val="#ppt_h"/>
                                          </p:val>
                                        </p:tav>
                                      </p:tavLst>
                                    </p:anim>
                                  </p:childTnLst>
                                </p:cTn>
                              </p:par>
                            </p:childTnLst>
                          </p:cTn>
                        </p:par>
                      </p:childTnLst>
                    </p:cTn>
                  </p:par>
                  <p:par>
                    <p:cTn id="31" fill="hold">
                      <p:stCondLst>
                        <p:cond delay="indefinite"/>
                      </p:stCondLst>
                      <p:childTnLst>
                        <p:par>
                          <p:cTn id="32" fill="hold">
                            <p:stCondLst>
                              <p:cond delay="0"/>
                            </p:stCondLst>
                            <p:childTnLst>
                              <p:par>
                                <p:cTn id="33" presetID="22" presetClass="entr" presetSubtype="1" fill="hold" nodeType="clickEffect">
                                  <p:stCondLst>
                                    <p:cond delay="0"/>
                                  </p:stCondLst>
                                  <p:childTnLst>
                                    <p:set>
                                      <p:cBhvr>
                                        <p:cTn id="34" dur="1" fill="hold">
                                          <p:stCondLst>
                                            <p:cond delay="0"/>
                                          </p:stCondLst>
                                        </p:cTn>
                                        <p:tgtEl>
                                          <p:spTgt spid="3"/>
                                        </p:tgtEl>
                                        <p:attrNameLst>
                                          <p:attrName>style.visibility</p:attrName>
                                        </p:attrNameLst>
                                      </p:cBhvr>
                                      <p:to>
                                        <p:strVal val="visible"/>
                                      </p:to>
                                    </p:set>
                                    <p:animEffect transition="in" filter="wipe(up)">
                                      <p:cBhvr>
                                        <p:cTn id="35" dur="500"/>
                                        <p:tgtEl>
                                          <p:spTgt spid="3"/>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4" fill="hold" nodeType="clickEffect">
                                  <p:stCondLst>
                                    <p:cond delay="0"/>
                                  </p:stCondLst>
                                  <p:childTnLst>
                                    <p:set>
                                      <p:cBhvr>
                                        <p:cTn id="39" dur="1" fill="hold">
                                          <p:stCondLst>
                                            <p:cond delay="0"/>
                                          </p:stCondLst>
                                        </p:cTn>
                                        <p:tgtEl>
                                          <p:spTgt spid="4"/>
                                        </p:tgtEl>
                                        <p:attrNameLst>
                                          <p:attrName>style.visibility</p:attrName>
                                        </p:attrNameLst>
                                      </p:cBhvr>
                                      <p:to>
                                        <p:strVal val="visible"/>
                                      </p:to>
                                    </p:set>
                                    <p:animEffect transition="in" filter="wipe(down)">
                                      <p:cBhvr>
                                        <p:cTn id="4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64" grpId="0"/>
      <p:bldP spid="40966" grpId="0" autoUpdateAnimBg="0"/>
      <p:bldP spid="40968" grpId="0" autoUpdateAnimBg="0"/>
    </p:bldLst>
  </p:timing>
</p:sld>
</file>

<file path=ppt/slides/slide5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72068" name="Rectangle 4">
            <a:extLst>
              <a:ext uri="{FF2B5EF4-FFF2-40B4-BE49-F238E27FC236}">
                <a16:creationId xmlns:a16="http://schemas.microsoft.com/office/drawing/2014/main" id="{F2EC2935-2BD8-4779-91CF-CFA5198014C6}"/>
              </a:ext>
            </a:extLst>
          </p:cNvPr>
          <p:cNvSpPr>
            <a:spLocks noGrp="1"/>
          </p:cNvSpPr>
          <p:nvPr>
            <p:ph type="title"/>
          </p:nvPr>
        </p:nvSpPr>
        <p:spPr/>
        <p:txBody>
          <a:bodyPr/>
          <a:lstStyle/>
          <a:p>
            <a:pPr>
              <a:spcBef>
                <a:spcPts val="1200"/>
              </a:spcBef>
            </a:pPr>
            <a:r>
              <a:rPr lang="en-GB" altLang="en-US" noProof="1"/>
              <a:t>The production method</a:t>
            </a:r>
          </a:p>
        </p:txBody>
      </p:sp>
      <p:sp>
        <p:nvSpPr>
          <p:cNvPr id="472069" name="Rectangle 5">
            <a:extLst>
              <a:ext uri="{FF2B5EF4-FFF2-40B4-BE49-F238E27FC236}">
                <a16:creationId xmlns:a16="http://schemas.microsoft.com/office/drawing/2014/main" id="{FE1C230A-ACE6-49DF-902B-F325BE4DADFE}"/>
              </a:ext>
            </a:extLst>
          </p:cNvPr>
          <p:cNvSpPr>
            <a:spLocks noGrp="1"/>
          </p:cNvSpPr>
          <p:nvPr>
            <p:ph sz="quarter" idx="1"/>
          </p:nvPr>
        </p:nvSpPr>
        <p:spPr>
          <a:xfrm>
            <a:off x="402336" y="1628800"/>
            <a:ext cx="11338560" cy="4536504"/>
          </a:xfrm>
        </p:spPr>
        <p:txBody>
          <a:bodyPr>
            <a:normAutofit/>
          </a:bodyPr>
          <a:lstStyle/>
          <a:p>
            <a:r>
              <a:rPr lang="en-GB" dirty="0">
                <a:latin typeface="+mn-lt"/>
              </a:rPr>
              <a:t>Add up the value of all the goods and services produced in the country, industry by industry. </a:t>
            </a:r>
          </a:p>
          <a:p>
            <a:r>
              <a:rPr lang="en-GB" dirty="0">
                <a:latin typeface="+mn-lt"/>
              </a:rPr>
              <a:t>We must be careful to avoid </a:t>
            </a:r>
            <a:r>
              <a:rPr lang="en-GB" i="1" dirty="0">
                <a:latin typeface="+mn-lt"/>
              </a:rPr>
              <a:t>double counting. </a:t>
            </a:r>
            <a:r>
              <a:rPr lang="en-GB" dirty="0">
                <a:latin typeface="+mn-lt"/>
              </a:rPr>
              <a:t>For example, if a manufacturer sells a television to a retailer for £200 and the retailer sells it to the consumer for £300, how much has this television contributed to GDP? </a:t>
            </a:r>
          </a:p>
          <a:p>
            <a:r>
              <a:rPr lang="en-GB" dirty="0">
                <a:latin typeface="+mn-lt"/>
              </a:rPr>
              <a:t>The sum of all the values added by all the various industries in the economy is known as </a:t>
            </a:r>
            <a:r>
              <a:rPr lang="en-GB" b="1" i="1" dirty="0">
                <a:latin typeface="+mn-lt"/>
              </a:rPr>
              <a:t>gross value added (GVA) at basic prices. </a:t>
            </a:r>
            <a:endParaRPr lang="en-GB" dirty="0">
              <a:latin typeface="+mn-lt"/>
            </a:endParaRPr>
          </a:p>
          <a:p>
            <a:r>
              <a:rPr lang="en-GB" dirty="0">
                <a:latin typeface="+mn-lt"/>
              </a:rPr>
              <a:t>How do we get from GVA to GDP? </a:t>
            </a:r>
          </a:p>
          <a:p>
            <a:r>
              <a:rPr lang="en-GB" b="1" i="1" dirty="0">
                <a:latin typeface="+mn-lt"/>
              </a:rPr>
              <a:t>GDP </a:t>
            </a:r>
            <a:r>
              <a:rPr lang="en-GB" dirty="0">
                <a:latin typeface="+mn-lt"/>
              </a:rPr>
              <a:t>is GVA </a:t>
            </a:r>
            <a:r>
              <a:rPr lang="en-GB" i="1" dirty="0">
                <a:latin typeface="+mn-lt"/>
              </a:rPr>
              <a:t>plus </a:t>
            </a:r>
            <a:r>
              <a:rPr lang="en-GB" dirty="0">
                <a:latin typeface="+mn-lt"/>
              </a:rPr>
              <a:t>taxes on products </a:t>
            </a:r>
            <a:r>
              <a:rPr lang="en-GB" i="1" dirty="0">
                <a:latin typeface="+mn-lt"/>
              </a:rPr>
              <a:t>minus </a:t>
            </a:r>
            <a:r>
              <a:rPr lang="en-GB" dirty="0">
                <a:latin typeface="+mn-lt"/>
              </a:rPr>
              <a:t>subsidies on products. </a:t>
            </a:r>
          </a:p>
          <a:p>
            <a:endParaRPr lang="en-GB" altLang="en-US" sz="2400" noProof="1"/>
          </a:p>
        </p:txBody>
      </p:sp>
    </p:spTree>
    <p:extLst>
      <p:ext uri="{BB962C8B-B14F-4D97-AF65-F5344CB8AC3E}">
        <p14:creationId xmlns:p14="http://schemas.microsoft.com/office/powerpoint/2010/main" val="3241622373"/>
      </p:ext>
    </p:extLst>
  </p:cSld>
  <p:clrMapOvr>
    <a:masterClrMapping/>
  </p:clrMapOvr>
  <p:transition spd="med">
    <p:pull dir="r"/>
  </p:transition>
</p:sld>
</file>

<file path=ppt/slides/slide55.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031C9CE5-563D-3EB8-D6BE-08986BAE0AF8}"/>
            </a:ext>
          </a:extLst>
        </p:cNvPr>
        <p:cNvGrpSpPr/>
        <p:nvPr/>
      </p:nvGrpSpPr>
      <p:grpSpPr>
        <a:xfrm>
          <a:off x="0" y="0"/>
          <a:ext cx="0" cy="0"/>
          <a:chOff x="0" y="0"/>
          <a:chExt cx="0" cy="0"/>
        </a:xfrm>
      </p:grpSpPr>
      <p:sp>
        <p:nvSpPr>
          <p:cNvPr id="472068" name="Rectangle 4">
            <a:extLst>
              <a:ext uri="{FF2B5EF4-FFF2-40B4-BE49-F238E27FC236}">
                <a16:creationId xmlns:a16="http://schemas.microsoft.com/office/drawing/2014/main" id="{3ED63474-9333-04B9-5054-87AAEC6CD7A6}"/>
              </a:ext>
            </a:extLst>
          </p:cNvPr>
          <p:cNvSpPr>
            <a:spLocks noGrp="1"/>
          </p:cNvSpPr>
          <p:nvPr>
            <p:ph type="title"/>
          </p:nvPr>
        </p:nvSpPr>
        <p:spPr/>
        <p:txBody>
          <a:bodyPr/>
          <a:lstStyle/>
          <a:p>
            <a:pPr>
              <a:spcBef>
                <a:spcPts val="1200"/>
              </a:spcBef>
            </a:pPr>
            <a:r>
              <a:rPr lang="en-GB" altLang="en-US" noProof="1"/>
              <a:t>The income method</a:t>
            </a:r>
          </a:p>
        </p:txBody>
      </p:sp>
      <p:sp>
        <p:nvSpPr>
          <p:cNvPr id="472069" name="Rectangle 5">
            <a:extLst>
              <a:ext uri="{FF2B5EF4-FFF2-40B4-BE49-F238E27FC236}">
                <a16:creationId xmlns:a16="http://schemas.microsoft.com/office/drawing/2014/main" id="{B0E7DFEF-D1A6-480A-14A1-1ECB2A231AFD}"/>
              </a:ext>
            </a:extLst>
          </p:cNvPr>
          <p:cNvSpPr>
            <a:spLocks noGrp="1"/>
          </p:cNvSpPr>
          <p:nvPr>
            <p:ph sz="quarter" idx="1"/>
          </p:nvPr>
        </p:nvSpPr>
        <p:spPr>
          <a:xfrm>
            <a:off x="402336" y="1628800"/>
            <a:ext cx="11338560" cy="4536504"/>
          </a:xfrm>
        </p:spPr>
        <p:txBody>
          <a:bodyPr/>
          <a:lstStyle/>
          <a:p>
            <a:pPr>
              <a:spcBef>
                <a:spcPts val="1200"/>
              </a:spcBef>
            </a:pPr>
            <a:r>
              <a:rPr lang="en-GB" dirty="0">
                <a:latin typeface="+mn-lt"/>
              </a:rPr>
              <a:t>Focus on the incomes generated from the production of goods and services. </a:t>
            </a:r>
          </a:p>
          <a:p>
            <a:pPr>
              <a:spcBef>
                <a:spcPts val="1200"/>
              </a:spcBef>
            </a:pPr>
            <a:r>
              <a:rPr lang="en-GB" altLang="en-US" noProof="1">
                <a:latin typeface="+mn-lt"/>
              </a:rPr>
              <a:t>T</a:t>
            </a:r>
            <a:r>
              <a:rPr lang="en-GB" dirty="0">
                <a:latin typeface="+mn-lt"/>
              </a:rPr>
              <a:t>he sum of all values added at each stage of production. Value added is simply the difference between a firm’s revenue from sales and the costs of its purchases from other firms. </a:t>
            </a:r>
            <a:endParaRPr lang="en-GB" altLang="en-US" noProof="1">
              <a:latin typeface="+mn-lt"/>
            </a:endParaRPr>
          </a:p>
          <a:p>
            <a:pPr lvl="1">
              <a:spcBef>
                <a:spcPts val="1200"/>
              </a:spcBef>
            </a:pPr>
            <a:r>
              <a:rPr lang="en-GB" altLang="en-US" noProof="1">
                <a:latin typeface="+mn-lt"/>
              </a:rPr>
              <a:t>Wages and salaries received from employment</a:t>
            </a:r>
          </a:p>
          <a:p>
            <a:pPr lvl="1">
              <a:spcBef>
                <a:spcPts val="1200"/>
              </a:spcBef>
            </a:pPr>
            <a:r>
              <a:rPr lang="en-GB" altLang="en-US" noProof="1">
                <a:latin typeface="+mn-lt"/>
              </a:rPr>
              <a:t>Surpluses made by organisations</a:t>
            </a:r>
          </a:p>
          <a:p>
            <a:pPr lvl="1">
              <a:spcBef>
                <a:spcPts val="1200"/>
              </a:spcBef>
            </a:pPr>
            <a:r>
              <a:rPr lang="en-GB" altLang="en-US" noProof="1">
                <a:latin typeface="+mn-lt"/>
              </a:rPr>
              <a:t>Then add taxes paid and subtract subsidies received </a:t>
            </a:r>
          </a:p>
          <a:p>
            <a:pPr lvl="3">
              <a:spcBef>
                <a:spcPts val="1200"/>
              </a:spcBef>
            </a:pPr>
            <a:endParaRPr lang="en-GB" altLang="en-US" sz="2400" noProof="1"/>
          </a:p>
        </p:txBody>
      </p:sp>
    </p:spTree>
    <p:extLst>
      <p:ext uri="{BB962C8B-B14F-4D97-AF65-F5344CB8AC3E}">
        <p14:creationId xmlns:p14="http://schemas.microsoft.com/office/powerpoint/2010/main" val="711754387"/>
      </p:ext>
    </p:extLst>
  </p:cSld>
  <p:clrMapOvr>
    <a:masterClrMapping/>
  </p:clrMapOvr>
  <p:transition spd="med">
    <p:pull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472069">
                                            <p:txEl>
                                              <p:pRg st="0" end="0"/>
                                            </p:txEl>
                                          </p:spTgt>
                                        </p:tgtEl>
                                        <p:attrNameLst>
                                          <p:attrName>style.visibility</p:attrName>
                                        </p:attrNameLst>
                                      </p:cBhvr>
                                      <p:to>
                                        <p:strVal val="visible"/>
                                      </p:to>
                                    </p:set>
                                    <p:anim calcmode="lin" valueType="num">
                                      <p:cBhvr additive="base">
                                        <p:cTn id="7" dur="500"/>
                                        <p:tgtEl>
                                          <p:spTgt spid="472069">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472069">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472069">
                                            <p:txEl>
                                              <p:pRg st="1" end="1"/>
                                            </p:txEl>
                                          </p:spTgt>
                                        </p:tgtEl>
                                        <p:attrNameLst>
                                          <p:attrName>style.visibility</p:attrName>
                                        </p:attrNameLst>
                                      </p:cBhvr>
                                      <p:to>
                                        <p:strVal val="visible"/>
                                      </p:to>
                                    </p:set>
                                    <p:anim calcmode="lin" valueType="num">
                                      <p:cBhvr additive="base">
                                        <p:cTn id="13" dur="500"/>
                                        <p:tgtEl>
                                          <p:spTgt spid="472069">
                                            <p:txEl>
                                              <p:pRg st="1" end="1"/>
                                            </p:txEl>
                                          </p:spTgt>
                                        </p:tgtEl>
                                        <p:attrNameLst>
                                          <p:attrName>ppt_y</p:attrName>
                                        </p:attrNameLst>
                                      </p:cBhvr>
                                      <p:tavLst>
                                        <p:tav tm="0">
                                          <p:val>
                                            <p:strVal val="#ppt_y+#ppt_h*1.125000"/>
                                          </p:val>
                                        </p:tav>
                                        <p:tav tm="100000">
                                          <p:val>
                                            <p:strVal val="#ppt_y"/>
                                          </p:val>
                                        </p:tav>
                                      </p:tavLst>
                                    </p:anim>
                                    <p:animEffect transition="in" filter="wipe(up)">
                                      <p:cBhvr>
                                        <p:cTn id="14" dur="500"/>
                                        <p:tgtEl>
                                          <p:spTgt spid="472069">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grpId="0" nodeType="clickEffect">
                                  <p:stCondLst>
                                    <p:cond delay="0"/>
                                  </p:stCondLst>
                                  <p:childTnLst>
                                    <p:set>
                                      <p:cBhvr>
                                        <p:cTn id="18" dur="1" fill="hold">
                                          <p:stCondLst>
                                            <p:cond delay="0"/>
                                          </p:stCondLst>
                                        </p:cTn>
                                        <p:tgtEl>
                                          <p:spTgt spid="472069">
                                            <p:txEl>
                                              <p:pRg st="2" end="2"/>
                                            </p:txEl>
                                          </p:spTgt>
                                        </p:tgtEl>
                                        <p:attrNameLst>
                                          <p:attrName>style.visibility</p:attrName>
                                        </p:attrNameLst>
                                      </p:cBhvr>
                                      <p:to>
                                        <p:strVal val="visible"/>
                                      </p:to>
                                    </p:set>
                                    <p:anim calcmode="lin" valueType="num">
                                      <p:cBhvr additive="base">
                                        <p:cTn id="19" dur="500"/>
                                        <p:tgtEl>
                                          <p:spTgt spid="472069">
                                            <p:txEl>
                                              <p:pRg st="2" end="2"/>
                                            </p:txEl>
                                          </p:spTgt>
                                        </p:tgtEl>
                                        <p:attrNameLst>
                                          <p:attrName>ppt_y</p:attrName>
                                        </p:attrNameLst>
                                      </p:cBhvr>
                                      <p:tavLst>
                                        <p:tav tm="0">
                                          <p:val>
                                            <p:strVal val="#ppt_y+#ppt_h*1.125000"/>
                                          </p:val>
                                        </p:tav>
                                        <p:tav tm="100000">
                                          <p:val>
                                            <p:strVal val="#ppt_y"/>
                                          </p:val>
                                        </p:tav>
                                      </p:tavLst>
                                    </p:anim>
                                    <p:animEffect transition="in" filter="wipe(up)">
                                      <p:cBhvr>
                                        <p:cTn id="20" dur="500"/>
                                        <p:tgtEl>
                                          <p:spTgt spid="472069">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4" fill="hold" grpId="0" nodeType="clickEffect">
                                  <p:stCondLst>
                                    <p:cond delay="0"/>
                                  </p:stCondLst>
                                  <p:childTnLst>
                                    <p:set>
                                      <p:cBhvr>
                                        <p:cTn id="24" dur="1" fill="hold">
                                          <p:stCondLst>
                                            <p:cond delay="0"/>
                                          </p:stCondLst>
                                        </p:cTn>
                                        <p:tgtEl>
                                          <p:spTgt spid="472069">
                                            <p:txEl>
                                              <p:pRg st="3" end="3"/>
                                            </p:txEl>
                                          </p:spTgt>
                                        </p:tgtEl>
                                        <p:attrNameLst>
                                          <p:attrName>style.visibility</p:attrName>
                                        </p:attrNameLst>
                                      </p:cBhvr>
                                      <p:to>
                                        <p:strVal val="visible"/>
                                      </p:to>
                                    </p:set>
                                    <p:anim calcmode="lin" valueType="num">
                                      <p:cBhvr additive="base">
                                        <p:cTn id="25" dur="500"/>
                                        <p:tgtEl>
                                          <p:spTgt spid="472069">
                                            <p:txEl>
                                              <p:pRg st="3" end="3"/>
                                            </p:txEl>
                                          </p:spTgt>
                                        </p:tgtEl>
                                        <p:attrNameLst>
                                          <p:attrName>ppt_y</p:attrName>
                                        </p:attrNameLst>
                                      </p:cBhvr>
                                      <p:tavLst>
                                        <p:tav tm="0">
                                          <p:val>
                                            <p:strVal val="#ppt_y+#ppt_h*1.125000"/>
                                          </p:val>
                                        </p:tav>
                                        <p:tav tm="100000">
                                          <p:val>
                                            <p:strVal val="#ppt_y"/>
                                          </p:val>
                                        </p:tav>
                                      </p:tavLst>
                                    </p:anim>
                                    <p:animEffect transition="in" filter="wipe(up)">
                                      <p:cBhvr>
                                        <p:cTn id="26" dur="500"/>
                                        <p:tgtEl>
                                          <p:spTgt spid="472069">
                                            <p:txEl>
                                              <p:pRg st="3" end="3"/>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2" presetClass="entr" presetSubtype="4" fill="hold" grpId="0" nodeType="clickEffect">
                                  <p:stCondLst>
                                    <p:cond delay="0"/>
                                  </p:stCondLst>
                                  <p:childTnLst>
                                    <p:set>
                                      <p:cBhvr>
                                        <p:cTn id="30" dur="1" fill="hold">
                                          <p:stCondLst>
                                            <p:cond delay="0"/>
                                          </p:stCondLst>
                                        </p:cTn>
                                        <p:tgtEl>
                                          <p:spTgt spid="472069">
                                            <p:txEl>
                                              <p:pRg st="4" end="4"/>
                                            </p:txEl>
                                          </p:spTgt>
                                        </p:tgtEl>
                                        <p:attrNameLst>
                                          <p:attrName>style.visibility</p:attrName>
                                        </p:attrNameLst>
                                      </p:cBhvr>
                                      <p:to>
                                        <p:strVal val="visible"/>
                                      </p:to>
                                    </p:set>
                                    <p:anim calcmode="lin" valueType="num">
                                      <p:cBhvr additive="base">
                                        <p:cTn id="31" dur="500"/>
                                        <p:tgtEl>
                                          <p:spTgt spid="472069">
                                            <p:txEl>
                                              <p:pRg st="4" end="4"/>
                                            </p:txEl>
                                          </p:spTgt>
                                        </p:tgtEl>
                                        <p:attrNameLst>
                                          <p:attrName>ppt_y</p:attrName>
                                        </p:attrNameLst>
                                      </p:cBhvr>
                                      <p:tavLst>
                                        <p:tav tm="0">
                                          <p:val>
                                            <p:strVal val="#ppt_y+#ppt_h*1.125000"/>
                                          </p:val>
                                        </p:tav>
                                        <p:tav tm="100000">
                                          <p:val>
                                            <p:strVal val="#ppt_y"/>
                                          </p:val>
                                        </p:tav>
                                      </p:tavLst>
                                    </p:anim>
                                    <p:animEffect transition="in" filter="wipe(up)">
                                      <p:cBhvr>
                                        <p:cTn id="32" dur="500"/>
                                        <p:tgtEl>
                                          <p:spTgt spid="47206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2069" grpId="0" build="p" bldLvl="3" autoUpdateAnimBg="0"/>
    </p:bldLst>
  </p:timing>
</p:sld>
</file>

<file path=ppt/slides/slide5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72068" name="Rectangle 4">
            <a:extLst>
              <a:ext uri="{FF2B5EF4-FFF2-40B4-BE49-F238E27FC236}">
                <a16:creationId xmlns:a16="http://schemas.microsoft.com/office/drawing/2014/main" id="{F2EC2935-2BD8-4779-91CF-CFA5198014C6}"/>
              </a:ext>
            </a:extLst>
          </p:cNvPr>
          <p:cNvSpPr>
            <a:spLocks noGrp="1"/>
          </p:cNvSpPr>
          <p:nvPr>
            <p:ph type="title"/>
          </p:nvPr>
        </p:nvSpPr>
        <p:spPr/>
        <p:txBody>
          <a:bodyPr/>
          <a:lstStyle/>
          <a:p>
            <a:r>
              <a:rPr lang="en-GB" altLang="en-US" noProof="1"/>
              <a:t>The expenditure method</a:t>
            </a:r>
            <a:endParaRPr lang="en-GB" altLang="en-US" dirty="0"/>
          </a:p>
        </p:txBody>
      </p:sp>
      <p:sp>
        <p:nvSpPr>
          <p:cNvPr id="472069" name="Rectangle 5">
            <a:extLst>
              <a:ext uri="{FF2B5EF4-FFF2-40B4-BE49-F238E27FC236}">
                <a16:creationId xmlns:a16="http://schemas.microsoft.com/office/drawing/2014/main" id="{FE1C230A-ACE6-49DF-902B-F325BE4DADFE}"/>
              </a:ext>
            </a:extLst>
          </p:cNvPr>
          <p:cNvSpPr>
            <a:spLocks noGrp="1"/>
          </p:cNvSpPr>
          <p:nvPr>
            <p:ph sz="quarter" idx="1"/>
          </p:nvPr>
        </p:nvSpPr>
        <p:spPr>
          <a:xfrm>
            <a:off x="402336" y="1628800"/>
            <a:ext cx="11338560" cy="4536504"/>
          </a:xfrm>
        </p:spPr>
        <p:txBody>
          <a:bodyPr/>
          <a:lstStyle/>
          <a:p>
            <a:pPr>
              <a:spcBef>
                <a:spcPts val="800"/>
              </a:spcBef>
            </a:pPr>
            <a:r>
              <a:rPr lang="en-GB" altLang="en-US" noProof="1">
                <a:latin typeface="+mn-lt"/>
              </a:rPr>
              <a:t>Measure spending on goods and services across sectors</a:t>
            </a:r>
          </a:p>
          <a:p>
            <a:pPr lvl="1">
              <a:spcBef>
                <a:spcPts val="800"/>
              </a:spcBef>
            </a:pPr>
            <a:r>
              <a:rPr lang="en-GB" altLang="en-US" noProof="1">
                <a:latin typeface="+mn-lt"/>
              </a:rPr>
              <a:t>Household consumption, business investment, government purchases of goods and services, net exports</a:t>
            </a:r>
          </a:p>
          <a:p>
            <a:pPr lvl="2">
              <a:spcBef>
                <a:spcPts val="800"/>
              </a:spcBef>
            </a:pPr>
            <a:r>
              <a:rPr lang="en-GB" altLang="en-US" noProof="1">
                <a:latin typeface="+mn-lt"/>
              </a:rPr>
              <a:t>Exports – spending in other countries on goods produced in this country</a:t>
            </a:r>
          </a:p>
          <a:p>
            <a:pPr lvl="2">
              <a:spcBef>
                <a:spcPts val="800"/>
              </a:spcBef>
            </a:pPr>
            <a:r>
              <a:rPr lang="en-GB" altLang="en-US" noProof="1">
                <a:latin typeface="+mn-lt"/>
              </a:rPr>
              <a:t>Imports – spending in this country on goods produced in other countries</a:t>
            </a:r>
          </a:p>
          <a:p>
            <a:pPr lvl="1">
              <a:spcBef>
                <a:spcPts val="800"/>
              </a:spcBef>
            </a:pPr>
            <a:r>
              <a:rPr lang="en-GB" altLang="en-US" noProof="1">
                <a:latin typeface="+mn-lt"/>
              </a:rPr>
              <a:t>In terms of symbols, </a:t>
            </a:r>
            <a:r>
              <a:rPr lang="en-GB" altLang="en-US" i="1" noProof="1">
                <a:latin typeface="+mn-lt"/>
              </a:rPr>
              <a:t>AE </a:t>
            </a:r>
            <a:r>
              <a:rPr lang="en-GB" altLang="en-US" noProof="1">
                <a:latin typeface="+mn-lt"/>
              </a:rPr>
              <a:t>= </a:t>
            </a:r>
            <a:r>
              <a:rPr lang="en-GB" altLang="en-US" i="1" noProof="1">
                <a:latin typeface="+mn-lt"/>
              </a:rPr>
              <a:t>C + I + G + </a:t>
            </a:r>
            <a:r>
              <a:rPr lang="en-GB" altLang="en-US" noProof="1">
                <a:latin typeface="+mn-lt"/>
              </a:rPr>
              <a:t>(</a:t>
            </a:r>
            <a:r>
              <a:rPr lang="en-GB" altLang="en-US" i="1" noProof="1">
                <a:latin typeface="+mn-lt"/>
              </a:rPr>
              <a:t>X – M</a:t>
            </a:r>
            <a:r>
              <a:rPr lang="en-GB" altLang="en-US" noProof="1">
                <a:latin typeface="+mn-lt"/>
              </a:rPr>
              <a:t>)</a:t>
            </a:r>
          </a:p>
          <a:p>
            <a:pPr lvl="2">
              <a:spcBef>
                <a:spcPts val="800"/>
              </a:spcBef>
            </a:pPr>
            <a:endParaRPr lang="en-GB" altLang="en-US" i="1" noProof="1"/>
          </a:p>
        </p:txBody>
      </p:sp>
    </p:spTree>
    <p:extLst>
      <p:ext uri="{BB962C8B-B14F-4D97-AF65-F5344CB8AC3E}">
        <p14:creationId xmlns:p14="http://schemas.microsoft.com/office/powerpoint/2010/main" val="2682000459"/>
      </p:ext>
    </p:extLst>
  </p:cSld>
  <p:clrMapOvr>
    <a:masterClrMapping/>
  </p:clrMapOvr>
  <p:transition spd="med">
    <p:pull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472069">
                                            <p:txEl>
                                              <p:pRg st="0" end="0"/>
                                            </p:txEl>
                                          </p:spTgt>
                                        </p:tgtEl>
                                        <p:attrNameLst>
                                          <p:attrName>style.visibility</p:attrName>
                                        </p:attrNameLst>
                                      </p:cBhvr>
                                      <p:to>
                                        <p:strVal val="visible"/>
                                      </p:to>
                                    </p:set>
                                    <p:anim calcmode="lin" valueType="num">
                                      <p:cBhvr additive="base">
                                        <p:cTn id="7" dur="500"/>
                                        <p:tgtEl>
                                          <p:spTgt spid="472069">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472069">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472069">
                                            <p:txEl>
                                              <p:pRg st="1" end="1"/>
                                            </p:txEl>
                                          </p:spTgt>
                                        </p:tgtEl>
                                        <p:attrNameLst>
                                          <p:attrName>style.visibility</p:attrName>
                                        </p:attrNameLst>
                                      </p:cBhvr>
                                      <p:to>
                                        <p:strVal val="visible"/>
                                      </p:to>
                                    </p:set>
                                    <p:anim calcmode="lin" valueType="num">
                                      <p:cBhvr additive="base">
                                        <p:cTn id="13" dur="500"/>
                                        <p:tgtEl>
                                          <p:spTgt spid="472069">
                                            <p:txEl>
                                              <p:pRg st="1" end="1"/>
                                            </p:txEl>
                                          </p:spTgt>
                                        </p:tgtEl>
                                        <p:attrNameLst>
                                          <p:attrName>ppt_y</p:attrName>
                                        </p:attrNameLst>
                                      </p:cBhvr>
                                      <p:tavLst>
                                        <p:tav tm="0">
                                          <p:val>
                                            <p:strVal val="#ppt_y+#ppt_h*1.125000"/>
                                          </p:val>
                                        </p:tav>
                                        <p:tav tm="100000">
                                          <p:val>
                                            <p:strVal val="#ppt_y"/>
                                          </p:val>
                                        </p:tav>
                                      </p:tavLst>
                                    </p:anim>
                                    <p:animEffect transition="in" filter="wipe(up)">
                                      <p:cBhvr>
                                        <p:cTn id="14" dur="500"/>
                                        <p:tgtEl>
                                          <p:spTgt spid="472069">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grpId="0" nodeType="clickEffect">
                                  <p:stCondLst>
                                    <p:cond delay="0"/>
                                  </p:stCondLst>
                                  <p:childTnLst>
                                    <p:set>
                                      <p:cBhvr>
                                        <p:cTn id="18" dur="1" fill="hold">
                                          <p:stCondLst>
                                            <p:cond delay="0"/>
                                          </p:stCondLst>
                                        </p:cTn>
                                        <p:tgtEl>
                                          <p:spTgt spid="472069">
                                            <p:txEl>
                                              <p:pRg st="2" end="2"/>
                                            </p:txEl>
                                          </p:spTgt>
                                        </p:tgtEl>
                                        <p:attrNameLst>
                                          <p:attrName>style.visibility</p:attrName>
                                        </p:attrNameLst>
                                      </p:cBhvr>
                                      <p:to>
                                        <p:strVal val="visible"/>
                                      </p:to>
                                    </p:set>
                                    <p:anim calcmode="lin" valueType="num">
                                      <p:cBhvr additive="base">
                                        <p:cTn id="19" dur="500"/>
                                        <p:tgtEl>
                                          <p:spTgt spid="472069">
                                            <p:txEl>
                                              <p:pRg st="2" end="2"/>
                                            </p:txEl>
                                          </p:spTgt>
                                        </p:tgtEl>
                                        <p:attrNameLst>
                                          <p:attrName>ppt_y</p:attrName>
                                        </p:attrNameLst>
                                      </p:cBhvr>
                                      <p:tavLst>
                                        <p:tav tm="0">
                                          <p:val>
                                            <p:strVal val="#ppt_y+#ppt_h*1.125000"/>
                                          </p:val>
                                        </p:tav>
                                        <p:tav tm="100000">
                                          <p:val>
                                            <p:strVal val="#ppt_y"/>
                                          </p:val>
                                        </p:tav>
                                      </p:tavLst>
                                    </p:anim>
                                    <p:animEffect transition="in" filter="wipe(up)">
                                      <p:cBhvr>
                                        <p:cTn id="20" dur="500"/>
                                        <p:tgtEl>
                                          <p:spTgt spid="472069">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4" fill="hold" grpId="0" nodeType="clickEffect">
                                  <p:stCondLst>
                                    <p:cond delay="0"/>
                                  </p:stCondLst>
                                  <p:childTnLst>
                                    <p:set>
                                      <p:cBhvr>
                                        <p:cTn id="24" dur="1" fill="hold">
                                          <p:stCondLst>
                                            <p:cond delay="0"/>
                                          </p:stCondLst>
                                        </p:cTn>
                                        <p:tgtEl>
                                          <p:spTgt spid="472069">
                                            <p:txEl>
                                              <p:pRg st="3" end="3"/>
                                            </p:txEl>
                                          </p:spTgt>
                                        </p:tgtEl>
                                        <p:attrNameLst>
                                          <p:attrName>style.visibility</p:attrName>
                                        </p:attrNameLst>
                                      </p:cBhvr>
                                      <p:to>
                                        <p:strVal val="visible"/>
                                      </p:to>
                                    </p:set>
                                    <p:anim calcmode="lin" valueType="num">
                                      <p:cBhvr additive="base">
                                        <p:cTn id="25" dur="500"/>
                                        <p:tgtEl>
                                          <p:spTgt spid="472069">
                                            <p:txEl>
                                              <p:pRg st="3" end="3"/>
                                            </p:txEl>
                                          </p:spTgt>
                                        </p:tgtEl>
                                        <p:attrNameLst>
                                          <p:attrName>ppt_y</p:attrName>
                                        </p:attrNameLst>
                                      </p:cBhvr>
                                      <p:tavLst>
                                        <p:tav tm="0">
                                          <p:val>
                                            <p:strVal val="#ppt_y+#ppt_h*1.125000"/>
                                          </p:val>
                                        </p:tav>
                                        <p:tav tm="100000">
                                          <p:val>
                                            <p:strVal val="#ppt_y"/>
                                          </p:val>
                                        </p:tav>
                                      </p:tavLst>
                                    </p:anim>
                                    <p:animEffect transition="in" filter="wipe(up)">
                                      <p:cBhvr>
                                        <p:cTn id="26" dur="500"/>
                                        <p:tgtEl>
                                          <p:spTgt spid="472069">
                                            <p:txEl>
                                              <p:pRg st="3" end="3"/>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2" presetClass="entr" presetSubtype="4" fill="hold" grpId="0" nodeType="clickEffect">
                                  <p:stCondLst>
                                    <p:cond delay="0"/>
                                  </p:stCondLst>
                                  <p:childTnLst>
                                    <p:set>
                                      <p:cBhvr>
                                        <p:cTn id="30" dur="1" fill="hold">
                                          <p:stCondLst>
                                            <p:cond delay="0"/>
                                          </p:stCondLst>
                                        </p:cTn>
                                        <p:tgtEl>
                                          <p:spTgt spid="472069">
                                            <p:txEl>
                                              <p:pRg st="4" end="4"/>
                                            </p:txEl>
                                          </p:spTgt>
                                        </p:tgtEl>
                                        <p:attrNameLst>
                                          <p:attrName>style.visibility</p:attrName>
                                        </p:attrNameLst>
                                      </p:cBhvr>
                                      <p:to>
                                        <p:strVal val="visible"/>
                                      </p:to>
                                    </p:set>
                                    <p:anim calcmode="lin" valueType="num">
                                      <p:cBhvr additive="base">
                                        <p:cTn id="31" dur="500"/>
                                        <p:tgtEl>
                                          <p:spTgt spid="472069">
                                            <p:txEl>
                                              <p:pRg st="4" end="4"/>
                                            </p:txEl>
                                          </p:spTgt>
                                        </p:tgtEl>
                                        <p:attrNameLst>
                                          <p:attrName>ppt_y</p:attrName>
                                        </p:attrNameLst>
                                      </p:cBhvr>
                                      <p:tavLst>
                                        <p:tav tm="0">
                                          <p:val>
                                            <p:strVal val="#ppt_y+#ppt_h*1.125000"/>
                                          </p:val>
                                        </p:tav>
                                        <p:tav tm="100000">
                                          <p:val>
                                            <p:strVal val="#ppt_y"/>
                                          </p:val>
                                        </p:tav>
                                      </p:tavLst>
                                    </p:anim>
                                    <p:animEffect transition="in" filter="wipe(up)">
                                      <p:cBhvr>
                                        <p:cTn id="32" dur="500"/>
                                        <p:tgtEl>
                                          <p:spTgt spid="47206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2069" grpId="0" build="p" bldLvl="3" autoUpdateAnimBg="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9908" name="Title 1">
            <a:extLst>
              <a:ext uri="{FF2B5EF4-FFF2-40B4-BE49-F238E27FC236}">
                <a16:creationId xmlns:a16="http://schemas.microsoft.com/office/drawing/2014/main" id="{2C798C9E-43D7-4864-9AAC-57C293F90424}"/>
              </a:ext>
            </a:extLst>
          </p:cNvPr>
          <p:cNvSpPr>
            <a:spLocks/>
          </p:cNvSpPr>
          <p:nvPr/>
        </p:nvSpPr>
        <p:spPr bwMode="auto">
          <a:xfrm>
            <a:off x="1143000" y="2"/>
            <a:ext cx="9906000" cy="1000125"/>
          </a:xfrm>
          <a:prstGeom prst="rect">
            <a:avLst/>
          </a:prstGeom>
          <a:noFill/>
          <a:ln>
            <a:noFill/>
          </a:ln>
          <a:effectLst>
            <a:outerShdw dist="12700" dir="2700000" algn="ctr" rotWithShape="0">
              <a:srgbClr val="000000"/>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82800" anchor="b"/>
          <a:lstStyle>
            <a:lvl1pPr algn="ctr">
              <a:defRPr sz="3800">
                <a:solidFill>
                  <a:srgbClr val="6E853F"/>
                </a:solidFill>
                <a:latin typeface="Arial" panose="020B0604020202020204" pitchFamily="34" charset="0"/>
              </a:defRPr>
            </a:lvl1pPr>
            <a:lvl2pPr algn="ctr">
              <a:defRPr sz="3800">
                <a:solidFill>
                  <a:srgbClr val="6E853F"/>
                </a:solidFill>
                <a:latin typeface="Arial" panose="020B0604020202020204" pitchFamily="34" charset="0"/>
              </a:defRPr>
            </a:lvl2pPr>
            <a:lvl3pPr algn="ctr">
              <a:defRPr sz="3800">
                <a:solidFill>
                  <a:srgbClr val="6E853F"/>
                </a:solidFill>
                <a:latin typeface="Arial" panose="020B0604020202020204" pitchFamily="34" charset="0"/>
              </a:defRPr>
            </a:lvl3pPr>
            <a:lvl4pPr algn="ctr">
              <a:defRPr sz="3800">
                <a:solidFill>
                  <a:srgbClr val="6E853F"/>
                </a:solidFill>
                <a:latin typeface="Arial" panose="020B0604020202020204" pitchFamily="34" charset="0"/>
              </a:defRPr>
            </a:lvl4pPr>
            <a:lvl5pPr algn="ctr">
              <a:defRPr sz="3800">
                <a:solidFill>
                  <a:srgbClr val="6E853F"/>
                </a:solidFill>
                <a:latin typeface="Arial" panose="020B0604020202020204" pitchFamily="34" charset="0"/>
              </a:defRPr>
            </a:lvl5pPr>
            <a:lvl6pPr marL="457200" algn="ctr" eaLnBrk="0" fontAlgn="base" hangingPunct="0">
              <a:spcBef>
                <a:spcPct val="0"/>
              </a:spcBef>
              <a:spcAft>
                <a:spcPct val="0"/>
              </a:spcAft>
              <a:defRPr sz="3800">
                <a:solidFill>
                  <a:srgbClr val="6E853F"/>
                </a:solidFill>
                <a:latin typeface="Arial" panose="020B0604020202020204" pitchFamily="34" charset="0"/>
              </a:defRPr>
            </a:lvl6pPr>
            <a:lvl7pPr marL="914400" algn="ctr" eaLnBrk="0" fontAlgn="base" hangingPunct="0">
              <a:spcBef>
                <a:spcPct val="0"/>
              </a:spcBef>
              <a:spcAft>
                <a:spcPct val="0"/>
              </a:spcAft>
              <a:defRPr sz="3800">
                <a:solidFill>
                  <a:srgbClr val="6E853F"/>
                </a:solidFill>
                <a:latin typeface="Arial" panose="020B0604020202020204" pitchFamily="34" charset="0"/>
              </a:defRPr>
            </a:lvl7pPr>
            <a:lvl8pPr marL="1371600" algn="ctr" eaLnBrk="0" fontAlgn="base" hangingPunct="0">
              <a:spcBef>
                <a:spcPct val="0"/>
              </a:spcBef>
              <a:spcAft>
                <a:spcPct val="0"/>
              </a:spcAft>
              <a:defRPr sz="3800">
                <a:solidFill>
                  <a:srgbClr val="6E853F"/>
                </a:solidFill>
                <a:latin typeface="Arial" panose="020B0604020202020204" pitchFamily="34" charset="0"/>
              </a:defRPr>
            </a:lvl8pPr>
            <a:lvl9pPr marL="1828800" algn="ctr" eaLnBrk="0" fontAlgn="base" hangingPunct="0">
              <a:spcBef>
                <a:spcPct val="0"/>
              </a:spcBef>
              <a:spcAft>
                <a:spcPct val="0"/>
              </a:spcAft>
              <a:defRPr sz="3800">
                <a:solidFill>
                  <a:srgbClr val="6E853F"/>
                </a:solidFill>
                <a:latin typeface="Arial" panose="020B0604020202020204" pitchFamily="34" charset="0"/>
              </a:defRPr>
            </a:lvl9pPr>
          </a:lstStyle>
          <a:p>
            <a:pPr eaLnBrk="1" hangingPunct="1"/>
            <a:r>
              <a:rPr lang="en-GB" altLang="en-US" sz="2800" b="1" dirty="0">
                <a:solidFill>
                  <a:schemeClr val="tx1"/>
                </a:solidFill>
                <a:cs typeface="Times New Roman" panose="02020603050405020304" pitchFamily="18" charset="0"/>
              </a:rPr>
              <a:t>UK GDP at market prices</a:t>
            </a:r>
            <a:br>
              <a:rPr lang="en-GB" altLang="en-US" sz="2800" b="1" dirty="0">
                <a:solidFill>
                  <a:schemeClr val="tx1"/>
                </a:solidFill>
                <a:cs typeface="Times New Roman" panose="02020603050405020304" pitchFamily="18" charset="0"/>
              </a:rPr>
            </a:br>
            <a:r>
              <a:rPr lang="en-GB" altLang="en-US" sz="2800" b="1" dirty="0">
                <a:solidFill>
                  <a:schemeClr val="tx1"/>
                </a:solidFill>
                <a:cs typeface="Times New Roman" panose="02020603050405020304" pitchFamily="18" charset="0"/>
              </a:rPr>
              <a:t>by category of expenditure: 2020</a:t>
            </a:r>
            <a:r>
              <a:rPr lang="en-GB" altLang="en-US" sz="2800" b="1" dirty="0">
                <a:solidFill>
                  <a:schemeClr val="tx1"/>
                </a:solidFill>
                <a:cs typeface="Arial" panose="020B0604020202020204" pitchFamily="34" charset="0"/>
              </a:rPr>
              <a:t> </a:t>
            </a:r>
          </a:p>
        </p:txBody>
      </p:sp>
      <p:graphicFrame>
        <p:nvGraphicFramePr>
          <p:cNvPr id="3" name="Object 2">
            <a:extLst>
              <a:ext uri="{FF2B5EF4-FFF2-40B4-BE49-F238E27FC236}">
                <a16:creationId xmlns:a16="http://schemas.microsoft.com/office/drawing/2014/main" id="{C2B9990A-A45B-4E8C-A16D-EED6769F7E3D}"/>
              </a:ext>
            </a:extLst>
          </p:cNvPr>
          <p:cNvGraphicFramePr>
            <a:graphicFrameLocks noChangeAspect="1"/>
          </p:cNvGraphicFramePr>
          <p:nvPr/>
        </p:nvGraphicFramePr>
        <p:xfrm>
          <a:off x="1108481" y="1192491"/>
          <a:ext cx="11108199" cy="5354423"/>
        </p:xfrm>
        <a:graphic>
          <a:graphicData uri="http://schemas.openxmlformats.org/presentationml/2006/ole">
            <mc:AlternateContent xmlns:mc="http://schemas.openxmlformats.org/markup-compatibility/2006">
              <mc:Choice xmlns:v="urn:schemas-microsoft-com:vml" Requires="v">
                <p:oleObj name="Document" r:id="rId3" imgW="5739677" imgH="2766691" progId="Word.Document.12">
                  <p:embed/>
                </p:oleObj>
              </mc:Choice>
              <mc:Fallback>
                <p:oleObj name="Document" r:id="rId3" imgW="5739677" imgH="2766691" progId="Word.Document.12">
                  <p:embed/>
                  <p:pic>
                    <p:nvPicPr>
                      <p:cNvPr id="3" name="Object 2">
                        <a:extLst>
                          <a:ext uri="{FF2B5EF4-FFF2-40B4-BE49-F238E27FC236}">
                            <a16:creationId xmlns:a16="http://schemas.microsoft.com/office/drawing/2014/main" id="{C2B9990A-A45B-4E8C-A16D-EED6769F7E3D}"/>
                          </a:ext>
                        </a:extLst>
                      </p:cNvPr>
                      <p:cNvPicPr/>
                      <p:nvPr/>
                    </p:nvPicPr>
                    <p:blipFill>
                      <a:blip r:embed="rId4"/>
                      <a:stretch>
                        <a:fillRect/>
                      </a:stretch>
                    </p:blipFill>
                    <p:spPr>
                      <a:xfrm>
                        <a:off x="1108481" y="1192491"/>
                        <a:ext cx="11108199" cy="5354423"/>
                      </a:xfrm>
                      <a:prstGeom prst="rect">
                        <a:avLst/>
                      </a:prstGeom>
                    </p:spPr>
                  </p:pic>
                </p:oleObj>
              </mc:Fallback>
            </mc:AlternateContent>
          </a:graphicData>
        </a:graphic>
      </p:graphicFrame>
      <p:sp>
        <p:nvSpPr>
          <p:cNvPr id="5" name="Rectangle 6">
            <a:extLst>
              <a:ext uri="{FF2B5EF4-FFF2-40B4-BE49-F238E27FC236}">
                <a16:creationId xmlns:a16="http://schemas.microsoft.com/office/drawing/2014/main" id="{1D16E6FC-D3E2-43C8-8B55-DA7F959673E7}"/>
              </a:ext>
            </a:extLst>
          </p:cNvPr>
          <p:cNvSpPr>
            <a:spLocks noChangeArrowheads="1"/>
          </p:cNvSpPr>
          <p:nvPr/>
        </p:nvSpPr>
        <p:spPr bwMode="auto">
          <a:xfrm>
            <a:off x="1055440" y="6453336"/>
            <a:ext cx="961256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GB" altLang="en-US" sz="1200" dirty="0">
                <a:solidFill>
                  <a:schemeClr val="bg1">
                    <a:lumMod val="50000"/>
                  </a:schemeClr>
                </a:solidFill>
                <a:latin typeface="Arial" panose="020B0604020202020204" pitchFamily="34" charset="0"/>
                <a:cs typeface="Arial" panose="020B0604020202020204" pitchFamily="34" charset="0"/>
              </a:rPr>
              <a:t>Source: </a:t>
            </a:r>
            <a:r>
              <a:rPr lang="en-GB" sz="1200" i="1" u="sng" dirty="0">
                <a:solidFill>
                  <a:schemeClr val="bg1">
                    <a:lumMod val="50000"/>
                  </a:schemeClr>
                </a:solidFill>
                <a:latin typeface="Arial" panose="020B0604020202020204" pitchFamily="34" charset="0"/>
                <a:cs typeface="Arial" panose="020B0604020202020204" pitchFamily="34" charset="0"/>
                <a:hlinkClick r:id="rId5">
                  <a:extLst>
                    <a:ext uri="{A12FA001-AC4F-418D-AE19-62706E023703}">
                      <ahyp:hlinkClr xmlns:ahyp="http://schemas.microsoft.com/office/drawing/2018/hyperlinkcolor" val="tx"/>
                    </a:ext>
                  </a:extLst>
                </a:hlinkClick>
              </a:rPr>
              <a:t>UK Economic Accounts time series dataset</a:t>
            </a:r>
            <a:r>
              <a:rPr lang="en-GB" sz="1200" dirty="0">
                <a:solidFill>
                  <a:schemeClr val="bg1">
                    <a:lumMod val="50000"/>
                  </a:schemeClr>
                </a:solidFill>
                <a:latin typeface="Arial" panose="020B0604020202020204" pitchFamily="34" charset="0"/>
                <a:cs typeface="Arial" panose="020B0604020202020204" pitchFamily="34" charset="0"/>
              </a:rPr>
              <a:t> </a:t>
            </a:r>
            <a:r>
              <a:rPr lang="en-GB" altLang="en-US" sz="1200" dirty="0">
                <a:solidFill>
                  <a:schemeClr val="bg1">
                    <a:lumMod val="50000"/>
                  </a:schemeClr>
                </a:solidFill>
                <a:latin typeface="Arial" panose="020B0604020202020204" pitchFamily="34" charset="0"/>
                <a:cs typeface="Arial" panose="020B0604020202020204" pitchFamily="34" charset="0"/>
              </a:rPr>
              <a:t>(National Statistics)</a:t>
            </a:r>
          </a:p>
        </p:txBody>
      </p:sp>
    </p:spTree>
    <p:extLst>
      <p:ext uri="{BB962C8B-B14F-4D97-AF65-F5344CB8AC3E}">
        <p14:creationId xmlns:p14="http://schemas.microsoft.com/office/powerpoint/2010/main" val="2434018469"/>
      </p:ext>
    </p:extLst>
  </p:cSld>
  <p:clrMapOvr>
    <a:masterClrMapping/>
  </p:clrMapOvr>
  <mc:AlternateContent xmlns:mc="http://schemas.openxmlformats.org/markup-compatibility/2006" xmlns:p14="http://schemas.microsoft.com/office/powerpoint/2010/main">
    <mc:Choice Requires="p14">
      <p:transition spd="slow" p14:dur="1500">
        <p:wipe dir="d"/>
      </p:transition>
    </mc:Choice>
    <mc:Fallback xmlns="">
      <p:transition spd="slow">
        <p:wipe dir="d"/>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72068" name="Rectangle 4">
            <a:extLst>
              <a:ext uri="{FF2B5EF4-FFF2-40B4-BE49-F238E27FC236}">
                <a16:creationId xmlns:a16="http://schemas.microsoft.com/office/drawing/2014/main" id="{F2EC2935-2BD8-4779-91CF-CFA5198014C6}"/>
              </a:ext>
            </a:extLst>
          </p:cNvPr>
          <p:cNvSpPr>
            <a:spLocks noGrp="1"/>
          </p:cNvSpPr>
          <p:nvPr>
            <p:ph type="title"/>
          </p:nvPr>
        </p:nvSpPr>
        <p:spPr/>
        <p:txBody>
          <a:bodyPr/>
          <a:lstStyle/>
          <a:p>
            <a:r>
              <a:rPr lang="en-GB" altLang="en-US" dirty="0"/>
              <a:t>Measuring National Income and Output</a:t>
            </a:r>
          </a:p>
        </p:txBody>
      </p:sp>
      <p:sp>
        <p:nvSpPr>
          <p:cNvPr id="472069" name="Rectangle 5">
            <a:extLst>
              <a:ext uri="{FF2B5EF4-FFF2-40B4-BE49-F238E27FC236}">
                <a16:creationId xmlns:a16="http://schemas.microsoft.com/office/drawing/2014/main" id="{FE1C230A-ACE6-49DF-902B-F325BE4DADFE}"/>
              </a:ext>
            </a:extLst>
          </p:cNvPr>
          <p:cNvSpPr>
            <a:spLocks noGrp="1"/>
          </p:cNvSpPr>
          <p:nvPr>
            <p:ph sz="quarter" idx="1"/>
          </p:nvPr>
        </p:nvSpPr>
        <p:spPr>
          <a:xfrm>
            <a:off x="402336" y="1700808"/>
            <a:ext cx="11338560" cy="4398240"/>
          </a:xfrm>
        </p:spPr>
        <p:txBody>
          <a:bodyPr/>
          <a:lstStyle/>
          <a:p>
            <a:pPr>
              <a:spcBef>
                <a:spcPts val="1500"/>
              </a:spcBef>
            </a:pPr>
            <a:r>
              <a:rPr lang="en-GB" altLang="en-US" noProof="1">
                <a:latin typeface="+mn-lt"/>
              </a:rPr>
              <a:t>Gross national income at market prices (GNY)</a:t>
            </a:r>
          </a:p>
          <a:p>
            <a:pPr marL="274638" lvl="1" indent="0">
              <a:spcBef>
                <a:spcPts val="600"/>
              </a:spcBef>
              <a:buNone/>
            </a:pPr>
            <a:r>
              <a:rPr lang="en-GB" dirty="0">
                <a:latin typeface="+mn-lt"/>
              </a:rPr>
              <a:t>= GDP at market prices + Net income from abroad</a:t>
            </a:r>
          </a:p>
          <a:p>
            <a:pPr>
              <a:spcBef>
                <a:spcPts val="2400"/>
              </a:spcBef>
            </a:pPr>
            <a:r>
              <a:rPr lang="en-GB" altLang="en-US" noProof="1">
                <a:latin typeface="+mn-lt"/>
              </a:rPr>
              <a:t>Net national income (NNY)</a:t>
            </a:r>
          </a:p>
          <a:p>
            <a:pPr marL="274638" lvl="1" indent="0">
              <a:spcBef>
                <a:spcPts val="1200"/>
              </a:spcBef>
              <a:buNone/>
            </a:pPr>
            <a:r>
              <a:rPr lang="en-GB" dirty="0">
                <a:latin typeface="+mn-lt"/>
              </a:rPr>
              <a:t>= GNY at market prices − Depreciation</a:t>
            </a:r>
          </a:p>
          <a:p>
            <a:pPr>
              <a:spcBef>
                <a:spcPts val="2400"/>
              </a:spcBef>
            </a:pPr>
            <a:r>
              <a:rPr lang="en-GB" altLang="en-US" noProof="1">
                <a:latin typeface="+mn-lt"/>
              </a:rPr>
              <a:t>Household disposable income</a:t>
            </a:r>
          </a:p>
          <a:p>
            <a:pPr marL="274638" lvl="1" indent="0">
              <a:spcBef>
                <a:spcPts val="600"/>
              </a:spcBef>
              <a:buNone/>
            </a:pPr>
            <a:r>
              <a:rPr lang="en-GB" dirty="0">
                <a:latin typeface="+mn-lt"/>
              </a:rPr>
              <a:t>= GNY at market prices − Taxes paid by firms + Subsidies received by firms − Depreciation − Undistributed profits − Personal taxes + Benefits</a:t>
            </a:r>
            <a:endParaRPr lang="en-GB" altLang="en-US" noProof="1">
              <a:latin typeface="+mn-lt"/>
            </a:endParaRPr>
          </a:p>
          <a:p>
            <a:pPr marL="274638" lvl="1" indent="0">
              <a:spcBef>
                <a:spcPts val="600"/>
              </a:spcBef>
              <a:buNone/>
            </a:pPr>
            <a:endParaRPr lang="en-GB" altLang="en-US" noProof="1"/>
          </a:p>
        </p:txBody>
      </p:sp>
    </p:spTree>
    <p:extLst>
      <p:ext uri="{BB962C8B-B14F-4D97-AF65-F5344CB8AC3E}">
        <p14:creationId xmlns:p14="http://schemas.microsoft.com/office/powerpoint/2010/main" val="2971864845"/>
      </p:ext>
    </p:extLst>
  </p:cSld>
  <p:clrMapOvr>
    <a:masterClrMapping/>
  </p:clrMapOvr>
  <p:transition spd="med">
    <p:pull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472069">
                                            <p:txEl>
                                              <p:pRg st="0" end="0"/>
                                            </p:txEl>
                                          </p:spTgt>
                                        </p:tgtEl>
                                        <p:attrNameLst>
                                          <p:attrName>style.visibility</p:attrName>
                                        </p:attrNameLst>
                                      </p:cBhvr>
                                      <p:to>
                                        <p:strVal val="visible"/>
                                      </p:to>
                                    </p:set>
                                    <p:anim calcmode="lin" valueType="num">
                                      <p:cBhvr additive="base">
                                        <p:cTn id="7" dur="500"/>
                                        <p:tgtEl>
                                          <p:spTgt spid="472069">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472069">
                                            <p:txEl>
                                              <p:pRg st="0" end="0"/>
                                            </p:txEl>
                                          </p:spTgt>
                                        </p:tgtEl>
                                      </p:cBhvr>
                                    </p:animEffect>
                                  </p:childTnLst>
                                </p:cTn>
                              </p:par>
                              <p:par>
                                <p:cTn id="9" presetID="12" presetClass="entr" presetSubtype="4" fill="hold" grpId="0" nodeType="withEffect">
                                  <p:stCondLst>
                                    <p:cond delay="0"/>
                                  </p:stCondLst>
                                  <p:childTnLst>
                                    <p:set>
                                      <p:cBhvr>
                                        <p:cTn id="10" dur="1" fill="hold">
                                          <p:stCondLst>
                                            <p:cond delay="0"/>
                                          </p:stCondLst>
                                        </p:cTn>
                                        <p:tgtEl>
                                          <p:spTgt spid="472069">
                                            <p:txEl>
                                              <p:pRg st="1" end="1"/>
                                            </p:txEl>
                                          </p:spTgt>
                                        </p:tgtEl>
                                        <p:attrNameLst>
                                          <p:attrName>style.visibility</p:attrName>
                                        </p:attrNameLst>
                                      </p:cBhvr>
                                      <p:to>
                                        <p:strVal val="visible"/>
                                      </p:to>
                                    </p:set>
                                    <p:anim calcmode="lin" valueType="num">
                                      <p:cBhvr additive="base">
                                        <p:cTn id="11" dur="500"/>
                                        <p:tgtEl>
                                          <p:spTgt spid="472069">
                                            <p:txEl>
                                              <p:pRg st="1" end="1"/>
                                            </p:txEl>
                                          </p:spTgt>
                                        </p:tgtEl>
                                        <p:attrNameLst>
                                          <p:attrName>ppt_y</p:attrName>
                                        </p:attrNameLst>
                                      </p:cBhvr>
                                      <p:tavLst>
                                        <p:tav tm="0">
                                          <p:val>
                                            <p:strVal val="#ppt_y+#ppt_h*1.125000"/>
                                          </p:val>
                                        </p:tav>
                                        <p:tav tm="100000">
                                          <p:val>
                                            <p:strVal val="#ppt_y"/>
                                          </p:val>
                                        </p:tav>
                                      </p:tavLst>
                                    </p:anim>
                                    <p:animEffect transition="in" filter="wipe(up)">
                                      <p:cBhvr>
                                        <p:cTn id="12" dur="500"/>
                                        <p:tgtEl>
                                          <p:spTgt spid="47206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grpId="0" nodeType="clickEffect">
                                  <p:stCondLst>
                                    <p:cond delay="0"/>
                                  </p:stCondLst>
                                  <p:childTnLst>
                                    <p:set>
                                      <p:cBhvr>
                                        <p:cTn id="16" dur="1" fill="hold">
                                          <p:stCondLst>
                                            <p:cond delay="0"/>
                                          </p:stCondLst>
                                        </p:cTn>
                                        <p:tgtEl>
                                          <p:spTgt spid="472069">
                                            <p:txEl>
                                              <p:pRg st="2" end="2"/>
                                            </p:txEl>
                                          </p:spTgt>
                                        </p:tgtEl>
                                        <p:attrNameLst>
                                          <p:attrName>style.visibility</p:attrName>
                                        </p:attrNameLst>
                                      </p:cBhvr>
                                      <p:to>
                                        <p:strVal val="visible"/>
                                      </p:to>
                                    </p:set>
                                    <p:anim calcmode="lin" valueType="num">
                                      <p:cBhvr additive="base">
                                        <p:cTn id="17" dur="500"/>
                                        <p:tgtEl>
                                          <p:spTgt spid="472069">
                                            <p:txEl>
                                              <p:pRg st="2" end="2"/>
                                            </p:txEl>
                                          </p:spTgt>
                                        </p:tgtEl>
                                        <p:attrNameLst>
                                          <p:attrName>ppt_y</p:attrName>
                                        </p:attrNameLst>
                                      </p:cBhvr>
                                      <p:tavLst>
                                        <p:tav tm="0">
                                          <p:val>
                                            <p:strVal val="#ppt_y+#ppt_h*1.125000"/>
                                          </p:val>
                                        </p:tav>
                                        <p:tav tm="100000">
                                          <p:val>
                                            <p:strVal val="#ppt_y"/>
                                          </p:val>
                                        </p:tav>
                                      </p:tavLst>
                                    </p:anim>
                                    <p:animEffect transition="in" filter="wipe(up)">
                                      <p:cBhvr>
                                        <p:cTn id="18" dur="500"/>
                                        <p:tgtEl>
                                          <p:spTgt spid="472069">
                                            <p:txEl>
                                              <p:pRg st="2" end="2"/>
                                            </p:txEl>
                                          </p:spTgt>
                                        </p:tgtEl>
                                      </p:cBhvr>
                                    </p:animEffect>
                                  </p:childTnLst>
                                </p:cTn>
                              </p:par>
                              <p:par>
                                <p:cTn id="19" presetID="12" presetClass="entr" presetSubtype="4" fill="hold" grpId="0" nodeType="withEffect">
                                  <p:stCondLst>
                                    <p:cond delay="0"/>
                                  </p:stCondLst>
                                  <p:childTnLst>
                                    <p:set>
                                      <p:cBhvr>
                                        <p:cTn id="20" dur="1" fill="hold">
                                          <p:stCondLst>
                                            <p:cond delay="0"/>
                                          </p:stCondLst>
                                        </p:cTn>
                                        <p:tgtEl>
                                          <p:spTgt spid="472069">
                                            <p:txEl>
                                              <p:pRg st="3" end="3"/>
                                            </p:txEl>
                                          </p:spTgt>
                                        </p:tgtEl>
                                        <p:attrNameLst>
                                          <p:attrName>style.visibility</p:attrName>
                                        </p:attrNameLst>
                                      </p:cBhvr>
                                      <p:to>
                                        <p:strVal val="visible"/>
                                      </p:to>
                                    </p:set>
                                    <p:anim calcmode="lin" valueType="num">
                                      <p:cBhvr additive="base">
                                        <p:cTn id="21" dur="500"/>
                                        <p:tgtEl>
                                          <p:spTgt spid="472069">
                                            <p:txEl>
                                              <p:pRg st="3" end="3"/>
                                            </p:txEl>
                                          </p:spTgt>
                                        </p:tgtEl>
                                        <p:attrNameLst>
                                          <p:attrName>ppt_y</p:attrName>
                                        </p:attrNameLst>
                                      </p:cBhvr>
                                      <p:tavLst>
                                        <p:tav tm="0">
                                          <p:val>
                                            <p:strVal val="#ppt_y+#ppt_h*1.125000"/>
                                          </p:val>
                                        </p:tav>
                                        <p:tav tm="100000">
                                          <p:val>
                                            <p:strVal val="#ppt_y"/>
                                          </p:val>
                                        </p:tav>
                                      </p:tavLst>
                                    </p:anim>
                                    <p:animEffect transition="in" filter="wipe(up)">
                                      <p:cBhvr>
                                        <p:cTn id="22" dur="500"/>
                                        <p:tgtEl>
                                          <p:spTgt spid="472069">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2" presetClass="entr" presetSubtype="4" fill="hold" grpId="0" nodeType="clickEffect">
                                  <p:stCondLst>
                                    <p:cond delay="0"/>
                                  </p:stCondLst>
                                  <p:childTnLst>
                                    <p:set>
                                      <p:cBhvr>
                                        <p:cTn id="26" dur="1" fill="hold">
                                          <p:stCondLst>
                                            <p:cond delay="0"/>
                                          </p:stCondLst>
                                        </p:cTn>
                                        <p:tgtEl>
                                          <p:spTgt spid="472069">
                                            <p:txEl>
                                              <p:pRg st="4" end="4"/>
                                            </p:txEl>
                                          </p:spTgt>
                                        </p:tgtEl>
                                        <p:attrNameLst>
                                          <p:attrName>style.visibility</p:attrName>
                                        </p:attrNameLst>
                                      </p:cBhvr>
                                      <p:to>
                                        <p:strVal val="visible"/>
                                      </p:to>
                                    </p:set>
                                    <p:anim calcmode="lin" valueType="num">
                                      <p:cBhvr additive="base">
                                        <p:cTn id="27" dur="500"/>
                                        <p:tgtEl>
                                          <p:spTgt spid="472069">
                                            <p:txEl>
                                              <p:pRg st="4" end="4"/>
                                            </p:txEl>
                                          </p:spTgt>
                                        </p:tgtEl>
                                        <p:attrNameLst>
                                          <p:attrName>ppt_y</p:attrName>
                                        </p:attrNameLst>
                                      </p:cBhvr>
                                      <p:tavLst>
                                        <p:tav tm="0">
                                          <p:val>
                                            <p:strVal val="#ppt_y+#ppt_h*1.125000"/>
                                          </p:val>
                                        </p:tav>
                                        <p:tav tm="100000">
                                          <p:val>
                                            <p:strVal val="#ppt_y"/>
                                          </p:val>
                                        </p:tav>
                                      </p:tavLst>
                                    </p:anim>
                                    <p:animEffect transition="in" filter="wipe(up)">
                                      <p:cBhvr>
                                        <p:cTn id="28" dur="500"/>
                                        <p:tgtEl>
                                          <p:spTgt spid="472069">
                                            <p:txEl>
                                              <p:pRg st="4" end="4"/>
                                            </p:txEl>
                                          </p:spTgt>
                                        </p:tgtEl>
                                      </p:cBhvr>
                                    </p:animEffect>
                                  </p:childTnLst>
                                </p:cTn>
                              </p:par>
                              <p:par>
                                <p:cTn id="29" presetID="12" presetClass="entr" presetSubtype="4" fill="hold" grpId="0" nodeType="withEffect">
                                  <p:stCondLst>
                                    <p:cond delay="0"/>
                                  </p:stCondLst>
                                  <p:childTnLst>
                                    <p:set>
                                      <p:cBhvr>
                                        <p:cTn id="30" dur="1" fill="hold">
                                          <p:stCondLst>
                                            <p:cond delay="0"/>
                                          </p:stCondLst>
                                        </p:cTn>
                                        <p:tgtEl>
                                          <p:spTgt spid="472069">
                                            <p:txEl>
                                              <p:pRg st="5" end="5"/>
                                            </p:txEl>
                                          </p:spTgt>
                                        </p:tgtEl>
                                        <p:attrNameLst>
                                          <p:attrName>style.visibility</p:attrName>
                                        </p:attrNameLst>
                                      </p:cBhvr>
                                      <p:to>
                                        <p:strVal val="visible"/>
                                      </p:to>
                                    </p:set>
                                    <p:anim calcmode="lin" valueType="num">
                                      <p:cBhvr additive="base">
                                        <p:cTn id="31" dur="500"/>
                                        <p:tgtEl>
                                          <p:spTgt spid="472069">
                                            <p:txEl>
                                              <p:pRg st="5" end="5"/>
                                            </p:txEl>
                                          </p:spTgt>
                                        </p:tgtEl>
                                        <p:attrNameLst>
                                          <p:attrName>ppt_y</p:attrName>
                                        </p:attrNameLst>
                                      </p:cBhvr>
                                      <p:tavLst>
                                        <p:tav tm="0">
                                          <p:val>
                                            <p:strVal val="#ppt_y+#ppt_h*1.125000"/>
                                          </p:val>
                                        </p:tav>
                                        <p:tav tm="100000">
                                          <p:val>
                                            <p:strVal val="#ppt_y"/>
                                          </p:val>
                                        </p:tav>
                                      </p:tavLst>
                                    </p:anim>
                                    <p:animEffect transition="in" filter="wipe(up)">
                                      <p:cBhvr>
                                        <p:cTn id="32" dur="500"/>
                                        <p:tgtEl>
                                          <p:spTgt spid="47206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2069" grpId="0" build="p" autoUpdateAnimBg="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Object 1046">
            <a:extLst>
              <a:ext uri="{FF2B5EF4-FFF2-40B4-BE49-F238E27FC236}">
                <a16:creationId xmlns:a16="http://schemas.microsoft.com/office/drawing/2014/main" id="{E4A8C6BA-E2D7-475A-B6B0-5654F4ABFEA6}"/>
              </a:ext>
            </a:extLst>
          </p:cNvPr>
          <p:cNvGraphicFramePr>
            <a:graphicFrameLocks noChangeAspect="1"/>
          </p:cNvGraphicFramePr>
          <p:nvPr/>
        </p:nvGraphicFramePr>
        <p:xfrm>
          <a:off x="2051248" y="1268413"/>
          <a:ext cx="8077200" cy="5291137"/>
        </p:xfrm>
        <a:graphic>
          <a:graphicData uri="http://schemas.openxmlformats.org/presentationml/2006/ole">
            <mc:AlternateContent xmlns:mc="http://schemas.openxmlformats.org/markup-compatibility/2006">
              <mc:Choice xmlns:v="urn:schemas-microsoft-com:vml" Requires="v">
                <p:oleObj name="Document" r:id="rId3" imgW="5433120" imgH="2717640" progId="Word.Document.12">
                  <p:embed/>
                </p:oleObj>
              </mc:Choice>
              <mc:Fallback>
                <p:oleObj name="Document" r:id="rId3" imgW="5433120" imgH="2717640" progId="Word.Document.12">
                  <p:embed/>
                  <p:pic>
                    <p:nvPicPr>
                      <p:cNvPr id="12" name="Object 1046">
                        <a:extLst>
                          <a:ext uri="{FF2B5EF4-FFF2-40B4-BE49-F238E27FC236}">
                            <a16:creationId xmlns:a16="http://schemas.microsoft.com/office/drawing/2014/main" id="{E4A8C6BA-E2D7-475A-B6B0-5654F4ABFEA6}"/>
                          </a:ext>
                        </a:extLst>
                      </p:cNvPr>
                      <p:cNvPicPr>
                        <a:picLocks noChangeAspect="1" noChangeArrowheads="1"/>
                      </p:cNvPicPr>
                      <p:nvPr/>
                    </p:nvPicPr>
                    <p:blipFill>
                      <a:blip r:embed="rId4"/>
                      <a:srcRect l="-937" r="27313" b="3641"/>
                      <a:stretch>
                        <a:fillRect/>
                      </a:stretch>
                    </p:blipFill>
                    <p:spPr bwMode="auto">
                      <a:xfrm>
                        <a:off x="2051248" y="1268413"/>
                        <a:ext cx="8077200" cy="5291137"/>
                      </a:xfrm>
                      <a:prstGeom prst="rect">
                        <a:avLst/>
                      </a:prstGeom>
                      <a:noFill/>
                      <a:ln>
                        <a:noFill/>
                      </a:ln>
                      <a:effectLst/>
                    </p:spPr>
                  </p:pic>
                </p:oleObj>
              </mc:Fallback>
            </mc:AlternateContent>
          </a:graphicData>
        </a:graphic>
      </p:graphicFrame>
      <p:sp>
        <p:nvSpPr>
          <p:cNvPr id="375832" name="Title 1">
            <a:extLst>
              <a:ext uri="{FF2B5EF4-FFF2-40B4-BE49-F238E27FC236}">
                <a16:creationId xmlns:a16="http://schemas.microsoft.com/office/drawing/2014/main" id="{5D6EFEBA-C2D7-43B5-BC1A-A9F18F71AA3B}"/>
              </a:ext>
            </a:extLst>
          </p:cNvPr>
          <p:cNvSpPr>
            <a:spLocks/>
          </p:cNvSpPr>
          <p:nvPr/>
        </p:nvSpPr>
        <p:spPr bwMode="auto">
          <a:xfrm>
            <a:off x="1143000" y="2"/>
            <a:ext cx="9906000" cy="1015839"/>
          </a:xfrm>
          <a:prstGeom prst="rect">
            <a:avLst/>
          </a:prstGeom>
          <a:noFill/>
          <a:ln>
            <a:noFill/>
          </a:ln>
          <a:effectLst>
            <a:outerShdw dist="12700" dir="2700000" algn="ctr" rotWithShape="0">
              <a:srgbClr val="000000"/>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lgn="ctr">
              <a:defRPr sz="3800">
                <a:solidFill>
                  <a:srgbClr val="6E853F"/>
                </a:solidFill>
                <a:latin typeface="Arial" panose="020B0604020202020204" pitchFamily="34" charset="0"/>
              </a:defRPr>
            </a:lvl1pPr>
            <a:lvl2pPr algn="ctr">
              <a:defRPr sz="3800">
                <a:solidFill>
                  <a:srgbClr val="6E853F"/>
                </a:solidFill>
                <a:latin typeface="Arial" panose="020B0604020202020204" pitchFamily="34" charset="0"/>
              </a:defRPr>
            </a:lvl2pPr>
            <a:lvl3pPr algn="ctr">
              <a:defRPr sz="3800">
                <a:solidFill>
                  <a:srgbClr val="6E853F"/>
                </a:solidFill>
                <a:latin typeface="Arial" panose="020B0604020202020204" pitchFamily="34" charset="0"/>
              </a:defRPr>
            </a:lvl3pPr>
            <a:lvl4pPr algn="ctr">
              <a:defRPr sz="3800">
                <a:solidFill>
                  <a:srgbClr val="6E853F"/>
                </a:solidFill>
                <a:latin typeface="Arial" panose="020B0604020202020204" pitchFamily="34" charset="0"/>
              </a:defRPr>
            </a:lvl4pPr>
            <a:lvl5pPr algn="ctr">
              <a:defRPr sz="3800">
                <a:solidFill>
                  <a:srgbClr val="6E853F"/>
                </a:solidFill>
                <a:latin typeface="Arial" panose="020B0604020202020204" pitchFamily="34" charset="0"/>
              </a:defRPr>
            </a:lvl5pPr>
            <a:lvl6pPr marL="457200" algn="ctr" eaLnBrk="0" fontAlgn="base" hangingPunct="0">
              <a:spcBef>
                <a:spcPct val="0"/>
              </a:spcBef>
              <a:spcAft>
                <a:spcPct val="0"/>
              </a:spcAft>
              <a:defRPr sz="3800">
                <a:solidFill>
                  <a:srgbClr val="6E853F"/>
                </a:solidFill>
                <a:latin typeface="Arial" panose="020B0604020202020204" pitchFamily="34" charset="0"/>
              </a:defRPr>
            </a:lvl6pPr>
            <a:lvl7pPr marL="914400" algn="ctr" eaLnBrk="0" fontAlgn="base" hangingPunct="0">
              <a:spcBef>
                <a:spcPct val="0"/>
              </a:spcBef>
              <a:spcAft>
                <a:spcPct val="0"/>
              </a:spcAft>
              <a:defRPr sz="3800">
                <a:solidFill>
                  <a:srgbClr val="6E853F"/>
                </a:solidFill>
                <a:latin typeface="Arial" panose="020B0604020202020204" pitchFamily="34" charset="0"/>
              </a:defRPr>
            </a:lvl7pPr>
            <a:lvl8pPr marL="1371600" algn="ctr" eaLnBrk="0" fontAlgn="base" hangingPunct="0">
              <a:spcBef>
                <a:spcPct val="0"/>
              </a:spcBef>
              <a:spcAft>
                <a:spcPct val="0"/>
              </a:spcAft>
              <a:defRPr sz="3800">
                <a:solidFill>
                  <a:srgbClr val="6E853F"/>
                </a:solidFill>
                <a:latin typeface="Arial" panose="020B0604020202020204" pitchFamily="34" charset="0"/>
              </a:defRPr>
            </a:lvl8pPr>
            <a:lvl9pPr marL="1828800" algn="ctr" eaLnBrk="0" fontAlgn="base" hangingPunct="0">
              <a:spcBef>
                <a:spcPct val="0"/>
              </a:spcBef>
              <a:spcAft>
                <a:spcPct val="0"/>
              </a:spcAft>
              <a:defRPr sz="3800">
                <a:solidFill>
                  <a:srgbClr val="6E853F"/>
                </a:solidFill>
                <a:latin typeface="Arial" panose="020B0604020202020204" pitchFamily="34" charset="0"/>
              </a:defRPr>
            </a:lvl9pPr>
          </a:lstStyle>
          <a:p>
            <a:pPr eaLnBrk="1" hangingPunct="1"/>
            <a:r>
              <a:rPr lang="en-GB" altLang="en-US" sz="2800" b="1" dirty="0">
                <a:solidFill>
                  <a:schemeClr val="tx1"/>
                </a:solidFill>
                <a:cs typeface="Arial" panose="020B0604020202020204" pitchFamily="34" charset="0"/>
              </a:rPr>
              <a:t>UK GDP, GNY and NNY and Households’ disposable income at market prices: 2020</a:t>
            </a:r>
          </a:p>
        </p:txBody>
      </p:sp>
      <p:sp>
        <p:nvSpPr>
          <p:cNvPr id="5" name="Rectangle 6">
            <a:extLst>
              <a:ext uri="{FF2B5EF4-FFF2-40B4-BE49-F238E27FC236}">
                <a16:creationId xmlns:a16="http://schemas.microsoft.com/office/drawing/2014/main" id="{16737097-182C-4006-9B13-F8356CA0CDEA}"/>
              </a:ext>
            </a:extLst>
          </p:cNvPr>
          <p:cNvSpPr>
            <a:spLocks noChangeArrowheads="1"/>
          </p:cNvSpPr>
          <p:nvPr/>
        </p:nvSpPr>
        <p:spPr bwMode="auto">
          <a:xfrm>
            <a:off x="1524000" y="6583365"/>
            <a:ext cx="914400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GB" altLang="en-US" sz="1200" dirty="0">
                <a:solidFill>
                  <a:schemeClr val="tx1">
                    <a:lumMod val="50000"/>
                    <a:lumOff val="50000"/>
                  </a:schemeClr>
                </a:solidFill>
                <a:latin typeface="Arial" panose="020B0604020202020204" pitchFamily="34" charset="0"/>
                <a:cs typeface="Arial" panose="020B0604020202020204" pitchFamily="34" charset="0"/>
              </a:rPr>
              <a:t>Source: </a:t>
            </a:r>
            <a:r>
              <a:rPr lang="en-GB" sz="1200" i="1" u="sng" dirty="0">
                <a:solidFill>
                  <a:schemeClr val="tx1">
                    <a:lumMod val="50000"/>
                    <a:lumOff val="50000"/>
                  </a:schemeClr>
                </a:solidFill>
                <a:latin typeface="Arial" panose="020B0604020202020204" pitchFamily="34" charset="0"/>
                <a:cs typeface="Arial" panose="020B0604020202020204" pitchFamily="34" charset="0"/>
                <a:hlinkClick r:id="rId5">
                  <a:extLst>
                    <a:ext uri="{A12FA001-AC4F-418D-AE19-62706E023703}">
                      <ahyp:hlinkClr xmlns:ahyp="http://schemas.microsoft.com/office/drawing/2018/hyperlinkcolor" val="tx"/>
                    </a:ext>
                  </a:extLst>
                </a:hlinkClick>
              </a:rPr>
              <a:t>UK Economic Accounts time series dataset</a:t>
            </a:r>
            <a:r>
              <a:rPr lang="en-GB" sz="1200" dirty="0">
                <a:solidFill>
                  <a:schemeClr val="tx1">
                    <a:lumMod val="50000"/>
                    <a:lumOff val="50000"/>
                  </a:schemeClr>
                </a:solidFill>
                <a:latin typeface="Arial" panose="020B0604020202020204" pitchFamily="34" charset="0"/>
                <a:cs typeface="Arial" panose="020B0604020202020204" pitchFamily="34" charset="0"/>
              </a:rPr>
              <a:t> </a:t>
            </a:r>
            <a:r>
              <a:rPr lang="en-GB" altLang="en-US" sz="1200" dirty="0">
                <a:solidFill>
                  <a:schemeClr val="tx1">
                    <a:lumMod val="50000"/>
                    <a:lumOff val="50000"/>
                  </a:schemeClr>
                </a:solidFill>
                <a:latin typeface="Arial" panose="020B0604020202020204" pitchFamily="34" charset="0"/>
                <a:cs typeface="Arial" panose="020B0604020202020204" pitchFamily="34" charset="0"/>
              </a:rPr>
              <a:t>(National Statistics)</a:t>
            </a:r>
          </a:p>
        </p:txBody>
      </p:sp>
      <p:sp>
        <p:nvSpPr>
          <p:cNvPr id="2" name="Rectangle 1">
            <a:extLst>
              <a:ext uri="{FF2B5EF4-FFF2-40B4-BE49-F238E27FC236}">
                <a16:creationId xmlns:a16="http://schemas.microsoft.com/office/drawing/2014/main" id="{E07A604F-8873-4CD0-A65F-284C46368781}"/>
              </a:ext>
            </a:extLst>
          </p:cNvPr>
          <p:cNvSpPr/>
          <p:nvPr/>
        </p:nvSpPr>
        <p:spPr>
          <a:xfrm>
            <a:off x="2207568" y="5733256"/>
            <a:ext cx="7776864" cy="576064"/>
          </a:xfrm>
          <a:prstGeom prst="rect">
            <a:avLst/>
          </a:prstGeom>
          <a:solidFill>
            <a:srgbClr val="F0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812316140"/>
      </p:ext>
    </p:extLst>
  </p:cSld>
  <p:clrMapOvr>
    <a:masterClrMapping/>
  </p:clrMapOvr>
  <p:transition spd="med">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1000"/>
                                        <p:tgtEl>
                                          <p:spTgt spid="2"/>
                                        </p:tgtEl>
                                      </p:cBhvr>
                                    </p:animEffect>
                                    <p:set>
                                      <p:cBhvr>
                                        <p:cTn id="7" dur="1" fill="hold">
                                          <p:stCondLst>
                                            <p:cond delay="999"/>
                                          </p:stCondLst>
                                        </p:cTn>
                                        <p:tgtEl>
                                          <p:spTgt spid="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EBS PowerPoint Template (Official).pptx" id="{0B949918-01BA-4D49-8100-B241C941CF28}" vid="{818D0F1B-ED24-4043-861A-D433F19CA78C}"/>
    </a:ext>
  </a:extLst>
</a:theme>
</file>

<file path=ppt/theme/theme2.xml><?xml version="1.0" encoding="utf-8"?>
<a:theme xmlns:a="http://schemas.openxmlformats.org/drawingml/2006/main" name="1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EBS PowerPoint Template (Official).pptx" id="{0B949918-01BA-4D49-8100-B241C941CF28}" vid="{8079BABB-D5A2-4A04-86CD-415D03243D00}"/>
    </a:ext>
  </a:extLst>
</a:theme>
</file>

<file path=ppt/theme/theme3.xml><?xml version="1.0" encoding="utf-8"?>
<a:theme xmlns:a="http://schemas.openxmlformats.org/drawingml/2006/main" name="1_Office Theme">
  <a:themeElements>
    <a:clrScheme name="Heriot-Watt Colours 2">
      <a:dk1>
        <a:srgbClr val="000000"/>
      </a:dk1>
      <a:lt1>
        <a:srgbClr val="FFFFFF"/>
      </a:lt1>
      <a:dk2>
        <a:srgbClr val="003454"/>
      </a:dk2>
      <a:lt2>
        <a:srgbClr val="0094BD"/>
      </a:lt2>
      <a:accent1>
        <a:srgbClr val="257039"/>
      </a:accent1>
      <a:accent2>
        <a:srgbClr val="B8D137"/>
      </a:accent2>
      <a:accent3>
        <a:srgbClr val="A7BE33"/>
      </a:accent3>
      <a:accent4>
        <a:srgbClr val="51160F"/>
      </a:accent4>
      <a:accent5>
        <a:srgbClr val="E8822C"/>
      </a:accent5>
      <a:accent6>
        <a:srgbClr val="D91D5B"/>
      </a:accent6>
      <a:hlink>
        <a:srgbClr val="E88EAD"/>
      </a:hlink>
      <a:folHlink>
        <a:srgbClr val="6F185E"/>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EBS PowerPoint Template (Official).pptx" id="{0B949918-01BA-4D49-8100-B241C941CF28}" vid="{0D2A3BC3-CEDD-4C53-A3FC-3DE9294C301B}"/>
    </a:ext>
  </a:extLst>
</a:theme>
</file>

<file path=ppt/theme/theme4.xml><?xml version="1.0" encoding="utf-8"?>
<a:theme xmlns:a="http://schemas.openxmlformats.org/drawingml/2006/main" name="4_Custom Design">
  <a:themeElements>
    <a:clrScheme name="Heriot-Watt Colours 2">
      <a:dk1>
        <a:srgbClr val="000000"/>
      </a:dk1>
      <a:lt1>
        <a:srgbClr val="FFFFFF"/>
      </a:lt1>
      <a:dk2>
        <a:srgbClr val="003454"/>
      </a:dk2>
      <a:lt2>
        <a:srgbClr val="0094BD"/>
      </a:lt2>
      <a:accent1>
        <a:srgbClr val="257039"/>
      </a:accent1>
      <a:accent2>
        <a:srgbClr val="B8D137"/>
      </a:accent2>
      <a:accent3>
        <a:srgbClr val="A7BE33"/>
      </a:accent3>
      <a:accent4>
        <a:srgbClr val="51160F"/>
      </a:accent4>
      <a:accent5>
        <a:srgbClr val="E8822C"/>
      </a:accent5>
      <a:accent6>
        <a:srgbClr val="D91D5B"/>
      </a:accent6>
      <a:hlink>
        <a:srgbClr val="E88EAD"/>
      </a:hlink>
      <a:folHlink>
        <a:srgbClr val="6F185E"/>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EBS PowerPoint Template (Official).pptx" id="{0B949918-01BA-4D49-8100-B241C941CF28}" vid="{34F82C73-F6DE-4FCA-855E-58081A0B843E}"/>
    </a:ext>
  </a:extLst>
</a:theme>
</file>

<file path=ppt/theme/theme5.xml><?xml version="1.0" encoding="utf-8"?>
<a:theme xmlns:a="http://schemas.openxmlformats.org/drawingml/2006/main" name="5_Custom Design">
  <a:themeElements>
    <a:clrScheme name="Heriot-Watt Colours 2">
      <a:dk1>
        <a:srgbClr val="000000"/>
      </a:dk1>
      <a:lt1>
        <a:srgbClr val="FFFFFF"/>
      </a:lt1>
      <a:dk2>
        <a:srgbClr val="003454"/>
      </a:dk2>
      <a:lt2>
        <a:srgbClr val="0094BD"/>
      </a:lt2>
      <a:accent1>
        <a:srgbClr val="257039"/>
      </a:accent1>
      <a:accent2>
        <a:srgbClr val="B8D137"/>
      </a:accent2>
      <a:accent3>
        <a:srgbClr val="A7BE33"/>
      </a:accent3>
      <a:accent4>
        <a:srgbClr val="51160F"/>
      </a:accent4>
      <a:accent5>
        <a:srgbClr val="E8822C"/>
      </a:accent5>
      <a:accent6>
        <a:srgbClr val="D91D5B"/>
      </a:accent6>
      <a:hlink>
        <a:srgbClr val="E88EAD"/>
      </a:hlink>
      <a:folHlink>
        <a:srgbClr val="6F185E"/>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EBS PowerPoint Template (Official).pptx" id="{0B949918-01BA-4D49-8100-B241C941CF28}" vid="{B3867412-9FC6-4B77-B245-0DBC0A5A1474}"/>
    </a:ext>
  </a:extLst>
</a:theme>
</file>

<file path=ppt/theme/theme6.xml><?xml version="1.0" encoding="utf-8"?>
<a:theme xmlns:a="http://schemas.openxmlformats.org/drawingml/2006/main" name="6_Custom Design">
  <a:themeElements>
    <a:clrScheme name="Heriot-Watt Colours 2">
      <a:dk1>
        <a:srgbClr val="000000"/>
      </a:dk1>
      <a:lt1>
        <a:srgbClr val="FFFFFF"/>
      </a:lt1>
      <a:dk2>
        <a:srgbClr val="003454"/>
      </a:dk2>
      <a:lt2>
        <a:srgbClr val="0094BD"/>
      </a:lt2>
      <a:accent1>
        <a:srgbClr val="257039"/>
      </a:accent1>
      <a:accent2>
        <a:srgbClr val="B8D137"/>
      </a:accent2>
      <a:accent3>
        <a:srgbClr val="A7BE33"/>
      </a:accent3>
      <a:accent4>
        <a:srgbClr val="51160F"/>
      </a:accent4>
      <a:accent5>
        <a:srgbClr val="E8822C"/>
      </a:accent5>
      <a:accent6>
        <a:srgbClr val="D91D5B"/>
      </a:accent6>
      <a:hlink>
        <a:srgbClr val="E88EAD"/>
      </a:hlink>
      <a:folHlink>
        <a:srgbClr val="6F185E"/>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EBS PowerPoint Template (Official).pptx" id="{0B949918-01BA-4D49-8100-B241C941CF28}" vid="{B3867412-9FC6-4B77-B245-0DBC0A5A1474}"/>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750e769a-c6ab-48a0-ac99-347a633d873e" xsi:nil="true"/>
    <lcf76f155ced4ddcb4097134ff3c332f xmlns="4e318df0-612d-4dff-ad55-c2016fd214d1">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B93A621054F1D04C90C60CDB3C987234" ma:contentTypeVersion="17" ma:contentTypeDescription="Create a new document." ma:contentTypeScope="" ma:versionID="18071292a42031f7c77aa4bdf678ff00">
  <xsd:schema xmlns:xsd="http://www.w3.org/2001/XMLSchema" xmlns:xs="http://www.w3.org/2001/XMLSchema" xmlns:p="http://schemas.microsoft.com/office/2006/metadata/properties" xmlns:ns2="4e318df0-612d-4dff-ad55-c2016fd214d1" xmlns:ns3="750e769a-c6ab-48a0-ac99-347a633d873e" targetNamespace="http://schemas.microsoft.com/office/2006/metadata/properties" ma:root="true" ma:fieldsID="f3dd89fd09c91a75d61e58820517e053" ns2:_="" ns3:_="">
    <xsd:import namespace="4e318df0-612d-4dff-ad55-c2016fd214d1"/>
    <xsd:import namespace="750e769a-c6ab-48a0-ac99-347a633d873e"/>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3:SharedWithUsers" minOccurs="0"/>
                <xsd:element ref="ns3:SharedWithDetails" minOccurs="0"/>
                <xsd:element ref="ns2:lcf76f155ced4ddcb4097134ff3c332f" minOccurs="0"/>
                <xsd:element ref="ns3: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e318df0-612d-4dff-ad55-c2016fd214d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6" nillable="true" ma:displayName="MediaServiceDateTaken" ma:hidden="true" ma:internalName="MediaServiceDateTaken"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1f8fe375-cbb6-4b35-9ea2-3916cf22ce71"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750e769a-c6ab-48a0-ac99-347a633d873e"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526268af-b411-43de-b041-f690f17633b8}" ma:internalName="TaxCatchAll" ma:showField="CatchAllData" ma:web="750e769a-c6ab-48a0-ac99-347a633d873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ECF88A7-10E3-4B78-AAB4-E035B0995F42}">
  <ds:schemaRefs>
    <ds:schemaRef ds:uri="http://schemas.microsoft.com/sharepoint/v3/contenttype/forms"/>
  </ds:schemaRefs>
</ds:datastoreItem>
</file>

<file path=customXml/itemProps2.xml><?xml version="1.0" encoding="utf-8"?>
<ds:datastoreItem xmlns:ds="http://schemas.openxmlformats.org/officeDocument/2006/customXml" ds:itemID="{982C876A-3CFF-456F-9860-B4CE26D1D368}">
  <ds:schemaRefs>
    <ds:schemaRef ds:uri="4e318df0-612d-4dff-ad55-c2016fd214d1"/>
    <ds:schemaRef ds:uri="750e769a-c6ab-48a0-ac99-347a633d873e"/>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6D7B2099-E7CC-434D-9C82-BE12EDC62CEE}">
  <ds:schemaRefs>
    <ds:schemaRef ds:uri="4e318df0-612d-4dff-ad55-c2016fd214d1"/>
    <ds:schemaRef ds:uri="750e769a-c6ab-48a0-ac99-347a633d873e"/>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
  <TotalTime>636</TotalTime>
  <Words>3686</Words>
  <Application>Microsoft Office PowerPoint</Application>
  <PresentationFormat>Widescreen</PresentationFormat>
  <Paragraphs>537</Paragraphs>
  <Slides>59</Slides>
  <Notes>33</Notes>
  <HiddenSlides>0</HiddenSlides>
  <MMClips>0</MMClips>
  <ScaleCrop>false</ScaleCrop>
  <HeadingPairs>
    <vt:vector size="8" baseType="variant">
      <vt:variant>
        <vt:lpstr>Fonts Used</vt:lpstr>
      </vt:variant>
      <vt:variant>
        <vt:i4>6</vt:i4>
      </vt:variant>
      <vt:variant>
        <vt:lpstr>Theme</vt:lpstr>
      </vt:variant>
      <vt:variant>
        <vt:i4>6</vt:i4>
      </vt:variant>
      <vt:variant>
        <vt:lpstr>Embedded OLE Servers</vt:lpstr>
      </vt:variant>
      <vt:variant>
        <vt:i4>2</vt:i4>
      </vt:variant>
      <vt:variant>
        <vt:lpstr>Slide Titles</vt:lpstr>
      </vt:variant>
      <vt:variant>
        <vt:i4>59</vt:i4>
      </vt:variant>
    </vt:vector>
  </HeadingPairs>
  <TitlesOfParts>
    <vt:vector size="73" baseType="lpstr">
      <vt:lpstr>Aptos</vt:lpstr>
      <vt:lpstr>Arial</vt:lpstr>
      <vt:lpstr>Calibri</vt:lpstr>
      <vt:lpstr>Cambria Math</vt:lpstr>
      <vt:lpstr>Helvetica</vt:lpstr>
      <vt:lpstr>Times New Roman</vt:lpstr>
      <vt:lpstr>Custom Design</vt:lpstr>
      <vt:lpstr>1_Custom Design</vt:lpstr>
      <vt:lpstr>1_Office Theme</vt:lpstr>
      <vt:lpstr>4_Custom Design</vt:lpstr>
      <vt:lpstr>5_Custom Design</vt:lpstr>
      <vt:lpstr>6_Custom Design</vt:lpstr>
      <vt:lpstr>Clip</vt:lpstr>
      <vt:lpstr>Document</vt:lpstr>
      <vt:lpstr>C29PE Economics for Professionals</vt:lpstr>
      <vt:lpstr>PowerPoint Presentation</vt:lpstr>
      <vt:lpstr>References</vt:lpstr>
      <vt:lpstr>Macroeconomic policy objectives</vt:lpstr>
      <vt:lpstr>Economic growth</vt:lpstr>
      <vt:lpstr>Nominal vs real GDP</vt:lpstr>
      <vt:lpstr>Short-term economic growth</vt:lpstr>
      <vt:lpstr>Annual economic growth rates</vt:lpstr>
      <vt:lpstr>Long-run economic growth</vt:lpstr>
      <vt:lpstr>Output paths from 1965 </vt:lpstr>
      <vt:lpstr>Unemployment</vt:lpstr>
      <vt:lpstr>Measuring Unemployment</vt:lpstr>
      <vt:lpstr>Standardised unemployment rates </vt:lpstr>
      <vt:lpstr>Unemployment and the labour market</vt:lpstr>
      <vt:lpstr>Types of equilibrium unemployment</vt:lpstr>
      <vt:lpstr>Types of disequilibrium unemployment</vt:lpstr>
      <vt:lpstr>PowerPoint Presentation</vt:lpstr>
      <vt:lpstr>Costs of Unemployment</vt:lpstr>
      <vt:lpstr>Inflation</vt:lpstr>
      <vt:lpstr>Inflation</vt:lpstr>
      <vt:lpstr>Inflation rates </vt:lpstr>
      <vt:lpstr>Economic Volatility and the Business Cycle</vt:lpstr>
      <vt:lpstr>The business cycle</vt:lpstr>
      <vt:lpstr>PowerPoint Presentation</vt:lpstr>
      <vt:lpstr>PowerPoint Presentation</vt:lpstr>
      <vt:lpstr>Actual versus potential growth</vt:lpstr>
      <vt:lpstr>Potential output</vt:lpstr>
      <vt:lpstr>Output gap</vt:lpstr>
      <vt:lpstr>PowerPoint Presentation</vt:lpstr>
      <vt:lpstr>PowerPoint Presentation</vt:lpstr>
      <vt:lpstr>The Circular Flow of Income</vt:lpstr>
      <vt:lpstr>The Circular Flow of Income</vt:lpstr>
      <vt:lpstr>The Circular Flow of Income</vt:lpstr>
      <vt:lpstr>The Circular Flow of Income</vt:lpstr>
      <vt:lpstr>Relationship between injections, withdrawals</vt:lpstr>
      <vt:lpstr>Aggregate demand-Aggregate Supply (AD-AS) framework</vt:lpstr>
      <vt:lpstr>Shape of aggregate demand curve</vt:lpstr>
      <vt:lpstr>Downward sloping aggregate demand curve</vt:lpstr>
      <vt:lpstr>Shape of aggregate supply curve</vt:lpstr>
      <vt:lpstr>Upward sloping aggregate supply</vt:lpstr>
      <vt:lpstr>Aggregate demand and aggregate supply with flexible prices</vt:lpstr>
      <vt:lpstr>Shifts in the AD-AS equilibrium</vt:lpstr>
      <vt:lpstr>Applications 1: Demand pull vs cost push inflation</vt:lpstr>
      <vt:lpstr>PowerPoint Presentation</vt:lpstr>
      <vt:lpstr>PowerPoint Presentation</vt:lpstr>
      <vt:lpstr>PowerPoint Presentation</vt:lpstr>
      <vt:lpstr>Applications 2: Business cycles</vt:lpstr>
      <vt:lpstr>Aggregate demand and the business cycle</vt:lpstr>
      <vt:lpstr>The business cycle and macroeconomic variables</vt:lpstr>
      <vt:lpstr>Summary</vt:lpstr>
      <vt:lpstr>PowerPoint Presentation</vt:lpstr>
      <vt:lpstr>Measuring National Income and Output</vt:lpstr>
      <vt:lpstr>PowerPoint Presentation</vt:lpstr>
      <vt:lpstr>The production method</vt:lpstr>
      <vt:lpstr>The income method</vt:lpstr>
      <vt:lpstr>The expenditure method</vt:lpstr>
      <vt:lpstr>PowerPoint Presentation</vt:lpstr>
      <vt:lpstr>Measuring National Income and Output</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Grant Campbell</dc:creator>
  <cp:lastModifiedBy>Hui, Hon Chung</cp:lastModifiedBy>
  <cp:revision>19</cp:revision>
  <cp:lastPrinted>2024-03-27T09:31:09Z</cp:lastPrinted>
  <dcterms:created xsi:type="dcterms:W3CDTF">2024-03-26T13:44:16Z</dcterms:created>
  <dcterms:modified xsi:type="dcterms:W3CDTF">2025-08-29T01:56:56Z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0x010100B93A621054F1D04C90C60CDB3C987234</vt:lpwstr>
  </property>
  <property fmtid="{D5CDD505-2E9C-101B-9397-08002B2CF9AE}" pid="3" name="MediaServiceImageTags">
    <vt:lpwstr/>
  </property>
</Properties>
</file>